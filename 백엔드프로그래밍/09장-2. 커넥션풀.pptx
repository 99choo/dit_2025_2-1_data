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  <p:sldMasterId id="2147483723" r:id="rId2"/>
    <p:sldMasterId id="2147483754" r:id="rId3"/>
  </p:sldMasterIdLst>
  <p:notesMasterIdLst>
    <p:notesMasterId r:id="rId27"/>
  </p:notesMasterIdLst>
  <p:sldIdLst>
    <p:sldId id="277" r:id="rId4"/>
    <p:sldId id="257" r:id="rId5"/>
    <p:sldId id="348" r:id="rId6"/>
    <p:sldId id="349" r:id="rId7"/>
    <p:sldId id="350" r:id="rId8"/>
    <p:sldId id="370" r:id="rId9"/>
    <p:sldId id="364" r:id="rId10"/>
    <p:sldId id="366" r:id="rId11"/>
    <p:sldId id="365" r:id="rId12"/>
    <p:sldId id="378" r:id="rId13"/>
    <p:sldId id="351" r:id="rId14"/>
    <p:sldId id="353" r:id="rId15"/>
    <p:sldId id="355" r:id="rId16"/>
    <p:sldId id="368" r:id="rId17"/>
    <p:sldId id="357" r:id="rId18"/>
    <p:sldId id="358" r:id="rId19"/>
    <p:sldId id="377" r:id="rId20"/>
    <p:sldId id="359" r:id="rId21"/>
    <p:sldId id="372" r:id="rId22"/>
    <p:sldId id="375" r:id="rId23"/>
    <p:sldId id="376" r:id="rId24"/>
    <p:sldId id="363" r:id="rId25"/>
    <p:sldId id="373" r:id="rId26"/>
  </p:sldIdLst>
  <p:sldSz cx="12192000" cy="6858000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ED0"/>
    <a:srgbClr val="0000FF"/>
    <a:srgbClr val="FFFFCC"/>
    <a:srgbClr val="6600CC"/>
    <a:srgbClr val="008000"/>
    <a:srgbClr val="080808"/>
    <a:srgbClr val="CCFF99"/>
    <a:srgbClr val="FFFF00"/>
    <a:srgbClr val="FFCCCC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964" autoAdjust="0"/>
  </p:normalViewPr>
  <p:slideViewPr>
    <p:cSldViewPr>
      <p:cViewPr varScale="1">
        <p:scale>
          <a:sx n="113" d="100"/>
          <a:sy n="113" d="100"/>
        </p:scale>
        <p:origin x="456" y="108"/>
      </p:cViewPr>
      <p:guideLst>
        <p:guide orient="horz" pos="411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092F4-718B-458C-BB15-6FEAB013A173}" type="datetimeFigureOut">
              <a:rPr lang="ko-KR" altLang="en-US" smtClean="0"/>
              <a:pPr/>
              <a:t>2025-04-10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05597-68B8-49B8-8571-F2ACD6970F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48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9" descr="gtre yt ruiy z rz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908721"/>
            <a:ext cx="10363200" cy="1008112"/>
          </a:xfrm>
        </p:spPr>
        <p:txBody>
          <a:bodyPr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79509" y="5301208"/>
            <a:ext cx="8534400" cy="7920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084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95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582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EE501-2790-4B07-8109-74518D330C12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944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784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34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767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864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56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555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8413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87368" y="6356355"/>
            <a:ext cx="2800755" cy="365125"/>
          </a:xfrm>
          <a:prstGeom prst="rect">
            <a:avLst/>
          </a:prstGeom>
        </p:spPr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제목 개체 틀 1"/>
          <p:cNvSpPr>
            <a:spLocks noGrp="1"/>
          </p:cNvSpPr>
          <p:nvPr>
            <p:ph type="title"/>
          </p:nvPr>
        </p:nvSpPr>
        <p:spPr>
          <a:xfrm>
            <a:off x="1291835" y="118533"/>
            <a:ext cx="10084752" cy="454742"/>
          </a:xfrm>
          <a:prstGeom prst="rect">
            <a:avLst/>
          </a:prstGeom>
        </p:spPr>
        <p:txBody>
          <a:bodyPr vert="horz" lIns="0" tIns="45713" rIns="0" bIns="45713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스타일을 편집합니다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71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421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908721"/>
            <a:ext cx="10363200" cy="1008112"/>
          </a:xfrm>
        </p:spPr>
        <p:txBody>
          <a:bodyPr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79509" y="5301208"/>
            <a:ext cx="8534400" cy="7920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cxnSp>
        <p:nvCxnSpPr>
          <p:cNvPr id="9" name="직선 연결선 8"/>
          <p:cNvCxnSpPr/>
          <p:nvPr/>
        </p:nvCxnSpPr>
        <p:spPr>
          <a:xfrm>
            <a:off x="7695670" y="5517232"/>
            <a:ext cx="422446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0274" y="4725144"/>
            <a:ext cx="2390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컴퓨터정보과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김진숙</a:t>
            </a:r>
          </a:p>
        </p:txBody>
      </p:sp>
    </p:spTree>
    <p:extLst>
      <p:ext uri="{BB962C8B-B14F-4D97-AF65-F5344CB8AC3E}">
        <p14:creationId xmlns:p14="http://schemas.microsoft.com/office/powerpoint/2010/main" val="233432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605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64236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EE501-2790-4B07-8109-74518D330C12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0950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724948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47192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67820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43560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50942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06090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900521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988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590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214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12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481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14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461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26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87368" y="6356355"/>
            <a:ext cx="2800755" cy="365125"/>
          </a:xfrm>
          <a:prstGeom prst="rect">
            <a:avLst/>
          </a:prstGeom>
        </p:spPr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제목 개체 틀 1"/>
          <p:cNvSpPr>
            <a:spLocks noGrp="1"/>
          </p:cNvSpPr>
          <p:nvPr>
            <p:ph type="title"/>
          </p:nvPr>
        </p:nvSpPr>
        <p:spPr>
          <a:xfrm>
            <a:off x="1291835" y="118533"/>
            <a:ext cx="10084752" cy="454742"/>
          </a:xfrm>
          <a:prstGeom prst="rect">
            <a:avLst/>
          </a:prstGeom>
        </p:spPr>
        <p:txBody>
          <a:bodyPr vert="horz" lIns="0" tIns="45713" rIns="0" bIns="45713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74004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4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860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96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577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582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457" y="880533"/>
            <a:ext cx="11504247" cy="5410200"/>
          </a:xfrm>
          <a:prstGeom prst="rect">
            <a:avLst/>
          </a:prstGeom>
        </p:spPr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78327" y="6356355"/>
            <a:ext cx="251265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765046" y="6356350"/>
            <a:ext cx="6389013" cy="365126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35360" y="-27384"/>
            <a:ext cx="10972800" cy="70609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endParaRPr lang="ko-KR" altLang="en-US" sz="5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78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6574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1104901" y="6356355"/>
            <a:ext cx="1829560" cy="365125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568" y="-3000"/>
            <a:ext cx="1604104" cy="291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 descr="C:\Users\msk\Desktop\Abstract-Design-Vector-Art-Backgroun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3000"/>
            <a:ext cx="8701504" cy="4440112"/>
          </a:xfrm>
          <a:prstGeom prst="rect">
            <a:avLst/>
          </a:prstGeom>
          <a:noFill/>
        </p:spPr>
      </p:pic>
      <p:cxnSp>
        <p:nvCxnSpPr>
          <p:cNvPr id="14" name="직선 연결선 13"/>
          <p:cNvCxnSpPr/>
          <p:nvPr/>
        </p:nvCxnSpPr>
        <p:spPr>
          <a:xfrm>
            <a:off x="7695670" y="5517232"/>
            <a:ext cx="422446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1"/>
          <p:cNvSpPr>
            <a:spLocks noGrp="1"/>
          </p:cNvSpPr>
          <p:nvPr>
            <p:ph type="ctrTitle"/>
          </p:nvPr>
        </p:nvSpPr>
        <p:spPr>
          <a:xfrm>
            <a:off x="6" y="3945248"/>
            <a:ext cx="11952908" cy="695696"/>
          </a:xfrm>
          <a:noFill/>
          <a:ln>
            <a:noFill/>
          </a:ln>
        </p:spPr>
        <p:txBody>
          <a:bodyPr lIns="324000" rIns="252000" bIns="0" anchor="t">
            <a:normAutofit/>
          </a:bodyPr>
          <a:lstStyle>
            <a:lvl1pPr algn="r"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695670" y="4869160"/>
            <a:ext cx="4256981" cy="55361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컴퓨터정보계열</a:t>
            </a:r>
            <a:endParaRPr lang="en-US" altLang="ko-KR" dirty="0"/>
          </a:p>
          <a:p>
            <a:r>
              <a:rPr lang="ko-KR" altLang="en-US" dirty="0"/>
              <a:t>김진숙</a:t>
            </a:r>
          </a:p>
        </p:txBody>
      </p:sp>
    </p:spTree>
    <p:extLst>
      <p:ext uri="{BB962C8B-B14F-4D97-AF65-F5344CB8AC3E}">
        <p14:creationId xmlns:p14="http://schemas.microsoft.com/office/powerpoint/2010/main" val="24800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F6600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buClr>
                <a:srgbClr val="3333FF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buClr>
                <a:srgbClr val="FF33CC"/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buClr>
                <a:schemeClr val="bg2">
                  <a:lumMod val="50000"/>
                </a:schemeClr>
              </a:buCl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latinLnBrk="1"/>
            <a:r>
              <a:rPr lang="ko-KR" altLang="en-US"/>
              <a:t>마스터 텍스트 스타일 편집</a:t>
            </a:r>
          </a:p>
          <a:p>
            <a:pPr lvl="1" latinLnBrk="1"/>
            <a:r>
              <a:rPr lang="ko-KR" altLang="en-US"/>
              <a:t>둘째 수준</a:t>
            </a:r>
          </a:p>
          <a:p>
            <a:pPr lvl="2" latinLnBrk="1"/>
            <a:r>
              <a:rPr lang="ko-KR" altLang="en-US"/>
              <a:t>셋째 수준</a:t>
            </a:r>
          </a:p>
          <a:p>
            <a:pPr lvl="3" latinLnBrk="1"/>
            <a:r>
              <a:rPr lang="ko-KR" altLang="en-US"/>
              <a:t>넷째 수준</a:t>
            </a:r>
          </a:p>
          <a:p>
            <a:pPr lvl="4" latinLnBrk="1"/>
            <a:r>
              <a:rPr lang="ko-KR" altLang="en-US"/>
              <a:t>다섯째 수준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제목 개체 틀 1"/>
          <p:cNvSpPr>
            <a:spLocks noGrp="1"/>
          </p:cNvSpPr>
          <p:nvPr>
            <p:ph type="title"/>
          </p:nvPr>
        </p:nvSpPr>
        <p:spPr>
          <a:xfrm>
            <a:off x="335360" y="118533"/>
            <a:ext cx="11521280" cy="454742"/>
          </a:xfrm>
          <a:prstGeom prst="rect">
            <a:avLst/>
          </a:prstGeom>
        </p:spPr>
        <p:txBody>
          <a:bodyPr vert="horz" lIns="0" tIns="45713" rIns="0" bIns="45713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13051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0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7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23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2510" y="173708"/>
            <a:ext cx="11822266" cy="738745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722443" y="6492275"/>
            <a:ext cx="453081" cy="365125"/>
          </a:xfrm>
        </p:spPr>
        <p:txBody>
          <a:bodyPr/>
          <a:lstStyle/>
          <a:p>
            <a:fld id="{DC2EFB8F-A7FC-4502-806D-286DAD39971C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931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90157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EE501-2790-4B07-8109-74518D330C12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530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68470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39441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3268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19311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70230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789255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5341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121" y="188640"/>
            <a:ext cx="11929216" cy="6860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51384" y="1052737"/>
            <a:ext cx="11017224" cy="54290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3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57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32" Type="http://schemas.openxmlformats.org/officeDocument/2006/relationships/image" Target="../media/image3.jpg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35360" y="0"/>
            <a:ext cx="11439061" cy="6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35360" y="764705"/>
            <a:ext cx="11617291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99872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7" name="Picture 34" descr="f sfs kuy kuy"/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300485"/>
            <a:ext cx="5005159" cy="255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/>
          <p:cNvCxnSpPr/>
          <p:nvPr/>
        </p:nvCxnSpPr>
        <p:spPr>
          <a:xfrm>
            <a:off x="335360" y="620688"/>
            <a:ext cx="1152128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44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spcBef>
          <a:spcPct val="0"/>
        </a:spcBef>
        <a:buNone/>
        <a:defRPr sz="4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나눔손글씨 펜" panose="03040600000000000000" pitchFamily="66" charset="-127"/>
          <a:ea typeface="나눔손글씨 펜" panose="03040600000000000000" pitchFamily="66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192"/>
            <a:ext cx="12192000" cy="6390388"/>
          </a:xfrm>
          <a:prstGeom prst="rect">
            <a:avLst/>
          </a:prstGeom>
        </p:spPr>
      </p:pic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3339" y="0"/>
            <a:ext cx="11905323" cy="6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349" y="764705"/>
            <a:ext cx="11809312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99872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083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spcBef>
          <a:spcPct val="0"/>
        </a:spcBef>
        <a:buNone/>
        <a:defRPr sz="44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나눔손글씨 펜" panose="03040600000000000000" pitchFamily="66" charset="-127"/>
          <a:ea typeface="나눔손글씨 펜" panose="03040600000000000000" pitchFamily="66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5991" y="117298"/>
            <a:ext cx="11929216" cy="68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3465" y="940036"/>
            <a:ext cx="11801741" cy="577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776817" y="6492875"/>
            <a:ext cx="4151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5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6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17/docs/api/index.html?java/sql/package-summary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tomcat.apache.org/tomcat-9.0-doc/jndi-resources-howto.html" TargetMode="External"/><Relationship Id="rId2" Type="http://schemas.openxmlformats.org/officeDocument/2006/relationships/hyperlink" Target="https://docs.oracle.com/javase/8/docs/api/" TargetMode="External"/><Relationship Id="rId1" Type="http://schemas.openxmlformats.org/officeDocument/2006/relationships/slideLayout" Target="../slideLayouts/slideLayout70.xml"/><Relationship Id="rId4" Type="http://schemas.openxmlformats.org/officeDocument/2006/relationships/hyperlink" Target="http://tomcat.apache.org/tomcat-9.0-doc/jdbc-pool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tomcat.apache.org/tomcat-9.0-doc/jndi-datasource-examples-howto.html" TargetMode="External"/><Relationship Id="rId1" Type="http://schemas.openxmlformats.org/officeDocument/2006/relationships/slideLayout" Target="../slideLayouts/slideLayout6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43472" y="1700808"/>
            <a:ext cx="9649072" cy="2664295"/>
          </a:xfrm>
        </p:spPr>
        <p:txBody>
          <a:bodyPr anchor="ctr">
            <a:noAutofit/>
          </a:bodyPr>
          <a:lstStyle/>
          <a:p>
            <a:r>
              <a:rPr lang="en-US" altLang="ko-KR"/>
              <a:t>9</a:t>
            </a:r>
            <a:r>
              <a:rPr lang="ko-KR" altLang="en-US"/>
              <a:t>장</a:t>
            </a:r>
            <a:r>
              <a:rPr lang="en-US" altLang="ko-KR"/>
              <a:t>-1. </a:t>
            </a:r>
            <a:r>
              <a:rPr lang="ko-KR" altLang="en-US"/>
              <a:t>커넥션풀</a:t>
            </a:r>
            <a:br>
              <a:rPr lang="en-US" altLang="ko-KR"/>
            </a:br>
            <a:r>
              <a:rPr lang="en-US" altLang="ko-KR"/>
              <a:t>(Connection Pool)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111624" y="4797152"/>
            <a:ext cx="6112768" cy="79208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컴퓨터정보계열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ko-KR" altLang="en-US" dirty="0"/>
              <a:t>김진숙</a:t>
            </a:r>
          </a:p>
        </p:txBody>
      </p:sp>
    </p:spTree>
    <p:extLst>
      <p:ext uri="{BB962C8B-B14F-4D97-AF65-F5344CB8AC3E}">
        <p14:creationId xmlns:p14="http://schemas.microsoft.com/office/powerpoint/2010/main" val="269776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장에서 공부할 것</a:t>
            </a:r>
            <a:endParaRPr lang="ko-KR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594161" y="1037128"/>
            <a:ext cx="10830432" cy="5336459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altLang="ko-KR" dirty="0"/>
              <a:t>DBCP API</a:t>
            </a:r>
            <a:r>
              <a:rPr lang="ko-KR" altLang="en-US" dirty="0"/>
              <a:t>를 사용한 커넥션 풀 설정</a:t>
            </a:r>
            <a:endParaRPr lang="en-US" altLang="ko-KR" dirty="0"/>
          </a:p>
          <a:p>
            <a:pPr marL="514350" indent="-514350" algn="just">
              <a:buFont typeface="+mj-lt"/>
              <a:buAutoNum type="arabicPeriod"/>
            </a:pPr>
            <a:r>
              <a:rPr lang="en-US" altLang="ko-KR" dirty="0"/>
              <a:t>DBCP API</a:t>
            </a:r>
            <a:r>
              <a:rPr lang="ko-KR" altLang="en-US" dirty="0"/>
              <a:t>를 사용한 커넥션 풀 사용</a:t>
            </a: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55F8617-F801-4A28-BE55-42F81709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DBCP </a:t>
            </a:r>
            <a:r>
              <a:rPr lang="en-US" altLang="ko-KR" dirty="0"/>
              <a:t>API</a:t>
            </a:r>
            <a:r>
              <a:rPr lang="ko-KR" altLang="en-US" dirty="0"/>
              <a:t>를 이용한 커넥션 풀 </a:t>
            </a:r>
            <a:r>
              <a:rPr lang="ko-KR" altLang="en-US"/>
              <a:t>설정 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일반 </a:t>
            </a:r>
            <a:r>
              <a:rPr lang="en-US" altLang="ko-KR" dirty="0"/>
              <a:t>DB </a:t>
            </a:r>
            <a:r>
              <a:rPr lang="ko-KR" altLang="en-US" dirty="0"/>
              <a:t>연결 프로그램의 </a:t>
            </a:r>
            <a:r>
              <a:rPr lang="ko-KR" altLang="en-US" b="1" dirty="0">
                <a:solidFill>
                  <a:srgbClr val="FF0000"/>
                </a:solidFill>
              </a:rPr>
              <a:t>문제점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클라이언트의 요청 시 </a:t>
            </a:r>
            <a:r>
              <a:rPr lang="en-US" altLang="ko-KR" dirty="0" err="1"/>
              <a:t>DriverManger</a:t>
            </a:r>
            <a:r>
              <a:rPr lang="ko-KR" altLang="en-US" dirty="0"/>
              <a:t>객체가 </a:t>
            </a:r>
            <a:r>
              <a:rPr lang="en-US" altLang="ko-KR" dirty="0"/>
              <a:t>Connection</a:t>
            </a:r>
            <a:r>
              <a:rPr lang="ko-KR" altLang="en-US" dirty="0"/>
              <a:t>을 통해  </a:t>
            </a:r>
            <a:r>
              <a:rPr lang="en-US" altLang="ko-KR" dirty="0"/>
              <a:t>DB</a:t>
            </a:r>
            <a:r>
              <a:rPr lang="ko-KR" altLang="en-US" dirty="0"/>
              <a:t>작업을 수행한 뒤 </a:t>
            </a:r>
            <a:r>
              <a:rPr lang="en-US" altLang="ko-KR" dirty="0"/>
              <a:t>Connection</a:t>
            </a:r>
            <a:r>
              <a:rPr lang="ko-KR" altLang="en-US" dirty="0"/>
              <a:t>객체를 해제하는 과정 반복</a:t>
            </a:r>
            <a:endParaRPr lang="en-US" altLang="ko-KR" dirty="0"/>
          </a:p>
          <a:p>
            <a:pPr lvl="1"/>
            <a:r>
              <a:rPr lang="en-US" altLang="ko-KR" dirty="0"/>
              <a:t>Connection</a:t>
            </a:r>
            <a:r>
              <a:rPr lang="ko-KR" altLang="en-US" dirty="0"/>
              <a:t>객체는 생성</a:t>
            </a:r>
            <a:r>
              <a:rPr lang="en-US" altLang="ko-KR" dirty="0"/>
              <a:t>,</a:t>
            </a:r>
            <a:r>
              <a:rPr lang="ko-KR" altLang="en-US" dirty="0"/>
              <a:t> 초기화</a:t>
            </a:r>
            <a:r>
              <a:rPr lang="en-US" altLang="ko-KR" dirty="0"/>
              <a:t>, </a:t>
            </a:r>
            <a:r>
              <a:rPr lang="ko-KR" altLang="en-US" dirty="0"/>
              <a:t>회수 시 </a:t>
            </a:r>
            <a:r>
              <a:rPr lang="ko-KR" altLang="en-US" b="1" dirty="0">
                <a:solidFill>
                  <a:srgbClr val="FF0000"/>
                </a:solidFill>
              </a:rPr>
              <a:t>많은 시스템 자원 요구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271464" y="3140968"/>
            <a:ext cx="8031193" cy="2889849"/>
            <a:chOff x="731290" y="3749824"/>
            <a:chExt cx="8031193" cy="2889849"/>
          </a:xfrm>
        </p:grpSpPr>
        <p:sp>
          <p:nvSpPr>
            <p:cNvPr id="8" name="직사각형 7"/>
            <p:cNvSpPr/>
            <p:nvPr/>
          </p:nvSpPr>
          <p:spPr>
            <a:xfrm>
              <a:off x="731290" y="3749824"/>
              <a:ext cx="8031193" cy="288984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456981" y="4080294"/>
              <a:ext cx="2622430" cy="7936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웹서버</a:t>
              </a:r>
              <a:r>
                <a:rPr lang="ko-KR" altLang="en-US" dirty="0">
                  <a:solidFill>
                    <a:schemeClr val="tx1"/>
                  </a:solidFill>
                </a:rPr>
                <a:t>/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웹 어플리케이션서버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750943" y="5498293"/>
              <a:ext cx="1328468" cy="7936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DB</a:t>
              </a:r>
              <a:r>
                <a:rPr lang="ko-KR" altLang="en-US" dirty="0">
                  <a:solidFill>
                    <a:schemeClr val="tx1"/>
                  </a:solidFill>
                </a:rPr>
                <a:t>서버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07697" y="4080294"/>
              <a:ext cx="1673525" cy="7936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웹클라이언트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>
              <a:off x="2881222" y="4295955"/>
              <a:ext cx="15757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/>
            <p:nvPr/>
          </p:nvCxnSpPr>
          <p:spPr>
            <a:xfrm>
              <a:off x="2881222" y="4615132"/>
              <a:ext cx="1575759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>
              <a:off x="6682284" y="4913503"/>
              <a:ext cx="0" cy="601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/>
            <p:nvPr/>
          </p:nvCxnSpPr>
          <p:spPr>
            <a:xfrm>
              <a:off x="6095687" y="4913476"/>
              <a:ext cx="6398" cy="562546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0"/>
            <p:cNvSpPr txBox="1"/>
            <p:nvPr/>
          </p:nvSpPr>
          <p:spPr>
            <a:xfrm>
              <a:off x="3297053" y="3987008"/>
              <a:ext cx="888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1. </a:t>
              </a:r>
              <a:r>
                <a:rPr lang="ko-KR" altLang="en-US" dirty="0"/>
                <a:t>요청</a:t>
              </a:r>
            </a:p>
          </p:txBody>
        </p:sp>
        <p:sp>
          <p:nvSpPr>
            <p:cNvPr id="17" name="TextBox 21"/>
            <p:cNvSpPr txBox="1"/>
            <p:nvPr/>
          </p:nvSpPr>
          <p:spPr>
            <a:xfrm>
              <a:off x="3297052" y="4675516"/>
              <a:ext cx="888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5. </a:t>
              </a:r>
              <a:r>
                <a:rPr lang="ko-KR" altLang="en-US" dirty="0"/>
                <a:t>응답</a:t>
              </a:r>
            </a:p>
          </p:txBody>
        </p:sp>
        <p:sp>
          <p:nvSpPr>
            <p:cNvPr id="18" name="자유형 17"/>
            <p:cNvSpPr/>
            <p:nvPr/>
          </p:nvSpPr>
          <p:spPr>
            <a:xfrm>
              <a:off x="7082287" y="4485736"/>
              <a:ext cx="327804" cy="1423358"/>
            </a:xfrm>
            <a:custGeom>
              <a:avLst/>
              <a:gdLst>
                <a:gd name="connsiteX0" fmla="*/ 0 w 327804"/>
                <a:gd name="connsiteY0" fmla="*/ 0 h 1423358"/>
                <a:gd name="connsiteX1" fmla="*/ 319177 w 327804"/>
                <a:gd name="connsiteY1" fmla="*/ 0 h 1423358"/>
                <a:gd name="connsiteX2" fmla="*/ 327804 w 327804"/>
                <a:gd name="connsiteY2" fmla="*/ 1423358 h 1423358"/>
                <a:gd name="connsiteX3" fmla="*/ 8626 w 327804"/>
                <a:gd name="connsiteY3" fmla="*/ 1423358 h 1423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804" h="1423358">
                  <a:moveTo>
                    <a:pt x="0" y="0"/>
                  </a:moveTo>
                  <a:lnTo>
                    <a:pt x="319177" y="0"/>
                  </a:lnTo>
                  <a:cubicBezTo>
                    <a:pt x="322053" y="474453"/>
                    <a:pt x="324928" y="948905"/>
                    <a:pt x="327804" y="1423358"/>
                  </a:cubicBezTo>
                  <a:lnTo>
                    <a:pt x="8626" y="1423358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" name="TextBox 23"/>
            <p:cNvSpPr txBox="1"/>
            <p:nvPr/>
          </p:nvSpPr>
          <p:spPr>
            <a:xfrm>
              <a:off x="7410091" y="4897126"/>
              <a:ext cx="1350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2. </a:t>
              </a:r>
              <a:r>
                <a:rPr lang="ko-KR" altLang="en-US" dirty="0" err="1"/>
                <a:t>연결설정</a:t>
              </a:r>
              <a:endParaRPr lang="ko-KR" altLang="en-US" dirty="0"/>
            </a:p>
          </p:txBody>
        </p:sp>
        <p:sp>
          <p:nvSpPr>
            <p:cNvPr id="20" name="TextBox 25"/>
            <p:cNvSpPr txBox="1"/>
            <p:nvPr/>
          </p:nvSpPr>
          <p:spPr>
            <a:xfrm>
              <a:off x="6595220" y="5039488"/>
              <a:ext cx="888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3. </a:t>
              </a:r>
              <a:r>
                <a:rPr lang="ko-KR" altLang="en-US" dirty="0"/>
                <a:t>질의</a:t>
              </a:r>
            </a:p>
          </p:txBody>
        </p:sp>
        <p:sp>
          <p:nvSpPr>
            <p:cNvPr id="21" name="TextBox 26"/>
            <p:cNvSpPr txBox="1"/>
            <p:nvPr/>
          </p:nvSpPr>
          <p:spPr>
            <a:xfrm>
              <a:off x="5306175" y="5074495"/>
              <a:ext cx="888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4. </a:t>
              </a:r>
              <a:r>
                <a:rPr lang="ko-KR" altLang="en-US" dirty="0"/>
                <a:t>결과</a:t>
              </a:r>
            </a:p>
          </p:txBody>
        </p:sp>
        <p:sp>
          <p:nvSpPr>
            <p:cNvPr id="22" name="자유형 21"/>
            <p:cNvSpPr/>
            <p:nvPr/>
          </p:nvSpPr>
          <p:spPr>
            <a:xfrm>
              <a:off x="5257808" y="4896196"/>
              <a:ext cx="474453" cy="1112807"/>
            </a:xfrm>
            <a:custGeom>
              <a:avLst/>
              <a:gdLst>
                <a:gd name="connsiteX0" fmla="*/ 0 w 474453"/>
                <a:gd name="connsiteY0" fmla="*/ 0 h 1112807"/>
                <a:gd name="connsiteX1" fmla="*/ 0 w 474453"/>
                <a:gd name="connsiteY1" fmla="*/ 1112807 h 1112807"/>
                <a:gd name="connsiteX2" fmla="*/ 474453 w 474453"/>
                <a:gd name="connsiteY2" fmla="*/ 1112807 h 1112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4453" h="1112807">
                  <a:moveTo>
                    <a:pt x="0" y="0"/>
                  </a:moveTo>
                  <a:lnTo>
                    <a:pt x="0" y="1112807"/>
                  </a:lnTo>
                  <a:lnTo>
                    <a:pt x="474453" y="1112807"/>
                  </a:lnTo>
                </a:path>
              </a:pathLst>
            </a:cu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3" name="TextBox 28"/>
            <p:cNvSpPr txBox="1"/>
            <p:nvPr/>
          </p:nvSpPr>
          <p:spPr>
            <a:xfrm>
              <a:off x="3944368" y="5639992"/>
              <a:ext cx="1350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6. </a:t>
              </a:r>
              <a:r>
                <a:rPr lang="ko-KR" altLang="en-US" dirty="0"/>
                <a:t>연결해지</a:t>
              </a:r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409" y="4997674"/>
            <a:ext cx="3781425" cy="1638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4" name="타원 23"/>
          <p:cNvSpPr/>
          <p:nvPr/>
        </p:nvSpPr>
        <p:spPr>
          <a:xfrm>
            <a:off x="9139228" y="5934047"/>
            <a:ext cx="1240971" cy="3359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C4A3A6-5BD0-487A-9463-9C973AC5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7A2E1-3A39-4AB2-BB3F-2A0DAA66C147}"/>
              </a:ext>
            </a:extLst>
          </p:cNvPr>
          <p:cNvSpPr txBox="1"/>
          <p:nvPr/>
        </p:nvSpPr>
        <p:spPr>
          <a:xfrm>
            <a:off x="8826761" y="6328966"/>
            <a:ext cx="310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  <a:latin typeface="+mn-ea"/>
                <a:ea typeface="+mn-ea"/>
              </a:rPr>
              <a:t>java.sql.DriverManager </a:t>
            </a:r>
            <a:r>
              <a:rPr lang="ko-KR" altLang="en-US" sz="1600" b="1">
                <a:solidFill>
                  <a:srgbClr val="FF0000"/>
                </a:solidFill>
                <a:latin typeface="+mn-ea"/>
                <a:ea typeface="+mn-ea"/>
              </a:rPr>
              <a:t>패키지</a:t>
            </a:r>
          </a:p>
        </p:txBody>
      </p:sp>
    </p:spTree>
    <p:extLst>
      <p:ext uri="{BB962C8B-B14F-4D97-AF65-F5344CB8AC3E}">
        <p14:creationId xmlns:p14="http://schemas.microsoft.com/office/powerpoint/2010/main" val="266404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Database Connection Pool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196751"/>
            <a:ext cx="11434714" cy="54729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커넥션 풀</a:t>
            </a:r>
            <a:r>
              <a:rPr lang="en-US" altLang="ko-KR" dirty="0"/>
              <a:t>(CP: Connection Pooling)</a:t>
            </a:r>
          </a:p>
          <a:p>
            <a:pPr lvl="1">
              <a:lnSpc>
                <a:spcPct val="100000"/>
              </a:lnSpc>
            </a:pPr>
            <a:r>
              <a:rPr lang="ko-KR" altLang="en-US" b="1" dirty="0">
                <a:solidFill>
                  <a:srgbClr val="FF0000"/>
                </a:solidFill>
              </a:rPr>
              <a:t>서버</a:t>
            </a:r>
            <a:r>
              <a:rPr lang="ko-KR" altLang="en-US" dirty="0"/>
              <a:t>가 데이터베이스의</a:t>
            </a:r>
            <a:r>
              <a:rPr lang="en-US" altLang="ko-KR" b="1" dirty="0">
                <a:solidFill>
                  <a:srgbClr val="0033CC"/>
                </a:solidFill>
              </a:rPr>
              <a:t> </a:t>
            </a:r>
            <a:r>
              <a:rPr lang="ko-KR" altLang="en-US" b="1" dirty="0">
                <a:solidFill>
                  <a:srgbClr val="0033CC"/>
                </a:solidFill>
              </a:rPr>
              <a:t>연결과 해제를 직접 관리</a:t>
            </a:r>
            <a:endParaRPr lang="en-US" altLang="ko-KR" b="1" dirty="0">
              <a:solidFill>
                <a:srgbClr val="0033CC"/>
              </a:solidFill>
            </a:endParaRPr>
          </a:p>
          <a:p>
            <a:r>
              <a:rPr lang="ko-KR" altLang="en-US" sz="2400" dirty="0"/>
              <a:t>커넥션 풀의 장점</a:t>
            </a:r>
            <a:endParaRPr lang="en-US" altLang="ko-KR" sz="2400" dirty="0"/>
          </a:p>
          <a:p>
            <a:pPr lvl="1"/>
            <a:r>
              <a:rPr lang="ko-KR" altLang="en-US" sz="2200"/>
              <a:t>커넥션 풀을 이용하면 </a:t>
            </a:r>
            <a:r>
              <a:rPr lang="ko-KR" altLang="en-US" sz="2200" b="1">
                <a:solidFill>
                  <a:srgbClr val="0000FF"/>
                </a:solidFill>
              </a:rPr>
              <a:t>동시 사용자 수가 많고</a:t>
            </a:r>
            <a:r>
              <a:rPr lang="en-US" altLang="ko-KR" sz="2200">
                <a:solidFill>
                  <a:srgbClr val="0000FF"/>
                </a:solidFill>
              </a:rPr>
              <a:t>,</a:t>
            </a:r>
            <a:r>
              <a:rPr lang="ko-KR" altLang="en-US" sz="2200">
                <a:solidFill>
                  <a:srgbClr val="0000FF"/>
                </a:solidFill>
              </a:rPr>
              <a:t> </a:t>
            </a:r>
            <a:r>
              <a:rPr lang="en-US" altLang="ko-KR" sz="2200" b="1">
                <a:solidFill>
                  <a:srgbClr val="0000FF"/>
                </a:solidFill>
              </a:rPr>
              <a:t>DB</a:t>
            </a:r>
            <a:r>
              <a:rPr lang="ko-KR" altLang="en-US" sz="2200" b="1">
                <a:solidFill>
                  <a:srgbClr val="0000FF"/>
                </a:solidFill>
              </a:rPr>
              <a:t>작업이 많은 </a:t>
            </a:r>
            <a:r>
              <a:rPr lang="ko-KR" altLang="en-US" sz="2200"/>
              <a:t>시스템에 효율적이다</a:t>
            </a:r>
            <a:r>
              <a:rPr lang="en-US" altLang="ko-KR" sz="2200"/>
              <a:t>.</a:t>
            </a:r>
            <a:endParaRPr lang="ko-KR" altLang="en-US" sz="220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200"/>
              <a:t>빠른 </a:t>
            </a:r>
            <a:r>
              <a:rPr lang="ko-KR" altLang="en-US" sz="2200" dirty="0"/>
              <a:t>실행 속도</a:t>
            </a:r>
            <a:endParaRPr lang="en-US" altLang="ko-KR" sz="2200" dirty="0"/>
          </a:p>
          <a:p>
            <a:pPr lvl="2"/>
            <a:r>
              <a:rPr lang="ko-KR" altLang="en-US" dirty="0"/>
              <a:t>서버가 가동될 때 풀에 커넥션을 생성해 둔다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커넥션 생성과 해지에 시간</a:t>
            </a:r>
            <a:r>
              <a:rPr lang="en-US" altLang="ko-KR" dirty="0"/>
              <a:t>, </a:t>
            </a:r>
            <a:r>
              <a:rPr lang="ko-KR" altLang="en-US" dirty="0"/>
              <a:t>자원이 소비되지 않는다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재사용하므로 생성되는 커넥션 수가 많지 않다</a:t>
            </a:r>
            <a:r>
              <a:rPr lang="en-US" altLang="ko-KR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200" dirty="0"/>
              <a:t>많은 </a:t>
            </a:r>
            <a:r>
              <a:rPr lang="ko-KR" altLang="en-US" sz="2200" dirty="0" err="1"/>
              <a:t>접속자</a:t>
            </a:r>
            <a:r>
              <a:rPr lang="ko-KR" altLang="en-US" sz="2200" dirty="0"/>
              <a:t> 수 처리 가능</a:t>
            </a:r>
            <a:endParaRPr lang="en-US" altLang="ko-KR" sz="2200" dirty="0"/>
          </a:p>
          <a:p>
            <a:pPr lvl="2"/>
            <a:r>
              <a:rPr lang="ko-KR" altLang="en-US" dirty="0"/>
              <a:t>한 번에 생성될 수 있는 커넥션 수를 제어하므로 </a:t>
            </a:r>
            <a:r>
              <a:rPr lang="ko-KR" altLang="en-US" b="1" dirty="0" err="1">
                <a:solidFill>
                  <a:srgbClr val="FF0000"/>
                </a:solidFill>
              </a:rPr>
              <a:t>접속자</a:t>
            </a:r>
            <a:r>
              <a:rPr lang="ko-KR" altLang="en-US" b="1" dirty="0">
                <a:solidFill>
                  <a:srgbClr val="FF0000"/>
                </a:solidFill>
              </a:rPr>
              <a:t> 수</a:t>
            </a:r>
            <a:r>
              <a:rPr lang="ko-KR" altLang="en-US" dirty="0"/>
              <a:t>가 많아도 처리 가능하다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067" y="2996846"/>
            <a:ext cx="3778547" cy="15409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타원 5"/>
          <p:cNvSpPr/>
          <p:nvPr/>
        </p:nvSpPr>
        <p:spPr>
          <a:xfrm>
            <a:off x="8907171" y="3431430"/>
            <a:ext cx="1240971" cy="3359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D5886E-241E-4844-88AF-D7EDE73F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5B237-89F0-4C05-9B03-CCA24FAE87FE}"/>
              </a:ext>
            </a:extLst>
          </p:cNvPr>
          <p:cNvSpPr txBox="1"/>
          <p:nvPr/>
        </p:nvSpPr>
        <p:spPr>
          <a:xfrm>
            <a:off x="8935098" y="4496641"/>
            <a:ext cx="2898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  <a:latin typeface="+mn-ea"/>
                <a:ea typeface="+mn-ea"/>
              </a:rPr>
              <a:t>Javax.sql.DataSourse </a:t>
            </a:r>
            <a:r>
              <a:rPr lang="ko-KR" altLang="en-US" sz="1600" b="1">
                <a:solidFill>
                  <a:srgbClr val="FF0000"/>
                </a:solidFill>
                <a:latin typeface="+mn-ea"/>
                <a:ea typeface="+mn-ea"/>
              </a:rPr>
              <a:t>패키지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0648DEB-2A4F-4068-88C3-422AE8B4D10C}"/>
              </a:ext>
            </a:extLst>
          </p:cNvPr>
          <p:cNvCxnSpPr>
            <a:endCxn id="6" idx="5"/>
          </p:cNvCxnSpPr>
          <p:nvPr/>
        </p:nvCxnSpPr>
        <p:spPr>
          <a:xfrm flipH="1" flipV="1">
            <a:off x="9966406" y="3718140"/>
            <a:ext cx="438361" cy="7442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8F048B-40A5-4350-8637-BC0B81644395}"/>
              </a:ext>
            </a:extLst>
          </p:cNvPr>
          <p:cNvSpPr/>
          <p:nvPr/>
        </p:nvSpPr>
        <p:spPr>
          <a:xfrm>
            <a:off x="774890" y="6011572"/>
            <a:ext cx="110270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>
                <a:latin typeface="+mn-ea"/>
                <a:ea typeface="+mn-ea"/>
                <a:hlinkClick r:id="rId3"/>
              </a:rPr>
              <a:t>https://docs.oracle.com/javase/</a:t>
            </a:r>
            <a:r>
              <a:rPr lang="en-US" altLang="ko-KR" sz="1600" b="1">
                <a:latin typeface="+mn-ea"/>
                <a:ea typeface="+mn-ea"/>
                <a:hlinkClick r:id="rId3"/>
              </a:rPr>
              <a:t>17</a:t>
            </a:r>
            <a:r>
              <a:rPr lang="ko-KR" altLang="en-US" sz="1600" b="1">
                <a:latin typeface="+mn-ea"/>
                <a:ea typeface="+mn-ea"/>
                <a:hlinkClick r:id="rId3"/>
              </a:rPr>
              <a:t>/docs/api/index.html?java/sql/package-summary.html</a:t>
            </a:r>
            <a:endParaRPr lang="en-US" altLang="ko-KR" sz="1600" b="1">
              <a:latin typeface="+mn-ea"/>
              <a:ea typeface="+mn-ea"/>
            </a:endParaRPr>
          </a:p>
          <a:p>
            <a:endParaRPr lang="ko-KR" altLang="en-US" sz="1600" b="1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184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Database Connection Pool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9496" y="1052735"/>
            <a:ext cx="9001000" cy="573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E7D97710-4D45-4D61-9027-FA9DF1D957ED}"/>
              </a:ext>
            </a:extLst>
          </p:cNvPr>
          <p:cNvSpPr/>
          <p:nvPr/>
        </p:nvSpPr>
        <p:spPr>
          <a:xfrm>
            <a:off x="6744072" y="1124744"/>
            <a:ext cx="360040" cy="3600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2F4D222-D5A3-43B1-AA0D-CBF7524216FB}"/>
              </a:ext>
            </a:extLst>
          </p:cNvPr>
          <p:cNvSpPr/>
          <p:nvPr/>
        </p:nvSpPr>
        <p:spPr>
          <a:xfrm>
            <a:off x="3073164" y="1124744"/>
            <a:ext cx="360040" cy="3600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82E1AF5-22F3-4329-B599-D7EB2AC3B119}"/>
              </a:ext>
            </a:extLst>
          </p:cNvPr>
          <p:cNvSpPr/>
          <p:nvPr/>
        </p:nvSpPr>
        <p:spPr>
          <a:xfrm>
            <a:off x="4053898" y="3616146"/>
            <a:ext cx="360040" cy="3600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5753C28-B2F3-4268-8E14-3AEEA5268D73}"/>
              </a:ext>
            </a:extLst>
          </p:cNvPr>
          <p:cNvSpPr/>
          <p:nvPr/>
        </p:nvSpPr>
        <p:spPr>
          <a:xfrm>
            <a:off x="3745614" y="5446893"/>
            <a:ext cx="360040" cy="3600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0A352F-1610-4D6F-B2E9-D1329C85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120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커넥션 풀</a:t>
            </a:r>
            <a:r>
              <a:rPr lang="en-US" altLang="ko-KR" dirty="0"/>
              <a:t>(CP: Connection Pooling)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551384" y="1052737"/>
            <a:ext cx="11017224" cy="2880319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</a:rPr>
              <a:t>DBCP</a:t>
            </a:r>
            <a:r>
              <a:rPr lang="ko-KR" altLang="en-US" sz="2400" dirty="0">
                <a:latin typeface="+mn-ea"/>
              </a:rPr>
              <a:t>에 사용된 라이브러리 </a:t>
            </a:r>
            <a:r>
              <a:rPr lang="en-US" altLang="ko-KR" sz="2400" dirty="0">
                <a:latin typeface="+mn-ea"/>
              </a:rPr>
              <a:t>commons-</a:t>
            </a:r>
            <a:r>
              <a:rPr lang="en-US" altLang="ko-KR" sz="2400" dirty="0" err="1">
                <a:latin typeface="+mn-ea"/>
              </a:rPr>
              <a:t>dbcp</a:t>
            </a:r>
            <a:r>
              <a:rPr lang="en-US" altLang="ko-KR" sz="2400" dirty="0">
                <a:latin typeface="+mn-ea"/>
              </a:rPr>
              <a:t>, commons-pool, commons-collections</a:t>
            </a:r>
            <a:r>
              <a:rPr lang="ko-KR" altLang="en-US" sz="2400" dirty="0">
                <a:latin typeface="+mn-ea"/>
              </a:rPr>
              <a:t>는 </a:t>
            </a:r>
            <a:r>
              <a:rPr lang="ko-KR" altLang="en-US" sz="2400" b="1" dirty="0" err="1">
                <a:latin typeface="+mn-ea"/>
              </a:rPr>
              <a:t>톰캣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6.0 </a:t>
            </a:r>
            <a:r>
              <a:rPr lang="ko-KR" altLang="en-US" sz="2400" dirty="0">
                <a:latin typeface="+mn-ea"/>
              </a:rPr>
              <a:t>부터 </a:t>
            </a:r>
            <a:r>
              <a:rPr lang="en-US" altLang="ko-KR" sz="2400" b="1" dirty="0">
                <a:solidFill>
                  <a:srgbClr val="0000FF"/>
                </a:solidFill>
                <a:latin typeface="+mn-ea"/>
              </a:rPr>
              <a:t>tomcat-dbcp.jar</a:t>
            </a:r>
            <a:r>
              <a:rPr lang="ko-KR" altLang="en-US" sz="2400" dirty="0">
                <a:latin typeface="+mn-ea"/>
              </a:rPr>
              <a:t>로 통합</a:t>
            </a:r>
            <a:endParaRPr lang="en-US" altLang="ko-KR" sz="2400" dirty="0">
              <a:latin typeface="+mn-ea"/>
            </a:endParaRPr>
          </a:p>
          <a:p>
            <a:r>
              <a:rPr lang="ko-KR" altLang="en-US" sz="2400">
                <a:latin typeface="+mn-ea"/>
              </a:rPr>
              <a:t>여기서는 </a:t>
            </a:r>
            <a:r>
              <a:rPr lang="en-US" altLang="ko-KR" sz="2400" b="1">
                <a:solidFill>
                  <a:srgbClr val="0000FF"/>
                </a:solidFill>
                <a:latin typeface="+mn-ea"/>
              </a:rPr>
              <a:t>tomcat-dbcp.jar</a:t>
            </a:r>
            <a:r>
              <a:rPr lang="ko-KR" altLang="en-US" sz="2400">
                <a:latin typeface="+mn-ea"/>
              </a:rPr>
              <a:t>에 </a:t>
            </a:r>
            <a:r>
              <a:rPr lang="ko-KR" altLang="en-US" sz="2400" dirty="0">
                <a:latin typeface="+mn-ea"/>
              </a:rPr>
              <a:t>대해 다룰 예정</a:t>
            </a:r>
            <a:endParaRPr lang="en-US" altLang="ko-KR" sz="2400" dirty="0">
              <a:latin typeface="+mn-ea"/>
            </a:endParaRPr>
          </a:p>
          <a:p>
            <a:pPr lvl="1"/>
            <a:r>
              <a:rPr lang="en-US" altLang="ko-KR" sz="2000" dirty="0">
                <a:latin typeface="+mn-ea"/>
              </a:rPr>
              <a:t>common-</a:t>
            </a:r>
            <a:r>
              <a:rPr lang="en-US" altLang="ko-KR" sz="2000" dirty="0" err="1">
                <a:latin typeface="+mn-ea"/>
              </a:rPr>
              <a:t>dbcp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Tomcat-</a:t>
            </a:r>
            <a:r>
              <a:rPr lang="en-US" altLang="ko-KR" sz="2000" dirty="0" err="1">
                <a:latin typeface="+mn-ea"/>
              </a:rPr>
              <a:t>dbcp</a:t>
            </a:r>
            <a:r>
              <a:rPr lang="ko-KR" altLang="en-US" sz="2000" dirty="0">
                <a:latin typeface="+mn-ea"/>
              </a:rPr>
              <a:t>는 사용하는 </a:t>
            </a:r>
            <a:r>
              <a:rPr lang="en-US" altLang="ko-KR" sz="2000" dirty="0">
                <a:latin typeface="+mn-ea"/>
              </a:rPr>
              <a:t>Parameter</a:t>
            </a:r>
            <a:r>
              <a:rPr lang="ko-KR" altLang="en-US" sz="2000" dirty="0">
                <a:latin typeface="+mn-ea"/>
              </a:rPr>
              <a:t>가 유사하나 다른 </a:t>
            </a:r>
            <a:r>
              <a:rPr lang="en-US" altLang="ko-KR" sz="2000" dirty="0">
                <a:latin typeface="+mn-ea"/>
              </a:rPr>
              <a:t>API</a:t>
            </a:r>
            <a:r>
              <a:rPr lang="ko-KR" altLang="en-US" sz="2000" dirty="0">
                <a:latin typeface="+mn-ea"/>
              </a:rPr>
              <a:t>임</a:t>
            </a:r>
            <a:endParaRPr lang="en-US" altLang="ko-KR" sz="2000" dirty="0">
              <a:latin typeface="+mn-ea"/>
            </a:endParaRPr>
          </a:p>
          <a:p>
            <a:pPr lvl="1"/>
            <a:r>
              <a:rPr lang="ko-KR" altLang="en-US" sz="2000" dirty="0">
                <a:latin typeface="+mn-ea"/>
              </a:rPr>
              <a:t>설정 시 반드시 공식 사이트의 매뉴얼을 확인하고 적용해야 함</a:t>
            </a:r>
            <a:br>
              <a:rPr lang="ko-KR" altLang="en-US" sz="2000" dirty="0">
                <a:latin typeface="+mn-ea"/>
              </a:rPr>
            </a:br>
            <a:endParaRPr lang="ko-KR" altLang="en-US" sz="18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294" y="5717616"/>
            <a:ext cx="9369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>
                <a:solidFill>
                  <a:srgbClr val="0000FF"/>
                </a:solidFill>
                <a:hlinkClick r:id="rId2"/>
              </a:rPr>
              <a:t>https://docs.oracle.com/</a:t>
            </a:r>
            <a:r>
              <a:rPr lang="en-US" altLang="ko-KR" sz="2000" b="1">
                <a:solidFill>
                  <a:srgbClr val="0000FF"/>
                </a:solidFill>
                <a:hlinkClick r:id="rId2"/>
              </a:rPr>
              <a:t>javase/17/</a:t>
            </a:r>
            <a:r>
              <a:rPr lang="en-US" altLang="ko-KR" sz="2000" b="1" dirty="0">
                <a:solidFill>
                  <a:srgbClr val="0000FF"/>
                </a:solidFill>
                <a:hlinkClick r:id="rId2"/>
              </a:rPr>
              <a:t>docs/api/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5730" y="5317506"/>
            <a:ext cx="112471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hlinkClick r:id="rId3"/>
              </a:rPr>
              <a:t>http://tomcat.apache.org/tomcat-9.0-doc/jndi-resources-howto.html</a:t>
            </a:r>
            <a:endParaRPr lang="ko-KR" altLang="en-US" sz="2000" b="1" dirty="0"/>
          </a:p>
        </p:txBody>
      </p:sp>
      <p:sp>
        <p:nvSpPr>
          <p:cNvPr id="8" name="직사각형 7"/>
          <p:cNvSpPr/>
          <p:nvPr/>
        </p:nvSpPr>
        <p:spPr>
          <a:xfrm>
            <a:off x="551384" y="4917396"/>
            <a:ext cx="72250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hlinkClick r:id="rId4"/>
              </a:rPr>
              <a:t>http://tomcat.apache.org/tomcat-9.0-doc/jdbc-pool.html</a:t>
            </a:r>
            <a:endParaRPr lang="ko-KR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36436" y="445573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latin typeface="+mn-ea"/>
                <a:ea typeface="+mn-ea"/>
              </a:rPr>
              <a:t>관련 참고 사항 사이트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F353EC-D870-4E6A-8CD9-7A3C2964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59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DataSource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커넥션 풀의 </a:t>
            </a:r>
            <a:r>
              <a:rPr lang="en-US" altLang="ko-KR" b="1" dirty="0">
                <a:solidFill>
                  <a:srgbClr val="0000FF"/>
                </a:solidFill>
              </a:rPr>
              <a:t>Connection  </a:t>
            </a:r>
            <a:r>
              <a:rPr lang="ko-KR" altLang="en-US" b="1" dirty="0">
                <a:solidFill>
                  <a:srgbClr val="0000FF"/>
                </a:solidFill>
              </a:rPr>
              <a:t>관리</a:t>
            </a:r>
            <a:r>
              <a:rPr lang="en-US" altLang="ko-KR" b="1" dirty="0">
                <a:solidFill>
                  <a:srgbClr val="0000FF"/>
                </a:solidFill>
              </a:rPr>
              <a:t> </a:t>
            </a:r>
            <a:r>
              <a:rPr lang="ko-KR" altLang="en-US" b="1" dirty="0">
                <a:solidFill>
                  <a:srgbClr val="0000FF"/>
                </a:solidFill>
              </a:rPr>
              <a:t>객체</a:t>
            </a:r>
            <a:endParaRPr lang="en-US" altLang="ko-KR" b="1" dirty="0">
              <a:solidFill>
                <a:srgbClr val="0000FF"/>
              </a:solidFill>
            </a:endParaRPr>
          </a:p>
          <a:p>
            <a:pPr lvl="1"/>
            <a:r>
              <a:rPr lang="en-US" altLang="ko-KR" dirty="0" err="1"/>
              <a:t>DriverManager</a:t>
            </a:r>
            <a:r>
              <a:rPr lang="ko-KR" altLang="en-US" dirty="0"/>
              <a:t> 역할</a:t>
            </a:r>
            <a:r>
              <a:rPr lang="en-US" altLang="ko-KR" dirty="0"/>
              <a:t>(Connection 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을 대체</a:t>
            </a:r>
            <a:endParaRPr lang="en-US" altLang="ko-KR" dirty="0"/>
          </a:p>
          <a:p>
            <a:r>
              <a:rPr lang="en-US" altLang="ko-KR" dirty="0"/>
              <a:t>JNDI(Java Naming and Directory Interface)</a:t>
            </a:r>
            <a:r>
              <a:rPr lang="ko-KR" altLang="en-US" dirty="0"/>
              <a:t>를 통해 사용</a:t>
            </a:r>
            <a:endParaRPr lang="en-US" altLang="ko-KR" dirty="0"/>
          </a:p>
          <a:p>
            <a:r>
              <a:rPr lang="en-US" altLang="ko-KR" dirty="0" err="1"/>
              <a:t>DataSource</a:t>
            </a:r>
            <a:r>
              <a:rPr lang="en-US" altLang="ko-KR" dirty="0"/>
              <a:t>  </a:t>
            </a:r>
            <a:r>
              <a:rPr lang="ko-KR" altLang="en-US" dirty="0"/>
              <a:t>객체를</a:t>
            </a:r>
            <a:r>
              <a:rPr lang="en-US" altLang="ko-KR" dirty="0"/>
              <a:t> </a:t>
            </a:r>
            <a:r>
              <a:rPr lang="ko-KR" altLang="en-US" dirty="0"/>
              <a:t>통해 필요한 </a:t>
            </a:r>
            <a:r>
              <a:rPr lang="en-US" altLang="ko-KR" dirty="0"/>
              <a:t>Connection </a:t>
            </a:r>
            <a:r>
              <a:rPr lang="ko-KR" altLang="en-US" dirty="0"/>
              <a:t>획득</a:t>
            </a:r>
            <a:r>
              <a:rPr lang="en-US" altLang="ko-KR" dirty="0"/>
              <a:t>, </a:t>
            </a:r>
            <a:r>
              <a:rPr lang="ko-KR" altLang="en-US" dirty="0"/>
              <a:t>반납 작업 </a:t>
            </a:r>
            <a:endParaRPr lang="en-US" altLang="ko-KR" dirty="0"/>
          </a:p>
          <a:p>
            <a:r>
              <a:rPr lang="en-US" altLang="ko-KR" b="1" dirty="0" err="1"/>
              <a:t>java</a:t>
            </a:r>
            <a:r>
              <a:rPr lang="en-US" altLang="ko-KR" b="1" dirty="0" err="1">
                <a:solidFill>
                  <a:srgbClr val="FF0000"/>
                </a:solidFill>
              </a:rPr>
              <a:t>x</a:t>
            </a:r>
            <a:r>
              <a:rPr lang="en-US" altLang="ko-KR" b="1" dirty="0" err="1"/>
              <a:t>.sql.DataSource</a:t>
            </a:r>
            <a:endParaRPr lang="en-US" altLang="ko-KR" b="1" dirty="0"/>
          </a:p>
          <a:p>
            <a:r>
              <a:rPr lang="en-US" altLang="ko-KR" dirty="0" err="1"/>
              <a:t>DataSource</a:t>
            </a:r>
            <a:r>
              <a:rPr lang="ko-KR" altLang="en-US" dirty="0"/>
              <a:t>의 장점</a:t>
            </a:r>
            <a:endParaRPr lang="en-US" altLang="ko-KR" dirty="0"/>
          </a:p>
          <a:p>
            <a:pPr lvl="1"/>
            <a:r>
              <a:rPr lang="ko-KR" altLang="en-US" dirty="0"/>
              <a:t>코드 </a:t>
            </a:r>
            <a:r>
              <a:rPr lang="ko-KR" altLang="en-US" dirty="0" err="1"/>
              <a:t>이식성</a:t>
            </a:r>
            <a:r>
              <a:rPr lang="ko-KR" altLang="en-US" dirty="0"/>
              <a:t> </a:t>
            </a:r>
            <a:r>
              <a:rPr lang="ko-KR" altLang="en-US" dirty="0" err="1"/>
              <a:t>높여줌</a:t>
            </a:r>
            <a:endParaRPr lang="en-US" altLang="ko-KR" dirty="0"/>
          </a:p>
          <a:p>
            <a:pPr lvl="1"/>
            <a:r>
              <a:rPr lang="ko-KR" altLang="en-US" dirty="0"/>
              <a:t>코드 관리 용이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9E5FDB-17FE-4FE4-BFF3-F8FAF6C4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810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DataSource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 절차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b="1" dirty="0"/>
              <a:t>JNDI Server</a:t>
            </a:r>
            <a:r>
              <a:rPr lang="ko-KR" altLang="en-US" dirty="0"/>
              <a:t>에서 </a:t>
            </a:r>
            <a:r>
              <a:rPr lang="en-US" altLang="ko-KR" dirty="0"/>
              <a:t>lookup() </a:t>
            </a:r>
            <a:r>
              <a:rPr lang="ko-KR" altLang="en-US" dirty="0" err="1"/>
              <a:t>메소드를</a:t>
            </a:r>
            <a:r>
              <a:rPr lang="ko-KR" altLang="en-US" dirty="0"/>
              <a:t> 통해 </a:t>
            </a:r>
            <a:r>
              <a:rPr lang="en-US" altLang="ko-KR" b="1" dirty="0" err="1">
                <a:solidFill>
                  <a:srgbClr val="FF0000"/>
                </a:solidFill>
              </a:rPr>
              <a:t>DataSource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객체 </a:t>
            </a:r>
            <a:r>
              <a:rPr lang="ko-KR" altLang="en-US" dirty="0"/>
              <a:t>획득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en-US" altLang="ko-KR" dirty="0" err="1"/>
              <a:t>getConnection</a:t>
            </a:r>
            <a:r>
              <a:rPr lang="en-US" altLang="ko-KR" dirty="0"/>
              <a:t>()</a:t>
            </a:r>
            <a:r>
              <a:rPr lang="ko-KR" altLang="en-US" dirty="0"/>
              <a:t>을 통해 커넥션 풀에서 사용 </a:t>
            </a:r>
            <a:r>
              <a:rPr lang="ko-KR" altLang="en-US"/>
              <a:t>가능한 </a:t>
            </a:r>
            <a:r>
              <a:rPr lang="en-US" altLang="ko-KR" b="1">
                <a:solidFill>
                  <a:srgbClr val="FF0000"/>
                </a:solidFill>
              </a:rPr>
              <a:t>Connection </a:t>
            </a:r>
            <a:r>
              <a:rPr lang="ko-KR" altLang="en-US" b="1">
                <a:solidFill>
                  <a:srgbClr val="FF0000"/>
                </a:solidFill>
              </a:rPr>
              <a:t>객체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 dirty="0"/>
              <a:t>획득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Connection </a:t>
            </a:r>
            <a:r>
              <a:rPr lang="ko-KR" altLang="en-US" dirty="0"/>
              <a:t>객체를 통한 </a:t>
            </a:r>
            <a:r>
              <a:rPr lang="en-US" altLang="ko-KR" dirty="0"/>
              <a:t>DBMS</a:t>
            </a:r>
            <a:r>
              <a:rPr lang="ko-KR" altLang="en-US" dirty="0"/>
              <a:t>작업 수행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모든 작업이 끝나면 </a:t>
            </a:r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객체를 통해 </a:t>
            </a:r>
            <a:r>
              <a:rPr lang="en-US" altLang="ko-KR" dirty="0"/>
              <a:t>Connection </a:t>
            </a:r>
            <a:r>
              <a:rPr lang="ko-KR" altLang="en-US" dirty="0"/>
              <a:t>반납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93093D-73DA-4ACC-89FA-5EC312FE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63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 JNDI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617704" cy="5611906"/>
          </a:xfrm>
        </p:spPr>
        <p:txBody>
          <a:bodyPr/>
          <a:lstStyle/>
          <a:p>
            <a:r>
              <a:rPr lang="en-US" altLang="ko-KR" b="1" dirty="0"/>
              <a:t>JNDI</a:t>
            </a:r>
            <a:r>
              <a:rPr lang="en-US" altLang="ko-KR" dirty="0"/>
              <a:t>(Java Naming and Directory </a:t>
            </a:r>
            <a:r>
              <a:rPr lang="en-US" altLang="ko-KR"/>
              <a:t>Interface)</a:t>
            </a:r>
          </a:p>
          <a:p>
            <a:pPr lvl="1"/>
            <a:r>
              <a:rPr lang="ko-KR" altLang="en-US"/>
              <a:t>디렉터리 서비스에서 제공하는 </a:t>
            </a:r>
            <a:r>
              <a:rPr lang="ko-KR" altLang="en-US" dirty="0"/>
              <a:t>데이터 및 객체를 발견하고 </a:t>
            </a:r>
            <a:r>
              <a:rPr lang="ko-KR" altLang="en-US" b="1" dirty="0"/>
              <a:t>참고</a:t>
            </a:r>
            <a:r>
              <a:rPr lang="ko-KR" altLang="en-US" dirty="0"/>
              <a:t>하기 위한 </a:t>
            </a:r>
            <a:r>
              <a:rPr lang="ko-KR" altLang="en-US"/>
              <a:t>자바 </a:t>
            </a:r>
            <a:r>
              <a:rPr lang="en-US" altLang="ko-KR"/>
              <a:t>API</a:t>
            </a:r>
          </a:p>
          <a:p>
            <a:pPr lvl="1"/>
            <a:r>
              <a:rPr lang="ko-KR" altLang="en-US"/>
              <a:t>웹 애플리케이션이 데이터베이스 연결</a:t>
            </a:r>
            <a:r>
              <a:rPr lang="en-US" altLang="ko-KR"/>
              <a:t>, </a:t>
            </a:r>
            <a:r>
              <a:rPr lang="ko-KR" altLang="en-US"/>
              <a:t>메일 세션</a:t>
            </a:r>
            <a:r>
              <a:rPr lang="en-US" altLang="ko-KR"/>
              <a:t>, </a:t>
            </a:r>
            <a:r>
              <a:rPr lang="ko-KR" altLang="en-US"/>
              <a:t>환경 변수 등의 리소스를 쉽게 검색하고 사용할 수 있도록 함</a:t>
            </a:r>
            <a:r>
              <a:rPr lang="en-US" altLang="ko-KR"/>
              <a:t>.</a:t>
            </a:r>
          </a:p>
          <a:p>
            <a:r>
              <a:rPr lang="en-US" altLang="ko-KR" b="1"/>
              <a:t>Tomcat JNDI </a:t>
            </a:r>
            <a:r>
              <a:rPr lang="ko-KR" altLang="en-US" b="1"/>
              <a:t>서비스의 주요 특징</a:t>
            </a:r>
          </a:p>
          <a:p>
            <a:pPr lvl="1"/>
            <a:r>
              <a:rPr lang="ko-KR" altLang="en-US" b="1"/>
              <a:t>리소스 관리</a:t>
            </a:r>
            <a:r>
              <a:rPr lang="en-US" altLang="ko-KR"/>
              <a:t>: </a:t>
            </a:r>
            <a:r>
              <a:rPr lang="ko-KR" altLang="en-US"/>
              <a:t>데이터베이스 연결 풀</a:t>
            </a:r>
            <a:r>
              <a:rPr lang="en-US" altLang="ko-KR"/>
              <a:t>, </a:t>
            </a:r>
            <a:r>
              <a:rPr lang="ko-KR" altLang="en-US"/>
              <a:t>메일 세션 등의 리소스를 중앙에서 관리</a:t>
            </a:r>
            <a:endParaRPr lang="en-US" altLang="ko-KR"/>
          </a:p>
          <a:p>
            <a:pPr lvl="1"/>
            <a:r>
              <a:rPr lang="ko-KR" altLang="en-US" b="1"/>
              <a:t>구성 분리</a:t>
            </a:r>
            <a:r>
              <a:rPr lang="en-US" altLang="ko-KR"/>
              <a:t>: </a:t>
            </a:r>
            <a:r>
              <a:rPr lang="ko-KR" altLang="en-US"/>
              <a:t>애플리케이션 코드와 리소스 구성을 분리하여 유지보수성 향상</a:t>
            </a:r>
            <a:endParaRPr lang="en-US" altLang="ko-KR"/>
          </a:p>
          <a:p>
            <a:pPr lvl="1"/>
            <a:r>
              <a:rPr lang="ko-KR" altLang="en-US" b="1"/>
              <a:t>컨텍스트 기반</a:t>
            </a:r>
            <a:r>
              <a:rPr lang="en-US" altLang="ko-KR"/>
              <a:t>: </a:t>
            </a:r>
            <a:r>
              <a:rPr lang="ko-KR" altLang="en-US"/>
              <a:t>각 웹 애플리케이션은 자체 네이밍 컨텍스트를 가질 수 있음</a:t>
            </a:r>
            <a:endParaRPr lang="en-US" altLang="ko-KR"/>
          </a:p>
          <a:p>
            <a:pPr lvl="1"/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CAD066-480F-471B-8D86-6933FBF5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9</a:t>
            </a:fld>
            <a:endParaRPr lang="en-US" altLang="ko-KR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50A970-7A82-4217-811C-CCA65B8DAEE9}"/>
              </a:ext>
            </a:extLst>
          </p:cNvPr>
          <p:cNvSpPr/>
          <p:nvPr/>
        </p:nvSpPr>
        <p:spPr>
          <a:xfrm>
            <a:off x="5737019" y="5588587"/>
            <a:ext cx="609600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altLang="ko-KR" sz="1600">
                <a:latin typeface="+mn-ea"/>
                <a:ea typeface="+mn-ea"/>
              </a:rPr>
              <a:t>Tomcat</a:t>
            </a:r>
            <a:r>
              <a:rPr lang="ko-KR" altLang="en-US" sz="1600">
                <a:latin typeface="+mn-ea"/>
                <a:ea typeface="+mn-ea"/>
              </a:rPr>
              <a:t>의 </a:t>
            </a:r>
            <a:r>
              <a:rPr lang="en-US" altLang="ko-KR" sz="1600">
                <a:latin typeface="+mn-ea"/>
                <a:ea typeface="+mn-ea"/>
              </a:rPr>
              <a:t>JNDI </a:t>
            </a:r>
            <a:r>
              <a:rPr lang="ko-KR" altLang="en-US" sz="1600">
                <a:latin typeface="+mn-ea"/>
                <a:ea typeface="+mn-ea"/>
              </a:rPr>
              <a:t>서비스는 엔터프라이즈 웹 애플리케이션 개발에서 리소스 관리를 단순화하고 애플리케이션의 확장성과 유지보수성을 향상시키는 중요한 구성 요소임</a:t>
            </a:r>
          </a:p>
        </p:txBody>
      </p:sp>
    </p:spTree>
    <p:extLst>
      <p:ext uri="{BB962C8B-B14F-4D97-AF65-F5344CB8AC3E}">
        <p14:creationId xmlns:p14="http://schemas.microsoft.com/office/powerpoint/2010/main" val="291758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 Naming &amp; Directory </a:t>
            </a:r>
            <a:r>
              <a:rPr lang="ko-KR" altLang="en-US"/>
              <a:t>서비스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617704" cy="5611906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en-US" altLang="ko-KR" b="1"/>
              <a:t>Naming &amp; Directory </a:t>
            </a:r>
            <a:r>
              <a:rPr lang="ko-KR" altLang="en-US" b="1"/>
              <a:t>서비스</a:t>
            </a:r>
            <a:endParaRPr lang="en-US" altLang="ko-KR" b="1"/>
          </a:p>
          <a:p>
            <a:pPr lvl="1" fontAlgn="auto">
              <a:spcAft>
                <a:spcPts val="0"/>
              </a:spcAft>
            </a:pPr>
            <a:r>
              <a:rPr lang="ko-KR" altLang="en-US"/>
              <a:t>분산 환경에서 자원을 연결하는 기능</a:t>
            </a:r>
            <a:endParaRPr lang="en-US" altLang="ko-KR"/>
          </a:p>
          <a:p>
            <a:pPr lvl="1" fontAlgn="auto">
              <a:spcAft>
                <a:spcPts val="0"/>
              </a:spcAft>
            </a:pPr>
            <a:r>
              <a:rPr lang="ko-KR" altLang="en-US"/>
              <a:t>서버나 애플리케이션에서 서비스하고자 하는 자원을 이 </a:t>
            </a:r>
            <a:r>
              <a:rPr lang="en-US" altLang="ko-KR"/>
              <a:t>Naming &amp; Directory </a:t>
            </a:r>
            <a:r>
              <a:rPr lang="ko-KR" altLang="en-US"/>
              <a:t>서버에 이름값과 실제 자원을 연결하여 등록</a:t>
            </a:r>
            <a:endParaRPr lang="en-US" altLang="ko-KR"/>
          </a:p>
          <a:p>
            <a:pPr lvl="1" fontAlgn="auto">
              <a:spcAft>
                <a:spcPts val="0"/>
              </a:spcAft>
            </a:pPr>
            <a:r>
              <a:rPr lang="ko-KR" altLang="en-US"/>
              <a:t>자원을 이용하고자 하는 다른 애플리케이션에서 </a:t>
            </a:r>
            <a:r>
              <a:rPr lang="en-US" altLang="ko-KR"/>
              <a:t>Naming &amp; Directory </a:t>
            </a:r>
            <a:r>
              <a:rPr lang="ko-KR" altLang="en-US"/>
              <a:t>서버에 접근하여 이름 값만을 가지고 자원을 연결하여 이용</a:t>
            </a:r>
            <a:endParaRPr lang="en-US" altLang="ko-KR"/>
          </a:p>
          <a:p>
            <a:pPr lvl="1" fontAlgn="auto">
              <a:spcAft>
                <a:spcPts val="0"/>
              </a:spcAft>
            </a:pPr>
            <a:r>
              <a:rPr lang="ko-KR" altLang="en-US"/>
              <a:t>대표적인 예 </a:t>
            </a:r>
            <a:r>
              <a:rPr lang="en-US" altLang="ko-KR"/>
              <a:t>: DNS </a:t>
            </a:r>
            <a:r>
              <a:rPr lang="ko-KR" altLang="en-US"/>
              <a:t>서버</a:t>
            </a:r>
            <a:endParaRPr lang="en-US" altLang="ko-KR" dirty="0"/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389848" y="4581128"/>
            <a:ext cx="5644005" cy="2057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kumimoji="0" lang="ko-KR" altLang="en-US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3910845"/>
            <a:ext cx="5977399" cy="2728273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CAD066-480F-471B-8D86-6933FBF5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645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Database Connection Pool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DBCP API</a:t>
            </a:r>
            <a:r>
              <a:rPr lang="ko-KR" altLang="en-US" dirty="0"/>
              <a:t>를 사용해서 커넥션 풀을 사용하기 </a:t>
            </a:r>
            <a:r>
              <a:rPr lang="ko-KR" altLang="en-US"/>
              <a:t>위한 절차</a:t>
            </a:r>
            <a:endParaRPr lang="en-US" altLang="ko-KR" dirty="0"/>
          </a:p>
          <a:p>
            <a:pPr marL="914331" lvl="1" indent="-457200">
              <a:buFont typeface="+mj-lt"/>
              <a:buAutoNum type="arabicPeriod"/>
            </a:pPr>
            <a:r>
              <a:rPr lang="en-US" altLang="ko-KR" dirty="0"/>
              <a:t>DBCP </a:t>
            </a:r>
            <a:r>
              <a:rPr lang="en-US" altLang="ko-KR"/>
              <a:t>API</a:t>
            </a:r>
            <a:r>
              <a:rPr lang="ko-KR" altLang="en-US"/>
              <a:t>관련 설치 파일</a:t>
            </a:r>
            <a:endParaRPr lang="en-US" altLang="ko-KR" dirty="0"/>
          </a:p>
          <a:p>
            <a:pPr marL="1257231" lvl="2" indent="-342900"/>
            <a:r>
              <a:rPr lang="en-US" altLang="ko-KR"/>
              <a:t>mariadb-java-client-2.7.5.jar (jdbc driver)</a:t>
            </a:r>
            <a:endParaRPr lang="en-US" altLang="ko-KR" dirty="0"/>
          </a:p>
          <a:p>
            <a:pPr marL="914331" lvl="1" indent="-457200">
              <a:buFont typeface="+mj-lt"/>
              <a:buAutoNum type="arabicPeriod"/>
            </a:pPr>
            <a:r>
              <a:rPr lang="en-US" altLang="ko-KR"/>
              <a:t>DBCP</a:t>
            </a:r>
            <a:r>
              <a:rPr lang="ko-KR" altLang="en-US"/>
              <a:t>에 관한 정보 설정 위치</a:t>
            </a:r>
            <a:endParaRPr lang="en-US" altLang="ko-KR"/>
          </a:p>
          <a:p>
            <a:pPr marL="1257231" lvl="2" indent="-342900"/>
            <a:r>
              <a:rPr lang="en-US" altLang="ko-KR"/>
              <a:t>context.xml </a:t>
            </a:r>
            <a:r>
              <a:rPr lang="ko-KR" altLang="en-US"/>
              <a:t>또는 </a:t>
            </a:r>
            <a:r>
              <a:rPr lang="en-US" altLang="ko-KR"/>
              <a:t>web.xml</a:t>
            </a:r>
            <a:endParaRPr lang="en-US" altLang="ko-KR" dirty="0"/>
          </a:p>
          <a:p>
            <a:pPr marL="914331" lvl="1" indent="-457200">
              <a:buFont typeface="+mj-lt"/>
              <a:buAutoNum type="arabicPeriod"/>
            </a:pPr>
            <a:r>
              <a:rPr lang="en-US" altLang="ko-KR"/>
              <a:t>JSP</a:t>
            </a:r>
            <a:r>
              <a:rPr lang="ko-KR" altLang="en-US" dirty="0"/>
              <a:t>페이지에서 커넥션 </a:t>
            </a:r>
            <a:r>
              <a:rPr lang="ko-KR" altLang="en-US"/>
              <a:t>풀 사용하여 코딩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41967" y="5157192"/>
            <a:ext cx="110833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JNDI </a:t>
            </a:r>
            <a:r>
              <a:rPr lang="en-US" altLang="ko-KR" dirty="0" err="1">
                <a:latin typeface="+mn-ea"/>
                <a:ea typeface="+mn-ea"/>
              </a:rPr>
              <a:t>DataSource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관련 </a:t>
            </a:r>
            <a:r>
              <a:rPr lang="en-US" altLang="ko-KR" dirty="0">
                <a:latin typeface="+mn-ea"/>
                <a:ea typeface="+mn-ea"/>
              </a:rPr>
              <a:t>: </a:t>
            </a:r>
            <a:endParaRPr lang="en-US" altLang="ko-KR" dirty="0">
              <a:latin typeface="+mn-ea"/>
              <a:ea typeface="+mn-ea"/>
              <a:hlinkClick r:id="rId2"/>
            </a:endParaRPr>
          </a:p>
          <a:p>
            <a:r>
              <a:rPr lang="en-US" altLang="ko-KR" sz="2000" dirty="0">
                <a:latin typeface="+mn-ea"/>
                <a:ea typeface="+mn-ea"/>
                <a:hlinkClick r:id="rId2"/>
              </a:rPr>
              <a:t>http://tomcat.apache.org/tomcat-9.0-doc/jndi-datasource-examples-howto.html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9A0502-AFAD-4AAF-BB2E-2AB26D3C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476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자카르타 </a:t>
            </a:r>
            <a:r>
              <a:rPr lang="en-US" altLang="ko-KR" dirty="0"/>
              <a:t>DBCP API</a:t>
            </a:r>
            <a:r>
              <a:rPr lang="ko-KR" altLang="en-US" dirty="0"/>
              <a:t>를 이용한 커넥션 풀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1012" y="1005043"/>
            <a:ext cx="8712968" cy="536145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jdbc driver </a:t>
            </a:r>
            <a:r>
              <a:rPr lang="ko-KR" altLang="en-US"/>
              <a:t>설치 확인</a:t>
            </a:r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F8E9A4-CBE0-46EC-AC27-083F1BCF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12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D715A7-E19C-4894-890B-7279D08E6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7" y="1772816"/>
            <a:ext cx="4464497" cy="21602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2808020" y="3573016"/>
            <a:ext cx="2961901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10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30" y="1064628"/>
            <a:ext cx="4198800" cy="2143443"/>
          </a:xfrm>
          <a:prstGeom prst="rec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126" y="64838"/>
            <a:ext cx="10868410" cy="8640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ko-KR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3200" b="1"/>
              <a:t>Tomcat</a:t>
            </a:r>
            <a:r>
              <a:rPr lang="ko-KR" altLang="en-US" sz="3200" b="1"/>
              <a:t>에서 </a:t>
            </a:r>
            <a:r>
              <a:rPr lang="en-US" altLang="ko-KR" sz="3200" b="1"/>
              <a:t>JNDI </a:t>
            </a:r>
            <a:r>
              <a:rPr lang="ko-KR" altLang="en-US" sz="3200" b="1"/>
              <a:t>리소스 설정 방법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28518" y="2093815"/>
            <a:ext cx="1512168" cy="2520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582" y="1064628"/>
            <a:ext cx="3274834" cy="253336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4" name="직선 화살표 연결선 13"/>
          <p:cNvCxnSpPr>
            <a:stCxn id="10" idx="3"/>
          </p:cNvCxnSpPr>
          <p:nvPr/>
        </p:nvCxnSpPr>
        <p:spPr>
          <a:xfrm flipV="1">
            <a:off x="3040686" y="1434500"/>
            <a:ext cx="4462687" cy="7853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7480368" y="1347564"/>
            <a:ext cx="1512168" cy="2520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5439970" y="1597197"/>
            <a:ext cx="2767283" cy="24279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08775" y="2132653"/>
            <a:ext cx="4072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파일 복사하여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ea typeface="+mn-ea"/>
              </a:rPr>
              <a:t>META-INF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에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sz="1800" b="1" dirty="0" err="1">
                <a:solidFill>
                  <a:srgbClr val="FF0000"/>
                </a:solidFill>
                <a:latin typeface="+mn-ea"/>
                <a:ea typeface="+mn-ea"/>
              </a:rPr>
              <a:t>붙여넣기</a:t>
            </a:r>
            <a:endParaRPr lang="ko-KR" altLang="en-US" sz="1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87401" y="3684926"/>
            <a:ext cx="4435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커넥션 정보를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ea typeface="+mn-ea"/>
              </a:rPr>
              <a:t>META-INF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의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ea typeface="+mn-ea"/>
              </a:rPr>
              <a:t>context.xml</a:t>
            </a:r>
          </a:p>
          <a:p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에 입력할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194" y="323266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열어서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C5C0F6-7F9A-4FBD-AAFA-B195D9C885C1}"/>
              </a:ext>
            </a:extLst>
          </p:cNvPr>
          <p:cNvSpPr/>
          <p:nvPr/>
        </p:nvSpPr>
        <p:spPr>
          <a:xfrm>
            <a:off x="479377" y="3760687"/>
            <a:ext cx="6336704" cy="267765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800">
                <a:solidFill>
                  <a:srgbClr val="3F7F7F"/>
                </a:solidFill>
                <a:latin typeface="Consolas" panose="020B0609020204030204" pitchFamily="49" charset="0"/>
              </a:rPr>
              <a:t>Resource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name 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800" b="1" i="1">
                <a:solidFill>
                  <a:srgbClr val="2A00FF"/>
                </a:solidFill>
                <a:latin typeface="Consolas" panose="020B0609020204030204" pitchFamily="49" charset="0"/>
              </a:rPr>
              <a:t>jdbc/jskim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altLang="ko-KR" sz="1800">
                <a:latin typeface="Consolas" panose="020B0609020204030204" pitchFamily="49" charset="0"/>
              </a:rPr>
              <a:t>   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auth 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"Container"</a:t>
            </a:r>
          </a:p>
          <a:p>
            <a:r>
              <a:rPr lang="en-US" altLang="ko-KR" sz="1800">
                <a:latin typeface="Consolas" panose="020B0609020204030204" pitchFamily="49" charset="0"/>
              </a:rPr>
              <a:t>   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type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"javax.sql.DataSource"</a:t>
            </a:r>
          </a:p>
          <a:p>
            <a:r>
              <a:rPr lang="en-US" altLang="ko-KR" sz="1800">
                <a:latin typeface="Consolas" panose="020B0609020204030204" pitchFamily="49" charset="0"/>
              </a:rPr>
              <a:t>   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driverClassName 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"org.mariadb.jdbc.Driver"</a:t>
            </a:r>
          </a:p>
          <a:p>
            <a:r>
              <a:rPr lang="en-US" altLang="ko-KR" sz="1800">
                <a:latin typeface="Consolas" panose="020B0609020204030204" pitchFamily="49" charset="0"/>
              </a:rPr>
              <a:t>   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username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"jskim"</a:t>
            </a:r>
          </a:p>
          <a:p>
            <a:r>
              <a:rPr lang="en-US" altLang="ko-KR" sz="1800">
                <a:latin typeface="Consolas" panose="020B0609020204030204" pitchFamily="49" charset="0"/>
              </a:rPr>
              <a:t>   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password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"1111"</a:t>
            </a:r>
          </a:p>
          <a:p>
            <a:r>
              <a:rPr lang="en-US" altLang="ko-KR" sz="1800">
                <a:latin typeface="Consolas" panose="020B0609020204030204" pitchFamily="49" charset="0"/>
              </a:rPr>
              <a:t>   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url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"jdbc:mariadb://localhost:3306/backend"</a:t>
            </a:r>
          </a:p>
          <a:p>
            <a:r>
              <a:rPr lang="en-US" altLang="ko-KR" sz="1800">
                <a:latin typeface="Consolas" panose="020B0609020204030204" pitchFamily="49" charset="0"/>
              </a:rPr>
              <a:t>    </a:t>
            </a:r>
            <a:r>
              <a:rPr lang="en-US" altLang="ko-KR" sz="1800">
                <a:solidFill>
                  <a:srgbClr val="7F007F"/>
                </a:solidFill>
                <a:latin typeface="Consolas" panose="020B0609020204030204" pitchFamily="49" charset="0"/>
              </a:rPr>
              <a:t>maxWait </a:t>
            </a:r>
            <a:r>
              <a:rPr lang="en-US" altLang="ko-KR" sz="180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800" i="1">
                <a:solidFill>
                  <a:srgbClr val="2A00FF"/>
                </a:solidFill>
                <a:latin typeface="Consolas" panose="020B0609020204030204" pitchFamily="49" charset="0"/>
              </a:rPr>
              <a:t>"5000"   </a:t>
            </a:r>
          </a:p>
          <a:p>
            <a:r>
              <a:rPr lang="ko-KR" altLang="en-US" sz="1800"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ko-KR" altLang="en-US" sz="1800"/>
          </a:p>
        </p:txBody>
      </p:sp>
      <p:sp>
        <p:nvSpPr>
          <p:cNvPr id="20" name="내용 개체 틀 5">
            <a:extLst>
              <a:ext uri="{FF2B5EF4-FFF2-40B4-BE49-F238E27FC236}">
                <a16:creationId xmlns:a16="http://schemas.microsoft.com/office/drawing/2014/main" id="{09C23F1E-0965-4269-A661-3BE15FFF2E3C}"/>
              </a:ext>
            </a:extLst>
          </p:cNvPr>
          <p:cNvSpPr txBox="1">
            <a:spLocks/>
          </p:cNvSpPr>
          <p:nvPr/>
        </p:nvSpPr>
        <p:spPr>
          <a:xfrm>
            <a:off x="6929610" y="4723253"/>
            <a:ext cx="4999038" cy="1697901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 fontAlgn="auto">
              <a:spcAft>
                <a:spcPts val="0"/>
              </a:spcAft>
            </a:pPr>
            <a:r>
              <a:rPr kumimoji="0" lang="en-US" altLang="ko-KR" sz="1600" b="1">
                <a:latin typeface="+mn-ea"/>
              </a:rPr>
              <a:t>server.xml</a:t>
            </a:r>
            <a:r>
              <a:rPr kumimoji="0" lang="ko-KR" altLang="en-US" sz="1600">
                <a:latin typeface="+mn-ea"/>
              </a:rPr>
              <a:t>에 접속 정보를 설정하면 프로젝트 마다 접속 정보 변경 시 </a:t>
            </a:r>
            <a:r>
              <a:rPr kumimoji="0" lang="en-US" altLang="ko-KR" sz="1600">
                <a:latin typeface="+mn-ea"/>
              </a:rPr>
              <a:t>server.xml</a:t>
            </a:r>
            <a:r>
              <a:rPr kumimoji="0" lang="ko-KR" altLang="en-US" sz="1600">
                <a:latin typeface="+mn-ea"/>
              </a:rPr>
              <a:t>파일을 수정해야함으로 효율적이지 않음</a:t>
            </a:r>
            <a:endParaRPr kumimoji="0" lang="en-US" altLang="ko-KR" sz="1600">
              <a:latin typeface="+mn-ea"/>
            </a:endParaRPr>
          </a:p>
          <a:p>
            <a:pPr marL="342900" indent="-342900" algn="just" fontAlgn="auto">
              <a:spcAft>
                <a:spcPts val="0"/>
              </a:spcAft>
            </a:pPr>
            <a:r>
              <a:rPr kumimoji="0" lang="en-US" altLang="ko-KR" sz="1600" b="1">
                <a:latin typeface="+mn-ea"/>
              </a:rPr>
              <a:t>context.xml</a:t>
            </a:r>
            <a:r>
              <a:rPr kumimoji="0" lang="ko-KR" altLang="en-US" sz="1600">
                <a:latin typeface="+mn-ea"/>
              </a:rPr>
              <a:t>파일을 </a:t>
            </a:r>
            <a:r>
              <a:rPr kumimoji="0" lang="en-US" altLang="ko-KR" sz="1600">
                <a:latin typeface="+mn-ea"/>
              </a:rPr>
              <a:t>META-INF</a:t>
            </a:r>
            <a:r>
              <a:rPr kumimoji="0" lang="ko-KR" altLang="en-US" sz="1600">
                <a:latin typeface="+mn-ea"/>
              </a:rPr>
              <a:t>폴더에 넣으면 </a:t>
            </a:r>
            <a:r>
              <a:rPr kumimoji="0" lang="en-US" altLang="ko-KR" sz="1600">
                <a:latin typeface="+mn-ea"/>
              </a:rPr>
              <a:t>.war </a:t>
            </a:r>
            <a:r>
              <a:rPr kumimoji="0" lang="ko-KR" altLang="en-US" sz="1600">
                <a:latin typeface="+mn-ea"/>
              </a:rPr>
              <a:t>파일에 포함되어 다른 컴퓨터에 이식할 때 따로 설정 변경을 할 필요 없어 편리함</a:t>
            </a:r>
            <a:endParaRPr kumimoji="0" lang="en-US" altLang="ko-KR" sz="1600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A0A4B1-BB3B-45E1-BA11-797B7EC5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13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E88C3-651E-4022-AEE8-41B6ED12777D}"/>
              </a:ext>
            </a:extLst>
          </p:cNvPr>
          <p:cNvSpPr txBox="1"/>
          <p:nvPr/>
        </p:nvSpPr>
        <p:spPr>
          <a:xfrm>
            <a:off x="4266411" y="6038210"/>
            <a:ext cx="23471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00B050"/>
                </a:solidFill>
                <a:latin typeface="+mn-ea"/>
                <a:ea typeface="+mn-ea"/>
              </a:rPr>
              <a:t>자신의 정보로 변경해야 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36093A-283D-4280-B928-1647FE4037BB}"/>
              </a:ext>
            </a:extLst>
          </p:cNvPr>
          <p:cNvSpPr/>
          <p:nvPr/>
        </p:nvSpPr>
        <p:spPr>
          <a:xfrm>
            <a:off x="2783632" y="3871211"/>
            <a:ext cx="1624978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87AAD9-751B-47D3-AB61-E50C380B1982}"/>
              </a:ext>
            </a:extLst>
          </p:cNvPr>
          <p:cNvSpPr/>
          <p:nvPr/>
        </p:nvSpPr>
        <p:spPr>
          <a:xfrm>
            <a:off x="2207568" y="5027523"/>
            <a:ext cx="1101207" cy="22831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5A63609-BB1E-4551-8D71-E0AF218B88A6}"/>
              </a:ext>
            </a:extLst>
          </p:cNvPr>
          <p:cNvSpPr/>
          <p:nvPr/>
        </p:nvSpPr>
        <p:spPr>
          <a:xfrm>
            <a:off x="2207568" y="5301208"/>
            <a:ext cx="1101207" cy="22831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AB938B7-BBE3-46C5-B743-983C68A53729}"/>
              </a:ext>
            </a:extLst>
          </p:cNvPr>
          <p:cNvSpPr/>
          <p:nvPr/>
        </p:nvSpPr>
        <p:spPr>
          <a:xfrm>
            <a:off x="5439970" y="5458046"/>
            <a:ext cx="1125612" cy="3353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06344-8763-4F96-87ED-CBEBE3096617}"/>
              </a:ext>
            </a:extLst>
          </p:cNvPr>
          <p:cNvSpPr txBox="1"/>
          <p:nvPr/>
        </p:nvSpPr>
        <p:spPr>
          <a:xfrm>
            <a:off x="8544272" y="302381"/>
            <a:ext cx="33028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+mn-ea"/>
                <a:ea typeface="+mn-ea"/>
              </a:rPr>
              <a:t>JNDI </a:t>
            </a:r>
            <a:r>
              <a:rPr lang="ko-KR" altLang="en-US" sz="1200">
                <a:latin typeface="+mn-ea"/>
                <a:ea typeface="+mn-ea"/>
              </a:rPr>
              <a:t>리소스 설정 장소 </a:t>
            </a:r>
            <a:endParaRPr lang="en-US" altLang="ko-KR" sz="120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  <a:ea typeface="+mn-ea"/>
              </a:rPr>
              <a:t>server.xml :</a:t>
            </a:r>
            <a:r>
              <a:rPr lang="ko-KR" altLang="en-US" sz="1200">
                <a:latin typeface="+mn-ea"/>
                <a:ea typeface="+mn-ea"/>
              </a:rPr>
              <a:t>서버 전체 리소스</a:t>
            </a:r>
            <a:endParaRPr lang="en-US" altLang="ko-KR" sz="120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  <a:ea typeface="+mn-ea"/>
              </a:rPr>
              <a:t>context.xml : </a:t>
            </a:r>
            <a:r>
              <a:rPr lang="ko-KR" altLang="en-US" sz="1200">
                <a:latin typeface="+mn-ea"/>
                <a:ea typeface="+mn-ea"/>
              </a:rPr>
              <a:t>특정 웹 애플리케이션 리소스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01800E-0D8C-4AC4-85EB-26F14B00511E}"/>
              </a:ext>
            </a:extLst>
          </p:cNvPr>
          <p:cNvSpPr txBox="1"/>
          <p:nvPr/>
        </p:nvSpPr>
        <p:spPr>
          <a:xfrm>
            <a:off x="419170" y="345291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latin typeface="+mn-ea"/>
                <a:ea typeface="+mn-ea"/>
              </a:rPr>
              <a:t>리소스</a:t>
            </a:r>
          </a:p>
        </p:txBody>
      </p:sp>
    </p:spTree>
    <p:extLst>
      <p:ext uri="{BB962C8B-B14F-4D97-AF65-F5344CB8AC3E}">
        <p14:creationId xmlns:p14="http://schemas.microsoft.com/office/powerpoint/2010/main" val="185049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6" grpId="0"/>
      <p:bldP spid="22" grpId="0"/>
      <p:bldP spid="19" grpId="0"/>
      <p:bldP spid="21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context.xml</a:t>
            </a:r>
            <a:r>
              <a:rPr lang="ko-KR" altLang="en-US" dirty="0"/>
              <a:t>의 </a:t>
            </a:r>
            <a:r>
              <a:rPr lang="en-US" altLang="ko-KR" dirty="0"/>
              <a:t>&lt;Resource&gt;</a:t>
            </a:r>
            <a:r>
              <a:rPr lang="ko-KR" altLang="en-US" dirty="0"/>
              <a:t>의 속성</a:t>
            </a: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569130"/>
              </p:ext>
            </p:extLst>
          </p:nvPr>
        </p:nvGraphicFramePr>
        <p:xfrm>
          <a:off x="695400" y="975077"/>
          <a:ext cx="10106180" cy="543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284">
                  <a:extLst>
                    <a:ext uri="{9D8B030D-6E8A-4147-A177-3AD203B41FA5}">
                      <a16:colId xmlns:a16="http://schemas.microsoft.com/office/drawing/2014/main" val="3431263220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1468392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915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java:comp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 err="1"/>
                        <a:t>env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컨텍스트와 관련되어 생성되는 </a:t>
                      </a:r>
                      <a:r>
                        <a:rPr lang="ko-KR" altLang="en-US" b="1" dirty="0"/>
                        <a:t>자원</a:t>
                      </a:r>
                      <a:r>
                        <a:rPr lang="ko-KR" altLang="en-US" b="1" baseline="0" dirty="0"/>
                        <a:t> 이름</a:t>
                      </a:r>
                      <a:endParaRPr lang="en-US" altLang="ko-KR" b="1" baseline="0" dirty="0"/>
                    </a:p>
                    <a:p>
                      <a:pPr latinLnBrk="1"/>
                      <a:r>
                        <a:rPr lang="en-US" altLang="ko-KR" dirty="0" err="1"/>
                        <a:t>jdbc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ko-KR" altLang="en-US" baseline="0" dirty="0"/>
                        <a:t>는 필수이고 </a:t>
                      </a:r>
                      <a:r>
                        <a:rPr lang="en-US" altLang="ko-KR" baseline="0" dirty="0"/>
                        <a:t>“/”</a:t>
                      </a:r>
                      <a:r>
                        <a:rPr lang="ko-KR" altLang="en-US" baseline="0" dirty="0"/>
                        <a:t>이후는 임의 작성 가능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62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auth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자원 관리자 지정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대부분  </a:t>
                      </a:r>
                      <a:r>
                        <a:rPr lang="ko-KR" altLang="en-US" b="1" dirty="0"/>
                        <a:t>컨테이너를 자원 관리자</a:t>
                      </a:r>
                      <a:r>
                        <a:rPr lang="ko-KR" altLang="en-US" dirty="0"/>
                        <a:t>로 기술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8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웹에서 사용할 때 실제로 이용되는 클래스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 err="1"/>
                        <a:t>javax.sql.DataSource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jdbc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 err="1"/>
                        <a:t>jsptest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라는 이름을 찾으면 이름에 해당되는 </a:t>
                      </a:r>
                      <a:r>
                        <a:rPr lang="ko-KR" altLang="en-US" dirty="0" err="1"/>
                        <a:t>객체형인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javax.sql.DataSource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반환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13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driverClassName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JDBC </a:t>
                      </a:r>
                      <a:r>
                        <a:rPr lang="ko-KR" altLang="en-US" dirty="0"/>
                        <a:t>드라이버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821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username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접속 </a:t>
                      </a:r>
                      <a:r>
                        <a:rPr lang="ko-KR" altLang="en-US" dirty="0" err="1"/>
                        <a:t>계정명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43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password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접속 암호명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9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url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JDBC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ko-KR" altLang="en-US" baseline="0"/>
                        <a:t>연결 문자열</a:t>
                      </a:r>
                      <a:endParaRPr lang="en-US" altLang="ko-KR" baseline="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86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maxWait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커넥션 풀에 사용 가능한 </a:t>
                      </a:r>
                      <a:r>
                        <a:rPr lang="en-US" altLang="ko-KR" dirty="0"/>
                        <a:t>Connection </a:t>
                      </a:r>
                      <a:r>
                        <a:rPr lang="ko-KR" altLang="en-US" dirty="0"/>
                        <a:t>이 없을 경우 </a:t>
                      </a:r>
                      <a:r>
                        <a:rPr lang="ko-KR" altLang="en-US" b="1" dirty="0"/>
                        <a:t>커넥션 회수를 기다리는 시간</a:t>
                      </a:r>
                      <a:r>
                        <a:rPr lang="ko-KR" altLang="en-US" dirty="0"/>
                        <a:t>으로 </a:t>
                      </a:r>
                      <a:r>
                        <a:rPr lang="en-US" altLang="ko-KR" dirty="0" err="1"/>
                        <a:t>ms</a:t>
                      </a:r>
                      <a:r>
                        <a:rPr lang="en-US" altLang="ko-KR" dirty="0"/>
                        <a:t>(millisecond</a:t>
                      </a:r>
                      <a:r>
                        <a:rPr lang="ko-KR" altLang="en-US" dirty="0"/>
                        <a:t>단위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56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maxActive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 연결 가능한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734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maxIdle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 pool 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유지를 위해 최대 대기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 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숫자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03072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FBD37D-4FDA-4F6D-AAB3-DD70F8BD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896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+mn-ea"/>
                <a:ea typeface="+mn-ea"/>
              </a:rPr>
              <a:t>JSP</a:t>
            </a:r>
            <a:r>
              <a:rPr lang="ko-KR" altLang="en-US" sz="4000" dirty="0">
                <a:latin typeface="+mn-ea"/>
                <a:ea typeface="+mn-ea"/>
              </a:rPr>
              <a:t>페이지에서 커넥션 풀 사용</a:t>
            </a:r>
            <a:endParaRPr lang="en-US" altLang="ko-KR" sz="40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331" lvl="1" indent="-457200">
              <a:buFont typeface="+mj-lt"/>
              <a:buAutoNum type="arabicPeriod"/>
            </a:pPr>
            <a:r>
              <a:rPr lang="en-US" altLang="ko-KR" dirty="0"/>
              <a:t>Context</a:t>
            </a:r>
            <a:r>
              <a:rPr lang="ko-KR" altLang="en-US" dirty="0"/>
              <a:t>객체 생성</a:t>
            </a:r>
            <a:endParaRPr lang="en-US" altLang="ko-KR" dirty="0"/>
          </a:p>
          <a:p>
            <a:pPr lvl="2"/>
            <a:r>
              <a:rPr lang="en-US" altLang="ko-KR" b="1" dirty="0"/>
              <a:t>JNDI</a:t>
            </a:r>
            <a:r>
              <a:rPr lang="ko-KR" altLang="en-US" dirty="0"/>
              <a:t>를 사용하기 위한 객체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914331" lvl="1" indent="-457200">
              <a:buFont typeface="+mj-lt"/>
              <a:buAutoNum type="arabicPeriod" startAt="2"/>
            </a:pPr>
            <a:r>
              <a:rPr lang="en-US" altLang="ko-KR" dirty="0"/>
              <a:t>JNDI</a:t>
            </a:r>
            <a:r>
              <a:rPr lang="ko-KR" altLang="en-US" dirty="0"/>
              <a:t>에 등록된 </a:t>
            </a:r>
            <a:r>
              <a:rPr lang="en-US" altLang="ko-KR" dirty="0"/>
              <a:t>Naming </a:t>
            </a:r>
            <a:r>
              <a:rPr lang="ko-KR" altLang="en-US" dirty="0"/>
              <a:t>자원들을 모두 가져옴</a:t>
            </a:r>
            <a:endParaRPr lang="en-US" altLang="ko-KR" dirty="0"/>
          </a:p>
          <a:p>
            <a:pPr marL="1257231" lvl="2" indent="-342900"/>
            <a:r>
              <a:rPr lang="en-US" altLang="ko-KR" dirty="0"/>
              <a:t>JNDI</a:t>
            </a:r>
            <a:r>
              <a:rPr lang="ko-KR" altLang="en-US" dirty="0"/>
              <a:t>의 모든 이름은 기본적으로 </a:t>
            </a:r>
            <a:r>
              <a:rPr lang="en-US" altLang="ko-KR" b="1" dirty="0" err="1"/>
              <a:t>java:comp</a:t>
            </a:r>
            <a:r>
              <a:rPr lang="en-US" altLang="ko-KR" b="1" dirty="0"/>
              <a:t>/</a:t>
            </a:r>
            <a:r>
              <a:rPr lang="en-US" altLang="ko-KR" b="1" dirty="0" err="1"/>
              <a:t>env</a:t>
            </a:r>
            <a:r>
              <a:rPr lang="ko-KR" altLang="en-US" dirty="0"/>
              <a:t>에 등록되어 있음</a:t>
            </a:r>
            <a:endParaRPr lang="en-US" altLang="ko-KR" dirty="0"/>
          </a:p>
          <a:p>
            <a:pPr marL="1257231" lvl="2" indent="-342900"/>
            <a:r>
              <a:rPr lang="ko-KR" altLang="en-US" dirty="0"/>
              <a:t>등록된 </a:t>
            </a:r>
            <a:r>
              <a:rPr lang="en-US" altLang="ko-KR" dirty="0"/>
              <a:t>JNDI </a:t>
            </a:r>
            <a:r>
              <a:rPr lang="ko-KR" altLang="en-US" dirty="0"/>
              <a:t>서비스로부터 자원을 검색</a:t>
            </a:r>
            <a:endParaRPr lang="en-US" altLang="ko-KR" dirty="0"/>
          </a:p>
        </p:txBody>
      </p:sp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1524001" y="13157"/>
            <a:ext cx="18473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ko-KR" sz="2200" dirty="0">
              <a:cs typeface="굴림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7156" y="1950497"/>
            <a:ext cx="5660524" cy="461665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0" lvl="2"/>
            <a:r>
              <a:rPr lang="en-US" altLang="ko-KR" b="1" dirty="0"/>
              <a:t>Context  </a:t>
            </a:r>
            <a:r>
              <a:rPr lang="en-US" altLang="ko-KR" b="1" dirty="0" err="1"/>
              <a:t>initCtx</a:t>
            </a:r>
            <a:r>
              <a:rPr lang="en-US" altLang="ko-KR" b="1" dirty="0"/>
              <a:t> = new </a:t>
            </a:r>
            <a:r>
              <a:rPr lang="en-US" altLang="ko-KR" b="1" dirty="0" err="1"/>
              <a:t>InitialContext</a:t>
            </a:r>
            <a:r>
              <a:rPr lang="en-US" altLang="ko-KR" b="1" dirty="0"/>
              <a:t>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3239" y="4373147"/>
            <a:ext cx="8800807" cy="461665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0" lvl="2"/>
            <a:r>
              <a:rPr lang="en-US" altLang="ko-KR" b="1" dirty="0"/>
              <a:t>Context </a:t>
            </a:r>
            <a:r>
              <a:rPr lang="en-US" altLang="ko-KR" b="1" dirty="0" err="1"/>
              <a:t>envCtx</a:t>
            </a:r>
            <a:r>
              <a:rPr lang="en-US" altLang="ko-KR" b="1" dirty="0"/>
              <a:t> = (Context)  </a:t>
            </a:r>
            <a:r>
              <a:rPr lang="en-US" altLang="ko-KR" b="1" dirty="0" err="1"/>
              <a:t>initCtx.lookup</a:t>
            </a:r>
            <a:r>
              <a:rPr lang="en-US" altLang="ko-KR" b="1" dirty="0"/>
              <a:t>("</a:t>
            </a:r>
            <a:r>
              <a:rPr lang="en-US" altLang="ko-KR" b="1" dirty="0" err="1"/>
              <a:t>java:comp</a:t>
            </a:r>
            <a:r>
              <a:rPr lang="en-US" altLang="ko-KR" b="1" dirty="0"/>
              <a:t>/</a:t>
            </a:r>
            <a:r>
              <a:rPr lang="en-US" altLang="ko-KR" b="1" dirty="0" err="1"/>
              <a:t>env</a:t>
            </a:r>
            <a:r>
              <a:rPr lang="en-US" altLang="ko-KR" b="1" dirty="0"/>
              <a:t>");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743705" y="4907503"/>
            <a:ext cx="8816196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b="1" dirty="0" err="1">
                <a:latin typeface="+mn-ea"/>
                <a:ea typeface="+mn-ea"/>
              </a:rPr>
              <a:t>java:comp</a:t>
            </a:r>
            <a:r>
              <a:rPr lang="en-US" altLang="ko-KR" sz="1800" b="1" dirty="0">
                <a:latin typeface="+mn-ea"/>
                <a:ea typeface="+mn-ea"/>
              </a:rPr>
              <a:t>/</a:t>
            </a:r>
            <a:r>
              <a:rPr lang="en-US" altLang="ko-KR" sz="1800" b="1" dirty="0" err="1">
                <a:latin typeface="+mn-ea"/>
                <a:ea typeface="+mn-ea"/>
              </a:rPr>
              <a:t>env</a:t>
            </a:r>
            <a:r>
              <a:rPr lang="ko-KR" altLang="en-US" sz="1800" b="1" dirty="0">
                <a:latin typeface="+mn-ea"/>
                <a:ea typeface="+mn-ea"/>
              </a:rPr>
              <a:t> </a:t>
            </a:r>
            <a:r>
              <a:rPr lang="en-US" altLang="ko-KR" sz="1800" b="1" dirty="0">
                <a:latin typeface="+mn-ea"/>
                <a:ea typeface="+mn-ea"/>
              </a:rPr>
              <a:t>: </a:t>
            </a:r>
            <a:r>
              <a:rPr lang="ko-KR" altLang="en-US" sz="1800" b="1" dirty="0">
                <a:latin typeface="+mn-ea"/>
                <a:ea typeface="+mn-ea"/>
              </a:rPr>
              <a:t> 모든 설정된 </a:t>
            </a:r>
            <a:r>
              <a:rPr lang="ko-KR" altLang="en-US" sz="1800" b="1" dirty="0" err="1">
                <a:latin typeface="+mn-ea"/>
                <a:ea typeface="+mn-ea"/>
              </a:rPr>
              <a:t>엔트리와</a:t>
            </a:r>
            <a:r>
              <a:rPr lang="ko-KR" altLang="en-US" sz="1800" b="1" dirty="0">
                <a:latin typeface="+mn-ea"/>
                <a:ea typeface="+mn-ea"/>
              </a:rPr>
              <a:t> 자원</a:t>
            </a:r>
            <a:r>
              <a:rPr lang="en-US" altLang="ko-KR" sz="1800" b="1" dirty="0">
                <a:latin typeface="+mn-ea"/>
                <a:ea typeface="+mn-ea"/>
              </a:rPr>
              <a:t>(Resource)</a:t>
            </a:r>
            <a:r>
              <a:rPr lang="ko-KR" altLang="en-US" sz="1800" b="1" dirty="0">
                <a:latin typeface="+mn-ea"/>
                <a:ea typeface="+mn-ea"/>
              </a:rPr>
              <a:t>은 </a:t>
            </a:r>
            <a:r>
              <a:rPr lang="en-US" altLang="ko-KR" sz="1800" b="1" dirty="0">
                <a:latin typeface="+mn-ea"/>
                <a:ea typeface="+mn-ea"/>
              </a:rPr>
              <a:t>JNDI namespace </a:t>
            </a:r>
            <a:r>
              <a:rPr lang="ko-KR" altLang="en-US" sz="1800" b="1" dirty="0">
                <a:latin typeface="+mn-ea"/>
                <a:ea typeface="+mn-ea"/>
              </a:rPr>
              <a:t>의 </a:t>
            </a:r>
            <a:r>
              <a:rPr lang="en-US" altLang="ko-KR" sz="1800" b="1" dirty="0" err="1">
                <a:latin typeface="+mn-ea"/>
                <a:ea typeface="+mn-ea"/>
              </a:rPr>
              <a:t>java:comp</a:t>
            </a:r>
            <a:r>
              <a:rPr lang="en-US" altLang="ko-KR" sz="1800" b="1" dirty="0">
                <a:latin typeface="+mn-ea"/>
                <a:ea typeface="+mn-ea"/>
              </a:rPr>
              <a:t>/</a:t>
            </a:r>
            <a:r>
              <a:rPr lang="en-US" altLang="ko-KR" sz="1800" b="1" dirty="0" err="1">
                <a:latin typeface="+mn-ea"/>
                <a:ea typeface="+mn-ea"/>
              </a:rPr>
              <a:t>env</a:t>
            </a:r>
            <a:r>
              <a:rPr lang="en-US" altLang="ko-KR" sz="1800" b="1" dirty="0">
                <a:latin typeface="+mn-ea"/>
                <a:ea typeface="+mn-ea"/>
              </a:rPr>
              <a:t>  </a:t>
            </a:r>
            <a:r>
              <a:rPr lang="ko-KR" altLang="en-US" sz="1800" b="1" dirty="0">
                <a:latin typeface="+mn-ea"/>
                <a:ea typeface="+mn-ea"/>
              </a:rPr>
              <a:t>부분에 놓이게 되고 자원에 대해 접근하려면 </a:t>
            </a:r>
            <a:r>
              <a:rPr lang="en-US" altLang="ko-KR" sz="1800" b="1" dirty="0">
                <a:latin typeface="+mn-ea"/>
                <a:ea typeface="+mn-ea"/>
              </a:rPr>
              <a:t>lookup("</a:t>
            </a:r>
            <a:r>
              <a:rPr lang="en-US" altLang="ko-KR" sz="1800" b="1" dirty="0" err="1">
                <a:latin typeface="+mn-ea"/>
                <a:ea typeface="+mn-ea"/>
              </a:rPr>
              <a:t>java:comp</a:t>
            </a:r>
            <a:r>
              <a:rPr lang="en-US" altLang="ko-KR" sz="1800" b="1" dirty="0">
                <a:latin typeface="+mn-ea"/>
                <a:ea typeface="+mn-ea"/>
              </a:rPr>
              <a:t>/</a:t>
            </a:r>
            <a:r>
              <a:rPr lang="en-US" altLang="ko-KR" sz="1800" b="1" dirty="0" err="1">
                <a:latin typeface="+mn-ea"/>
                <a:ea typeface="+mn-ea"/>
              </a:rPr>
              <a:t>env</a:t>
            </a:r>
            <a:r>
              <a:rPr lang="en-US" altLang="ko-KR" sz="1800" b="1" dirty="0">
                <a:latin typeface="+mn-ea"/>
                <a:ea typeface="+mn-ea"/>
              </a:rPr>
              <a:t>")</a:t>
            </a:r>
            <a:r>
              <a:rPr lang="ko-KR" altLang="en-US" sz="1800" b="1" dirty="0">
                <a:latin typeface="+mn-ea"/>
                <a:ea typeface="+mn-ea"/>
              </a:rPr>
              <a:t>을 통해 로컬리소스에 접근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D8676E-1C77-4C6A-9133-74B3BB2E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15</a:t>
            </a:fld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EAC7D-5F8E-41C0-99F1-2F9A1EE7470A}"/>
              </a:ext>
            </a:extLst>
          </p:cNvPr>
          <p:cNvSpPr txBox="1"/>
          <p:nvPr/>
        </p:nvSpPr>
        <p:spPr>
          <a:xfrm>
            <a:off x="8364825" y="2227107"/>
            <a:ext cx="3337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>
                <a:solidFill>
                  <a:srgbClr val="FF0000"/>
                </a:solidFill>
                <a:latin typeface="+mn-ea"/>
                <a:ea typeface="+mn-ea"/>
              </a:rPr>
              <a:t>DBCP</a:t>
            </a:r>
            <a:r>
              <a:rPr lang="ko-KR" altLang="en-US" sz="1800" b="1">
                <a:solidFill>
                  <a:srgbClr val="FF0000"/>
                </a:solidFill>
                <a:latin typeface="+mn-ea"/>
                <a:ea typeface="+mn-ea"/>
              </a:rPr>
              <a:t> 설정 후에는 반드시 서버를 재시작해야 함</a:t>
            </a:r>
            <a:r>
              <a:rPr lang="en-US" altLang="ko-KR" sz="1800" b="1">
                <a:solidFill>
                  <a:srgbClr val="FF0000"/>
                </a:solidFill>
                <a:latin typeface="+mn-ea"/>
                <a:ea typeface="+mn-ea"/>
              </a:rPr>
              <a:t>!!!!</a:t>
            </a:r>
            <a:endParaRPr lang="ko-KR" altLang="en-US" sz="1800" b="1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533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3F75784-D0EF-474D-B571-70C0A5B231BA}"/>
              </a:ext>
            </a:extLst>
          </p:cNvPr>
          <p:cNvSpPr/>
          <p:nvPr/>
        </p:nvSpPr>
        <p:spPr>
          <a:xfrm>
            <a:off x="2999656" y="5445223"/>
            <a:ext cx="7992888" cy="1224517"/>
          </a:xfrm>
          <a:prstGeom prst="rect">
            <a:avLst/>
          </a:prstGeom>
          <a:solidFill>
            <a:srgbClr val="FBFE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7729" y="608401"/>
            <a:ext cx="11434714" cy="6049053"/>
          </a:xfrm>
        </p:spPr>
        <p:txBody>
          <a:bodyPr>
            <a:normAutofit/>
          </a:bodyPr>
          <a:lstStyle/>
          <a:p>
            <a:pPr marL="914331" lvl="1" indent="-457200">
              <a:buFont typeface="+mj-lt"/>
              <a:buAutoNum type="arabicPeriod" startAt="3"/>
            </a:pPr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객체 얻어냄</a:t>
            </a:r>
            <a:endParaRPr lang="en-US" altLang="ko-KR" dirty="0"/>
          </a:p>
          <a:p>
            <a:pPr marL="1257231" lvl="2" indent="-342900"/>
            <a:r>
              <a:rPr lang="en-US" altLang="ko-KR" dirty="0" err="1"/>
              <a:t>java:comp</a:t>
            </a:r>
            <a:r>
              <a:rPr lang="en-US" altLang="ko-KR" dirty="0"/>
              <a:t>/</a:t>
            </a:r>
            <a:r>
              <a:rPr lang="en-US" altLang="ko-KR" dirty="0" err="1"/>
              <a:t>env</a:t>
            </a:r>
            <a:r>
              <a:rPr lang="en-US" altLang="ko-KR" dirty="0"/>
              <a:t> </a:t>
            </a:r>
            <a:r>
              <a:rPr lang="ko-KR" altLang="en-US" dirty="0"/>
              <a:t>영역에서 </a:t>
            </a:r>
            <a:r>
              <a:rPr lang="en-US" altLang="ko-KR" b="1" dirty="0"/>
              <a:t>“</a:t>
            </a:r>
            <a:r>
              <a:rPr lang="en-US" altLang="ko-KR" b="1" dirty="0" err="1"/>
              <a:t>jdbc</a:t>
            </a:r>
            <a:r>
              <a:rPr lang="en-US" altLang="ko-KR" b="1" dirty="0"/>
              <a:t>/</a:t>
            </a:r>
            <a:r>
              <a:rPr lang="en-US" altLang="ko-KR" b="1" dirty="0" err="1"/>
              <a:t>jskim</a:t>
            </a:r>
            <a:r>
              <a:rPr lang="en-US" altLang="ko-KR" b="1" dirty="0"/>
              <a:t>”</a:t>
            </a:r>
            <a:r>
              <a:rPr lang="ko-KR" altLang="en-US" dirty="0"/>
              <a:t>으로 설정된 이름의 </a:t>
            </a:r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객체 획득</a:t>
            </a:r>
            <a:endParaRPr lang="en-US" altLang="ko-KR" dirty="0"/>
          </a:p>
          <a:p>
            <a:pPr marL="1257231" lvl="2" indent="-342900"/>
            <a:r>
              <a:rPr lang="en-US" altLang="ko-KR" dirty="0"/>
              <a:t>lookup() </a:t>
            </a:r>
            <a:r>
              <a:rPr lang="ko-KR" altLang="en-US" dirty="0" err="1"/>
              <a:t>메소드에서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dirty="0" err="1"/>
              <a:t>jdbc</a:t>
            </a:r>
            <a:r>
              <a:rPr lang="en-US" altLang="ko-KR" dirty="0"/>
              <a:t>/”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필수이며 그 뒤에 나오는 </a:t>
            </a:r>
            <a:r>
              <a:rPr lang="ko-KR" altLang="en-US"/>
              <a:t>이름은 </a:t>
            </a:r>
            <a:r>
              <a:rPr lang="en-US" altLang="ko-KR"/>
              <a:t>context.</a:t>
            </a:r>
            <a:r>
              <a:rPr lang="en-US" altLang="ko-KR" dirty="0"/>
              <a:t>xml</a:t>
            </a:r>
            <a:r>
              <a:rPr lang="ko-KR" altLang="en-US"/>
              <a:t>의 </a:t>
            </a:r>
            <a:r>
              <a:rPr lang="en-US" altLang="ko-KR"/>
              <a:t>&lt;Resource&gt; </a:t>
            </a:r>
            <a:r>
              <a:rPr lang="ko-KR" altLang="en-US"/>
              <a:t>내의 </a:t>
            </a:r>
            <a:r>
              <a:rPr lang="en-US" altLang="ko-KR"/>
              <a:t>name </a:t>
            </a:r>
            <a:r>
              <a:rPr lang="ko-KR" altLang="en-US"/>
              <a:t>속성의 값과 </a:t>
            </a:r>
            <a:r>
              <a:rPr lang="ko-KR" altLang="en-US" dirty="0"/>
              <a:t>같아야 함</a:t>
            </a:r>
            <a:endParaRPr lang="en-US" altLang="ko-KR" dirty="0"/>
          </a:p>
          <a:p>
            <a:pPr marL="914261" lvl="2" indent="0">
              <a:buNone/>
            </a:pPr>
            <a:endParaRPr lang="en-US" altLang="ko-KR" dirty="0"/>
          </a:p>
          <a:p>
            <a:pPr marL="914261" lvl="2" indent="0">
              <a:buNone/>
            </a:pPr>
            <a:endParaRPr lang="en-US" altLang="ko-KR" dirty="0"/>
          </a:p>
          <a:p>
            <a:pPr marL="914331" lvl="1" indent="-457200">
              <a:buFont typeface="+mj-lt"/>
              <a:buAutoNum type="arabicPeriod" startAt="4"/>
            </a:pPr>
            <a:endParaRPr lang="en-US" altLang="ko-KR" dirty="0"/>
          </a:p>
          <a:p>
            <a:pPr marL="914331" lvl="1" indent="-457200">
              <a:buFont typeface="+mj-lt"/>
              <a:buAutoNum type="arabicPeriod" startAt="4"/>
            </a:pPr>
            <a:r>
              <a:rPr lang="en-US" altLang="ko-KR" dirty="0"/>
              <a:t>Connection </a:t>
            </a:r>
            <a:r>
              <a:rPr lang="ko-KR" altLang="en-US" dirty="0"/>
              <a:t>객체 얻어냄</a:t>
            </a:r>
            <a:endParaRPr lang="en-US" altLang="ko-KR" dirty="0"/>
          </a:p>
          <a:p>
            <a:pPr marL="1257231" lvl="2" indent="-342900"/>
            <a:r>
              <a:rPr lang="en-US" altLang="ko-KR" dirty="0" err="1"/>
              <a:t>ds.getConnection</a:t>
            </a:r>
            <a:r>
              <a:rPr lang="en-US" altLang="ko-KR" dirty="0"/>
              <a:t>()</a:t>
            </a:r>
            <a:r>
              <a:rPr lang="ko-KR" altLang="en-US" dirty="0" err="1"/>
              <a:t>메소드를</a:t>
            </a:r>
            <a:r>
              <a:rPr lang="ko-KR" altLang="en-US" dirty="0"/>
              <a:t> 사용해서 커넥션 풀로부터 커넥션 객체를 할당 받음</a:t>
            </a:r>
            <a:endParaRPr lang="en-US" altLang="ko-KR" dirty="0"/>
          </a:p>
          <a:p>
            <a:pPr marL="1257231" lvl="2" indent="-342900"/>
            <a:r>
              <a:rPr lang="ko-KR" altLang="en-US" dirty="0"/>
              <a:t>이 </a:t>
            </a:r>
            <a:r>
              <a:rPr lang="en-US" altLang="ko-KR" dirty="0"/>
              <a:t>Connection </a:t>
            </a:r>
            <a:r>
              <a:rPr lang="ko-KR" altLang="en-US" dirty="0"/>
              <a:t>객체는  </a:t>
            </a:r>
            <a:r>
              <a:rPr lang="en-US" altLang="ko-KR" dirty="0"/>
              <a:t>Container</a:t>
            </a:r>
            <a:r>
              <a:rPr lang="ko-KR" altLang="en-US" dirty="0"/>
              <a:t>의 </a:t>
            </a:r>
            <a:r>
              <a:rPr lang="en-US" altLang="ko-KR" b="1" dirty="0"/>
              <a:t>DBCP</a:t>
            </a:r>
            <a:r>
              <a:rPr lang="ko-KR" altLang="en-US" dirty="0"/>
              <a:t>에 의해 관리 됨</a:t>
            </a:r>
            <a:endParaRPr lang="en-US" altLang="ko-KR" dirty="0"/>
          </a:p>
        </p:txBody>
      </p:sp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ko-KR" sz="1800">
              <a:cs typeface="굴림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38839" y="2276872"/>
            <a:ext cx="8635697" cy="461665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85725" lvl="2"/>
            <a:r>
              <a:rPr lang="en-US" altLang="ko-KR" b="1" dirty="0" err="1"/>
              <a:t>DataSource</a:t>
            </a:r>
            <a:r>
              <a:rPr lang="en-US" altLang="ko-KR" b="1" dirty="0"/>
              <a:t> ds = (</a:t>
            </a:r>
            <a:r>
              <a:rPr lang="en-US" altLang="ko-KR" b="1" dirty="0" err="1"/>
              <a:t>DataSource</a:t>
            </a:r>
            <a:r>
              <a:rPr lang="en-US" altLang="ko-KR" b="1" dirty="0"/>
              <a:t>)</a:t>
            </a:r>
            <a:r>
              <a:rPr lang="en-US" altLang="ko-KR" b="1" dirty="0" err="1"/>
              <a:t>envCtx.lookup</a:t>
            </a:r>
            <a:r>
              <a:rPr lang="en-US" altLang="ko-KR" b="1" dirty="0"/>
              <a:t>("</a:t>
            </a:r>
            <a:r>
              <a:rPr lang="en-US" altLang="ko-KR" b="1" dirty="0" err="1"/>
              <a:t>jdbc</a:t>
            </a:r>
            <a:r>
              <a:rPr lang="en-US" altLang="ko-KR" b="1" dirty="0"/>
              <a:t>/</a:t>
            </a:r>
            <a:r>
              <a:rPr lang="en-US" altLang="ko-KR" b="1" dirty="0" err="1"/>
              <a:t>jskim</a:t>
            </a:r>
            <a:r>
              <a:rPr lang="en-US" altLang="ko-KR" b="1" dirty="0"/>
              <a:t>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8630" y="4581128"/>
            <a:ext cx="5751896" cy="461665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85725" lvl="2"/>
            <a:r>
              <a:rPr lang="en-US" altLang="ko-KR" b="1" dirty="0"/>
              <a:t>Connection con = </a:t>
            </a:r>
            <a:r>
              <a:rPr lang="en-US" altLang="ko-KR" b="1" dirty="0" err="1"/>
              <a:t>ds.getConnection</a:t>
            </a:r>
            <a:r>
              <a:rPr lang="en-US" altLang="ko-KR" b="1" dirty="0"/>
              <a:t>();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4" y="6073175"/>
            <a:ext cx="7181850" cy="419100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3309110" y="5661248"/>
            <a:ext cx="8302832" cy="357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spcAft>
                <a:spcPts val="0"/>
              </a:spcAft>
              <a:buNone/>
            </a:pPr>
            <a:r>
              <a:rPr kumimoji="0" lang="en-US" altLang="ko-KR" dirty="0"/>
              <a:t>2, 3</a:t>
            </a:r>
            <a:r>
              <a:rPr kumimoji="0" lang="ko-KR" altLang="en-US" dirty="0"/>
              <a:t>의 과정을 다음과 같이 하나로 통합할 수 있음</a:t>
            </a:r>
            <a:endParaRPr kumimoji="0"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05708A-E44F-4C47-BBB4-B820396D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836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D31E7-E35E-465A-A948-AF0B7F87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60A991-2894-43ED-8BCE-6058D3B50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기존 </a:t>
            </a:r>
            <a:r>
              <a:rPr lang="en-US" altLang="ko-KR"/>
              <a:t>JDBC </a:t>
            </a:r>
            <a:r>
              <a:rPr lang="ko-KR" altLang="en-US"/>
              <a:t>연동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EB7C0-4544-4A9B-BD74-6BDF0FA0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EDD128-E563-4E16-96CC-88F0D0F7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930961"/>
            <a:ext cx="7039957" cy="48393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1557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– DBCP </a:t>
            </a:r>
            <a:r>
              <a:rPr lang="ko-KR" altLang="en-US" dirty="0"/>
              <a:t>로 </a:t>
            </a:r>
            <a:r>
              <a:rPr lang="en-US" altLang="ko-KR" dirty="0"/>
              <a:t>DB</a:t>
            </a:r>
            <a:r>
              <a:rPr lang="ko-KR" altLang="en-US" dirty="0"/>
              <a:t>연동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19" y="905628"/>
            <a:ext cx="5682010" cy="5916320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767408" y="2420888"/>
            <a:ext cx="5184576" cy="2160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45750" y="2924944"/>
            <a:ext cx="5036276" cy="1008112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92" y="5103498"/>
            <a:ext cx="7181850" cy="419100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cxnSp>
        <p:nvCxnSpPr>
          <p:cNvPr id="11" name="직선 화살표 연결선 10"/>
          <p:cNvCxnSpPr/>
          <p:nvPr/>
        </p:nvCxnSpPr>
        <p:spPr>
          <a:xfrm>
            <a:off x="4799856" y="3933056"/>
            <a:ext cx="0" cy="1170442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9776" y="4640235"/>
            <a:ext cx="362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rgbClr val="0000FF"/>
                </a:solidFill>
                <a:latin typeface="+mn-ea"/>
                <a:ea typeface="+mn-ea"/>
              </a:rPr>
              <a:t>하나의 문장으로 합칠 수 있음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E6910F-8373-4D4F-AA92-1513AD3A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753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2 – DBCP</a:t>
            </a:r>
            <a:r>
              <a:rPr lang="ko-KR" altLang="en-US" dirty="0"/>
              <a:t>로 목록 검색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jdbc-dbcp</a:t>
            </a:r>
            <a:r>
              <a:rPr lang="ko-KR" altLang="en-US"/>
              <a:t> 폴더를 작성하여 </a:t>
            </a:r>
            <a:r>
              <a:rPr lang="en-US" altLang="ko-KR"/>
              <a:t>jdbc-login </a:t>
            </a:r>
            <a:r>
              <a:rPr lang="ko-KR" altLang="en-US"/>
              <a:t>폴더안의 파일 복사하여 넣음</a:t>
            </a:r>
          </a:p>
          <a:p>
            <a:r>
              <a:rPr lang="en-US" altLang="ko-KR"/>
              <a:t>JDBC</a:t>
            </a:r>
            <a:r>
              <a:rPr lang="ko-KR" altLang="en-US" dirty="0"/>
              <a:t>에서  사용한 테이블 사용</a:t>
            </a:r>
            <a:r>
              <a:rPr lang="en-US" altLang="ko-KR" dirty="0"/>
              <a:t>(</a:t>
            </a:r>
            <a:r>
              <a:rPr lang="en-US" altLang="ko-KR"/>
              <a:t>LOGIN)</a:t>
            </a:r>
            <a:r>
              <a:rPr lang="ko-KR" altLang="en-US"/>
              <a:t>함</a:t>
            </a:r>
            <a:r>
              <a:rPr lang="en-US" altLang="ko-KR"/>
              <a:t> 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6EF5CD-1170-4CFE-8DFE-F626DB2DC347}"/>
              </a:ext>
            </a:extLst>
          </p:cNvPr>
          <p:cNvSpPr/>
          <p:nvPr/>
        </p:nvSpPr>
        <p:spPr>
          <a:xfrm>
            <a:off x="750073" y="2294127"/>
            <a:ext cx="10972370" cy="3139321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FF00FF"/>
                </a:solidFill>
                <a:latin typeface="Courier New" panose="02070309020205020404" pitchFamily="49" charset="0"/>
              </a:rPr>
              <a:t>login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  id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80008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  name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80008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  pwd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80008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endParaRPr lang="ko-KR" altLang="en-US" sz="180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FF00FF"/>
                </a:solidFill>
                <a:latin typeface="Courier New" panose="02070309020205020404" pitchFamily="49" charset="0"/>
              </a:rPr>
              <a:t>login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'gildong'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800">
                <a:solidFill>
                  <a:srgbClr val="008000"/>
                </a:solidFill>
                <a:latin typeface="Courier New" panose="02070309020205020404" pitchFamily="49" charset="0"/>
              </a:rPr>
              <a:t>홍길동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ko-KR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'1111'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FF00FF"/>
                </a:solidFill>
                <a:latin typeface="Courier New" panose="02070309020205020404" pitchFamily="49" charset="0"/>
              </a:rPr>
              <a:t>login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'minwoo'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800">
                <a:solidFill>
                  <a:srgbClr val="008000"/>
                </a:solidFill>
                <a:latin typeface="Courier New" panose="02070309020205020404" pitchFamily="49" charset="0"/>
              </a:rPr>
              <a:t>김민우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ko-KR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'2222'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FF00FF"/>
                </a:solidFill>
                <a:latin typeface="Courier New" panose="02070309020205020404" pitchFamily="49" charset="0"/>
              </a:rPr>
              <a:t>login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808000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'sohee'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800">
                <a:solidFill>
                  <a:srgbClr val="008000"/>
                </a:solidFill>
                <a:latin typeface="Courier New" panose="02070309020205020404" pitchFamily="49" charset="0"/>
              </a:rPr>
              <a:t>송소희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ko-KR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>
                <a:solidFill>
                  <a:srgbClr val="008000"/>
                </a:solidFill>
                <a:latin typeface="Courier New" panose="02070309020205020404" pitchFamily="49" charset="0"/>
              </a:rPr>
              <a:t>'3333'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endParaRPr lang="ko-KR" altLang="en-US" sz="180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</a:rPr>
              <a:t>COMMIT</a:t>
            </a:r>
            <a:r>
              <a:rPr lang="en-US" altLang="ko-KR" sz="180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2E50B2-412A-4DF3-B75C-442EAFBF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466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39943"/>
            <a:ext cx="8568952" cy="677811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CB243E-34C8-4E60-8C44-9968D0A9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20</a:t>
            </a:fld>
            <a:endParaRPr lang="en-US" altLang="ko-K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BD0F6-946E-4150-B3E3-2B9D70E153AD}"/>
              </a:ext>
            </a:extLst>
          </p:cNvPr>
          <p:cNvSpPr txBox="1"/>
          <p:nvPr/>
        </p:nvSpPr>
        <p:spPr>
          <a:xfrm>
            <a:off x="8616280" y="4869160"/>
            <a:ext cx="2569999" cy="830997"/>
          </a:xfrm>
          <a:prstGeom prst="rect">
            <a:avLst/>
          </a:prstGeom>
          <a:solidFill>
            <a:srgbClr val="FBFED0"/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latin typeface="+mn-ea"/>
                <a:ea typeface="+mn-ea"/>
              </a:rPr>
              <a:t>패키지 등록</a:t>
            </a:r>
            <a:endParaRPr lang="en-US" altLang="ko-KR" b="1">
              <a:latin typeface="+mn-ea"/>
              <a:ea typeface="+mn-ea"/>
            </a:endParaRPr>
          </a:p>
          <a:p>
            <a:r>
              <a:rPr lang="en-US" altLang="ko-KR" b="1">
                <a:latin typeface="+mn-ea"/>
                <a:ea typeface="+mn-ea"/>
              </a:rPr>
              <a:t>Ctrl + Shift + M</a:t>
            </a:r>
            <a:endParaRPr lang="ko-KR" altLang="en-US" b="1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568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84" y="78801"/>
            <a:ext cx="8136904" cy="669071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519936" y="4941168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+mn-ea"/>
                <a:ea typeface="+mn-ea"/>
              </a:rPr>
              <a:t>이전 코드와 동일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5A8326-1496-4A4E-9604-25A6E042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4032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실제 웹 서비스 환경에서 실행하기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.war </a:t>
            </a:r>
            <a:r>
              <a:rPr lang="ko-KR" altLang="en-US" dirty="0"/>
              <a:t>파일 생성하기</a:t>
            </a:r>
            <a:endParaRPr lang="en-US" altLang="ko-KR" dirty="0"/>
          </a:p>
          <a:p>
            <a:pPr lvl="1"/>
            <a:r>
              <a:rPr lang="ko-KR" altLang="en-US" dirty="0"/>
              <a:t>해당 프로젝트를 선택하고 </a:t>
            </a:r>
            <a:r>
              <a:rPr lang="en-US" altLang="ko-KR" dirty="0"/>
              <a:t>[Export]-[WAR file]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r>
              <a:rPr lang="en-US" altLang="ko-KR" dirty="0"/>
              <a:t>Destination</a:t>
            </a:r>
            <a:r>
              <a:rPr lang="ko-KR" altLang="en-US" dirty="0"/>
              <a:t>은 </a:t>
            </a:r>
            <a:r>
              <a:rPr lang="en-US" altLang="ko-KR" dirty="0"/>
              <a:t>[</a:t>
            </a:r>
            <a:r>
              <a:rPr lang="ko-KR" altLang="en-US" dirty="0" err="1"/>
              <a:t>톰캣홈</a:t>
            </a:r>
            <a:r>
              <a:rPr lang="en-US" altLang="ko-KR" dirty="0"/>
              <a:t>]\</a:t>
            </a:r>
            <a:r>
              <a:rPr lang="en-US" altLang="ko-KR" dirty="0" err="1"/>
              <a:t>webapps</a:t>
            </a:r>
            <a:r>
              <a:rPr lang="en-US" altLang="ko-KR" dirty="0"/>
              <a:t> </a:t>
            </a:r>
            <a:r>
              <a:rPr lang="ko-KR" altLang="en-US" dirty="0"/>
              <a:t>로 지정</a:t>
            </a:r>
            <a:endParaRPr lang="en-US" altLang="ko-KR" dirty="0"/>
          </a:p>
          <a:p>
            <a:pPr lvl="1"/>
            <a:r>
              <a:rPr lang="ko-KR" altLang="en-US" dirty="0" err="1"/>
              <a:t>톰캣</a:t>
            </a:r>
            <a:r>
              <a:rPr lang="ko-KR" altLang="en-US" dirty="0"/>
              <a:t> 실행 </a:t>
            </a:r>
            <a:r>
              <a:rPr lang="en-US" altLang="ko-KR" dirty="0"/>
              <a:t>: [</a:t>
            </a:r>
            <a:r>
              <a:rPr lang="ko-KR" altLang="en-US" dirty="0" err="1"/>
              <a:t>톰캣홈</a:t>
            </a:r>
            <a:r>
              <a:rPr lang="en-US" altLang="ko-KR" dirty="0"/>
              <a:t>]\bin\startup.bat</a:t>
            </a:r>
          </a:p>
          <a:p>
            <a:pPr lvl="1"/>
            <a:r>
              <a:rPr lang="ko-KR" altLang="en-US" dirty="0"/>
              <a:t>브라우저 실행</a:t>
            </a:r>
            <a:endParaRPr lang="en-US" altLang="ko-KR" dirty="0"/>
          </a:p>
          <a:p>
            <a:pPr lvl="2"/>
            <a:r>
              <a:rPr lang="en-US" altLang="ko-KR" dirty="0"/>
              <a:t>http://localhost:</a:t>
            </a:r>
            <a:r>
              <a:rPr lang="en-US" altLang="ko-KR"/>
              <a:t>8080/jspProject/jdbc-login/index.</a:t>
            </a:r>
            <a:r>
              <a:rPr lang="en-US" altLang="ko-KR" dirty="0"/>
              <a:t>jsp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7904C-2606-4AF9-8369-C5C7AF17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095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과제</a:t>
            </a:r>
            <a:r>
              <a:rPr lang="en-US" altLang="ko-KR"/>
              <a:t>]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게시판관리를 </a:t>
            </a:r>
            <a:r>
              <a:rPr lang="en-US" altLang="ko-KR"/>
              <a:t>dbcp</a:t>
            </a:r>
            <a:r>
              <a:rPr lang="ko-KR" altLang="en-US"/>
              <a:t>를 사용하여 코드를 작성하시오</a:t>
            </a:r>
            <a:r>
              <a:rPr lang="en-US" altLang="ko-KR"/>
              <a:t>.</a:t>
            </a:r>
            <a:endParaRPr lang="en-US" altLang="ko-KR" dirty="0"/>
          </a:p>
          <a:p>
            <a:pPr lvl="1"/>
            <a:r>
              <a:rPr lang="ko-KR" altLang="en-US" dirty="0"/>
              <a:t>각자의 </a:t>
            </a:r>
            <a:r>
              <a:rPr lang="en-US" altLang="ko-KR" dirty="0" err="1"/>
              <a:t>github</a:t>
            </a:r>
            <a:r>
              <a:rPr lang="ko-KR" altLang="en-US"/>
              <a:t>에 </a:t>
            </a:r>
            <a:r>
              <a:rPr lang="en-US" altLang="ko-KR" b="1"/>
              <a:t>dbcp</a:t>
            </a:r>
            <a:r>
              <a:rPr lang="ko-KR" altLang="en-US"/>
              <a:t>라는 폴더를 만들어서 업로드</a:t>
            </a:r>
            <a:endParaRPr lang="en-US" altLang="ko-KR"/>
          </a:p>
          <a:p>
            <a:pPr lvl="1"/>
            <a:r>
              <a:rPr lang="en-US" altLang="ko-KR"/>
              <a:t>5</a:t>
            </a:r>
            <a:r>
              <a:rPr lang="ko-KR" altLang="en-US"/>
              <a:t>월 </a:t>
            </a:r>
            <a:r>
              <a:rPr lang="en-US" altLang="ko-KR"/>
              <a:t>19</a:t>
            </a:r>
            <a:r>
              <a:rPr lang="ko-KR" altLang="en-US"/>
              <a:t>일 </a:t>
            </a:r>
            <a:r>
              <a:rPr lang="en-US" altLang="ko-KR"/>
              <a:t>20:00</a:t>
            </a:r>
            <a:r>
              <a:rPr lang="ko-KR" altLang="en-US"/>
              <a:t>까지 업로드 해둘 것</a:t>
            </a:r>
            <a:endParaRPr lang="en-US" altLang="ko-KR"/>
          </a:p>
          <a:p>
            <a:pPr lvl="1"/>
            <a:r>
              <a:rPr lang="ko-KR" altLang="en-US"/>
              <a:t>평가점수</a:t>
            </a:r>
            <a:r>
              <a:rPr lang="en-US" altLang="ko-KR"/>
              <a:t>(</a:t>
            </a:r>
            <a:r>
              <a:rPr lang="ko-KR" altLang="en-US"/>
              <a:t>개인 점수에 추가</a:t>
            </a:r>
            <a:r>
              <a:rPr lang="en-US" altLang="ko-KR"/>
              <a:t>)</a:t>
            </a:r>
          </a:p>
          <a:p>
            <a:pPr lvl="2"/>
            <a:r>
              <a:rPr lang="ko-KR" altLang="en-US"/>
              <a:t>모든 코드가 잘 정리</a:t>
            </a:r>
            <a:r>
              <a:rPr lang="en-US" altLang="ko-KR"/>
              <a:t>(</a:t>
            </a:r>
            <a:r>
              <a:rPr lang="ko-KR" altLang="en-US"/>
              <a:t>주석포함</a:t>
            </a:r>
            <a:r>
              <a:rPr lang="en-US" altLang="ko-KR"/>
              <a:t>)</a:t>
            </a:r>
            <a:r>
              <a:rPr lang="ko-KR" altLang="en-US"/>
              <a:t>되고 동작할 경우 </a:t>
            </a:r>
            <a:r>
              <a:rPr lang="en-US" altLang="ko-KR"/>
              <a:t>: 5</a:t>
            </a:r>
            <a:r>
              <a:rPr lang="ko-KR" altLang="en-US"/>
              <a:t>점</a:t>
            </a:r>
            <a:endParaRPr lang="en-US" altLang="ko-KR"/>
          </a:p>
          <a:p>
            <a:pPr lvl="2"/>
            <a:r>
              <a:rPr lang="ko-KR" altLang="en-US"/>
              <a:t>중간 정도</a:t>
            </a:r>
            <a:r>
              <a:rPr lang="en-US" altLang="ko-KR"/>
              <a:t>: 3</a:t>
            </a:r>
            <a:r>
              <a:rPr lang="ko-KR" altLang="en-US"/>
              <a:t>점</a:t>
            </a:r>
            <a:endParaRPr lang="en-US" altLang="ko-KR"/>
          </a:p>
          <a:p>
            <a:pPr lvl="2"/>
            <a:r>
              <a:rPr lang="ko-KR" altLang="en-US"/>
              <a:t>제출하지 않은 경우 또는 업로드 했으나 의미없는 경우</a:t>
            </a:r>
            <a:r>
              <a:rPr lang="en-US" altLang="ko-KR"/>
              <a:t>: 0</a:t>
            </a:r>
            <a:r>
              <a:rPr lang="ko-KR" altLang="en-US"/>
              <a:t>점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41E283-1C43-48A8-B002-C4015A40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389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020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프레젠테이션1" id="{4B33F59B-B985-4B5E-9929-AC98C5552B69}" vid="{2F8BD205-57E0-424D-8191-B08051F6AA3D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</Template>
  <TotalTime>28524</TotalTime>
  <Words>1409</Words>
  <Application>Microsoft Office PowerPoint</Application>
  <PresentationFormat>와이드스크린</PresentationFormat>
  <Paragraphs>218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23</vt:i4>
      </vt:variant>
    </vt:vector>
  </HeadingPairs>
  <TitlesOfParts>
    <vt:vector size="34" baseType="lpstr">
      <vt:lpstr>HY견고딕</vt:lpstr>
      <vt:lpstr>굴림</vt:lpstr>
      <vt:lpstr>나눔고딕</vt:lpstr>
      <vt:lpstr>나눔손글씨 펜</vt:lpstr>
      <vt:lpstr>맑은 고딕</vt:lpstr>
      <vt:lpstr>Arial</vt:lpstr>
      <vt:lpstr>Consolas</vt:lpstr>
      <vt:lpstr>Courier New</vt:lpstr>
      <vt:lpstr>1_디자인 사용자 지정</vt:lpstr>
      <vt:lpstr>2_디자인 사용자 지정</vt:lpstr>
      <vt:lpstr>2020-1</vt:lpstr>
      <vt:lpstr>9장-1. 커넥션풀 (Connection Pool)</vt:lpstr>
      <vt:lpstr>이 장에서 공부할 것</vt:lpstr>
      <vt:lpstr>DBCP API를 이용한 커넥션 풀 설정 </vt:lpstr>
      <vt:lpstr>Database Connection Pool</vt:lpstr>
      <vt:lpstr>Database Connection Pool</vt:lpstr>
      <vt:lpstr>커넥션 풀(CP: Connection Pooling)</vt:lpstr>
      <vt:lpstr>DataSource</vt:lpstr>
      <vt:lpstr>DataSource</vt:lpstr>
      <vt:lpstr>[참고] JNDI</vt:lpstr>
      <vt:lpstr>[참고] Naming &amp; Directory 서비스</vt:lpstr>
      <vt:lpstr>Database Connection Pool 설정</vt:lpstr>
      <vt:lpstr>자카르타 DBCP API를 이용한 커넥션 풀 설정</vt:lpstr>
      <vt:lpstr>PowerPoint 프레젠테이션</vt:lpstr>
      <vt:lpstr>context.xml의 &lt;Resource&gt;의 속성</vt:lpstr>
      <vt:lpstr>JSP페이지에서 커넥션 풀 사용</vt:lpstr>
      <vt:lpstr>PowerPoint 프레젠테이션</vt:lpstr>
      <vt:lpstr>PowerPoint 프레젠테이션</vt:lpstr>
      <vt:lpstr>실습1 – DBCP 로 DB연동</vt:lpstr>
      <vt:lpstr>실습2 – DBCP로 목록 검색</vt:lpstr>
      <vt:lpstr>PowerPoint 프레젠테이션</vt:lpstr>
      <vt:lpstr>PowerPoint 프레젠테이션</vt:lpstr>
      <vt:lpstr>실제 웹 서비스 환경에서 실행하기</vt:lpstr>
      <vt:lpstr>[과제]</vt:lpstr>
    </vt:vector>
  </TitlesOfParts>
  <Company>KKK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2장 JSP개발환경설정</dc:title>
  <dc:creator>KIM</dc:creator>
  <cp:lastModifiedBy>jinso</cp:lastModifiedBy>
  <cp:revision>387</cp:revision>
  <dcterms:created xsi:type="dcterms:W3CDTF">2008-02-15T04:11:26Z</dcterms:created>
  <dcterms:modified xsi:type="dcterms:W3CDTF">2025-04-10T05:28:51Z</dcterms:modified>
</cp:coreProperties>
</file>