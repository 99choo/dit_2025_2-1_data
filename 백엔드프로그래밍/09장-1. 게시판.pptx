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36" r:id="rId1"/>
    <p:sldMasterId id="2147483948" r:id="rId2"/>
  </p:sldMasterIdLst>
  <p:notesMasterIdLst>
    <p:notesMasterId r:id="rId53"/>
  </p:notesMasterIdLst>
  <p:sldIdLst>
    <p:sldId id="256" r:id="rId3"/>
    <p:sldId id="330" r:id="rId4"/>
    <p:sldId id="349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438" r:id="rId14"/>
    <p:sldId id="369" r:id="rId15"/>
    <p:sldId id="370" r:id="rId16"/>
    <p:sldId id="420" r:id="rId17"/>
    <p:sldId id="501" r:id="rId18"/>
    <p:sldId id="500" r:id="rId19"/>
    <p:sldId id="502" r:id="rId20"/>
    <p:sldId id="503" r:id="rId21"/>
    <p:sldId id="504" r:id="rId22"/>
    <p:sldId id="505" r:id="rId23"/>
    <p:sldId id="506" r:id="rId24"/>
    <p:sldId id="507" r:id="rId25"/>
    <p:sldId id="508" r:id="rId26"/>
    <p:sldId id="509" r:id="rId27"/>
    <p:sldId id="510" r:id="rId28"/>
    <p:sldId id="511" r:id="rId29"/>
    <p:sldId id="512" r:id="rId30"/>
    <p:sldId id="513" r:id="rId31"/>
    <p:sldId id="514" r:id="rId32"/>
    <p:sldId id="515" r:id="rId33"/>
    <p:sldId id="466" r:id="rId34"/>
    <p:sldId id="516" r:id="rId35"/>
    <p:sldId id="517" r:id="rId36"/>
    <p:sldId id="518" r:id="rId37"/>
    <p:sldId id="519" r:id="rId38"/>
    <p:sldId id="520" r:id="rId39"/>
    <p:sldId id="521" r:id="rId40"/>
    <p:sldId id="522" r:id="rId41"/>
    <p:sldId id="467" r:id="rId42"/>
    <p:sldId id="523" r:id="rId43"/>
    <p:sldId id="535" r:id="rId44"/>
    <p:sldId id="530" r:id="rId45"/>
    <p:sldId id="531" r:id="rId46"/>
    <p:sldId id="534" r:id="rId47"/>
    <p:sldId id="536" r:id="rId48"/>
    <p:sldId id="537" r:id="rId49"/>
    <p:sldId id="538" r:id="rId50"/>
    <p:sldId id="540" r:id="rId51"/>
    <p:sldId id="539" r:id="rId5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ABE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279FBD-3183-4611-BB3C-2548B8991953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19F21-93F6-4805-B68F-A74160CF01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80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5580" y="4149080"/>
            <a:ext cx="7560840" cy="1728192"/>
          </a:xfrm>
        </p:spPr>
        <p:txBody>
          <a:bodyPr lIns="0" tIns="0" rIns="0">
            <a:normAutofit/>
          </a:bodyPr>
          <a:lstStyle>
            <a:lvl1pPr marL="0" indent="0" algn="ctr">
              <a:buNone/>
              <a:defRPr sz="3200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800" y="1410247"/>
            <a:ext cx="9042400" cy="1069975"/>
          </a:xfrm>
        </p:spPr>
        <p:txBody>
          <a:bodyPr bIns="0" anchor="b" anchorCtr="0">
            <a:noAutofit/>
          </a:bodyPr>
          <a:lstStyle>
            <a:lvl1pPr algn="ctr"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131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298" y="936252"/>
            <a:ext cx="11521280" cy="573310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/>
            </a:lvl1pPr>
            <a:lvl2pPr>
              <a:lnSpc>
                <a:spcPct val="100000"/>
              </a:lnSpc>
              <a:spcAft>
                <a:spcPts val="600"/>
              </a:spcAft>
              <a:defRPr/>
            </a:lvl2pPr>
            <a:lvl3pPr>
              <a:lnSpc>
                <a:spcPct val="100000"/>
              </a:lnSpc>
              <a:spcAft>
                <a:spcPts val="600"/>
              </a:spcAft>
              <a:defRPr/>
            </a:lvl3pPr>
            <a:lvl4pPr>
              <a:lnSpc>
                <a:spcPct val="100000"/>
              </a:lnSpc>
              <a:spcAft>
                <a:spcPts val="600"/>
              </a:spcAft>
              <a:defRPr/>
            </a:lvl4pPr>
            <a:lvl5pPr>
              <a:lnSpc>
                <a:spcPct val="10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84000" y="6669360"/>
            <a:ext cx="508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4605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6801" y="5245101"/>
            <a:ext cx="9245599" cy="1155700"/>
          </a:xfrm>
        </p:spPr>
        <p:txBody>
          <a:bodyPr anchor="t">
            <a:normAutofit/>
          </a:bodyPr>
          <a:lstStyle>
            <a:lvl1pPr algn="r">
              <a:defRPr sz="42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36801" y="4114800"/>
            <a:ext cx="9245599" cy="1130300"/>
          </a:xfrm>
        </p:spPr>
        <p:txBody>
          <a:bodyPr anchor="b"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84000" y="6669360"/>
            <a:ext cx="508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0508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609600" y="1340768"/>
            <a:ext cx="5384800" cy="50405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>
          <a:xfrm>
            <a:off x="6197600" y="1340768"/>
            <a:ext cx="5384800" cy="50405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84000" y="6669360"/>
            <a:ext cx="508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7082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981200"/>
            <a:ext cx="5386917" cy="411162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3"/>
          </p:nvPr>
        </p:nvSpPr>
        <p:spPr>
          <a:xfrm>
            <a:off x="6197600" y="1981200"/>
            <a:ext cx="5386917" cy="411162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609600" y="2438400"/>
            <a:ext cx="5384800" cy="36576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5"/>
          </p:nvPr>
        </p:nvSpPr>
        <p:spPr>
          <a:xfrm>
            <a:off x="6197600" y="2438400"/>
            <a:ext cx="5384800" cy="36576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84000" y="6669360"/>
            <a:ext cx="508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8140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84000" y="6669360"/>
            <a:ext cx="508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1682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84000" y="6669360"/>
            <a:ext cx="508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5545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type="title"/>
          </p:nvPr>
        </p:nvSpPr>
        <p:spPr>
          <a:xfrm>
            <a:off x="609600" y="1524000"/>
            <a:ext cx="4470400" cy="914400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892800" y="1524000"/>
            <a:ext cx="56896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609601" y="2514599"/>
            <a:ext cx="4470400" cy="312724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84000" y="6669360"/>
            <a:ext cx="508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9519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7048"/>
            <a:ext cx="4474464" cy="914400"/>
          </a:xfrm>
        </p:spPr>
        <p:txBody>
          <a:bodyPr anchor="b">
            <a:normAutofit/>
          </a:bodyPr>
          <a:lstStyle>
            <a:lvl1pPr algn="l">
              <a:defRPr lang="en-US" sz="1800" b="1" i="0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00928" y="1554480"/>
            <a:ext cx="5693664" cy="4059936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14600"/>
            <a:ext cx="4474464" cy="312724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n-US" sz="1400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892800" y="1524000"/>
            <a:ext cx="5689600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92800" y="5637212"/>
            <a:ext cx="5689600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84000" y="6669360"/>
            <a:ext cx="508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290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84000" y="6669360"/>
            <a:ext cx="508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195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589085"/>
            <a:ext cx="2743200" cy="553707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585216"/>
            <a:ext cx="8026400" cy="554126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84000" y="6669360"/>
            <a:ext cx="508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2655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pic>
        <p:nvPicPr>
          <p:cNvPr id="7" name="Picture 2" descr="DIT동의과학대학교(DONG-EUI INSTITUTE OF TECHNOLOGY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4504" y="64992"/>
            <a:ext cx="931937" cy="1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53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2510" y="173708"/>
            <a:ext cx="11822266" cy="73874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7072" y="1057835"/>
            <a:ext cx="11434714" cy="561190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722443" y="6492275"/>
            <a:ext cx="453081" cy="365125"/>
          </a:xfrm>
        </p:spPr>
        <p:txBody>
          <a:bodyPr/>
          <a:lstStyle/>
          <a:p>
            <a:fld id="{DC2EFB8F-A7FC-4502-806D-286DAD39971C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1319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4877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EE501-2790-4B07-8109-74518D330C12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357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85680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05662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2DA86-47FC-4C09-8B8E-516B4477B187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85989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22285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0513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28791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52139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049482"/>
            <a:ext cx="10363826" cy="474171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725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908720"/>
            <a:ext cx="11449272" cy="561662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1344" y="204132"/>
            <a:ext cx="10972800" cy="504056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84000" y="6669360"/>
            <a:ext cx="50800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5AA8C37D-6ADA-49EE-B609-6DB056DA93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1" name="Picture 2" descr="DIT동의과학대학교(DONG-EUI INSTITUTE OF TECHNOLOGY)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8568" y="8476"/>
            <a:ext cx="931937" cy="1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3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b="1" kern="1200">
          <a:solidFill>
            <a:schemeClr val="tx1"/>
          </a:solidFill>
          <a:latin typeface="+mj-ea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lnSpc>
          <a:spcPct val="100000"/>
        </a:lnSpc>
        <a:spcBef>
          <a:spcPts val="600"/>
        </a:spcBef>
        <a:spcAft>
          <a:spcPts val="600"/>
        </a:spcAft>
        <a:buFont typeface="Wingdings" pitchFamily="2" charset="2"/>
        <a:buChar char="§"/>
        <a:defRPr sz="2800" kern="1200" baseline="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240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1200150" indent="-28575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 typeface="Arial" pitchFamily="34" charset="0"/>
        <a:buChar char="•"/>
        <a:defRPr sz="2000" kern="1200" baseline="0">
          <a:solidFill>
            <a:schemeClr val="tx1"/>
          </a:solidFill>
          <a:latin typeface="+mn-ea"/>
          <a:ea typeface="+mn-ea"/>
          <a:cs typeface="+mn-cs"/>
        </a:defRPr>
      </a:lvl3pPr>
      <a:lvl4pPr marL="1657350" indent="-28575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맑은 고딕" pitchFamily="50" charset="-127"/>
        <a:buChar char="–"/>
        <a:defRPr sz="1800" kern="1200" baseline="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Wingdings" pitchFamily="2" charset="2"/>
        <a:buNone/>
        <a:defRPr sz="1600" kern="1200" baseline="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5991" y="117298"/>
            <a:ext cx="11929216" cy="68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73465" y="940036"/>
            <a:ext cx="11801741" cy="577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776817" y="6492875"/>
            <a:ext cx="4151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B717F-55EC-4619-B7FF-167555E9039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pic>
        <p:nvPicPr>
          <p:cNvPr id="5" name="Picture 2" descr="DIT동의과학대학교(DONG-EUI INSTITUTE OF TECHNOLOGY)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4504" y="64992"/>
            <a:ext cx="931937" cy="1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693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컴퓨터정보과</a:t>
            </a:r>
            <a:endParaRPr lang="en-US" altLang="ko-KR" dirty="0"/>
          </a:p>
          <a:p>
            <a:pPr fontAlgn="base"/>
            <a:r>
              <a:rPr lang="ko-KR" altLang="en-US" dirty="0"/>
              <a:t>김진숙</a:t>
            </a: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7428" y="1340768"/>
            <a:ext cx="10297144" cy="2162769"/>
          </a:xfrm>
        </p:spPr>
        <p:txBody>
          <a:bodyPr/>
          <a:lstStyle/>
          <a:p>
            <a:pPr fontAlgn="base"/>
            <a:r>
              <a:rPr lang="en-US" altLang="ko-KR" sz="6000">
                <a:solidFill>
                  <a:schemeClr val="tx1"/>
                </a:solidFill>
              </a:rPr>
              <a:t>9</a:t>
            </a:r>
            <a:r>
              <a:rPr lang="ko-KR" altLang="en-US" sz="6000">
                <a:solidFill>
                  <a:schemeClr val="tx1"/>
                </a:solidFill>
              </a:rPr>
              <a:t>장</a:t>
            </a:r>
            <a:r>
              <a:rPr lang="en-US" altLang="ko-KR" sz="6000">
                <a:solidFill>
                  <a:schemeClr val="tx1"/>
                </a:solidFill>
              </a:rPr>
              <a:t>. </a:t>
            </a:r>
            <a:r>
              <a:rPr lang="ko-KR" altLang="en-US" sz="6000">
                <a:solidFill>
                  <a:schemeClr val="tx1"/>
                </a:solidFill>
              </a:rPr>
              <a:t>게시판</a:t>
            </a:r>
            <a:endParaRPr lang="ko-KR" altLang="en-US"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27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이번 장에서 공부할 것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>
              <a:lnSpc>
                <a:spcPct val="120000"/>
              </a:lnSpc>
            </a:pPr>
            <a:r>
              <a:rPr lang="ko-KR" altLang="en-US"/>
              <a:t>최대한 부가기능 없이 간단하게 구현</a:t>
            </a:r>
            <a:endParaRPr lang="en-US" altLang="ko-KR"/>
          </a:p>
          <a:p>
            <a:pPr lvl="1" fontAlgn="base">
              <a:lnSpc>
                <a:spcPct val="120000"/>
              </a:lnSpc>
            </a:pPr>
            <a:r>
              <a:rPr lang="ko-KR" altLang="en-US"/>
              <a:t>간단한 </a:t>
            </a:r>
            <a:r>
              <a:rPr lang="ko-KR" altLang="en-US" b="1"/>
              <a:t>회원관리</a:t>
            </a:r>
            <a:r>
              <a:rPr lang="ko-KR" altLang="en-US"/>
              <a:t> 프로그램 작성</a:t>
            </a:r>
            <a:endParaRPr lang="en-US" altLang="ko-KR"/>
          </a:p>
          <a:p>
            <a:pPr lvl="1" fontAlgn="base">
              <a:lnSpc>
                <a:spcPct val="120000"/>
              </a:lnSpc>
            </a:pPr>
            <a:r>
              <a:rPr lang="ko-KR" altLang="en-US"/>
              <a:t>간단한 </a:t>
            </a:r>
            <a:r>
              <a:rPr lang="ko-KR" altLang="en-US" b="1"/>
              <a:t>게시판 </a:t>
            </a:r>
            <a:r>
              <a:rPr lang="ko-KR" altLang="en-US"/>
              <a:t>프로그램 작성</a:t>
            </a:r>
            <a:endParaRPr lang="en-US" altLang="ko-KR" dirty="0"/>
          </a:p>
          <a:p>
            <a:pPr fontAlgn="base">
              <a:lnSpc>
                <a:spcPct val="120000"/>
              </a:lnSpc>
            </a:pPr>
            <a:r>
              <a:rPr lang="ko-KR" altLang="en-US"/>
              <a:t>학습내용</a:t>
            </a:r>
            <a:endParaRPr lang="ko-KR" altLang="en-US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게시판 프로그램 구성과 준비 작업</a:t>
            </a:r>
            <a:endParaRPr lang="en-US" altLang="ko-KR" sz="1400" dirty="0"/>
          </a:p>
          <a:p>
            <a:pPr lvl="1">
              <a:lnSpc>
                <a:spcPct val="120000"/>
              </a:lnSpc>
            </a:pPr>
            <a:r>
              <a:rPr lang="ko-KR" altLang="en-US" dirty="0" err="1"/>
              <a:t>게시글</a:t>
            </a:r>
            <a:r>
              <a:rPr lang="ko-KR" altLang="en-US" dirty="0"/>
              <a:t> 리스트</a:t>
            </a:r>
            <a:endParaRPr lang="en-US" altLang="ko-KR" sz="1400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새 글쓰기</a:t>
            </a:r>
            <a:endParaRPr lang="en-US" altLang="ko-KR" sz="1400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글 내용 보기</a:t>
            </a:r>
            <a:endParaRPr lang="en-US" altLang="ko-KR" sz="1400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글 수정</a:t>
            </a:r>
            <a:endParaRPr lang="en-US" altLang="ko-KR" sz="1400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글 삭제</a:t>
            </a:r>
            <a:endParaRPr lang="en-US" altLang="ko-KR" sz="34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B17C76-811C-4D4B-971F-0074CA961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A8C37D-6ADA-49EE-B609-6DB056DA936F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318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</a:t>
            </a:r>
            <a:r>
              <a:rPr lang="en-US" altLang="ko-KR"/>
              <a:t>1 – </a:t>
            </a:r>
            <a:r>
              <a:rPr lang="ko-KR" altLang="en-US"/>
              <a:t>로그인 사용자 관리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mariadb </a:t>
            </a:r>
            <a:r>
              <a:rPr lang="ko-KR" altLang="en-US" dirty="0"/>
              <a:t>서버에 테이블 작성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A929539-E5E2-486E-BAC7-691DDBC91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0" y="1665179"/>
            <a:ext cx="11422069" cy="46583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D68A2C-434E-44CF-AF3C-3962D05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391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>
          <a:xfrm>
            <a:off x="738639" y="954172"/>
            <a:ext cx="10363826" cy="4741717"/>
          </a:xfrm>
        </p:spPr>
        <p:txBody>
          <a:bodyPr/>
          <a:lstStyle/>
          <a:p>
            <a:r>
              <a:rPr lang="ko-KR" altLang="en-US"/>
              <a:t>사용자 </a:t>
            </a:r>
            <a:r>
              <a:rPr lang="ko-KR" altLang="en-US" dirty="0"/>
              <a:t>목록 조회</a:t>
            </a:r>
            <a:endParaRPr lang="en-US" altLang="ko-KR" dirty="0"/>
          </a:p>
          <a:p>
            <a:r>
              <a:rPr lang="ko-KR" altLang="en-US" dirty="0"/>
              <a:t>사용자 정보 등록</a:t>
            </a:r>
            <a:endParaRPr lang="en-US" altLang="ko-KR" dirty="0"/>
          </a:p>
          <a:p>
            <a:r>
              <a:rPr lang="ko-KR" altLang="en-US" dirty="0"/>
              <a:t>사용자 정보 변경</a:t>
            </a:r>
            <a:endParaRPr lang="en-US" altLang="ko-KR" dirty="0"/>
          </a:p>
          <a:p>
            <a:r>
              <a:rPr lang="ko-KR" altLang="en-US" dirty="0"/>
              <a:t>사용자 정보 삭제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372902" y="1583210"/>
            <a:ext cx="4904698" cy="4731803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7521940" y="1442168"/>
            <a:ext cx="1678049" cy="496591"/>
          </a:xfrm>
          <a:prstGeom prst="round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Index.jsp</a:t>
            </a:r>
            <a:endParaRPr lang="ko-KR" altLang="en-US" sz="1400" b="1" dirty="0">
              <a:solidFill>
                <a:srgbClr val="0000CC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7551231" y="1891244"/>
            <a:ext cx="1678049" cy="49659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메인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6465112" y="2265807"/>
            <a:ext cx="1730819" cy="1018455"/>
            <a:chOff x="7223480" y="2107621"/>
            <a:chExt cx="1730819" cy="1018455"/>
          </a:xfrm>
        </p:grpSpPr>
        <p:sp>
          <p:nvSpPr>
            <p:cNvPr id="15" name="모서리가 둥근 직사각형 14"/>
            <p:cNvSpPr/>
            <p:nvPr/>
          </p:nvSpPr>
          <p:spPr>
            <a:xfrm>
              <a:off x="7223480" y="2107621"/>
              <a:ext cx="1678049" cy="496591"/>
            </a:xfrm>
            <a:prstGeom prst="round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insertForm.jsp</a:t>
              </a:r>
              <a:endParaRPr lang="ko-KR" altLang="en-US" sz="1400" b="1" dirty="0">
                <a:solidFill>
                  <a:srgbClr val="0000CC"/>
                </a:solidFill>
              </a:endParaRPr>
            </a:p>
          </p:txBody>
        </p:sp>
        <p:sp>
          <p:nvSpPr>
            <p:cNvPr id="16" name="모서리가 둥근 직사각형 15"/>
            <p:cNvSpPr/>
            <p:nvPr/>
          </p:nvSpPr>
          <p:spPr>
            <a:xfrm>
              <a:off x="7276250" y="2536769"/>
              <a:ext cx="1678049" cy="58930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정보 </a:t>
              </a:r>
              <a:r>
                <a:rPr lang="ko-KR" altLang="en-US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입력폼</a:t>
              </a:r>
              <a:endParaRPr lang="ko-KR" altLang="en-US" sz="1400" b="1" dirty="0">
                <a:solidFill>
                  <a:srgbClr val="0000CC"/>
                </a:solidFill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6465111" y="3202650"/>
            <a:ext cx="1730819" cy="1028011"/>
            <a:chOff x="7223479" y="3044464"/>
            <a:chExt cx="1730819" cy="1028011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7223479" y="3044464"/>
              <a:ext cx="1678049" cy="496591"/>
            </a:xfrm>
            <a:prstGeom prst="round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insertPro.jsp</a:t>
              </a:r>
              <a:endParaRPr lang="ko-KR" altLang="en-US" sz="1400" b="1" dirty="0">
                <a:solidFill>
                  <a:srgbClr val="0000CC"/>
                </a:solidFill>
              </a:endParaRPr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7276249" y="3483168"/>
              <a:ext cx="1678049" cy="58930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정보 입력 처리</a:t>
              </a:r>
              <a:endParaRPr lang="ko-KR" altLang="en-US" sz="1400" b="1" dirty="0">
                <a:solidFill>
                  <a:srgbClr val="0000CC"/>
                </a:solidFill>
              </a:endParaRPr>
            </a:p>
          </p:txBody>
        </p:sp>
      </p:grpSp>
      <p:cxnSp>
        <p:nvCxnSpPr>
          <p:cNvPr id="11" name="직선 화살표 연결선 10"/>
          <p:cNvCxnSpPr/>
          <p:nvPr/>
        </p:nvCxnSpPr>
        <p:spPr>
          <a:xfrm flipH="1">
            <a:off x="7976197" y="2384150"/>
            <a:ext cx="166963" cy="3108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H="1">
            <a:off x="7976196" y="3315328"/>
            <a:ext cx="1" cy="3518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14" idx="3"/>
          </p:cNvCxnSpPr>
          <p:nvPr/>
        </p:nvCxnSpPr>
        <p:spPr>
          <a:xfrm flipV="1">
            <a:off x="8195930" y="3325031"/>
            <a:ext cx="451408" cy="610977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/>
          <p:cNvGrpSpPr/>
          <p:nvPr/>
        </p:nvGrpSpPr>
        <p:grpSpPr>
          <a:xfrm>
            <a:off x="8459280" y="2267253"/>
            <a:ext cx="1799046" cy="1032413"/>
            <a:chOff x="9217648" y="2109067"/>
            <a:chExt cx="1799046" cy="1032413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9217648" y="2109067"/>
              <a:ext cx="1678049" cy="496591"/>
            </a:xfrm>
            <a:prstGeom prst="round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list.jsp</a:t>
              </a:r>
              <a:endParaRPr lang="ko-KR" altLang="en-US" sz="1400" b="1" dirty="0">
                <a:solidFill>
                  <a:srgbClr val="0000CC"/>
                </a:solidFill>
              </a:endParaRPr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9338645" y="2552173"/>
              <a:ext cx="1678049" cy="58930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정보 목록 조회</a:t>
              </a:r>
              <a:endParaRPr lang="ko-KR" altLang="en-US" sz="1400" b="1" dirty="0">
                <a:solidFill>
                  <a:srgbClr val="0000CC"/>
                </a:solidFill>
              </a:endParaRPr>
            </a:p>
          </p:txBody>
        </p:sp>
      </p:grpSp>
      <p:cxnSp>
        <p:nvCxnSpPr>
          <p:cNvPr id="20" name="직선 화살표 연결선 19"/>
          <p:cNvCxnSpPr/>
          <p:nvPr/>
        </p:nvCxnSpPr>
        <p:spPr>
          <a:xfrm>
            <a:off x="8620897" y="2368298"/>
            <a:ext cx="160518" cy="3607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/>
          <p:cNvGrpSpPr/>
          <p:nvPr/>
        </p:nvGrpSpPr>
        <p:grpSpPr>
          <a:xfrm>
            <a:off x="9424416" y="5134225"/>
            <a:ext cx="1853184" cy="1037608"/>
            <a:chOff x="10182784" y="4976039"/>
            <a:chExt cx="1853184" cy="1037608"/>
          </a:xfrm>
        </p:grpSpPr>
        <p:sp>
          <p:nvSpPr>
            <p:cNvPr id="28" name="모서리가 둥근 직사각형 27"/>
            <p:cNvSpPr/>
            <p:nvPr/>
          </p:nvSpPr>
          <p:spPr>
            <a:xfrm>
              <a:off x="10357919" y="4976039"/>
              <a:ext cx="1678049" cy="496591"/>
            </a:xfrm>
            <a:prstGeom prst="round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delete.jsp</a:t>
              </a:r>
              <a:endParaRPr lang="ko-KR" altLang="en-US" sz="1400" b="1" dirty="0">
                <a:solidFill>
                  <a:srgbClr val="0000CC"/>
                </a:solidFill>
              </a:endParaRPr>
            </a:p>
          </p:txBody>
        </p:sp>
        <p:sp>
          <p:nvSpPr>
            <p:cNvPr id="29" name="모서리가 둥근 직사각형 28"/>
            <p:cNvSpPr/>
            <p:nvPr/>
          </p:nvSpPr>
          <p:spPr>
            <a:xfrm>
              <a:off x="10182784" y="5424340"/>
              <a:ext cx="1678049" cy="58930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정보 삭제 처리</a:t>
              </a:r>
              <a:endParaRPr lang="ko-KR" altLang="en-US" sz="1400" b="1" dirty="0">
                <a:solidFill>
                  <a:srgbClr val="0000CC"/>
                </a:solidFill>
              </a:endParaRPr>
            </a:p>
          </p:txBody>
        </p:sp>
      </p:grpSp>
      <p:cxnSp>
        <p:nvCxnSpPr>
          <p:cNvPr id="26" name="직선 화살표 연결선 25"/>
          <p:cNvCxnSpPr/>
          <p:nvPr/>
        </p:nvCxnSpPr>
        <p:spPr>
          <a:xfrm>
            <a:off x="9208230" y="4835820"/>
            <a:ext cx="391321" cy="75411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/>
          <p:cNvGrpSpPr/>
          <p:nvPr/>
        </p:nvGrpSpPr>
        <p:grpSpPr>
          <a:xfrm>
            <a:off x="7504699" y="5130270"/>
            <a:ext cx="1896524" cy="1032323"/>
            <a:chOff x="8263067" y="4972084"/>
            <a:chExt cx="1896524" cy="1032323"/>
          </a:xfrm>
        </p:grpSpPr>
        <p:sp>
          <p:nvSpPr>
            <p:cNvPr id="39" name="모서리가 둥근 직사각형 38"/>
            <p:cNvSpPr/>
            <p:nvPr/>
          </p:nvSpPr>
          <p:spPr>
            <a:xfrm>
              <a:off x="8263067" y="4972084"/>
              <a:ext cx="1678049" cy="496591"/>
            </a:xfrm>
            <a:prstGeom prst="round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updatePro.jsp</a:t>
              </a:r>
              <a:endParaRPr lang="ko-KR" altLang="en-US" sz="1400" b="1" dirty="0">
                <a:solidFill>
                  <a:srgbClr val="0000CC"/>
                </a:solidFill>
              </a:endParaRP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8481542" y="5415100"/>
              <a:ext cx="1678049" cy="58930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암호 수정 처리</a:t>
              </a:r>
              <a:endParaRPr lang="ko-KR" altLang="en-US" sz="1400" b="1" dirty="0">
                <a:solidFill>
                  <a:srgbClr val="0000CC"/>
                </a:solidFill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7620255" y="4126928"/>
            <a:ext cx="1712622" cy="1024941"/>
            <a:chOff x="8378623" y="3968742"/>
            <a:chExt cx="1712622" cy="1024941"/>
          </a:xfrm>
        </p:grpSpPr>
        <p:sp>
          <p:nvSpPr>
            <p:cNvPr id="37" name="모서리가 둥근 직사각형 36"/>
            <p:cNvSpPr/>
            <p:nvPr/>
          </p:nvSpPr>
          <p:spPr>
            <a:xfrm>
              <a:off x="8378623" y="3968742"/>
              <a:ext cx="1678049" cy="496591"/>
            </a:xfrm>
            <a:prstGeom prst="round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updateForm.jsp</a:t>
              </a:r>
              <a:endParaRPr lang="ko-KR" altLang="en-US" sz="1400" b="1" dirty="0">
                <a:solidFill>
                  <a:srgbClr val="0000CC"/>
                </a:solidFill>
              </a:endParaRPr>
            </a:p>
          </p:txBody>
        </p:sp>
        <p:sp>
          <p:nvSpPr>
            <p:cNvPr id="38" name="모서리가 둥근 직사각형 37"/>
            <p:cNvSpPr/>
            <p:nvPr/>
          </p:nvSpPr>
          <p:spPr>
            <a:xfrm>
              <a:off x="8413196" y="4404376"/>
              <a:ext cx="1678049" cy="58930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사용자 암호 수정 폼</a:t>
              </a:r>
              <a:endParaRPr lang="ko-KR" altLang="en-US" sz="1400" b="1" dirty="0">
                <a:solidFill>
                  <a:srgbClr val="0000CC"/>
                </a:solidFill>
              </a:endParaRPr>
            </a:p>
          </p:txBody>
        </p:sp>
      </p:grpSp>
      <p:cxnSp>
        <p:nvCxnSpPr>
          <p:cNvPr id="35" name="직선 화살표 연결선 34"/>
          <p:cNvCxnSpPr/>
          <p:nvPr/>
        </p:nvCxnSpPr>
        <p:spPr>
          <a:xfrm flipH="1">
            <a:off x="8781415" y="3286644"/>
            <a:ext cx="287348" cy="977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8844830" y="5205100"/>
            <a:ext cx="160518" cy="360775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 flipV="1">
            <a:off x="9171661" y="3288064"/>
            <a:ext cx="154903" cy="2294462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 flipH="1" flipV="1">
            <a:off x="9467017" y="3286951"/>
            <a:ext cx="147916" cy="2302986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[</a:t>
            </a:r>
            <a:r>
              <a:rPr lang="ko-KR" altLang="en-US"/>
              <a:t>실습</a:t>
            </a:r>
            <a:r>
              <a:rPr lang="en-US" altLang="ko-KR"/>
              <a:t>] </a:t>
            </a:r>
            <a:r>
              <a:rPr lang="ko-KR" altLang="en-US"/>
              <a:t>로그인 사용자 관리 프로그램 작성하기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F83563-419A-4D8B-8D40-0554BA310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20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/>
        </p:nvSpPr>
        <p:spPr>
          <a:xfrm>
            <a:off x="378643" y="332466"/>
            <a:ext cx="11434714" cy="6193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LOGIN </a:t>
            </a:r>
            <a:r>
              <a:rPr lang="ko-KR" altLang="en-US" dirty="0"/>
              <a:t>테이블 데이터 추출하기</a:t>
            </a:r>
            <a:endParaRPr lang="en-US" altLang="ko-KR" dirty="0"/>
          </a:p>
          <a:p>
            <a:pPr lvl="1"/>
            <a:r>
              <a:rPr lang="en-US" altLang="ko-KR" dirty="0" err="1"/>
              <a:t>list.jsp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EA49C9A-4F66-4CAF-922E-4CC7DD9CC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1009312"/>
            <a:ext cx="7039957" cy="48393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70138EB-0ED9-431E-B12F-8FADF0529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3763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64" y="234168"/>
            <a:ext cx="7898085" cy="62587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2B01F4-CCC9-4817-9D86-865C3AAE5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2DA86-47FC-4C09-8B8E-516B4477B187}" type="slidenum">
              <a:rPr lang="en-US" altLang="ko-KR" smtClean="0"/>
              <a:pPr/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479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/>
        </p:nvSpPr>
        <p:spPr>
          <a:xfrm>
            <a:off x="378643" y="332466"/>
            <a:ext cx="11434714" cy="6193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LOGIN </a:t>
            </a:r>
            <a:r>
              <a:rPr lang="ko-KR" altLang="en-US" dirty="0"/>
              <a:t>테이블 데이터 삽입하기</a:t>
            </a:r>
            <a:endParaRPr lang="en-US" altLang="ko-KR" dirty="0"/>
          </a:p>
          <a:p>
            <a:pPr lvl="1"/>
            <a:r>
              <a:rPr lang="en-US" altLang="ko-KR" dirty="0" err="1"/>
              <a:t>insertForm</a:t>
            </a:r>
            <a:r>
              <a:rPr lang="en-US" altLang="ko-KR" err="1"/>
              <a:t>.</a:t>
            </a:r>
            <a:r>
              <a:rPr lang="en-US" altLang="ko-KR"/>
              <a:t>jsp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1418856"/>
            <a:ext cx="6624736" cy="52726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A8C81F0-FCE3-4C42-BC7B-C0D1D6AC6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337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CDFC169-13DB-435A-A93C-06368916B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672" y="322344"/>
            <a:ext cx="7200800" cy="61705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1477C34-1A40-4A80-9933-79CA63FA3E1D}"/>
              </a:ext>
            </a:extLst>
          </p:cNvPr>
          <p:cNvSpPr/>
          <p:nvPr/>
        </p:nvSpPr>
        <p:spPr>
          <a:xfrm>
            <a:off x="595252" y="548680"/>
            <a:ext cx="22321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/>
              <a:t>insertPro.jsp</a:t>
            </a:r>
            <a:endParaRPr lang="ko-KR" altLang="en-US" sz="240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6195EC-BDA5-4177-9614-2E41578F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2DA86-47FC-4C09-8B8E-516B4477B187}" type="slidenum">
              <a:rPr lang="en-US" altLang="ko-KR" smtClean="0"/>
              <a:pPr/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04265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/>
        </p:nvSpPr>
        <p:spPr>
          <a:xfrm>
            <a:off x="378643" y="332466"/>
            <a:ext cx="11434714" cy="6193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메인 화면 작성</a:t>
            </a:r>
            <a:endParaRPr lang="en-US" altLang="ko-KR" dirty="0"/>
          </a:p>
          <a:p>
            <a:pPr lvl="1"/>
            <a:r>
              <a:rPr lang="en-US" altLang="ko-KR" dirty="0" err="1"/>
              <a:t>index.jsp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35" y="1700808"/>
            <a:ext cx="11820525" cy="43148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CA3F98-DA3A-432A-AC93-958597D2B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5866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/>
        </p:nvSpPr>
        <p:spPr>
          <a:xfrm>
            <a:off x="378643" y="332466"/>
            <a:ext cx="11434714" cy="6193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list.jsp</a:t>
            </a:r>
            <a:r>
              <a:rPr lang="en-US" altLang="ko-KR" dirty="0"/>
              <a:t> </a:t>
            </a:r>
            <a:r>
              <a:rPr lang="ko-KR" altLang="en-US" dirty="0"/>
              <a:t>파일 변경하기</a:t>
            </a:r>
            <a:endParaRPr lang="en-US" altLang="ko-KR" dirty="0"/>
          </a:p>
          <a:p>
            <a:pPr lvl="1"/>
            <a:r>
              <a:rPr lang="en-US" altLang="ko-KR" dirty="0" err="1"/>
              <a:t>updateForm.jsp</a:t>
            </a:r>
            <a:r>
              <a:rPr lang="en-US" altLang="ko-KR" dirty="0"/>
              <a:t> </a:t>
            </a:r>
            <a:r>
              <a:rPr lang="ko-KR" altLang="en-US" dirty="0"/>
              <a:t>로 이동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1628800"/>
            <a:ext cx="9365494" cy="41044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3143672" y="4077072"/>
            <a:ext cx="6480720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AAE6886-D0F4-47F0-99BB-1364DF581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778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/>
        </p:nvSpPr>
        <p:spPr>
          <a:xfrm>
            <a:off x="378643" y="332466"/>
            <a:ext cx="11434714" cy="6193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LOGIN </a:t>
            </a:r>
            <a:r>
              <a:rPr lang="ko-KR" altLang="en-US" dirty="0"/>
              <a:t>테이블 데이터 변경하기</a:t>
            </a:r>
            <a:endParaRPr lang="en-US" altLang="ko-KR" dirty="0"/>
          </a:p>
          <a:p>
            <a:pPr lvl="1"/>
            <a:r>
              <a:rPr lang="en-US" altLang="ko-KR" dirty="0" err="1"/>
              <a:t>updateForm</a:t>
            </a:r>
            <a:r>
              <a:rPr lang="en-US" altLang="ko-KR" err="1"/>
              <a:t>.</a:t>
            </a:r>
            <a:r>
              <a:rPr lang="en-US" altLang="ko-KR"/>
              <a:t>jsp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D96781D-9749-4DEB-B9BA-27BDCF7D6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412776"/>
            <a:ext cx="10600013" cy="37970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F9F9919-BEF4-4872-AB7A-E4021789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935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1414FF-8E80-484C-A109-4AF561EA7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A1628C-7559-4F26-B704-4454F4153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F80F6D-D3E6-463E-9961-21CC4DF94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72" y="802251"/>
            <a:ext cx="11679280" cy="56872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E5C5B0-49CA-40BE-95CB-BA19ECFE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367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8C667B-0EEE-4F49-A56E-BB94FD848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0" y="157866"/>
            <a:ext cx="6134956" cy="63350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A093721-1D19-4D5E-AA0A-63CA716FE428}"/>
              </a:ext>
            </a:extLst>
          </p:cNvPr>
          <p:cNvSpPr/>
          <p:nvPr/>
        </p:nvSpPr>
        <p:spPr>
          <a:xfrm>
            <a:off x="335360" y="332656"/>
            <a:ext cx="23754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/>
              <a:t>updatePro.jsp</a:t>
            </a:r>
            <a:endParaRPr lang="ko-KR" altLang="en-US" sz="240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732770-FA85-42B6-AB7C-28BDB3223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2DA86-47FC-4C09-8B8E-516B4477B187}" type="slidenum">
              <a:rPr lang="en-US" altLang="ko-KR" smtClean="0"/>
              <a:pPr/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04342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/>
        </p:nvSpPr>
        <p:spPr>
          <a:xfrm>
            <a:off x="378643" y="332466"/>
            <a:ext cx="11434714" cy="6193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LOGIN </a:t>
            </a:r>
            <a:r>
              <a:rPr lang="ko-KR" altLang="en-US" dirty="0"/>
              <a:t>테이블 데이터 삭제하기</a:t>
            </a:r>
            <a:endParaRPr lang="en-US" altLang="ko-KR" dirty="0"/>
          </a:p>
          <a:p>
            <a:pPr lvl="1"/>
            <a:r>
              <a:rPr lang="en-US" altLang="ko-KR" dirty="0" err="1"/>
              <a:t>delete.jsp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E2EDE0A-4A06-4BCC-BA6F-B2B16B30D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575" y="859652"/>
            <a:ext cx="5821714" cy="57701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4D970CC-7467-4C9C-B84C-E164ADD5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755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9.1 </a:t>
            </a:r>
            <a:r>
              <a:rPr lang="ko-KR" altLang="en-US" dirty="0"/>
              <a:t>게시판 프로그램 구성과 준비 작업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7072" y="1057835"/>
            <a:ext cx="11434714" cy="5611906"/>
          </a:xfrm>
        </p:spPr>
        <p:txBody>
          <a:bodyPr>
            <a:normAutofit/>
          </a:bodyPr>
          <a:lstStyle/>
          <a:p>
            <a:pPr fontAlgn="base"/>
            <a:r>
              <a:rPr lang="ko-KR" altLang="en-US" dirty="0"/>
              <a:t>게시판 프로그램 구성</a:t>
            </a:r>
          </a:p>
        </p:txBody>
      </p:sp>
      <p:pic>
        <p:nvPicPr>
          <p:cNvPr id="1025" name="_x328169048" descr="EMB0000a4ec219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496" y="1688246"/>
            <a:ext cx="8782874" cy="418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D54B54-A38C-47CC-BDD4-ADB7BE88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15</a:t>
            </a:fld>
            <a:endParaRPr lang="en-US" altLang="ko-KR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50E663A-B696-456B-B994-E2A98C71D367}"/>
              </a:ext>
            </a:extLst>
          </p:cNvPr>
          <p:cNvCxnSpPr/>
          <p:nvPr/>
        </p:nvCxnSpPr>
        <p:spPr>
          <a:xfrm flipV="1">
            <a:off x="6672064" y="2492896"/>
            <a:ext cx="0" cy="25202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02A29EF-8132-4767-87F5-CFADDE7C399B}"/>
              </a:ext>
            </a:extLst>
          </p:cNvPr>
          <p:cNvSpPr txBox="1"/>
          <p:nvPr/>
        </p:nvSpPr>
        <p:spPr>
          <a:xfrm>
            <a:off x="6600056" y="359809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이동</a:t>
            </a:r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172EEECE-2A60-4554-A24D-8F033A7E6E44}"/>
              </a:ext>
            </a:extLst>
          </p:cNvPr>
          <p:cNvSpPr/>
          <p:nvPr/>
        </p:nvSpPr>
        <p:spPr>
          <a:xfrm>
            <a:off x="6800923" y="1991003"/>
            <a:ext cx="1625600" cy="3057237"/>
          </a:xfrm>
          <a:custGeom>
            <a:avLst/>
            <a:gdLst>
              <a:gd name="connsiteX0" fmla="*/ 1625600 w 1625600"/>
              <a:gd name="connsiteY0" fmla="*/ 3057237 h 3057237"/>
              <a:gd name="connsiteX1" fmla="*/ 1625600 w 1625600"/>
              <a:gd name="connsiteY1" fmla="*/ 0 h 3057237"/>
              <a:gd name="connsiteX2" fmla="*/ 0 w 1625600"/>
              <a:gd name="connsiteY2" fmla="*/ 0 h 305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5600" h="3057237">
                <a:moveTo>
                  <a:pt x="1625600" y="3057237"/>
                </a:moveTo>
                <a:lnTo>
                  <a:pt x="162560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1883CF-4254-4B85-A9F2-A2AB27907E99}"/>
              </a:ext>
            </a:extLst>
          </p:cNvPr>
          <p:cNvSpPr txBox="1"/>
          <p:nvPr/>
        </p:nvSpPr>
        <p:spPr>
          <a:xfrm>
            <a:off x="8351906" y="358944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이동</a:t>
            </a:r>
          </a:p>
        </p:txBody>
      </p:sp>
    </p:spTree>
    <p:extLst>
      <p:ext uri="{BB962C8B-B14F-4D97-AF65-F5344CB8AC3E}">
        <p14:creationId xmlns:p14="http://schemas.microsoft.com/office/powerpoint/2010/main" val="301453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9.1 </a:t>
            </a:r>
            <a:r>
              <a:rPr lang="ko-KR" altLang="en-US" dirty="0"/>
              <a:t>게시판 프로그램 구성과 준비 작업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게시판을 구성하는 </a:t>
            </a:r>
            <a:r>
              <a:rPr lang="en-US" altLang="ko-KR" dirty="0"/>
              <a:t>JSP  </a:t>
            </a:r>
            <a:r>
              <a:rPr lang="ko-KR" altLang="en-US" dirty="0"/>
              <a:t>파일들과</a:t>
            </a:r>
            <a:r>
              <a:rPr lang="en-US" altLang="ko-KR" dirty="0"/>
              <a:t> </a:t>
            </a:r>
            <a:r>
              <a:rPr lang="ko-KR" altLang="en-US" dirty="0"/>
              <a:t>각각의 역할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644802"/>
              </p:ext>
            </p:extLst>
          </p:nvPr>
        </p:nvGraphicFramePr>
        <p:xfrm>
          <a:off x="983432" y="1844824"/>
          <a:ext cx="9865095" cy="3744414"/>
        </p:xfrm>
        <a:graphic>
          <a:graphicData uri="http://schemas.openxmlformats.org/drawingml/2006/table">
            <a:tbl>
              <a:tblPr/>
              <a:tblGrid>
                <a:gridCol w="2448272">
                  <a:extLst>
                    <a:ext uri="{9D8B030D-6E8A-4147-A177-3AD203B41FA5}">
                      <a16:colId xmlns:a16="http://schemas.microsoft.com/office/drawing/2014/main" val="610037321"/>
                    </a:ext>
                  </a:extLst>
                </a:gridCol>
                <a:gridCol w="1472622">
                  <a:extLst>
                    <a:ext uri="{9D8B030D-6E8A-4147-A177-3AD203B41FA5}">
                      <a16:colId xmlns:a16="http://schemas.microsoft.com/office/drawing/2014/main" val="4043378553"/>
                    </a:ext>
                  </a:extLst>
                </a:gridCol>
                <a:gridCol w="5944201">
                  <a:extLst>
                    <a:ext uri="{9D8B030D-6E8A-4147-A177-3AD203B41FA5}">
                      <a16:colId xmlns:a16="http://schemas.microsoft.com/office/drawing/2014/main" val="1014843781"/>
                    </a:ext>
                  </a:extLst>
                </a:gridCol>
              </a:tblGrid>
              <a:tr h="52888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파일명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역할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955024"/>
                  </a:ext>
                </a:extLst>
              </a:tr>
              <a:tr h="531521">
                <a:tc row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직접 화면에 출력하는 프로그램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list.jsp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등록된 글들의 리스트를 보여줌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870974"/>
                  </a:ext>
                </a:extLst>
              </a:tr>
              <a:tr h="531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view.jsp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하나의 글 내용을 보여줌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5571737"/>
                  </a:ext>
                </a:extLst>
              </a:tr>
              <a:tr h="531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write.jsp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글쓰기 또는 수정 양식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540430"/>
                  </a:ext>
                </a:extLst>
              </a:tr>
              <a:tr h="531521">
                <a:tc row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독자적인 화면 출력이 없는 프로그램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insert.jsp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write.jsp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입력된 글을 데이터베이스에 추가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651211"/>
                  </a:ext>
                </a:extLst>
              </a:tr>
              <a:tr h="531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update.jsp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write.jsp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입력된 글을 데이터베이스에 업데이트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999693"/>
                  </a:ext>
                </a:extLst>
              </a:tr>
              <a:tr h="557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delete.jsp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하나의 글을 데이터베이스에서 삭제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197948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F248F9-2DF8-411E-BF6F-24602EC5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0522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9.1 </a:t>
            </a:r>
            <a:r>
              <a:rPr lang="ko-KR" altLang="en-US" dirty="0"/>
              <a:t>게시판 프로그램 구성과 준비 작업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게시판 프로그램 화면 흐름</a:t>
            </a:r>
          </a:p>
        </p:txBody>
      </p:sp>
      <p:pic>
        <p:nvPicPr>
          <p:cNvPr id="2049" name="_x325957696" descr="EMB0000a4ec219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89" y="1451715"/>
            <a:ext cx="10568233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5EC9D9-57B2-4630-BE1B-65C3AC155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2413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9.1 </a:t>
            </a:r>
            <a:r>
              <a:rPr lang="ko-KR" altLang="en-US" dirty="0"/>
              <a:t>게시판 프로그램 구성과 준비 작업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테이블 및 샘플 </a:t>
            </a:r>
            <a:r>
              <a:rPr lang="ko-KR" altLang="en-US"/>
              <a:t>데이터 생성</a:t>
            </a:r>
            <a:r>
              <a:rPr lang="en-US" altLang="ko-KR"/>
              <a:t>(</a:t>
            </a:r>
            <a:r>
              <a:rPr lang="ko-KR" altLang="en-US"/>
              <a:t>교재 </a:t>
            </a:r>
            <a:r>
              <a:rPr lang="en-US" altLang="ko-KR"/>
              <a:t>p.179 </a:t>
            </a:r>
            <a:r>
              <a:rPr lang="ko-KR" altLang="en-US"/>
              <a:t>참조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675963"/>
            <a:ext cx="7333828" cy="472045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 create table board 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int auto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_increment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primary key,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    writer  varchar(20),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    title   varchar(60),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    content text,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regtime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varchar(20),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    hits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Consolas" panose="020B0609020204030204" pitchFamily="49" charset="0"/>
            </a:endParaRP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8: 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insert into board values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11:     (1,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홍길동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글의 내용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</a:t>
            </a:r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‘2021-07-30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10:10:11', 0),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(2,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이순신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글의 내용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</a:t>
            </a:r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‘2021-07-30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10:10:12', 0),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13:     (3,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강감찬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글의 내용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</a:t>
            </a:r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'2021-07-30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10:10:13', 0),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    (4,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김수로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4',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글의 내용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4</a:t>
            </a:r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‘2021-07-30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10:10:14', 0),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    (5,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장길산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5',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글의 내용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5</a:t>
            </a:r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‘2021-07-30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10:10:15', 0),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16:     (6,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김수로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6',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글의 내용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6</a:t>
            </a:r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‘2021-07-30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10:10:16', 0),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17:     (7,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홍길동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7',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글의 내용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7</a:t>
            </a:r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‘2021-07-30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10:10:17', 0),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18:     (8,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이순신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8',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글의 내용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8</a:t>
            </a:r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', ‘2021-07-30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10:10:18', 0);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285F56-B72E-4234-AD13-EE9BA801B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047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9.1 </a:t>
            </a:r>
            <a:r>
              <a:rPr lang="ko-KR" altLang="en-US" dirty="0"/>
              <a:t>게시판 프로그램 구성과 준비 작업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dirty="0"/>
              <a:t>HTML </a:t>
            </a:r>
            <a:r>
              <a:rPr lang="ko-KR" altLang="en-US" dirty="0"/>
              <a:t>템플릿 </a:t>
            </a:r>
            <a:r>
              <a:rPr lang="en-US" altLang="ko-KR" dirty="0"/>
              <a:t>3</a:t>
            </a:r>
            <a:r>
              <a:rPr lang="ko-KR" altLang="en-US" dirty="0"/>
              <a:t>개 준비 </a:t>
            </a:r>
            <a:r>
              <a:rPr lang="en-US" altLang="ko-KR" dirty="0"/>
              <a:t>: </a:t>
            </a:r>
            <a:r>
              <a:rPr lang="ko-KR" altLang="en-US" dirty="0" err="1"/>
              <a:t>게시글</a:t>
            </a:r>
            <a:r>
              <a:rPr lang="ko-KR" altLang="en-US" dirty="0"/>
              <a:t> 리스트</a:t>
            </a:r>
            <a:r>
              <a:rPr lang="en-US" altLang="ko-KR" dirty="0"/>
              <a:t>, </a:t>
            </a:r>
            <a:r>
              <a:rPr lang="ko-KR" altLang="en-US" dirty="0"/>
              <a:t>글 내용 보기</a:t>
            </a:r>
            <a:r>
              <a:rPr lang="en-US" altLang="ko-KR" dirty="0"/>
              <a:t>, </a:t>
            </a:r>
            <a:r>
              <a:rPr lang="ko-KR" altLang="en-US" dirty="0"/>
              <a:t>글쓰기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675964"/>
            <a:ext cx="7333828" cy="447051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9-3]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게시글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리스트 화면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list.jsp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&lt;%@ page language="java"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&lt;!DOCTYPE 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&lt;html&gt;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&lt;head&gt;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    &lt;meta charset="UTF-8"&gt;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8:     &lt;style&gt;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        table     { width:680px;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text-align:center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{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background-color:cyan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11: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    .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{ width: 80px;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13:         .title    { width:230px;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        .writer   { width:100px;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        .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regtime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{ width:180px;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16:   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1A626A-ABFB-4E08-8825-6B1DF25C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3521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9.1 </a:t>
            </a:r>
            <a:r>
              <a:rPr lang="ko-KR" altLang="en-US" dirty="0"/>
              <a:t>게시판 프로그램 구성과 준비 작업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3"/>
            <a:ext cx="7333828" cy="526297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17:         a:link    {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text-decoration:none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color:blue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18:         a:visited {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text-decoration:none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color:gray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19:         a:hover   {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text-decoration:none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color:red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20:     &lt;/style&gt;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21: &lt;/head&gt;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22: &lt;body&gt;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23: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24: &lt;table&gt;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25: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26: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class="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    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번호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27: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class="title"  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제목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28: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class="writer" 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작성자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29: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class="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regtime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"&gt;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작성일시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30: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        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조회수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31: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32: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33:         &lt;td&gt;3&lt;/td&gt;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34:         &lt;td style="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text-align:left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35:             &lt;a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href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view.jsp?num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=3"&gt;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제목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3&lt;/a&gt;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36:         &lt;/td&gt;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99BE571-C784-4232-8CD4-920FDDEA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5095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9.1 </a:t>
            </a:r>
            <a:r>
              <a:rPr lang="ko-KR" altLang="en-US" dirty="0"/>
              <a:t>게시판 프로그램 구성과 준비 작업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3"/>
            <a:ext cx="7333828" cy="526297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37:         &lt;td&gt;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홍길동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38:         &lt;td&gt;2020-02-06 17:31:25&lt;/td&gt;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39:         &lt;td&gt;12&lt;/td&gt;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40: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41: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42:         &lt;td&gt;2&lt;/td&gt;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43:         &lt;td style="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text-align:left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44:             &lt;a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href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view.jsp?num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=3"&gt;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제목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2&lt;/a&gt;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45:         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46:         &lt;td&gt;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장길산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47:         &lt;td&gt;2020-02-06 14:32:25&lt;/td&gt;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48:         &lt;td&gt;31&lt;/td&gt;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49: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50: &lt;/table&gt;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51: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52: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53: &lt;input type="button" value="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글쓰기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onclick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location.href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write.jsp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54: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55: &lt;/body&gt;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56: &lt;/html&gt;</a:t>
            </a:r>
          </a:p>
        </p:txBody>
      </p:sp>
      <p:pic>
        <p:nvPicPr>
          <p:cNvPr id="8193" name="_x408161304" descr="EMB0000a4ec219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3717032"/>
            <a:ext cx="4625975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344C413-B8ED-47FA-B8B9-85F20BB7B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543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9.1 </a:t>
            </a:r>
            <a:r>
              <a:rPr lang="ko-KR" altLang="en-US" dirty="0"/>
              <a:t>게시판 프로그램 구성과 준비 작업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3"/>
            <a:ext cx="7333828" cy="421198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9-4]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글쓰기 화면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write.jsp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&lt;%@ page language="java"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&lt;!DOCTYPE 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&lt;html&gt;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&lt;head&gt;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    &lt;meta charset="UTF-8"&gt;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8:     &lt;style&gt;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        table { width:680px;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text-align:center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{ width:100px;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background-color:cyan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11:         input[type=text],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textarea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{ width:100%;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&lt;/style&gt;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13: &lt;/head&gt;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&lt;body&gt;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560E44-00DA-4DC6-8998-5C14EA41E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130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9.1 </a:t>
            </a:r>
            <a:r>
              <a:rPr lang="ko-KR" altLang="en-US" dirty="0"/>
              <a:t>게시판 프로그램 구성과 준비 작업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2"/>
            <a:ext cx="7333828" cy="55046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16: &lt;form method="post" action="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insert.jsp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17:     &lt;table&gt;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18: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19:    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제목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20:             &lt;td&gt;&lt;input type="text" name="title"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maxlength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="80"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21:                        value=""&gt;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22:             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23:    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24: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25:    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작성자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26:             &lt;td&gt;&lt;input type="text" name="writer"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maxlength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="20"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27:                        value=""&gt;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28:             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29:    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30: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31:    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내용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32:             &lt;td&gt;&lt;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textarea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name="content" rows="10"&gt;&lt;/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textarea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33:             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34:    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35:     &lt;/table&gt;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36: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0A571D4-231D-49A6-94A6-DC0E0A3B2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8803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9.1 </a:t>
            </a:r>
            <a:r>
              <a:rPr lang="ko-KR" altLang="en-US" dirty="0"/>
              <a:t>게시판 프로그램 구성과 준비 작업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2"/>
            <a:ext cx="7333828" cy="188519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37: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38:     &lt;input type="submit" value="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저장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39:     &lt;input type="button" value="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취소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onclick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history.back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40: &lt;/form&gt;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41: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42: &lt;/body&gt;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43: &lt;/html&gt;</a:t>
            </a:r>
          </a:p>
        </p:txBody>
      </p:sp>
      <p:pic>
        <p:nvPicPr>
          <p:cNvPr id="5121" name="_x408161448" descr="EMB0000a4ec219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3366247"/>
            <a:ext cx="5771519" cy="230425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39C741-DCF5-4B0B-A89A-CCF772A5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64272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9.1 </a:t>
            </a:r>
            <a:r>
              <a:rPr lang="ko-KR" altLang="en-US" dirty="0"/>
              <a:t>게시판 프로그램 구성과 준비 작업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3"/>
            <a:ext cx="7333828" cy="421198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9-5]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내용 보기 화면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view.jsp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&lt;%@ page language="java"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&lt;!DOCTYPE 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&lt;html&gt;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&lt;head&gt;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    &lt;meta charset="UTF-8"&gt;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8:     &lt;style&gt;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        table { width:680px;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text-align:center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{ width:100px;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background-color:cyan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11:         td    {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text-align:left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border:1px solid gray;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&lt;/style&gt;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13: &lt;/head&gt;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&lt;body&gt;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95D7531-D55B-4E10-9852-2111CE7C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38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9.1 </a:t>
            </a:r>
            <a:r>
              <a:rPr lang="ko-KR" altLang="en-US" dirty="0"/>
              <a:t>게시판 프로그램 구성과 준비 작업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906180"/>
            <a:ext cx="7333828" cy="576318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16: &lt;table&gt;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17: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18: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제목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19:         &lt;td&gt;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제목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20: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21: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22: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작성자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23:         &lt;td&gt;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장길산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24: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25: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26: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작성일시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27:         &lt;td&gt;2020-02-06 14:32:25&lt;/td&gt;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28: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29: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30: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조회수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31:         &lt;td&gt;31&lt;/td&gt;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32: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33: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34: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내용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35:         &lt;td&gt;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글의 내용입니다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36: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37: &lt;/table&gt;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50217E8-67DC-413F-A7EA-1463F99E2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2380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9.1 </a:t>
            </a:r>
            <a:r>
              <a:rPr lang="ko-KR" altLang="en-US" dirty="0"/>
              <a:t>게시판 프로그램 구성과 준비 작업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3"/>
            <a:ext cx="7333828" cy="26607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38: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39: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40: &lt;input type="button" value="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목록보기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onclick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location.href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list.jsp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41: &lt;input type="button" value="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수정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42: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onclick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location.href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write.jsp?num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=2'"&gt;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43: &lt;input type="button" value="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삭제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44: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onclick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location.href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delete.jsp?num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=2'"&gt;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45: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46: &lt;/body&gt;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47: &lt;/html&gt;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EFCF4D-96D8-4166-8567-953E3D8F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56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9.2 </a:t>
            </a:r>
            <a:r>
              <a:rPr lang="ko-KR" altLang="en-US" dirty="0" err="1"/>
              <a:t>게시글</a:t>
            </a:r>
            <a:r>
              <a:rPr lang="ko-KR" altLang="en-US" dirty="0"/>
              <a:t> 리스트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2"/>
            <a:ext cx="7333828" cy="498758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9-6]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게시글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리스트 프로그램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list.jsp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&lt;%@ page language="java"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&lt;%@ page import="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java.sql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.*"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&lt;!DOCTYPE 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&lt;html&gt;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8: &lt;head&gt;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    &lt;meta charset="UTF-8"&gt;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    &lt;style&gt;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11:         table     { width:680px;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text-align:center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{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background-color:cyan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13: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        .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{ width: 80px;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        .title    { width:230px;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16:         .writer   { width:100px;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17:         .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regtime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{ width:180px;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18:                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D99E7E3-8503-4EBD-9B7B-C02174BAA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94427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9.2 </a:t>
            </a:r>
            <a:r>
              <a:rPr lang="ko-KR" altLang="en-US" dirty="0" err="1"/>
              <a:t>게시글</a:t>
            </a:r>
            <a:r>
              <a:rPr lang="ko-KR" altLang="en-US" dirty="0"/>
              <a:t> 리스트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906180"/>
            <a:ext cx="7333828" cy="576318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19:         a:link    {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text-decoration:none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color:blue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20:         a:visited {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text-decoration:none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color:gray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21:         a:hover   {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text-decoration:none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color:red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22:     &lt;/style&gt;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23: &lt;/head&gt;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24: &lt;body&gt;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25: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26: &lt;table&gt;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27: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28: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class="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    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번호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29: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class="title"  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제목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30: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class="writer" 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작성자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31: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class="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regtime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"&gt;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작성일시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32: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           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조회수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33: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34: &lt;%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35:     // </a:t>
            </a:r>
            <a:r>
              <a:rPr lang="ko-KR" altLang="en-US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게시글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리스트 </a:t>
            </a:r>
            <a:r>
              <a:rPr lang="ko-KR" altLang="en-US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읽어오기</a:t>
            </a:r>
            <a:endParaRPr lang="ko-KR" altLang="en-US" sz="14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  <a:cs typeface="Consolas" panose="020B0609020204030204" pitchFamily="49" charset="0"/>
            </a:endParaRP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36: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Class.forName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org.mariadb.jdbc.Driver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37:     try 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38:         Connection conn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DriverManager.getConnection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39:                 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jdbc:mariadb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://localhost:3306/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jspdb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"1234");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40:         Statement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conn.createStatement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1786D37-1B1C-4373-B5C1-834E04E2D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6536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9.2 </a:t>
            </a:r>
            <a:r>
              <a:rPr lang="ko-KR" altLang="en-US" dirty="0" err="1"/>
              <a:t>게시글</a:t>
            </a:r>
            <a:r>
              <a:rPr lang="ko-KR" altLang="en-US" dirty="0"/>
              <a:t> 리스트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906179"/>
            <a:ext cx="7333828" cy="498758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41: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42:    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쿼리 실행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43: 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ResultSet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stmt.executeQuery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44:                 "select * from board order by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desc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  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45:     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46:         // </a:t>
            </a:r>
            <a:r>
              <a:rPr lang="ko-KR" altLang="en-US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게시글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레코드가 남아있는 동안 반복하며 화면에 출력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47:         while (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rs.next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48: %&gt;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49:         &lt;</a:t>
            </a:r>
            <a:r>
              <a:rPr lang="en-US" altLang="ko-KR" sz="14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50:             &lt;td&gt;&lt;%=</a:t>
            </a:r>
            <a:r>
              <a:rPr lang="en-US" altLang="ko-KR" sz="14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rs.getInt</a:t>
            </a: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")%&gt;&lt;/td&gt;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51:             &lt;td style="</a:t>
            </a:r>
            <a:r>
              <a:rPr lang="en-US" altLang="ko-KR" sz="14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text-align:left</a:t>
            </a: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52:                 &lt;a </a:t>
            </a:r>
            <a:r>
              <a:rPr lang="en-US" altLang="ko-KR" sz="14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href</a:t>
            </a: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14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view.jsp?num</a:t>
            </a: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=&lt;%=</a:t>
            </a:r>
            <a:r>
              <a:rPr lang="en-US" altLang="ko-KR" sz="14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rs.getInt</a:t>
            </a: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")%&gt;"&gt;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53:                     &lt;%=</a:t>
            </a:r>
            <a:r>
              <a:rPr lang="en-US" altLang="ko-KR" sz="14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rs.getString</a:t>
            </a: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("title")%&gt;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54:                 &lt;/a&gt;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55:             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56:             &lt;td&gt;&lt;%=</a:t>
            </a:r>
            <a:r>
              <a:rPr lang="en-US" altLang="ko-KR" sz="14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rs.getString</a:t>
            </a: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("writer" )%&gt;&lt;/td&gt;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57:             &lt;td&gt;&lt;%=</a:t>
            </a:r>
            <a:r>
              <a:rPr lang="en-US" altLang="ko-KR" sz="14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rs.getString</a:t>
            </a: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regtime</a:t>
            </a: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")%&gt;&lt;/td&gt;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58:             &lt;td&gt;&lt;%=</a:t>
            </a:r>
            <a:r>
              <a:rPr lang="en-US" altLang="ko-KR" sz="14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rs.getInt</a:t>
            </a: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("hits"   )%&gt;&lt;/td&gt;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59:         &lt;/</a:t>
            </a:r>
            <a:r>
              <a:rPr lang="en-US" altLang="ko-KR" sz="14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7C8F335-ADF2-4B8D-A75D-FE247FB01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646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9.2 </a:t>
            </a:r>
            <a:r>
              <a:rPr lang="ko-KR" altLang="en-US" dirty="0" err="1"/>
              <a:t>게시글</a:t>
            </a:r>
            <a:r>
              <a:rPr lang="ko-KR" altLang="en-US" dirty="0"/>
              <a:t> 리스트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906179"/>
            <a:ext cx="7333828" cy="343639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60: &lt;%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61:    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62:     } catch(Exception e)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63: 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e.printStackTrace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64: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65: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66: &lt;/table&gt;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67: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68: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69: &lt;input type="button" value="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글쓰기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onclick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location.href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write.jsp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70: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71: &lt;/body&gt;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72: &lt;/html&gt;</a:t>
            </a:r>
          </a:p>
        </p:txBody>
      </p:sp>
      <p:pic>
        <p:nvPicPr>
          <p:cNvPr id="12289" name="_x408174480" descr="EMB0000a4ec219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832" y="3933056"/>
            <a:ext cx="5527527" cy="230425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D6C18DD-A828-42B2-B1EB-43E65FFC8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08877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9.3 </a:t>
            </a:r>
            <a:r>
              <a:rPr lang="ko-KR" altLang="en-US" dirty="0"/>
              <a:t>새 글쓰기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2"/>
            <a:ext cx="7333828" cy="524611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9-7]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새 글 등록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insert.jsp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&lt;%@ page language="java"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&lt;%@ page import="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java.sql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.*" %&gt;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&lt;%@ page import="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java.time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.*"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&lt;%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8: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request.setCharacterEncoding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("utf-8");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양식에 입력되었던 값 읽기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11:     String writer 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request.getParameter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("writer" 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String title  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request.getParameter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("title"  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13:     String content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request.getParameter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("content");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빈 칸이 하나라도 있으면 오류 출력하고 종료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16:     if (writer  == null ||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writer.length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 == 0 ||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17:         title   == null ||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title.length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  == 0 ||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18:         content == null ||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content.length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== 0)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19: %&gt;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165422E-DBA7-42B9-AF5B-AF2425DA2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7387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9.3 </a:t>
            </a:r>
            <a:r>
              <a:rPr lang="ko-KR" altLang="en-US" dirty="0"/>
              <a:t>새 글쓰기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2"/>
            <a:ext cx="7333828" cy="498758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20:         &lt;script&gt;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21:             alert('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모든 항목이 빈칸 없이 입력되어야 합니다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.');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22:     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history.back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23:         &lt;/script&gt;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24: &lt;%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25:         return;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26: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27: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28:     // </a:t>
            </a:r>
            <a:r>
              <a:rPr lang="ko-KR" altLang="en-US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입력된 내용으로 새 글 레코드 추가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29:     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Class.forName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org.mariadb.jdbc.Driver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30:     try (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31:         Connection conn = 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DriverManager.getConnection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32:                 "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jdbc:mariadb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://localhost:3306/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jspdb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"1234");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33:         Statement 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conn.createStatement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   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34:     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35:         // </a:t>
            </a:r>
            <a:r>
              <a:rPr lang="ko-KR" altLang="en-US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현재 시간 얻기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36:         String 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curTime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LocalDate.now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+ " " +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37:                          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LocalTime.now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().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toString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().substring(0, 8);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38: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255D67C-34DD-4B4B-8FDD-DD477E8FF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63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9.3 </a:t>
            </a:r>
            <a:r>
              <a:rPr lang="ko-KR" altLang="en-US" dirty="0"/>
              <a:t>새 글쓰기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2"/>
            <a:ext cx="7333828" cy="36949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39:         // </a:t>
            </a:r>
            <a:r>
              <a:rPr lang="ko-KR" altLang="en-US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쿼리 실행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40:         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stmt.executeUpdate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String.format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41:                 "insert into board " +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42:                 "(writer, title, content, 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regtime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, hits)" +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43:                 "values ('%s', '%s', '%s', '%s', 0)",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44:                 writer, title, content, 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curTime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45: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46:     } catch(Exception e)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47:         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e.printStackTrace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48:     }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49: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50: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목록보기 화면으로 돌아감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51: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response.sendRedirect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list.jsp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52: %&gt;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A4507F-917F-4399-8205-732D170C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149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9.4 </a:t>
            </a:r>
            <a:r>
              <a:rPr lang="ko-KR" altLang="en-US" dirty="0"/>
              <a:t>글 내용 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3"/>
            <a:ext cx="7333828" cy="447051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9-8]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내용 보기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view.jsp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&lt;%@ page language="java"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&lt;%@ page import="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java.sql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.*"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&lt;%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지정된 글 번호 얻기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8: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Integer.parseInt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request.getParameter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    // </a:t>
            </a:r>
            <a:r>
              <a:rPr lang="ko-KR" altLang="en-US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게시글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데이터를 담을 변수 정의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11:     String writer  = "";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String title   = "";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13:     String content = "";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    String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regtime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"";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hits    = 0;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16: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D6CE67-59E9-488D-AABD-29AF214E5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577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9.4 </a:t>
            </a:r>
            <a:r>
              <a:rPr lang="ko-KR" altLang="en-US" dirty="0"/>
              <a:t>글 내용 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2"/>
            <a:ext cx="7333828" cy="524611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17: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지정된 글 번호를 가진 레코드 읽기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18: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Class.forName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org.mariadb.jdbc.Driver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19:     try (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20:         Connection conn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DriverManager.getConnection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21:                 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jdbc:mariadb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://localhost:3306/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jspdb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"1234");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22:         Statement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conn.createStatement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23:    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24:    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쿼리 실행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25: 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ResultSet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stmt.executeQuery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26:                 "select * from board where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 +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27:     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28:         if (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rs.next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29:    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30:        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데이터를 변수에 저장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31:             writer 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rs.getString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("writer" 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32:             title  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rs.getString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("title"  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33:             content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rs.getString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("content");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34:     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regtime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rs.getString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regtime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35:             hits   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rs.getInt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("hits"   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36: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AEEAD4E-6115-424B-AAD4-41C99244B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0192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9.4 </a:t>
            </a:r>
            <a:r>
              <a:rPr lang="ko-KR" altLang="en-US" dirty="0"/>
              <a:t>글 내용 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3"/>
            <a:ext cx="7333828" cy="39534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37:        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제목과 내용이 웹 페이지에 올바르게 출력되도록 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38:        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공백과 줄 바꿈 처리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39:             title  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title.replace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(" ", "&amp;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nbsp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40:             content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content.replace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 ", "&amp;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nbsp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;").replace("\n", "&lt;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41:    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42:        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이 글의 조회수를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올림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43:     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stmt.executeUpdate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44:                     "update board set hits=hits+1 where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 +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45:    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46:     } catch(Exception e)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47: 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e.printStackTrace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48: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49: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50: </a:t>
            </a:r>
          </a:p>
          <a:p>
            <a:pPr fontAlgn="base">
              <a:lnSpc>
                <a:spcPct val="120000"/>
              </a:lnSpc>
            </a:pPr>
            <a:endParaRPr lang="en-US" altLang="ko-KR" sz="14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  <a:cs typeface="Consolas" panose="020B0609020204030204" pitchFamily="49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334DE32-FBF0-49A2-B417-5993AC37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37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07711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9.4 </a:t>
            </a:r>
            <a:r>
              <a:rPr lang="ko-KR" altLang="en-US" dirty="0"/>
              <a:t>글 내용 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052736"/>
            <a:ext cx="7333828" cy="55046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51: &lt;!DOCTYPE 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52: &lt;html&gt;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53: &lt;head&gt;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54:     &lt;meta charset="UTF-8"&gt;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55:     &lt;style&gt;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56:         table { width:680px;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text-align:center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57: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{ width:100px;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background-color:cyan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58:         td    {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text-align:left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; border:1px solid gray;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59:     &lt;/style&gt;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60: &lt;/head&gt;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61: &lt;body&gt;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62: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63: &lt;table&gt;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64: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65: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제목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66:         &lt;td&gt;&lt;%=title%&gt;&lt;/td&gt;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67: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68: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69: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작성자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70:         &lt;td&gt;&lt;%=writer%&gt;&lt;/td&gt;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71: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5E97301-6D6B-4BC8-9B3D-3240D48FF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943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9.4 </a:t>
            </a:r>
            <a:r>
              <a:rPr lang="ko-KR" altLang="en-US" dirty="0"/>
              <a:t>글 내용 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836838"/>
            <a:ext cx="7333828" cy="60217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72: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73: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작성일시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74:         &lt;td&gt;&lt;%=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regtime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%&gt;&lt;/td&gt;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75: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76: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77: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조회수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78:         &lt;td&gt;&lt;%=hits%&gt;&lt;/td&gt;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79: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80: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81: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내용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82:         &lt;td&gt;&lt;%=content%&gt;&lt;/td&gt;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83: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84: &lt;/table&gt;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85: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86: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87: &lt;input type="button" value="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목록보기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onclick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location.href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list.jsp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'"&gt;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88: &lt;input type="button" value="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수정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89: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onclick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location.href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='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write.jsp?num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=&lt;%=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%&gt;'"&gt;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90: &lt;input type="button" value="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삭제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91: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onclick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location.href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='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delete.jsp?num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=&lt;%=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%&gt;'"&gt;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92: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93: &lt;/body&gt;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94: &lt;/html&gt;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32F8F87-829A-462A-918B-16E1B88B0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39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842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9.5 </a:t>
            </a:r>
            <a:r>
              <a:rPr lang="ko-KR" altLang="en-US" dirty="0"/>
              <a:t>글 수정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dirty="0" err="1"/>
              <a:t>write.jsp</a:t>
            </a:r>
            <a:r>
              <a:rPr lang="ko-KR" altLang="en-US" dirty="0"/>
              <a:t>를 수정하여 글 작성</a:t>
            </a:r>
            <a:r>
              <a:rPr lang="en-US" altLang="ko-KR" dirty="0"/>
              <a:t>/</a:t>
            </a:r>
            <a:r>
              <a:rPr lang="ko-KR" altLang="en-US" dirty="0"/>
              <a:t>수정에 모두 사용할 수 있도록 함</a:t>
            </a:r>
            <a:endParaRPr lang="en-US" altLang="ko-KR" dirty="0"/>
          </a:p>
          <a:p>
            <a:pPr fontAlgn="base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2060849"/>
            <a:ext cx="7333828" cy="110959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새 글쓰기 모드를 가정하고 변수 초기값 설정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현재의 코드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if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번호가 주어졌으면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글번호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인 레코드를 읽고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작성자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제목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내용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, form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action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을 설정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BFBDF3-5F8A-4231-B0D6-2C3525BDB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1020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9.5 </a:t>
            </a:r>
            <a:r>
              <a:rPr lang="ko-KR" altLang="en-US" dirty="0"/>
              <a:t>글 수정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2"/>
            <a:ext cx="7333828" cy="47290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9-9]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완성된 글쓰기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수정 페이지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write.jsp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&lt;%@ page language="java"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&lt;%@ page import="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java.sql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.*"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&lt;%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번호 값 얻기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주어지지 않았으면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0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으로 설정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8:     String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tmp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request.getParameter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(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tmp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!= null &amp;&amp;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tmp.length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&gt; 0) ?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Integer.parseInt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tmp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                                                : 0;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11: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새 글쓰기 모드를 가정하고 변수 초기값 설정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13:     String writer  = "";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    String title   = "";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    String content = "";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16:     String action  = 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insert.jsp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17: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1BF5B30-FC6F-4280-B11C-417984241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41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5248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9.5 </a:t>
            </a:r>
            <a:r>
              <a:rPr lang="ko-KR" altLang="en-US" dirty="0"/>
              <a:t>글 수정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96752"/>
            <a:ext cx="7333828" cy="47290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9-9]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완성된 글쓰기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수정 페이지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write.jsp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&lt;%@ page language="java"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&lt;%@ page import="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java.sql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.*"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&lt;%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번호 값 얻기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주어지지 않았으면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0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으로 설정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8:     String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tmp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request.getParameter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(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tmp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!= null &amp;&amp;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tmp.length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&gt; 0) ?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Integer.parseInt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tmp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                                                : 0;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11: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새 글쓰기 모드를 가정하고 변수 초기값 설정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13:     String writer  = "";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    String title   = "";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    String content = "";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16:     String action  = 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insert.jsp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17: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2E714D7-0BEE-4D4C-BAA3-821085AB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42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859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9.5 </a:t>
            </a:r>
            <a:r>
              <a:rPr lang="ko-KR" altLang="en-US" dirty="0"/>
              <a:t>글 수정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429086" y="1124744"/>
            <a:ext cx="7333828" cy="498758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18: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번호가 주어졌으면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수정 모드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19:     if (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&gt; 0)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20: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21: 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Class.forName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org.mariadb.jdbc.Driver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22:         try 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23:             Connection conn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DriverManager.getConnection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24:                     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jdbc:mariadb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://localhost:3306/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jspdb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"1234");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25:             Statement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conn.createStatement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26: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27:             // 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쿼리 실행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28:            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ResultSet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stmt.executeQuery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29:                     "select * from board where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 +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30:         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31:             if (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rs.next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32:                 // </a:t>
            </a:r>
            <a:r>
              <a:rPr lang="ko-KR" altLang="en-US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읽어들인</a:t>
            </a: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글 데이터를 변수에 저장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33:                 writer 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rs.getString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("writer" 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34:                 title  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rs.getString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("title"  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35:                 content = 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rs.getString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("content");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36: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074909-52DA-46CD-BA20-7BCFEE97C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43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68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9.5 </a:t>
            </a:r>
            <a:r>
              <a:rPr lang="ko-KR" altLang="en-US" dirty="0"/>
              <a:t>글 수정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567608" y="1124745"/>
            <a:ext cx="7333828" cy="526297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58: &lt;form method="post" action="&lt;%=action%&gt;"&gt;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59:     &lt;table&gt;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60: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61:    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제목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62:             &lt;td&gt;&lt;input type="text" name="title"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maxlength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="80"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63:                        value="&lt;%=title%&gt;"&gt;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64:             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65:    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66: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67:    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작성자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68:             &lt;td&gt;&lt;input type="text" name="writer"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maxlength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="20"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69:                        value="&lt;%=writer%&gt;"&gt;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70:             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71:    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72: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73:        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내용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74:             &lt;td&gt;&lt;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textarea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name="content" rows="10"&gt;&lt;%=content%&gt;&lt;/</a:t>
            </a:r>
            <a:r>
              <a:rPr lang="en-US" altLang="ko-KR" sz="14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textarea</a:t>
            </a:r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75:             &lt;/td&gt;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76:         &lt;/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77:     &lt;/table&gt;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C6E69DA-7813-42A2-A5A6-5985B6D0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44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23459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9.5 </a:t>
            </a:r>
            <a:r>
              <a:rPr lang="ko-KR" altLang="en-US" dirty="0"/>
              <a:t>글 수정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567608" y="1124745"/>
            <a:ext cx="7333828" cy="216059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78: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79:     &lt;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br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80:     &lt;input type="submit" value="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저장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81:     &lt;input type="button" value="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취소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onclick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history.back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()"&gt;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82: &lt;/form&gt;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83: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84: &lt;/body&gt;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85: &lt;/html&gt;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152BA27-8A80-4455-BEC6-183EFEC4B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45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419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9.5 </a:t>
            </a:r>
            <a:r>
              <a:rPr lang="ko-KR" altLang="en-US" dirty="0"/>
              <a:t>글 수정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insert.jsp</a:t>
            </a:r>
            <a:r>
              <a:rPr lang="ko-KR" altLang="en-US" dirty="0"/>
              <a:t>를 복사하여 쿼리만 수정하면 완성됨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639616" y="2276872"/>
            <a:ext cx="7333828" cy="422885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9-11]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수정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update.jsp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&lt;%@ page language="java"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&lt;%@ page import="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java.sql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.*" %&gt;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&lt;%@ page import="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java.time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.*" 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&lt;%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8: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request.setCharacterEncoding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("utf-8");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전달받은 값 읽기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11: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  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Integer.parseInt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request.getParameter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String writer 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request.getParameter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("writer" 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13:     String title  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request.getParameter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("title"  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    String content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request.getParameter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("content");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A3BBB2-3653-4047-ADA0-3DAB1822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46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0556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9.5 </a:t>
            </a:r>
            <a:r>
              <a:rPr lang="ko-KR" altLang="en-US" dirty="0"/>
              <a:t>글 수정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567608" y="1124745"/>
            <a:ext cx="7333828" cy="526297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16: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빈 칸이 하나라도 있으면 오류 출력하고 종료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17:     if (writer  == null ||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writer.length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 == 0 ||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18:         title   == null ||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title.length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  == 0 ||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19:         content == null ||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content.length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== 0)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20: %&gt;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21:         &lt;script&gt;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22:             alert('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모든 항목이 빈칸 없이 입력되어야 합니다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.');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23:    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history.back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24:         &lt;/script&gt;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25: &lt;%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26:         return;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27: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28: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29: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입력된 내용으로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게시글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데이터 업데이트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30: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Class.forName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org.mariadb.jdbc.Driver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31:     try (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32:         Connection conn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DriverManager.getConnection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33:                 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jdbc:mariadb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://localhost:3306/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jspdb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"1234");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34:         Statement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conn.createStatement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   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35:     ) {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F9B7002-6519-4050-9B5A-61D029629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47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5267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9.5 </a:t>
            </a:r>
            <a:r>
              <a:rPr lang="ko-KR" altLang="en-US" dirty="0"/>
              <a:t>글 수정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567608" y="1124744"/>
            <a:ext cx="7333828" cy="448738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36:    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현재 시간 얻기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37:         String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curTime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LocalDate.now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 + " " +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38:                 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LocalTime.now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().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toString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().substring(0, 8);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39: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40:    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쿼리 실행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41: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stmt.executeUpdate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String.format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42:                 "update board set writer='%s', title='%s', " +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43:                 "content='%s',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regtime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='%s' where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=%d",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44:                 writer, title, content,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curTime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45: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46:     } catch(Exception e)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47: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e.printStackTrace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48: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49: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50: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보기 화면으로 돌아감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51: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response.sendRedirect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view.jsp?num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 +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52: %&gt;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6EF89FB-F2E9-44D6-AC28-6648EF25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48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4145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9.6 </a:t>
            </a:r>
            <a:r>
              <a:rPr lang="ko-KR" altLang="en-US" dirty="0"/>
              <a:t>글 삭제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insert.jsp</a:t>
            </a:r>
            <a:r>
              <a:rPr lang="ko-KR" altLang="en-US" dirty="0"/>
              <a:t>를 복사하여 쿼리만 수정하면 완성됨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639616" y="1634071"/>
            <a:ext cx="7333828" cy="498758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예제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9-12]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글 삭제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delete.jsp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1: &lt;%@ page language="java"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contentType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="text/html; charset=UTF-8"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2: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pageEncoding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="UTF-8"%&gt;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3: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4: &lt;%@ page import="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java.sql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.*" %&gt;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5: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6: &lt;%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7: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지정된 글 번호 얻기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8: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Integer.parseInt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request.getParameter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 9: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10: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지정된 글 번호의 레코드를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에서 삭제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11: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Class.forName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org.mariadb.jdbc.Driver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12:     try (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13:         Connection conn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DriverManager.getConnection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14:                 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jdbc:mariadb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://localhost:3306/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jspdb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", "1234");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15:         Statement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conn.createStatement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16:     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17:    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쿼리 실행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18: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stmt.executeUpdate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("delete from board where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=" +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num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075068-1FFD-442C-8FB6-F938EFCD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49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579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9.6 </a:t>
            </a:r>
            <a:r>
              <a:rPr lang="ko-KR" altLang="en-US" dirty="0"/>
              <a:t>글 삭제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3F91A-4A44-48D6-91A7-2A0EAF615EDA}"/>
              </a:ext>
            </a:extLst>
          </p:cNvPr>
          <p:cNvSpPr/>
          <p:nvPr/>
        </p:nvSpPr>
        <p:spPr>
          <a:xfrm>
            <a:off x="2567608" y="1124744"/>
            <a:ext cx="7333828" cy="21437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19:    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20:     } catch(Exception e) {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21: 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e.printStackTrace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22:     }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23:     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24:     //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목록보기 화면으로 돌아감</a:t>
            </a:r>
          </a:p>
          <a:p>
            <a:pPr fontAlgn="base">
              <a:lnSpc>
                <a:spcPct val="12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25: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response.sendRedirect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("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list.jsp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");</a:t>
            </a:r>
          </a:p>
          <a:p>
            <a:pPr fontAlgn="base">
              <a:lnSpc>
                <a:spcPct val="12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rPr>
              <a:t> 26: %&gt;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EC5BF84-6651-4F1C-AC2A-46B9B526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FB8F-A7FC-4502-806D-286DAD39971C}" type="slidenum">
              <a:rPr lang="en-US" altLang="ko-KR" smtClean="0"/>
              <a:pPr/>
              <a:t>50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47220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매크로">
  <a:themeElements>
    <a:clrScheme name="매크로">
      <a:dk1>
        <a:sysClr val="windowText" lastClr="000000"/>
      </a:dk1>
      <a:lt1>
        <a:sysClr val="window" lastClr="FFFFFF"/>
      </a:lt1>
      <a:dk2>
        <a:srgbClr val="3F3F4D"/>
      </a:dk2>
      <a:lt2>
        <a:srgbClr val="DDDDDD"/>
      </a:lt2>
      <a:accent1>
        <a:srgbClr val="A51009"/>
      </a:accent1>
      <a:accent2>
        <a:srgbClr val="DE7014"/>
      </a:accent2>
      <a:accent3>
        <a:srgbClr val="704836"/>
      </a:accent3>
      <a:accent4>
        <a:srgbClr val="F2B431"/>
      </a:accent4>
      <a:accent5>
        <a:srgbClr val="7F221D"/>
      </a:accent5>
      <a:accent6>
        <a:srgbClr val="CDAC77"/>
      </a:accent6>
      <a:hlink>
        <a:srgbClr val="F5B123"/>
      </a:hlink>
      <a:folHlink>
        <a:srgbClr val="E19B0B"/>
      </a:folHlink>
    </a:clrScheme>
    <a:fontScheme name="매크로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매크로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300000"/>
              </a:schemeClr>
            </a:gs>
            <a:gs pos="100000">
              <a:schemeClr val="phClr">
                <a:tint val="80000"/>
                <a:satMod val="15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90000"/>
                <a:satMod val="300000"/>
              </a:schemeClr>
            </a:gs>
            <a:gs pos="100000">
              <a:schemeClr val="phClr">
                <a:satMod val="150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70000"/>
              </a:srgbClr>
            </a:outerShdw>
          </a:effectLst>
        </a:effectStyle>
        <a:effectStyle>
          <a:effectLst>
            <a:outerShdw blurRad="25400" dist="254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contourW="15875" prstMaterial="softmetal">
            <a:bevelT w="25400" h="19050" prst="angle"/>
            <a:contourClr>
              <a:schemeClr val="phClr">
                <a:shade val="30000"/>
              </a:schemeClr>
            </a:contourClr>
          </a:sp3d>
        </a:effectStyle>
        <a:effectStyle>
          <a:effectLst>
            <a:outerShdw blurRad="254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contourW="19050" prstMaterial="metal">
            <a:bevelT w="63500" h="31750" prst="angle"/>
            <a:contourClr>
              <a:schemeClr val="phClr">
                <a:shade val="25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7000"/>
                <a:shade val="93000"/>
                <a:satMod val="110000"/>
                <a:lumMod val="90000"/>
              </a:schemeClr>
            </a:gs>
            <a:gs pos="76000">
              <a:schemeClr val="phClr">
                <a:tint val="85000"/>
                <a:shade val="75000"/>
                <a:satMod val="120000"/>
              </a:schemeClr>
            </a:gs>
            <a:gs pos="100000">
              <a:schemeClr val="phClr">
                <a:tint val="86000"/>
                <a:shade val="50000"/>
                <a:satMod val="13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35000"/>
                <a:satMod val="146000"/>
                <a:lumMod val="101000"/>
              </a:schemeClr>
            </a:gs>
            <a:gs pos="26000">
              <a:schemeClr val="phClr">
                <a:tint val="96000"/>
                <a:shade val="96000"/>
                <a:satMod val="190000"/>
              </a:schemeClr>
            </a:gs>
            <a:gs pos="100000">
              <a:schemeClr val="phClr">
                <a:tint val="60000"/>
                <a:shade val="90000"/>
                <a:satMod val="22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0장. Introduction.pptx" id="{7B403E1B-8F75-49B9-B859-D0906834E13A}" vid="{B5A0A407-5981-4B1F-964A-F80AC669C993}"/>
    </a:ext>
  </a:extLst>
</a:theme>
</file>

<file path=ppt/theme/theme2.xml><?xml version="1.0" encoding="utf-8"?>
<a:theme xmlns:a="http://schemas.openxmlformats.org/drawingml/2006/main" name="2020-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프레젠테이션1" id="{4B33F59B-B985-4B5E-9929-AC98C5552B69}" vid="{2F8BD205-57E0-424D-8191-B08051F6AA3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2021</Template>
  <TotalTime>5178</TotalTime>
  <Words>5567</Words>
  <Application>Microsoft Office PowerPoint</Application>
  <PresentationFormat>와이드스크린</PresentationFormat>
  <Paragraphs>716</Paragraphs>
  <Slides>50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50</vt:i4>
      </vt:variant>
    </vt:vector>
  </HeadingPairs>
  <TitlesOfParts>
    <vt:vector size="58" baseType="lpstr">
      <vt:lpstr>D2Coding</vt:lpstr>
      <vt:lpstr>맑은 고딕</vt:lpstr>
      <vt:lpstr>Arial</vt:lpstr>
      <vt:lpstr>Calibri</vt:lpstr>
      <vt:lpstr>Consolas</vt:lpstr>
      <vt:lpstr>Wingdings</vt:lpstr>
      <vt:lpstr>매크로</vt:lpstr>
      <vt:lpstr>2020-1</vt:lpstr>
      <vt:lpstr>9장. 게시판</vt:lpstr>
      <vt:lpstr>이번 장에서 공부할 것</vt:lpstr>
      <vt:lpstr>실습1 – 로그인 사용자 관리</vt:lpstr>
      <vt:lpstr>[실습] 로그인 사용자 관리 프로그램 작성하기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9.1 게시판 프로그램 구성과 준비 작업</vt:lpstr>
      <vt:lpstr>9.1 게시판 프로그램 구성과 준비 작업</vt:lpstr>
      <vt:lpstr>9.1 게시판 프로그램 구성과 준비 작업</vt:lpstr>
      <vt:lpstr>9.1 게시판 프로그램 구성과 준비 작업</vt:lpstr>
      <vt:lpstr>9.1 게시판 프로그램 구성과 준비 작업</vt:lpstr>
      <vt:lpstr>9.1 게시판 프로그램 구성과 준비 작업</vt:lpstr>
      <vt:lpstr>9.1 게시판 프로그램 구성과 준비 작업</vt:lpstr>
      <vt:lpstr>9.1 게시판 프로그램 구성과 준비 작업</vt:lpstr>
      <vt:lpstr>9.1 게시판 프로그램 구성과 준비 작업</vt:lpstr>
      <vt:lpstr>9.1 게시판 프로그램 구성과 준비 작업</vt:lpstr>
      <vt:lpstr>9.1 게시판 프로그램 구성과 준비 작업</vt:lpstr>
      <vt:lpstr>9.1 게시판 프로그램 구성과 준비 작업</vt:lpstr>
      <vt:lpstr>9.1 게시판 프로그램 구성과 준비 작업</vt:lpstr>
      <vt:lpstr>9.2 게시글 리스트 </vt:lpstr>
      <vt:lpstr>9.2 게시글 리스트 </vt:lpstr>
      <vt:lpstr>9.2 게시글 리스트 </vt:lpstr>
      <vt:lpstr>9.2 게시글 리스트 </vt:lpstr>
      <vt:lpstr>9.3 새 글쓰기</vt:lpstr>
      <vt:lpstr>9.3 새 글쓰기</vt:lpstr>
      <vt:lpstr>9.3 새 글쓰기</vt:lpstr>
      <vt:lpstr>9.4 글 내용 보기</vt:lpstr>
      <vt:lpstr>9.4 글 내용 보기</vt:lpstr>
      <vt:lpstr>9.4 글 내용 보기</vt:lpstr>
      <vt:lpstr>9.4 글 내용 보기</vt:lpstr>
      <vt:lpstr>9.4 글 내용 보기</vt:lpstr>
      <vt:lpstr>9.5 글 수정</vt:lpstr>
      <vt:lpstr>9.5 글 수정</vt:lpstr>
      <vt:lpstr>9.5 글 수정</vt:lpstr>
      <vt:lpstr>9.5 글 수정</vt:lpstr>
      <vt:lpstr>9.5 글 수정</vt:lpstr>
      <vt:lpstr>9.5 글 수정</vt:lpstr>
      <vt:lpstr>9.5 글 수정</vt:lpstr>
      <vt:lpstr>9.5 글 수정</vt:lpstr>
      <vt:lpstr>9.5 글 수정</vt:lpstr>
      <vt:lpstr>9.6 글 삭제</vt:lpstr>
      <vt:lpstr>9.6 글 삭제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PHP프로그래밍</dc:title>
  <dc:creator>Office</dc:creator>
  <cp:lastModifiedBy>jinsook</cp:lastModifiedBy>
  <cp:revision>249</cp:revision>
  <dcterms:created xsi:type="dcterms:W3CDTF">2012-02-28T06:11:53Z</dcterms:created>
  <dcterms:modified xsi:type="dcterms:W3CDTF">2022-04-21T07:01:49Z</dcterms:modified>
</cp:coreProperties>
</file>