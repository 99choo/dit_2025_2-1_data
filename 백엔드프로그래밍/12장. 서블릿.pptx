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276" r:id="rId3"/>
    <p:sldId id="299" r:id="rId4"/>
    <p:sldId id="300" r:id="rId5"/>
    <p:sldId id="324" r:id="rId6"/>
    <p:sldId id="327" r:id="rId7"/>
    <p:sldId id="325" r:id="rId8"/>
    <p:sldId id="326" r:id="rId9"/>
    <p:sldId id="328" r:id="rId10"/>
    <p:sldId id="307" r:id="rId11"/>
    <p:sldId id="277" r:id="rId12"/>
    <p:sldId id="280" r:id="rId13"/>
    <p:sldId id="279" r:id="rId14"/>
    <p:sldId id="317" r:id="rId15"/>
    <p:sldId id="292" r:id="rId16"/>
    <p:sldId id="281" r:id="rId17"/>
    <p:sldId id="265" r:id="rId18"/>
    <p:sldId id="283" r:id="rId19"/>
    <p:sldId id="284" r:id="rId20"/>
    <p:sldId id="285" r:id="rId21"/>
    <p:sldId id="286" r:id="rId22"/>
    <p:sldId id="287" r:id="rId23"/>
    <p:sldId id="264" r:id="rId24"/>
    <p:sldId id="289" r:id="rId25"/>
    <p:sldId id="290" r:id="rId26"/>
    <p:sldId id="297" r:id="rId27"/>
    <p:sldId id="315" r:id="rId28"/>
    <p:sldId id="291" r:id="rId29"/>
    <p:sldId id="296" r:id="rId30"/>
    <p:sldId id="298" r:id="rId31"/>
    <p:sldId id="319" r:id="rId32"/>
    <p:sldId id="294" r:id="rId33"/>
    <p:sldId id="295" r:id="rId34"/>
    <p:sldId id="321" r:id="rId35"/>
    <p:sldId id="301" r:id="rId36"/>
    <p:sldId id="318" r:id="rId37"/>
    <p:sldId id="302" r:id="rId38"/>
    <p:sldId id="308" r:id="rId39"/>
    <p:sldId id="303" r:id="rId4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474" autoAdjust="0"/>
    <p:restoredTop sz="96391" autoAdjust="0"/>
  </p:normalViewPr>
  <p:slideViewPr>
    <p:cSldViewPr snapToGrid="0" showGuides="1">
      <p:cViewPr varScale="1">
        <p:scale>
          <a:sx n="103" d="100"/>
          <a:sy n="103" d="100"/>
        </p:scale>
        <p:origin x="138" y="33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A394C-F57C-46F7-A237-44FDB0C72F82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8B0726-9D2F-4C84-9635-1AD3060BC6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6811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8B0726-9D2F-4C84-9635-1AD3060BC6E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31600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8B0726-9D2F-4C84-9635-1AD3060BC6E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85546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8B0726-9D2F-4C84-9635-1AD3060BC6E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2217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8B0726-9D2F-4C84-9635-1AD3060BC6E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23315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8B0726-9D2F-4C84-9635-1AD3060BC6E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11135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8B0726-9D2F-4C84-9635-1AD3060BC6E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9661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8B0726-9D2F-4C84-9635-1AD3060BC6E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37679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8B0726-9D2F-4C84-9635-1AD3060BC6E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45433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8B0726-9D2F-4C84-9635-1AD3060BC6E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68544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8B0726-9D2F-4C84-9635-1AD3060BC6E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47998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8B0726-9D2F-4C84-9635-1AD3060BC6E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7228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88529-ABE4-40AD-8768-23231B917785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Picture 2" descr="DIT동의과학대학교(DONG-EUI INSTITUTE OF TECHNOLOGY)">
            <a:extLst>
              <a:ext uri="{FF2B5EF4-FFF2-40B4-BE49-F238E27FC236}">
                <a16:creationId xmlns:a16="http://schemas.microsoft.com/office/drawing/2014/main" id="{BB1469E2-B0F2-4F7C-9134-F85CA43800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4504" y="64992"/>
            <a:ext cx="931937" cy="195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3351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2510" y="173708"/>
            <a:ext cx="11822266" cy="738745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7072" y="1057835"/>
            <a:ext cx="11434714" cy="561190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1722443" y="6492275"/>
            <a:ext cx="453081" cy="365125"/>
          </a:xfrm>
        </p:spPr>
        <p:txBody>
          <a:bodyPr/>
          <a:lstStyle/>
          <a:p>
            <a:fld id="{58588529-ABE4-40AD-8768-23231B9177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7561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88529-ABE4-40AD-8768-23231B9177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0323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88529-ABE4-40AD-8768-23231B9177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6036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88529-ABE4-40AD-8768-23231B9177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5071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88529-ABE4-40AD-8768-23231B9177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6473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88529-ABE4-40AD-8768-23231B9177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7146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88529-ABE4-40AD-8768-23231B9177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8427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88529-ABE4-40AD-8768-23231B9177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5660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88529-ABE4-40AD-8768-23231B9177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6877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88529-ABE4-40AD-8768-23231B9177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7587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88529-ABE4-40AD-8768-23231B917785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Picture 2" descr="DIT동의과학대학교(DONG-EUI INSTITUTE OF TECHNOLOGY)">
            <a:extLst>
              <a:ext uri="{FF2B5EF4-FFF2-40B4-BE49-F238E27FC236}">
                <a16:creationId xmlns:a16="http://schemas.microsoft.com/office/drawing/2014/main" id="{934AF6FA-E1E8-45ED-B6E3-A0CFF3E540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4504" y="64992"/>
            <a:ext cx="931937" cy="195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3703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jcp.org/aboutJava/communityprocess/final/jsr369/index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Servlet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기초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동의과학대학교 컴퓨터정보과</a:t>
            </a:r>
            <a:endParaRPr lang="en-US" altLang="ko-KR" dirty="0"/>
          </a:p>
          <a:p>
            <a:r>
              <a:rPr lang="ko-KR" altLang="en-US" dirty="0"/>
              <a:t>김진숙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88529-ABE4-40AD-8768-23231B91778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3054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 내용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CGI </a:t>
            </a:r>
            <a:r>
              <a:rPr lang="ko-KR" altLang="en-US" dirty="0"/>
              <a:t>프로그램과 </a:t>
            </a:r>
            <a:r>
              <a:rPr lang="en-US" altLang="ko-KR" dirty="0"/>
              <a:t>servlet</a:t>
            </a:r>
          </a:p>
          <a:p>
            <a:r>
              <a:rPr lang="en-US" altLang="ko-KR" dirty="0"/>
              <a:t>Servlet </a:t>
            </a:r>
            <a:r>
              <a:rPr lang="ko-KR" altLang="en-US" dirty="0"/>
              <a:t>이란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Servlet</a:t>
            </a:r>
            <a:r>
              <a:rPr lang="ko-KR" altLang="en-US" dirty="0"/>
              <a:t> 컨테이너와 웹서버</a:t>
            </a:r>
            <a:endParaRPr lang="en-US" altLang="ko-KR" dirty="0"/>
          </a:p>
          <a:p>
            <a:r>
              <a:rPr lang="en-US" altLang="ko-KR" dirty="0"/>
              <a:t>Servlet</a:t>
            </a:r>
            <a:r>
              <a:rPr lang="ko-KR" altLang="en-US" dirty="0"/>
              <a:t> 동작과정</a:t>
            </a:r>
            <a:endParaRPr lang="en-US" altLang="ko-KR" dirty="0"/>
          </a:p>
          <a:p>
            <a:r>
              <a:rPr lang="en-US" altLang="ko-KR" dirty="0"/>
              <a:t>Servlet</a:t>
            </a:r>
            <a:r>
              <a:rPr lang="ko-KR" altLang="en-US" dirty="0"/>
              <a:t> 구조와</a:t>
            </a:r>
            <a:r>
              <a:rPr lang="en-US" altLang="ko-KR" dirty="0"/>
              <a:t> API</a:t>
            </a:r>
          </a:p>
          <a:p>
            <a:r>
              <a:rPr lang="en-US" altLang="ko-KR" dirty="0"/>
              <a:t>Servlet / </a:t>
            </a:r>
            <a:r>
              <a:rPr lang="en-US" altLang="ko-KR" dirty="0" err="1"/>
              <a:t>GenericServlet</a:t>
            </a:r>
            <a:r>
              <a:rPr lang="en-US" altLang="ko-KR" dirty="0"/>
              <a:t> / </a:t>
            </a:r>
            <a:r>
              <a:rPr lang="en-US" altLang="ko-KR" dirty="0" err="1"/>
              <a:t>HttpServlet</a:t>
            </a:r>
            <a:endParaRPr lang="en-US" altLang="ko-KR" dirty="0"/>
          </a:p>
          <a:p>
            <a:r>
              <a:rPr lang="en-US" altLang="ko-KR" dirty="0"/>
              <a:t>Servlet</a:t>
            </a:r>
            <a:r>
              <a:rPr lang="ko-KR" altLang="en-US" dirty="0"/>
              <a:t> 생명주기</a:t>
            </a:r>
            <a:r>
              <a:rPr lang="en-US" altLang="ko-KR" dirty="0"/>
              <a:t>(Life Cycle)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88529-ABE4-40AD-8768-23231B917785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6973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웹프로그래밍 학습 로드 맵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88529-ABE4-40AD-8768-23231B917785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072" y="1040026"/>
            <a:ext cx="8495636" cy="56297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31978" y="6146521"/>
            <a:ext cx="3379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+mj-lt"/>
              </a:rPr>
              <a:t>출처 </a:t>
            </a:r>
            <a:r>
              <a:rPr lang="en-US" altLang="ko-KR" sz="1400" dirty="0" err="1">
                <a:latin typeface="+mj-lt"/>
              </a:rPr>
              <a:t>:</a:t>
            </a:r>
            <a:r>
              <a:rPr lang="ko-KR" altLang="en-US" sz="1400" dirty="0">
                <a:latin typeface="+mj-lt"/>
              </a:rPr>
              <a:t> 프로젝트로 배우는 자바 웹 프로그래밍</a:t>
            </a:r>
            <a:r>
              <a:rPr lang="en-US" altLang="ko-KR" sz="1400" dirty="0">
                <a:latin typeface="+mj-lt"/>
              </a:rPr>
              <a:t>, </a:t>
            </a:r>
            <a:r>
              <a:rPr lang="ko-KR" altLang="en-US" sz="1400" dirty="0" err="1">
                <a:latin typeface="+mj-lt"/>
              </a:rPr>
              <a:t>황희정</a:t>
            </a:r>
            <a:r>
              <a:rPr lang="en-US" altLang="ko-KR" sz="1400" dirty="0">
                <a:latin typeface="+mj-lt"/>
              </a:rPr>
              <a:t>, </a:t>
            </a:r>
            <a:r>
              <a:rPr lang="ko-KR" altLang="en-US" sz="1400" dirty="0">
                <a:latin typeface="+mj-lt"/>
              </a:rPr>
              <a:t>한빛아카데미</a:t>
            </a:r>
            <a:r>
              <a:rPr lang="en-US" altLang="ko-KR" sz="1400" dirty="0">
                <a:latin typeface="+mj-lt"/>
              </a:rPr>
              <a:t>, 2016</a:t>
            </a:r>
            <a:endParaRPr lang="ko-KR" altLang="en-US" sz="1400" dirty="0">
              <a:latin typeface="+mj-lt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6316496" y="2352907"/>
            <a:ext cx="2556211" cy="16392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821207" y="1906859"/>
            <a:ext cx="3561222" cy="12549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EBF1EE5-AA84-470B-A28A-7547267EAED6}"/>
              </a:ext>
            </a:extLst>
          </p:cNvPr>
          <p:cNvSpPr/>
          <p:nvPr/>
        </p:nvSpPr>
        <p:spPr>
          <a:xfrm>
            <a:off x="7450536" y="5903078"/>
            <a:ext cx="617704" cy="2434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E2C74177-ECCD-4983-8D74-C869B9BE1C1E}"/>
              </a:ext>
            </a:extLst>
          </p:cNvPr>
          <p:cNvCxnSpPr>
            <a:stCxn id="9" idx="3"/>
            <a:endCxn id="8" idx="1"/>
          </p:cNvCxnSpPr>
          <p:nvPr/>
        </p:nvCxnSpPr>
        <p:spPr>
          <a:xfrm>
            <a:off x="4382429" y="2534323"/>
            <a:ext cx="1934067" cy="638199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D5A9ED12-4F75-4767-A809-BD67156EB2D6}"/>
              </a:ext>
            </a:extLst>
          </p:cNvPr>
          <p:cNvCxnSpPr>
            <a:stCxn id="8" idx="2"/>
          </p:cNvCxnSpPr>
          <p:nvPr/>
        </p:nvCxnSpPr>
        <p:spPr>
          <a:xfrm>
            <a:off x="7594602" y="3992137"/>
            <a:ext cx="164786" cy="191094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16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웹프로그래밍 학습 로드 맵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88529-ABE4-40AD-8768-23231B917785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743" y="1057835"/>
            <a:ext cx="10637799" cy="365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127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302B79-F38F-4A31-8FEB-A0199B298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백엔드 기술의 발전 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B6D0AE-852F-49EC-B8EB-EF9A5C48D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동적 웹의 등작</a:t>
            </a:r>
            <a:endParaRPr lang="en-US" altLang="ko-KR"/>
          </a:p>
          <a:p>
            <a:pPr lvl="1"/>
            <a:r>
              <a:rPr lang="ko-KR" altLang="en-US" b="1"/>
              <a:t>정적인 웹 페이지의 한계</a:t>
            </a:r>
            <a:r>
              <a:rPr lang="en-US" altLang="ko-KR" b="1"/>
              <a:t>:</a:t>
            </a:r>
            <a:r>
              <a:rPr lang="ko-KR" altLang="en-US"/>
              <a:t> 웹의 등장 초기에</a:t>
            </a:r>
            <a:r>
              <a:rPr lang="en-US" altLang="ko-KR"/>
              <a:t>, </a:t>
            </a:r>
            <a:r>
              <a:rPr lang="ko-KR" altLang="en-US"/>
              <a:t>웹 서버는 단순히 </a:t>
            </a:r>
            <a:r>
              <a:rPr lang="en-US" altLang="ko-KR"/>
              <a:t>HTML </a:t>
            </a:r>
            <a:r>
              <a:rPr lang="ko-KR" altLang="en-US"/>
              <a:t>파일과 같은 정적인 콘텐츠를 사용자에게 전달하는 역할만 함</a:t>
            </a:r>
            <a:r>
              <a:rPr lang="en-US" altLang="ko-KR"/>
              <a:t>. </a:t>
            </a:r>
            <a:r>
              <a:rPr lang="ko-KR" altLang="en-US"/>
              <a:t>동적 콘텐츠에 대한 요구 등장</a:t>
            </a:r>
            <a:endParaRPr lang="en-US" altLang="ko-KR"/>
          </a:p>
          <a:p>
            <a:pPr lvl="1"/>
            <a:r>
              <a:rPr lang="en-US" altLang="ko-KR" b="1"/>
              <a:t>CGI (Common Gateway Interface):</a:t>
            </a:r>
            <a:r>
              <a:rPr lang="ko-KR" altLang="en-US"/>
              <a:t> 이런 요구에 부응하여 등장한 것이 바로 </a:t>
            </a:r>
            <a:r>
              <a:rPr lang="en-US" altLang="ko-KR"/>
              <a:t>CGI. CGI</a:t>
            </a:r>
            <a:r>
              <a:rPr lang="ko-KR" altLang="en-US"/>
              <a:t>는 </a:t>
            </a:r>
            <a:r>
              <a:rPr lang="ko-KR" altLang="en-US" b="1"/>
              <a:t>웹 서버가 외부 실행 프로그램과 통신할 수 있도록 하는 표준 인터페이스</a:t>
            </a:r>
            <a:r>
              <a:rPr lang="ko-KR" altLang="en-US"/>
              <a:t>를 정의함</a:t>
            </a:r>
            <a:endParaRPr lang="en-US" altLang="ko-KR"/>
          </a:p>
          <a:p>
            <a:pPr lvl="1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8E2A89-6FF7-4338-A6D3-4770D220C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88529-ABE4-40AD-8768-23231B91778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4376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302B79-F38F-4A31-8FEB-A0199B298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백엔드 기술의 발전 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B6D0AE-852F-49EC-B8EB-EF9A5C48D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동적 웹의 등작</a:t>
            </a:r>
            <a:endParaRPr lang="en-US" altLang="ko-KR"/>
          </a:p>
          <a:p>
            <a:pPr lvl="1"/>
            <a:r>
              <a:rPr lang="en-US" altLang="ko-KR"/>
              <a:t>CGI</a:t>
            </a:r>
            <a:r>
              <a:rPr lang="ko-KR" altLang="en-US"/>
              <a:t>의 작동 방식</a:t>
            </a:r>
            <a:endParaRPr lang="en-US" altLang="ko-KR"/>
          </a:p>
          <a:p>
            <a:pPr lvl="2"/>
            <a:r>
              <a:rPr lang="ko-KR" altLang="en-US"/>
              <a:t>사용자가 웹 브라우저를 통해 특정 </a:t>
            </a:r>
            <a:r>
              <a:rPr lang="en-US" altLang="ko-KR"/>
              <a:t>URL</a:t>
            </a:r>
            <a:r>
              <a:rPr lang="ko-KR" altLang="en-US"/>
              <a:t>을 요청</a:t>
            </a:r>
            <a:endParaRPr lang="en-US" altLang="ko-KR"/>
          </a:p>
          <a:p>
            <a:pPr lvl="2"/>
            <a:r>
              <a:rPr lang="ko-KR" altLang="en-US"/>
              <a:t>웹 서버는 이 요청을 </a:t>
            </a:r>
            <a:r>
              <a:rPr lang="en-US" altLang="ko-KR"/>
              <a:t>CGI </a:t>
            </a:r>
            <a:r>
              <a:rPr lang="ko-KR" altLang="en-US"/>
              <a:t>스크립트</a:t>
            </a:r>
            <a:r>
              <a:rPr lang="en-US" altLang="ko-KR"/>
              <a:t>(</a:t>
            </a:r>
            <a:r>
              <a:rPr lang="ko-KR" altLang="en-US"/>
              <a:t>주로 </a:t>
            </a:r>
            <a:r>
              <a:rPr lang="en-US" altLang="ko-KR"/>
              <a:t>Perl, C </a:t>
            </a:r>
            <a:r>
              <a:rPr lang="ko-KR" altLang="en-US"/>
              <a:t>등으로 작성</a:t>
            </a:r>
            <a:r>
              <a:rPr lang="en-US" altLang="ko-KR"/>
              <a:t>)</a:t>
            </a:r>
            <a:r>
              <a:rPr lang="ko-KR" altLang="en-US"/>
              <a:t>에게 전달</a:t>
            </a:r>
            <a:endParaRPr lang="en-US" altLang="ko-KR"/>
          </a:p>
          <a:p>
            <a:pPr lvl="2"/>
            <a:r>
              <a:rPr lang="en-US" altLang="ko-KR"/>
              <a:t>CGI </a:t>
            </a:r>
            <a:r>
              <a:rPr lang="ko-KR" altLang="en-US"/>
              <a:t>스크립트는 요청을 처리하고</a:t>
            </a:r>
            <a:r>
              <a:rPr lang="en-US" altLang="ko-KR"/>
              <a:t>, </a:t>
            </a:r>
            <a:r>
              <a:rPr lang="ko-KR" altLang="en-US"/>
              <a:t>그 결과를 웹 서버가 이해할 수 있는 형식</a:t>
            </a:r>
            <a:r>
              <a:rPr lang="en-US" altLang="ko-KR"/>
              <a:t>(</a:t>
            </a:r>
            <a:r>
              <a:rPr lang="ko-KR" altLang="en-US"/>
              <a:t>주로 </a:t>
            </a:r>
            <a:r>
              <a:rPr lang="en-US" altLang="ko-KR"/>
              <a:t>HTML)</a:t>
            </a:r>
            <a:r>
              <a:rPr lang="ko-KR" altLang="en-US"/>
              <a:t>으로 반환</a:t>
            </a:r>
            <a:endParaRPr lang="en-US" altLang="ko-KR"/>
          </a:p>
          <a:p>
            <a:pPr lvl="2"/>
            <a:r>
              <a:rPr lang="ko-KR" altLang="en-US"/>
              <a:t>웹 서버는 이 결과를 다시 사용자에게 전송하여 동적인 웹 페이지를 보여줄 수 있게 됨</a:t>
            </a:r>
            <a:endParaRPr lang="en-US" altLang="ko-KR"/>
          </a:p>
          <a:p>
            <a:pPr lvl="1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8E2A89-6FF7-4338-A6D3-4770D220C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88529-ABE4-40AD-8768-23231B917785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5AF9DB0-CC38-4B55-ABFE-2E812117F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717" y="3830578"/>
            <a:ext cx="4525349" cy="298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455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302B79-F38F-4A31-8FEB-A0199B298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백엔드 기술의 발전 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B6D0AE-852F-49EC-B8EB-EF9A5C48D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CGI</a:t>
            </a:r>
            <a:r>
              <a:rPr lang="ko-KR" altLang="en-US"/>
              <a:t>의 한계</a:t>
            </a:r>
            <a:endParaRPr lang="en-US" altLang="ko-KR"/>
          </a:p>
          <a:p>
            <a:pPr lvl="1"/>
            <a:r>
              <a:rPr lang="ko-KR" altLang="en-US" b="1"/>
              <a:t>프로세스 생성 오버헤드</a:t>
            </a:r>
            <a:r>
              <a:rPr lang="en-US" altLang="ko-KR" b="1"/>
              <a:t>:</a:t>
            </a:r>
            <a:r>
              <a:rPr lang="ko-KR" altLang="en-US"/>
              <a:t> </a:t>
            </a:r>
            <a:r>
              <a:rPr lang="en-US" altLang="ko-KR"/>
              <a:t>CGI</a:t>
            </a:r>
            <a:r>
              <a:rPr lang="ko-KR" altLang="en-US"/>
              <a:t>의 가장 큰 문제점은 매번 새로운 요청이 들어올 때마다 웹 서버가 </a:t>
            </a:r>
            <a:r>
              <a:rPr lang="en-US" altLang="ko-KR"/>
              <a:t>CGI </a:t>
            </a:r>
            <a:r>
              <a:rPr lang="ko-KR" altLang="en-US"/>
              <a:t>스크립트를 위한 새로운 프로세스를 생성하고 실행해야 했다는 것</a:t>
            </a:r>
            <a:endParaRPr lang="en-US" altLang="ko-KR"/>
          </a:p>
          <a:p>
            <a:pPr lvl="1"/>
            <a:r>
              <a:rPr lang="ko-KR" altLang="en-US" b="1"/>
              <a:t>자원 관리의 비효율성</a:t>
            </a:r>
            <a:r>
              <a:rPr lang="en-US" altLang="ko-KR" b="1"/>
              <a:t>:</a:t>
            </a:r>
            <a:r>
              <a:rPr lang="ko-KR" altLang="en-US"/>
              <a:t> 각 </a:t>
            </a:r>
            <a:r>
              <a:rPr lang="en-US" altLang="ko-KR"/>
              <a:t>CGI </a:t>
            </a:r>
            <a:r>
              <a:rPr lang="ko-KR" altLang="en-US"/>
              <a:t>프로세스는 독립적인 메모리 공간을 사용했기 때문에</a:t>
            </a:r>
            <a:r>
              <a:rPr lang="en-US" altLang="ko-KR"/>
              <a:t>, </a:t>
            </a:r>
            <a:r>
              <a:rPr lang="ko-KR" altLang="en-US"/>
              <a:t>여러 요청 간에 데이터를 공유하거나 자원을 효율적으로 사용하는 것이 어려움</a:t>
            </a:r>
            <a:endParaRPr lang="en-US" altLang="ko-KR"/>
          </a:p>
          <a:p>
            <a:pPr lvl="1"/>
            <a:r>
              <a:rPr lang="ko-KR" altLang="en-US" b="1"/>
              <a:t>보안 취약성</a:t>
            </a:r>
            <a:r>
              <a:rPr lang="en-US" altLang="ko-KR" b="1"/>
              <a:t>:</a:t>
            </a:r>
            <a:r>
              <a:rPr lang="ko-KR" altLang="en-US"/>
              <a:t> 외부 프로그램인 </a:t>
            </a:r>
            <a:r>
              <a:rPr lang="en-US" altLang="ko-KR"/>
              <a:t>CGI </a:t>
            </a:r>
            <a:r>
              <a:rPr lang="ko-KR" altLang="en-US"/>
              <a:t>스크립트의 보안 취약점은 웹 서버 전체의 보안 문제로 이어질 수 있다는 위험성도 존재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8E2A89-6FF7-4338-A6D3-4770D220C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88529-ABE4-40AD-8768-23231B917785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7427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302B79-F38F-4A31-8FEB-A0199B298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백엔드 기술의 발전 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B6D0AE-852F-49EC-B8EB-EF9A5C48D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서블릿 컨테이너 등장</a:t>
            </a:r>
            <a:endParaRPr lang="en-US" altLang="ko-KR"/>
          </a:p>
          <a:p>
            <a:pPr lvl="1"/>
            <a:r>
              <a:rPr lang="ko-KR" altLang="en-US" b="1"/>
              <a:t>서블릿 </a:t>
            </a:r>
            <a:r>
              <a:rPr lang="en-US" altLang="ko-KR" b="1"/>
              <a:t>(Servlet)</a:t>
            </a:r>
            <a:r>
              <a:rPr lang="ko-KR" altLang="en-US" b="1"/>
              <a:t>의 등장</a:t>
            </a:r>
            <a:r>
              <a:rPr lang="en-US" altLang="ko-KR" b="1"/>
              <a:t>:</a:t>
            </a:r>
            <a:r>
              <a:rPr lang="ko-KR" altLang="en-US"/>
              <a:t> </a:t>
            </a:r>
            <a:r>
              <a:rPr lang="en-US" altLang="ko-KR"/>
              <a:t>CGI</a:t>
            </a:r>
            <a:r>
              <a:rPr lang="ko-KR" altLang="en-US"/>
              <a:t>의 한계를 극복하기 위해 자바 기반의 서버 측 컴포넌트인 서블릿</a:t>
            </a:r>
            <a:r>
              <a:rPr lang="en-US" altLang="ko-KR"/>
              <a:t>(Servlet)</a:t>
            </a:r>
            <a:r>
              <a:rPr lang="ko-KR" altLang="en-US"/>
              <a:t>이 등장</a:t>
            </a:r>
            <a:endParaRPr lang="en-US" altLang="ko-KR"/>
          </a:p>
          <a:p>
            <a:pPr lvl="1"/>
            <a:r>
              <a:rPr lang="ko-KR" altLang="en-US" b="1"/>
              <a:t>서블릿 컨테이너 </a:t>
            </a:r>
            <a:r>
              <a:rPr lang="en-US" altLang="ko-KR" b="1"/>
              <a:t>(Servlet Container)</a:t>
            </a:r>
            <a:r>
              <a:rPr lang="ko-KR" altLang="en-US" b="1"/>
              <a:t>의 역할</a:t>
            </a:r>
            <a:r>
              <a:rPr lang="en-US" altLang="ko-KR" b="1"/>
              <a:t>:</a:t>
            </a:r>
            <a:r>
              <a:rPr lang="ko-KR" altLang="en-US"/>
              <a:t> 서블릿은 웹 서버 내에서 직접 실행되는 것이 아니라</a:t>
            </a:r>
            <a:r>
              <a:rPr lang="en-US" altLang="ko-KR"/>
              <a:t>, </a:t>
            </a:r>
            <a:r>
              <a:rPr lang="ko-KR" altLang="en-US"/>
              <a:t>서블릿 컨테이너라는 별도의 환경에서 관리되고 실행됩니다</a:t>
            </a:r>
            <a:r>
              <a:rPr lang="en-US" altLang="ko-KR"/>
              <a:t>. Apache Tomcat, Jetty </a:t>
            </a:r>
            <a:r>
              <a:rPr lang="ko-KR" altLang="en-US"/>
              <a:t>등이 대표적인 서블릿 컨테이너</a:t>
            </a:r>
            <a:endParaRPr lang="en-US" altLang="ko-KR"/>
          </a:p>
          <a:p>
            <a:pPr lvl="1"/>
            <a:r>
              <a:rPr lang="ko-KR" altLang="en-US"/>
              <a:t>서블릿 컨테이너의 작동 방식</a:t>
            </a:r>
            <a:endParaRPr lang="en-US" altLang="ko-KR"/>
          </a:p>
          <a:p>
            <a:pPr lvl="2"/>
            <a:r>
              <a:rPr lang="ko-KR" altLang="en-US" b="1"/>
              <a:t>스레드 기반 처리</a:t>
            </a:r>
            <a:r>
              <a:rPr lang="en-US" altLang="ko-KR" b="1"/>
              <a:t>:</a:t>
            </a:r>
            <a:r>
              <a:rPr lang="ko-KR" altLang="en-US"/>
              <a:t> 서블릿 컨테이너는 </a:t>
            </a:r>
            <a:r>
              <a:rPr lang="en-US" altLang="ko-KR"/>
              <a:t>CGI</a:t>
            </a:r>
            <a:r>
              <a:rPr lang="ko-KR" altLang="en-US"/>
              <a:t>처럼 매 요청마다 새로운 프로세스를 생성하는 대신</a:t>
            </a:r>
            <a:r>
              <a:rPr lang="en-US" altLang="ko-KR"/>
              <a:t>, </a:t>
            </a:r>
            <a:r>
              <a:rPr lang="ko-KR" altLang="en-US" b="1"/>
              <a:t>스레드 풀</a:t>
            </a:r>
            <a:r>
              <a:rPr lang="ko-KR" altLang="en-US"/>
              <a:t>을 활용하여 각 요청을 처리</a:t>
            </a:r>
            <a:endParaRPr lang="en-US" altLang="ko-KR"/>
          </a:p>
          <a:p>
            <a:pPr lvl="2"/>
            <a:r>
              <a:rPr lang="ko-KR" altLang="en-US" b="1"/>
              <a:t>서블릿 생명주기 관리</a:t>
            </a:r>
            <a:r>
              <a:rPr lang="en-US" altLang="ko-KR" b="1"/>
              <a:t>:</a:t>
            </a:r>
            <a:r>
              <a:rPr lang="ko-KR" altLang="en-US"/>
              <a:t> 서블릿 컨테이너는 서블릿의 </a:t>
            </a:r>
            <a:r>
              <a:rPr lang="ko-KR" altLang="en-US" b="1"/>
              <a:t>생성</a:t>
            </a:r>
            <a:r>
              <a:rPr lang="en-US" altLang="ko-KR" b="1"/>
              <a:t>, </a:t>
            </a:r>
            <a:r>
              <a:rPr lang="ko-KR" altLang="en-US" b="1"/>
              <a:t>초기화</a:t>
            </a:r>
            <a:r>
              <a:rPr lang="en-US" altLang="ko-KR" b="1"/>
              <a:t>, </a:t>
            </a:r>
            <a:r>
              <a:rPr lang="ko-KR" altLang="en-US" b="1"/>
              <a:t>서비스</a:t>
            </a:r>
            <a:r>
              <a:rPr lang="en-US" altLang="ko-KR" b="1"/>
              <a:t>, </a:t>
            </a:r>
            <a:r>
              <a:rPr lang="ko-KR" altLang="en-US" b="1"/>
              <a:t>소멸</a:t>
            </a:r>
            <a:r>
              <a:rPr lang="ko-KR" altLang="en-US"/>
              <a:t> 전 과정을 관리</a:t>
            </a:r>
            <a:endParaRPr lang="en-US" altLang="ko-KR"/>
          </a:p>
          <a:p>
            <a:pPr lvl="2"/>
            <a:r>
              <a:rPr lang="ko-KR" altLang="en-US" b="1"/>
              <a:t>웹 서버와의 통합</a:t>
            </a:r>
            <a:r>
              <a:rPr lang="en-US" altLang="ko-KR" b="1"/>
              <a:t>:</a:t>
            </a:r>
            <a:r>
              <a:rPr lang="ko-KR" altLang="en-US"/>
              <a:t> 서블릿 컨테이너는 웹 서버와 긴밀하게 통합되어 작동하며</a:t>
            </a:r>
            <a:r>
              <a:rPr lang="en-US" altLang="ko-KR"/>
              <a:t>, </a:t>
            </a:r>
            <a:r>
              <a:rPr lang="ko-KR" altLang="en-US"/>
              <a:t>요청과 응답 객체를 효율적으로 관리하고 다양한 부가 기능</a:t>
            </a:r>
            <a:r>
              <a:rPr lang="en-US" altLang="ko-KR"/>
              <a:t>(</a:t>
            </a:r>
            <a:r>
              <a:rPr lang="ko-KR" altLang="en-US"/>
              <a:t>세션 관리</a:t>
            </a:r>
            <a:r>
              <a:rPr lang="en-US" altLang="ko-KR"/>
              <a:t>, </a:t>
            </a:r>
            <a:r>
              <a:rPr lang="ko-KR" altLang="en-US"/>
              <a:t>보안 등</a:t>
            </a:r>
            <a:r>
              <a:rPr lang="en-US" altLang="ko-KR"/>
              <a:t>)</a:t>
            </a:r>
            <a:r>
              <a:rPr lang="ko-KR" altLang="en-US"/>
              <a:t>을 제공</a:t>
            </a:r>
            <a:endParaRPr lang="en-US" altLang="ko-KR"/>
          </a:p>
          <a:p>
            <a:pPr lvl="2"/>
            <a:r>
              <a:rPr lang="ko-KR" altLang="en-US" b="1"/>
              <a:t>표준 </a:t>
            </a:r>
            <a:r>
              <a:rPr lang="en-US" altLang="ko-KR" b="1"/>
              <a:t>API </a:t>
            </a:r>
            <a:r>
              <a:rPr lang="ko-KR" altLang="en-US" b="1"/>
              <a:t>제공</a:t>
            </a:r>
            <a:r>
              <a:rPr lang="en-US" altLang="ko-KR" b="1"/>
              <a:t>:</a:t>
            </a:r>
            <a:r>
              <a:rPr lang="ko-KR" altLang="en-US"/>
              <a:t> 자바 서블릿 </a:t>
            </a:r>
            <a:r>
              <a:rPr lang="en-US" altLang="ko-KR"/>
              <a:t>API</a:t>
            </a:r>
            <a:r>
              <a:rPr lang="ko-KR" altLang="en-US"/>
              <a:t>는 웹 개발자들이 플랫폼 독립적인 방식으로 웹 애플리케이션을 개발할 수 있도록 표준화된 인터페이스를 제공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8E2A89-6FF7-4338-A6D3-4770D220C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88529-ABE4-40AD-8768-23231B91778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7200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302B79-F38F-4A31-8FEB-A0199B298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백엔드 기술의 발전 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B6D0AE-852F-49EC-B8EB-EF9A5C48D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현재의 웹 백엔드 기술</a:t>
            </a:r>
            <a:endParaRPr lang="en-US" altLang="ko-KR"/>
          </a:p>
          <a:p>
            <a:pPr lvl="1"/>
            <a:r>
              <a:rPr lang="ko-KR" altLang="en-US" b="1"/>
              <a:t>프레임워크의 발전</a:t>
            </a:r>
            <a:r>
              <a:rPr lang="en-US" altLang="ko-KR" b="1"/>
              <a:t>:</a:t>
            </a:r>
            <a:r>
              <a:rPr lang="ko-KR" altLang="en-US"/>
              <a:t> </a:t>
            </a:r>
            <a:r>
              <a:rPr lang="en-US" altLang="ko-KR"/>
              <a:t>Spring, Jakarta EE (</a:t>
            </a:r>
            <a:r>
              <a:rPr lang="ko-KR" altLang="en-US"/>
              <a:t>과거 </a:t>
            </a:r>
            <a:r>
              <a:rPr lang="en-US" altLang="ko-KR"/>
              <a:t>J2EE), Node.js, Django, Ruby on Rails </a:t>
            </a:r>
            <a:r>
              <a:rPr lang="ko-KR" altLang="en-US"/>
              <a:t>등 다양한 웹 프레임워크들이 등장하여 개발 생산성을 더욱 향상시키고 복잡한 기능을 쉽게 구현할 수 있도록 지원</a:t>
            </a:r>
            <a:endParaRPr lang="en-US" altLang="ko-KR"/>
          </a:p>
          <a:p>
            <a:pPr lvl="1"/>
            <a:r>
              <a:rPr lang="ko-KR" altLang="en-US" b="1"/>
              <a:t>비동기 및 이벤트 기반 아키텍처</a:t>
            </a:r>
            <a:r>
              <a:rPr lang="en-US" altLang="ko-KR" b="1"/>
              <a:t>:</a:t>
            </a:r>
            <a:r>
              <a:rPr lang="ko-KR" altLang="en-US"/>
              <a:t> </a:t>
            </a:r>
            <a:r>
              <a:rPr lang="en-US" altLang="ko-KR"/>
              <a:t>Node.js</a:t>
            </a:r>
            <a:r>
              <a:rPr lang="ko-KR" altLang="en-US"/>
              <a:t>와 같은 기술은 비동기 </a:t>
            </a:r>
            <a:r>
              <a:rPr lang="en-US" altLang="ko-KR"/>
              <a:t>I/O</a:t>
            </a:r>
            <a:r>
              <a:rPr lang="ko-KR" altLang="en-US"/>
              <a:t>와 이벤트 기반 아키텍처를 통해 많은 동시 연결을 효율적으로 처리</a:t>
            </a:r>
            <a:endParaRPr lang="en-US" altLang="ko-KR"/>
          </a:p>
          <a:p>
            <a:pPr lvl="1"/>
            <a:r>
              <a:rPr lang="ko-KR" altLang="en-US" b="1"/>
              <a:t>마이크로서비스 아키텍처</a:t>
            </a:r>
            <a:r>
              <a:rPr lang="en-US" altLang="ko-KR" b="1"/>
              <a:t>:</a:t>
            </a:r>
            <a:r>
              <a:rPr lang="ko-KR" altLang="en-US"/>
              <a:t> 대규모 애플리케이션을 작은 독립적인 서비스 단위로 분할하여 개발</a:t>
            </a:r>
            <a:r>
              <a:rPr lang="en-US" altLang="ko-KR"/>
              <a:t>, </a:t>
            </a:r>
            <a:r>
              <a:rPr lang="ko-KR" altLang="en-US"/>
              <a:t>배포</a:t>
            </a:r>
            <a:r>
              <a:rPr lang="en-US" altLang="ko-KR"/>
              <a:t>, </a:t>
            </a:r>
            <a:r>
              <a:rPr lang="ko-KR" altLang="en-US"/>
              <a:t>확장을 용이하게 하는 마이크로서비스 아키텍처가 각광받고 있음</a:t>
            </a:r>
            <a:endParaRPr lang="en-US" altLang="ko-KR"/>
          </a:p>
          <a:p>
            <a:pPr lvl="1"/>
            <a:r>
              <a:rPr lang="ko-KR" altLang="en-US" b="1"/>
              <a:t>서버리스 컴퓨팅</a:t>
            </a:r>
            <a:r>
              <a:rPr lang="en-US" altLang="ko-KR" b="1"/>
              <a:t>:</a:t>
            </a:r>
            <a:r>
              <a:rPr lang="ko-KR" altLang="en-US"/>
              <a:t> 클라우드 환경에서 서버 관리에 대한 부담 없이 코드를 실행할 수 있는 서버리스 컴퓨팅 기술이 등장하여 백엔드 개발의 새로운 가능성을 제시하고 있음</a:t>
            </a:r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8E2A89-6FF7-4338-A6D3-4770D220C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88529-ABE4-40AD-8768-23231B917785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651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자바 웹 애플리케이션 실행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Servlet</a:t>
            </a:r>
            <a:r>
              <a:rPr lang="ko-KR" altLang="en-US"/>
              <a:t> 컨테이너</a:t>
            </a:r>
            <a:endParaRPr lang="en-US" altLang="ko-KR" dirty="0"/>
          </a:p>
          <a:p>
            <a:pPr lvl="1"/>
            <a:r>
              <a:rPr lang="en-US" altLang="ko-KR"/>
              <a:t>Servlet</a:t>
            </a:r>
            <a:r>
              <a:rPr lang="ko-KR" altLang="en-US"/>
              <a:t> </a:t>
            </a:r>
            <a:r>
              <a:rPr lang="ko-KR" altLang="en-US" dirty="0"/>
              <a:t>컨테이너는 라이프 사이클을 통해 </a:t>
            </a:r>
            <a:r>
              <a:rPr lang="en-US" altLang="ko-KR" dirty="0"/>
              <a:t>Servlet </a:t>
            </a:r>
            <a:r>
              <a:rPr lang="ko-KR" altLang="en-US" dirty="0"/>
              <a:t>을 포함하고 관리</a:t>
            </a:r>
            <a:endParaRPr lang="en-US" altLang="ko-KR" dirty="0"/>
          </a:p>
          <a:p>
            <a:pPr lvl="1"/>
            <a:r>
              <a:rPr lang="ko-KR" altLang="en-US" dirty="0"/>
              <a:t>개발자는 </a:t>
            </a:r>
            <a:r>
              <a:rPr lang="en-US" altLang="ko-KR" b="1" dirty="0">
                <a:solidFill>
                  <a:srgbClr val="0000FF"/>
                </a:solidFill>
              </a:rPr>
              <a:t>Servlet </a:t>
            </a:r>
            <a:r>
              <a:rPr lang="ko-KR" altLang="en-US" b="1" dirty="0">
                <a:solidFill>
                  <a:srgbClr val="0000FF"/>
                </a:solidFill>
              </a:rPr>
              <a:t>규칙</a:t>
            </a:r>
            <a:r>
              <a:rPr lang="ko-KR" altLang="en-US" dirty="0"/>
              <a:t>에 따라 </a:t>
            </a:r>
            <a:r>
              <a:rPr lang="ko-KR" altLang="en-US"/>
              <a:t>자바 프로그램을 </a:t>
            </a:r>
            <a:r>
              <a:rPr lang="ko-KR" altLang="en-US" dirty="0"/>
              <a:t>작성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11585245" y="6449998"/>
            <a:ext cx="453081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588529-ABE4-40AD-8768-23231B917785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971806" y="3380168"/>
            <a:ext cx="1742046" cy="1070517"/>
          </a:xfrm>
          <a:prstGeom prst="roundRect">
            <a:avLst/>
          </a:prstGeom>
          <a:noFill/>
          <a:ln w="444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  <a:latin typeface="+mj-lt"/>
              </a:rPr>
              <a:t>웹</a:t>
            </a:r>
            <a:endParaRPr lang="en-US" altLang="ko-KR" sz="2000" b="1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ko-KR" altLang="en-US" sz="2000" b="1" dirty="0">
                <a:solidFill>
                  <a:schemeClr val="tx1"/>
                </a:solidFill>
                <a:latin typeface="+mj-lt"/>
              </a:rPr>
              <a:t>브라우저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9526207" y="3357329"/>
            <a:ext cx="1742046" cy="1070517"/>
          </a:xfrm>
          <a:prstGeom prst="roundRect">
            <a:avLst/>
          </a:prstGeom>
          <a:noFill/>
          <a:ln w="444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 err="1">
                <a:solidFill>
                  <a:schemeClr val="tx1"/>
                </a:solidFill>
              </a:rPr>
              <a:t>서블릿</a:t>
            </a:r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r>
              <a:rPr lang="en-US" altLang="ko-KR" sz="2000" dirty="0">
                <a:solidFill>
                  <a:schemeClr val="tx1"/>
                </a:solidFill>
              </a:rPr>
              <a:t>(</a:t>
            </a:r>
            <a:r>
              <a:rPr lang="ko-KR" altLang="en-US" sz="2000" dirty="0">
                <a:solidFill>
                  <a:schemeClr val="tx1"/>
                </a:solidFill>
              </a:rPr>
              <a:t>바이트코드</a:t>
            </a:r>
            <a:r>
              <a:rPr lang="en-US" altLang="ko-KR" sz="2000" dirty="0">
                <a:solidFill>
                  <a:schemeClr val="tx1"/>
                </a:solidFill>
              </a:rPr>
              <a:t>)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6664684" y="3370631"/>
            <a:ext cx="1742046" cy="1070517"/>
          </a:xfrm>
          <a:prstGeom prst="roundRect">
            <a:avLst/>
          </a:prstGeom>
          <a:noFill/>
          <a:ln w="444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 err="1">
                <a:solidFill>
                  <a:schemeClr val="tx1"/>
                </a:solidFill>
                <a:latin typeface="+mj-lt"/>
              </a:rPr>
              <a:t>서블릿</a:t>
            </a:r>
            <a:endParaRPr lang="en-US" altLang="ko-KR" sz="2000" b="1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ko-KR" altLang="en-US" sz="2000" b="1" dirty="0" err="1">
                <a:solidFill>
                  <a:schemeClr val="tx1"/>
                </a:solidFill>
                <a:latin typeface="+mj-lt"/>
              </a:rPr>
              <a:t>컨테이버</a:t>
            </a:r>
            <a:endParaRPr lang="en-US" altLang="ko-KR" sz="2000" b="1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+mj-lt"/>
              </a:rPr>
              <a:t>(</a:t>
            </a:r>
            <a:r>
              <a:rPr lang="ko-KR" altLang="en-US" sz="1400">
                <a:solidFill>
                  <a:schemeClr val="tx1"/>
                </a:solidFill>
                <a:latin typeface="+mj-lt"/>
              </a:rPr>
              <a:t>자바서버관리 </a:t>
            </a:r>
            <a:endParaRPr lang="en-US" altLang="ko-KR" sz="140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ko-KR" altLang="en-US" sz="1400">
                <a:solidFill>
                  <a:schemeClr val="tx1"/>
                </a:solidFill>
                <a:latin typeface="+mj-lt"/>
              </a:rPr>
              <a:t>프로그램</a:t>
            </a:r>
            <a:r>
              <a:rPr lang="en-US" altLang="ko-KR" sz="1400" dirty="0">
                <a:solidFill>
                  <a:schemeClr val="tx1"/>
                </a:solidFill>
                <a:latin typeface="+mj-lt"/>
              </a:rPr>
              <a:t>)</a:t>
            </a:r>
            <a:endParaRPr lang="ko-KR" altLang="en-US" sz="14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 flipH="1">
            <a:off x="5532918" y="3333960"/>
            <a:ext cx="1553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+mj-lt"/>
              </a:rPr>
              <a:t>요청 위임</a:t>
            </a:r>
          </a:p>
        </p:txBody>
      </p:sp>
      <p:sp>
        <p:nvSpPr>
          <p:cNvPr id="11" name="TextBox 10"/>
          <p:cNvSpPr txBox="1"/>
          <p:nvPr/>
        </p:nvSpPr>
        <p:spPr>
          <a:xfrm flipH="1">
            <a:off x="8618383" y="3227528"/>
            <a:ext cx="696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+mj-lt"/>
              </a:rPr>
              <a:t>실행</a:t>
            </a:r>
          </a:p>
        </p:txBody>
      </p:sp>
      <p:sp>
        <p:nvSpPr>
          <p:cNvPr id="12" name="TextBox 11"/>
          <p:cNvSpPr txBox="1"/>
          <p:nvPr/>
        </p:nvSpPr>
        <p:spPr>
          <a:xfrm flipH="1">
            <a:off x="8575433" y="4243179"/>
            <a:ext cx="696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결과</a:t>
            </a:r>
          </a:p>
        </p:txBody>
      </p:sp>
      <p:sp>
        <p:nvSpPr>
          <p:cNvPr id="13" name="TextBox 12"/>
          <p:cNvSpPr txBox="1"/>
          <p:nvPr/>
        </p:nvSpPr>
        <p:spPr>
          <a:xfrm flipH="1">
            <a:off x="5519828" y="4275190"/>
            <a:ext cx="139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결과 반환</a:t>
            </a:r>
          </a:p>
        </p:txBody>
      </p:sp>
      <p:sp>
        <p:nvSpPr>
          <p:cNvPr id="14" name="모서리가 둥근 직사각형 13"/>
          <p:cNvSpPr/>
          <p:nvPr/>
        </p:nvSpPr>
        <p:spPr>
          <a:xfrm>
            <a:off x="3812995" y="3357328"/>
            <a:ext cx="1742046" cy="1070517"/>
          </a:xfrm>
          <a:prstGeom prst="roundRect">
            <a:avLst/>
          </a:prstGeom>
          <a:noFill/>
          <a:ln w="444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  <a:latin typeface="+mj-lt"/>
              </a:rPr>
              <a:t>웹</a:t>
            </a:r>
            <a:endParaRPr lang="en-US" altLang="ko-KR" sz="2000" b="1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ko-KR" altLang="en-US" sz="2000" b="1" dirty="0">
                <a:solidFill>
                  <a:schemeClr val="tx1"/>
                </a:solidFill>
                <a:latin typeface="+mj-lt"/>
              </a:rPr>
              <a:t>서버</a:t>
            </a:r>
          </a:p>
        </p:txBody>
      </p:sp>
      <p:cxnSp>
        <p:nvCxnSpPr>
          <p:cNvPr id="15" name="직선 화살표 연결선 14"/>
          <p:cNvCxnSpPr/>
          <p:nvPr/>
        </p:nvCxnSpPr>
        <p:spPr>
          <a:xfrm flipV="1">
            <a:off x="2730760" y="3714922"/>
            <a:ext cx="1131822" cy="1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 flipH="1">
            <a:off x="2701804" y="4142626"/>
            <a:ext cx="1080000" cy="0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형 설명선 17"/>
          <p:cNvSpPr/>
          <p:nvPr/>
        </p:nvSpPr>
        <p:spPr>
          <a:xfrm>
            <a:off x="8966467" y="4781739"/>
            <a:ext cx="2301786" cy="968209"/>
          </a:xfrm>
          <a:prstGeom prst="wedgeEllipseCallout">
            <a:avLst>
              <a:gd name="adj1" fmla="val -46385"/>
              <a:gd name="adj2" fmla="val -152941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err="1">
                <a:solidFill>
                  <a:schemeClr val="tx1"/>
                </a:solidFill>
              </a:rPr>
              <a:t>서블릿</a:t>
            </a:r>
            <a:r>
              <a:rPr lang="en-US" altLang="ko-KR" b="1" dirty="0">
                <a:solidFill>
                  <a:schemeClr val="tx1"/>
                </a:solidFill>
              </a:rPr>
              <a:t> </a:t>
            </a:r>
            <a:r>
              <a:rPr lang="ko-KR" altLang="en-US" b="1" dirty="0">
                <a:solidFill>
                  <a:schemeClr val="tx1"/>
                </a:solidFill>
              </a:rPr>
              <a:t>규칙</a:t>
            </a:r>
            <a:endParaRPr lang="en-US" altLang="ko-KR" b="1" dirty="0">
              <a:solidFill>
                <a:schemeClr val="tx1"/>
              </a:solidFill>
            </a:endParaRPr>
          </a:p>
          <a:p>
            <a:pPr algn="ctr"/>
            <a:r>
              <a:rPr lang="en-US" altLang="ko-KR" b="1" dirty="0" err="1">
                <a:solidFill>
                  <a:schemeClr val="tx1"/>
                </a:solidFill>
              </a:rPr>
              <a:t>javax.servlet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cxnSp>
        <p:nvCxnSpPr>
          <p:cNvPr id="19" name="직선 화살표 연결선 18"/>
          <p:cNvCxnSpPr/>
          <p:nvPr/>
        </p:nvCxnSpPr>
        <p:spPr>
          <a:xfrm flipV="1">
            <a:off x="5548785" y="3693037"/>
            <a:ext cx="1131822" cy="1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 flipH="1">
            <a:off x="5519829" y="4120741"/>
            <a:ext cx="1080000" cy="0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/>
          <p:nvPr/>
        </p:nvCxnSpPr>
        <p:spPr>
          <a:xfrm flipV="1">
            <a:off x="8413471" y="3702858"/>
            <a:ext cx="1131822" cy="1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 flipH="1">
            <a:off x="8416599" y="4130562"/>
            <a:ext cx="1080000" cy="0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그룹 24"/>
          <p:cNvGrpSpPr/>
          <p:nvPr/>
        </p:nvGrpSpPr>
        <p:grpSpPr>
          <a:xfrm>
            <a:off x="6599829" y="4543896"/>
            <a:ext cx="2039634" cy="1603331"/>
            <a:chOff x="222303" y="1308292"/>
            <a:chExt cx="6902792" cy="5398024"/>
          </a:xfrm>
        </p:grpSpPr>
        <p:pic>
          <p:nvPicPr>
            <p:cNvPr id="23" name="그림 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2303" y="1593987"/>
              <a:ext cx="6510231" cy="5112329"/>
            </a:xfrm>
            <a:prstGeom prst="rect">
              <a:avLst/>
            </a:prstGeom>
          </p:spPr>
        </p:pic>
        <p:sp>
          <p:nvSpPr>
            <p:cNvPr id="24" name="직사각형 23"/>
            <p:cNvSpPr/>
            <p:nvPr/>
          </p:nvSpPr>
          <p:spPr>
            <a:xfrm>
              <a:off x="6210695" y="1308292"/>
              <a:ext cx="914400" cy="914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6" name="TextBox 25"/>
          <p:cNvSpPr txBox="1"/>
          <p:nvPr/>
        </p:nvSpPr>
        <p:spPr>
          <a:xfrm flipH="1">
            <a:off x="2733541" y="3275903"/>
            <a:ext cx="1553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+mj-lt"/>
              </a:rPr>
              <a:t>요청</a:t>
            </a:r>
          </a:p>
        </p:txBody>
      </p:sp>
      <p:sp>
        <p:nvSpPr>
          <p:cNvPr id="27" name="TextBox 26"/>
          <p:cNvSpPr txBox="1"/>
          <p:nvPr/>
        </p:nvSpPr>
        <p:spPr>
          <a:xfrm flipH="1">
            <a:off x="2720451" y="4338956"/>
            <a:ext cx="139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응답</a:t>
            </a:r>
          </a:p>
        </p:txBody>
      </p:sp>
    </p:spTree>
    <p:extLst>
      <p:ext uri="{BB962C8B-B14F-4D97-AF65-F5344CB8AC3E}">
        <p14:creationId xmlns:p14="http://schemas.microsoft.com/office/powerpoint/2010/main" val="3827781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Servlet </a:t>
            </a:r>
            <a:r>
              <a:rPr lang="ko-KR" altLang="en-US" dirty="0"/>
              <a:t>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서버에서</a:t>
            </a:r>
            <a:r>
              <a:rPr lang="en-US" altLang="ko-KR" dirty="0"/>
              <a:t> </a:t>
            </a:r>
            <a:r>
              <a:rPr lang="ko-KR" altLang="en-US" dirty="0"/>
              <a:t>실행되면서 </a:t>
            </a:r>
            <a:r>
              <a:rPr lang="ko-KR" altLang="en-US" b="1" dirty="0"/>
              <a:t>클라이언트</a:t>
            </a:r>
            <a:r>
              <a:rPr lang="ko-KR" altLang="en-US" dirty="0"/>
              <a:t>의 요청에 따라 동적으로 서비스를 제공하는 </a:t>
            </a:r>
            <a:r>
              <a:rPr lang="ko-KR" altLang="en-US" b="1" dirty="0"/>
              <a:t>자바 클래스</a:t>
            </a:r>
            <a:endParaRPr lang="en-US" altLang="ko-KR" b="1" dirty="0"/>
          </a:p>
          <a:p>
            <a:pPr lvl="1"/>
            <a:r>
              <a:rPr lang="ko-KR" altLang="en-US" dirty="0" err="1"/>
              <a:t>톰캣과</a:t>
            </a:r>
            <a:r>
              <a:rPr lang="ko-KR" altLang="en-US" dirty="0"/>
              <a:t> 같은 </a:t>
            </a:r>
            <a:r>
              <a:rPr lang="en-US" altLang="ko-KR" b="1" dirty="0"/>
              <a:t>Servlet</a:t>
            </a:r>
            <a:r>
              <a:rPr lang="ko-KR" altLang="en-US" b="1" dirty="0"/>
              <a:t> 컨테이너</a:t>
            </a:r>
            <a:r>
              <a:rPr lang="ko-KR" altLang="en-US" dirty="0"/>
              <a:t>에서 실행됨</a:t>
            </a:r>
            <a:endParaRPr lang="en-US" altLang="ko-KR" dirty="0"/>
          </a:p>
          <a:p>
            <a:pPr lvl="1"/>
            <a:r>
              <a:rPr lang="ko-KR" altLang="en-US" dirty="0"/>
              <a:t>일반적으로 </a:t>
            </a:r>
            <a:r>
              <a:rPr lang="en-US" altLang="ko-KR" b="1" dirty="0"/>
              <a:t>HTTP</a:t>
            </a:r>
            <a:r>
              <a:rPr lang="en-US" altLang="ko-KR" dirty="0"/>
              <a:t> (</a:t>
            </a:r>
            <a:r>
              <a:rPr lang="en-US" altLang="ko-KR" dirty="0" err="1"/>
              <a:t>HyperText</a:t>
            </a:r>
            <a:r>
              <a:rPr lang="en-US" altLang="ko-KR" dirty="0"/>
              <a:t> Transfer Protocol)</a:t>
            </a:r>
            <a:r>
              <a:rPr lang="ko-KR" altLang="en-US" dirty="0"/>
              <a:t>를 통해 웹 클라이언트의 요청을 수신하고 응답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Servlet</a:t>
            </a:r>
            <a:r>
              <a:rPr lang="ko-KR" altLang="en-US" dirty="0"/>
              <a:t> 관련 객체</a:t>
            </a:r>
            <a:endParaRPr lang="en-US" altLang="ko-KR" dirty="0"/>
          </a:p>
          <a:p>
            <a:pPr lvl="1"/>
            <a:r>
              <a:rPr lang="en-US" altLang="ko-KR" dirty="0" err="1"/>
              <a:t>javax.servlet.</a:t>
            </a:r>
            <a:r>
              <a:rPr lang="en-US" altLang="ko-KR" b="1" dirty="0" err="1"/>
              <a:t>Servlet</a:t>
            </a:r>
            <a:endParaRPr lang="en-US" altLang="ko-KR" b="1" dirty="0"/>
          </a:p>
          <a:p>
            <a:pPr lvl="1"/>
            <a:r>
              <a:rPr lang="en-US" altLang="ko-KR" dirty="0" err="1"/>
              <a:t>javax.servlet.</a:t>
            </a:r>
            <a:r>
              <a:rPr lang="en-US" altLang="ko-KR" b="1" dirty="0" err="1"/>
              <a:t>GenericServlet</a:t>
            </a:r>
            <a:endParaRPr lang="en-US" altLang="ko-KR" b="1" dirty="0"/>
          </a:p>
          <a:p>
            <a:pPr lvl="1"/>
            <a:r>
              <a:rPr lang="en-US" altLang="ko-KR" dirty="0" err="1"/>
              <a:t>javax.servlet.http.</a:t>
            </a:r>
            <a:r>
              <a:rPr lang="en-US" altLang="ko-KR" b="1" dirty="0" err="1"/>
              <a:t>HttpServlet</a:t>
            </a:r>
            <a:endParaRPr lang="ko-KR" altLang="en-US" b="1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88529-ABE4-40AD-8768-23231B917785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5322381" y="5876722"/>
            <a:ext cx="648940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관련 자료</a:t>
            </a:r>
            <a:endParaRPr lang="en-US" altLang="ko-KR" dirty="0">
              <a:hlinkClick r:id="rId3"/>
            </a:endParaRPr>
          </a:p>
          <a:p>
            <a:r>
              <a:rPr lang="en-US" altLang="ko-KR" sz="1600" dirty="0">
                <a:hlinkClick r:id="rId3"/>
              </a:rPr>
              <a:t>https://jcp.org/aboutJava/communityprocess/final/jsr369/index.html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733550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Servlet</a:t>
            </a:r>
            <a:r>
              <a:rPr lang="ko-KR" altLang="en-US" dirty="0"/>
              <a:t> 동작과정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39"/>
          <a:stretch/>
        </p:blipFill>
        <p:spPr bwMode="auto">
          <a:xfrm>
            <a:off x="1338516" y="1034572"/>
            <a:ext cx="8934488" cy="5706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88529-ABE4-40AD-8768-23231B917785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6881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Servlet</a:t>
            </a:r>
            <a:r>
              <a:rPr lang="ko-KR" altLang="en-US"/>
              <a:t> 컨테이너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44340" y="912453"/>
            <a:ext cx="10595728" cy="5611906"/>
          </a:xfrm>
        </p:spPr>
        <p:txBody>
          <a:bodyPr/>
          <a:lstStyle/>
          <a:p>
            <a:r>
              <a:rPr lang="en-US" altLang="ko-KR" dirty="0"/>
              <a:t>Servlet </a:t>
            </a:r>
            <a:r>
              <a:rPr lang="ko-KR" altLang="en-US" dirty="0"/>
              <a:t>을 실행하기 위한 </a:t>
            </a:r>
            <a:r>
              <a:rPr lang="ko-KR" altLang="en-US" b="1" dirty="0"/>
              <a:t>실행 환경</a:t>
            </a:r>
            <a:endParaRPr lang="en-US" altLang="ko-KR" b="1" dirty="0"/>
          </a:p>
          <a:p>
            <a:pPr lvl="1"/>
            <a:r>
              <a:rPr lang="ko-KR" altLang="en-US" dirty="0"/>
              <a:t>아파치</a:t>
            </a:r>
            <a:r>
              <a:rPr lang="en-US" altLang="ko-KR" dirty="0"/>
              <a:t> </a:t>
            </a:r>
            <a:r>
              <a:rPr lang="ko-KR" altLang="en-US" dirty="0" err="1"/>
              <a:t>톰캣이</a:t>
            </a:r>
            <a:r>
              <a:rPr lang="ko-KR" altLang="en-US" dirty="0"/>
              <a:t> </a:t>
            </a:r>
            <a:r>
              <a:rPr lang="ko-KR" altLang="en-US" dirty="0" err="1"/>
              <a:t>대표적임</a:t>
            </a:r>
            <a:endParaRPr lang="en-US" altLang="ko-KR" dirty="0"/>
          </a:p>
          <a:p>
            <a:r>
              <a:rPr lang="ko-KR" altLang="en-US" dirty="0"/>
              <a:t>웹서버와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Servlet </a:t>
            </a:r>
            <a:r>
              <a:rPr lang="ko-KR" altLang="en-US" dirty="0"/>
              <a:t>컨테이너</a:t>
            </a:r>
            <a:r>
              <a:rPr lang="en-US" altLang="ko-KR" dirty="0"/>
              <a:t>(WAS) </a:t>
            </a:r>
            <a:r>
              <a:rPr lang="ko-KR" altLang="en-US" dirty="0"/>
              <a:t>비교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99"/>
          <a:stretch/>
        </p:blipFill>
        <p:spPr bwMode="auto">
          <a:xfrm>
            <a:off x="1816507" y="2403454"/>
            <a:ext cx="8051394" cy="4232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88529-ABE4-40AD-8768-23231B917785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57E660-E053-49DE-B213-CD6159A4CD15}"/>
              </a:ext>
            </a:extLst>
          </p:cNvPr>
          <p:cNvSpPr txBox="1"/>
          <p:nvPr/>
        </p:nvSpPr>
        <p:spPr>
          <a:xfrm>
            <a:off x="7534275" y="2432029"/>
            <a:ext cx="1569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>
                <a:solidFill>
                  <a:srgbClr val="FF0000"/>
                </a:solidFill>
              </a:rPr>
              <a:t>웹애플리케이션서버</a:t>
            </a:r>
            <a:endParaRPr lang="en-US" altLang="ko-KR" sz="1200" b="1">
              <a:solidFill>
                <a:srgbClr val="FF0000"/>
              </a:solidFill>
            </a:endParaRPr>
          </a:p>
          <a:p>
            <a:r>
              <a:rPr lang="en-US" altLang="ko-KR" sz="1200" b="1">
                <a:solidFill>
                  <a:srgbClr val="FF0000"/>
                </a:solidFill>
              </a:rPr>
              <a:t>(WAS)</a:t>
            </a:r>
            <a:endParaRPr lang="ko-KR" altLang="en-US" sz="1200" b="1">
              <a:solidFill>
                <a:srgbClr val="FF000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8A8884C-7B54-4657-8A98-97BAC522666D}"/>
              </a:ext>
            </a:extLst>
          </p:cNvPr>
          <p:cNvCxnSpPr/>
          <p:nvPr/>
        </p:nvCxnSpPr>
        <p:spPr>
          <a:xfrm>
            <a:off x="4599987" y="5253135"/>
            <a:ext cx="174482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90060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en-US" altLang="ko-KR" dirty="0" err="1"/>
              <a:t>HelloServlet</a:t>
            </a:r>
            <a:r>
              <a:rPr lang="en-US" altLang="ko-KR" dirty="0"/>
              <a:t> </a:t>
            </a:r>
            <a:r>
              <a:rPr lang="ko-KR" altLang="en-US" dirty="0"/>
              <a:t>작성하기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‘Hello, World!’</a:t>
            </a:r>
            <a:r>
              <a:rPr lang="ko-KR" altLang="en-US" dirty="0"/>
              <a:t>를 출력하는 </a:t>
            </a:r>
            <a:r>
              <a:rPr lang="ko-KR" altLang="en-US" dirty="0" err="1"/>
              <a:t>서블릿</a:t>
            </a:r>
            <a:r>
              <a:rPr lang="ko-KR" altLang="en-US" dirty="0"/>
              <a:t> 생성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88529-ABE4-40AD-8768-23231B917785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24574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en-US" altLang="ko-KR" dirty="0" err="1"/>
              <a:t>HelloServlet</a:t>
            </a:r>
            <a:r>
              <a:rPr lang="en-US" altLang="ko-KR" dirty="0"/>
              <a:t> </a:t>
            </a:r>
            <a:r>
              <a:rPr lang="ko-KR" altLang="en-US" dirty="0"/>
              <a:t>작성하기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88529-ABE4-40AD-8768-23231B917785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072" y="1123032"/>
            <a:ext cx="10727801" cy="5012444"/>
          </a:xfrm>
          <a:prstGeom prst="rect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2808" y="4180260"/>
            <a:ext cx="6048375" cy="1962150"/>
          </a:xfrm>
          <a:prstGeom prst="rect">
            <a:avLst/>
          </a:prstGeom>
          <a:ln w="28575">
            <a:solidFill>
              <a:schemeClr val="bg2">
                <a:lumMod val="50000"/>
              </a:schemeClr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4756" y="1230626"/>
            <a:ext cx="3800475" cy="1647825"/>
          </a:xfrm>
          <a:prstGeom prst="rect">
            <a:avLst/>
          </a:prstGeom>
          <a:ln w="28575">
            <a:solidFill>
              <a:schemeClr val="bg2">
                <a:lumMod val="50000"/>
              </a:schemeClr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3523051" y="6314277"/>
            <a:ext cx="6609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rgbClr val="FF0000"/>
                </a:solidFill>
              </a:rPr>
              <a:t>서블릿을 변경했을 경우에는 반드시 </a:t>
            </a:r>
            <a:r>
              <a:rPr lang="ko-KR" altLang="en-US" b="1" dirty="0">
                <a:solidFill>
                  <a:srgbClr val="FF0000"/>
                </a:solidFill>
              </a:rPr>
              <a:t>서버를 다시 실행해야 함</a:t>
            </a:r>
          </a:p>
        </p:txBody>
      </p:sp>
    </p:spTree>
    <p:extLst>
      <p:ext uri="{BB962C8B-B14F-4D97-AF65-F5344CB8AC3E}">
        <p14:creationId xmlns:p14="http://schemas.microsoft.com/office/powerpoint/2010/main" val="3755938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Servlet</a:t>
            </a:r>
            <a:r>
              <a:rPr lang="ko-KR" altLang="en-US" dirty="0"/>
              <a:t> </a:t>
            </a:r>
            <a:r>
              <a:rPr lang="ko-KR" altLang="en-US" b="0" dirty="0"/>
              <a:t>특징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일반적인 </a:t>
            </a:r>
            <a:r>
              <a:rPr lang="ko-KR" altLang="en-US" b="1" dirty="0"/>
              <a:t>자바 클래스 </a:t>
            </a:r>
            <a:r>
              <a:rPr lang="ko-KR" altLang="en-US" dirty="0"/>
              <a:t>구조</a:t>
            </a:r>
            <a:endParaRPr lang="en-US" altLang="ko-KR" dirty="0"/>
          </a:p>
          <a:p>
            <a:pPr>
              <a:lnSpc>
                <a:spcPct val="100000"/>
              </a:lnSpc>
            </a:pPr>
            <a:r>
              <a:rPr lang="ko-KR" altLang="en-US" b="1" dirty="0"/>
              <a:t>컴파일</a:t>
            </a:r>
            <a:r>
              <a:rPr lang="ko-KR" altLang="en-US" dirty="0"/>
              <a:t> 과정 필요</a:t>
            </a:r>
            <a:endParaRPr lang="en-US" altLang="ko-KR" dirty="0"/>
          </a:p>
          <a:p>
            <a:r>
              <a:rPr lang="en-US" altLang="ko-KR" dirty="0"/>
              <a:t>Servlet</a:t>
            </a:r>
            <a:r>
              <a:rPr lang="ko-KR" altLang="en-US" dirty="0"/>
              <a:t> 컨테이너에 의해 실행</a:t>
            </a:r>
            <a:endParaRPr lang="en-US" altLang="ko-KR" dirty="0"/>
          </a:p>
          <a:p>
            <a:pPr>
              <a:lnSpc>
                <a:spcPct val="100000"/>
              </a:lnSpc>
            </a:pPr>
            <a:r>
              <a:rPr lang="ko-KR" altLang="en-US" dirty="0"/>
              <a:t>특정 클래스</a:t>
            </a:r>
            <a:r>
              <a:rPr lang="en-US" altLang="ko-KR" dirty="0"/>
              <a:t>(</a:t>
            </a:r>
            <a:r>
              <a:rPr lang="en-US" altLang="ko-KR" b="1" dirty="0"/>
              <a:t>Servlet</a:t>
            </a:r>
            <a:r>
              <a:rPr lang="en-US" altLang="ko-KR" dirty="0"/>
              <a:t>)</a:t>
            </a:r>
            <a:r>
              <a:rPr lang="ko-KR" altLang="en-US" dirty="0"/>
              <a:t>를 </a:t>
            </a:r>
            <a:r>
              <a:rPr lang="ko-KR" altLang="en-US" b="1" dirty="0">
                <a:solidFill>
                  <a:srgbClr val="0000FF"/>
                </a:solidFill>
              </a:rPr>
              <a:t>상속 </a:t>
            </a:r>
            <a:r>
              <a:rPr lang="ko-KR" altLang="en-US" dirty="0"/>
              <a:t>받아야만 구현할 수 있는 구조</a:t>
            </a:r>
            <a:endParaRPr lang="en-US" altLang="ko-KR" dirty="0"/>
          </a:p>
          <a:p>
            <a:r>
              <a:rPr lang="en-US" altLang="ko-KR" dirty="0"/>
              <a:t>Servlet</a:t>
            </a:r>
            <a:r>
              <a:rPr lang="ko-KR" altLang="en-US" dirty="0"/>
              <a:t> 클래스의 상관 관계나 </a:t>
            </a:r>
            <a:r>
              <a:rPr lang="en-US" altLang="ko-KR" b="1" dirty="0"/>
              <a:t>API</a:t>
            </a:r>
            <a:r>
              <a:rPr lang="ko-KR" altLang="en-US" b="1" dirty="0"/>
              <a:t>의 기본 구조</a:t>
            </a:r>
            <a:r>
              <a:rPr lang="ko-KR" altLang="en-US" dirty="0"/>
              <a:t>를 이해해야 함</a:t>
            </a:r>
            <a:endParaRPr lang="en-US" altLang="ko-KR" dirty="0"/>
          </a:p>
          <a:p>
            <a:r>
              <a:rPr lang="ko-KR" altLang="en-US" dirty="0"/>
              <a:t>일반적으로 </a:t>
            </a:r>
            <a:r>
              <a:rPr lang="en-US" altLang="ko-KR" dirty="0"/>
              <a:t>Servlet </a:t>
            </a:r>
            <a:r>
              <a:rPr lang="ko-KR" altLang="en-US" dirty="0"/>
              <a:t>은 </a:t>
            </a:r>
            <a:r>
              <a:rPr lang="en-US" altLang="ko-KR" dirty="0" err="1"/>
              <a:t>javax.servlet.http.</a:t>
            </a:r>
            <a:r>
              <a:rPr lang="en-US" altLang="ko-KR" b="1" dirty="0" err="1">
                <a:solidFill>
                  <a:srgbClr val="0000FF"/>
                </a:solidFill>
              </a:rPr>
              <a:t>HttpServlet</a:t>
            </a:r>
            <a:r>
              <a:rPr lang="en-US" altLang="ko-KR" dirty="0"/>
              <a:t> </a:t>
            </a:r>
            <a:r>
              <a:rPr lang="ko-KR" altLang="en-US" dirty="0"/>
              <a:t>클래스를 상속하여 구현</a:t>
            </a:r>
          </a:p>
        </p:txBody>
      </p:sp>
      <p:sp>
        <p:nvSpPr>
          <p:cNvPr id="5" name="모서리가 둥근 직사각형 4"/>
          <p:cNvSpPr/>
          <p:nvPr/>
        </p:nvSpPr>
        <p:spPr>
          <a:xfrm>
            <a:off x="2741426" y="5140660"/>
            <a:ext cx="8875050" cy="1190767"/>
          </a:xfrm>
          <a:prstGeom prst="roundRect">
            <a:avLst>
              <a:gd name="adj" fmla="val 1030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2000" dirty="0"/>
              <a:t>API(Application Programming Interface)</a:t>
            </a:r>
            <a:r>
              <a:rPr lang="ko-KR" altLang="en-US" sz="2000" dirty="0"/>
              <a:t> </a:t>
            </a:r>
            <a:r>
              <a:rPr lang="en-US" altLang="ko-KR" sz="2000" dirty="0"/>
              <a:t>:</a:t>
            </a:r>
            <a:r>
              <a:rPr lang="ko-KR" altLang="en-US" sz="2000" dirty="0"/>
              <a:t> 특정 클래스를 다른 프로그램에서 사용하기 위해 필요한 정보를 규격화 해놓은 것</a:t>
            </a:r>
            <a:r>
              <a:rPr lang="en-US" altLang="ko-KR" sz="2000" dirty="0"/>
              <a:t>( .jar </a:t>
            </a:r>
            <a:r>
              <a:rPr lang="ko-KR" altLang="en-US" sz="2000" dirty="0"/>
              <a:t>파일</a:t>
            </a:r>
            <a:r>
              <a:rPr lang="en-US" altLang="ko-KR" sz="2000" dirty="0"/>
              <a:t>)</a:t>
            </a:r>
            <a:endParaRPr lang="ko-KR" altLang="en-US" sz="2000" dirty="0">
              <a:latin typeface="+mj-lt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88529-ABE4-40AD-8768-23231B917785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69750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Servlet</a:t>
            </a:r>
            <a:r>
              <a:rPr lang="ko-KR" altLang="en-US" dirty="0"/>
              <a:t> 클래스의 상속</a:t>
            </a:r>
            <a:r>
              <a:rPr lang="en-US" altLang="ko-KR" dirty="0"/>
              <a:t>/</a:t>
            </a:r>
            <a:r>
              <a:rPr lang="ko-KR" altLang="en-US" dirty="0"/>
              <a:t>구현 관계도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tomcat9/lib/servlet-api</a:t>
            </a:r>
            <a:r>
              <a:rPr lang="en-US" altLang="ko-KR"/>
              <a:t>.jar </a:t>
            </a:r>
            <a:r>
              <a:rPr lang="ko-KR" altLang="en-US"/>
              <a:t>패키지에 있음</a:t>
            </a:r>
            <a:endParaRPr lang="ko-KR" altLang="en-US" dirty="0"/>
          </a:p>
          <a:p>
            <a:pPr marL="0" indent="0">
              <a:buNone/>
            </a:pP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1851069" y="1672307"/>
            <a:ext cx="7575165" cy="4349290"/>
            <a:chOff x="2975019" y="1560619"/>
            <a:chExt cx="7575165" cy="4349290"/>
          </a:xfrm>
        </p:grpSpPr>
        <p:sp>
          <p:nvSpPr>
            <p:cNvPr id="6" name="직사각형 5"/>
            <p:cNvSpPr/>
            <p:nvPr/>
          </p:nvSpPr>
          <p:spPr>
            <a:xfrm>
              <a:off x="2975019" y="2202288"/>
              <a:ext cx="2176530" cy="79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&lt;&lt;interface&gt;&gt;</a:t>
              </a:r>
            </a:p>
            <a:p>
              <a:pPr algn="ctr"/>
              <a:r>
                <a:rPr lang="en-US" altLang="ko-KR" sz="1400" dirty="0" err="1">
                  <a:solidFill>
                    <a:schemeClr val="tx1"/>
                  </a:solidFill>
                </a:rPr>
                <a:t>Javax.servlet</a:t>
              </a:r>
              <a:r>
                <a:rPr lang="en-US" altLang="ko-KR" sz="1400" dirty="0">
                  <a:solidFill>
                    <a:schemeClr val="tx1"/>
                  </a:solidFill>
                </a:rPr>
                <a:t>.</a:t>
              </a:r>
            </a:p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Servlet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6426557" y="2202288"/>
              <a:ext cx="2176530" cy="79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&lt;&lt;abstract&gt;&gt;</a:t>
              </a:r>
            </a:p>
            <a:p>
              <a:pPr algn="ctr"/>
              <a:r>
                <a:rPr lang="en-US" altLang="ko-KR" sz="1400" dirty="0" err="1">
                  <a:solidFill>
                    <a:schemeClr val="tx1"/>
                  </a:solidFill>
                </a:rPr>
                <a:t>Javax.servlet</a:t>
              </a:r>
              <a:r>
                <a:rPr lang="en-US" altLang="ko-KR" sz="1400" dirty="0">
                  <a:solidFill>
                    <a:schemeClr val="tx1"/>
                  </a:solidFill>
                </a:rPr>
                <a:t>.</a:t>
              </a:r>
              <a:endParaRPr lang="en-US" altLang="ko-KR" sz="1400" b="1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b="1" dirty="0" err="1">
                  <a:solidFill>
                    <a:schemeClr val="tx1"/>
                  </a:solidFill>
                </a:rPr>
                <a:t>GenericServlet</a:t>
              </a:r>
              <a:endParaRPr lang="en-US" altLang="ko-KR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6426557" y="5111419"/>
              <a:ext cx="2176530" cy="79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chemeClr val="tx1"/>
                  </a:solidFill>
                </a:rPr>
                <a:t>작성된 </a:t>
              </a:r>
              <a:r>
                <a:rPr lang="en-US" altLang="ko-KR" b="1" dirty="0">
                  <a:solidFill>
                    <a:schemeClr val="tx1"/>
                  </a:solidFill>
                </a:rPr>
                <a:t>Servlet</a:t>
              </a: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6426557" y="3643974"/>
              <a:ext cx="2176530" cy="79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&lt;&lt;class&gt;&gt;</a:t>
              </a:r>
            </a:p>
            <a:p>
              <a:pPr algn="ctr"/>
              <a:r>
                <a:rPr lang="en-US" altLang="ko-KR" sz="1400" dirty="0" err="1">
                  <a:solidFill>
                    <a:schemeClr val="tx1"/>
                  </a:solidFill>
                </a:rPr>
                <a:t>Javax.servlet.http</a:t>
              </a:r>
              <a:r>
                <a:rPr lang="en-US" altLang="ko-KR" sz="1400" dirty="0">
                  <a:solidFill>
                    <a:schemeClr val="tx1"/>
                  </a:solidFill>
                </a:rPr>
                <a:t>.</a:t>
              </a:r>
              <a:endParaRPr lang="en-US" altLang="ko-KR" sz="1400" b="1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b="1" dirty="0" err="1">
                  <a:solidFill>
                    <a:schemeClr val="tx1"/>
                  </a:solidFill>
                </a:rPr>
                <a:t>HttpServlet</a:t>
              </a:r>
              <a:endParaRPr lang="en-US" altLang="ko-KR" b="1" dirty="0">
                <a:solidFill>
                  <a:schemeClr val="tx1"/>
                </a:solidFill>
              </a:endParaRPr>
            </a:p>
          </p:txBody>
        </p:sp>
        <p:cxnSp>
          <p:nvCxnSpPr>
            <p:cNvPr id="11" name="직선 화살표 연결선 10"/>
            <p:cNvCxnSpPr>
              <a:endCxn id="6" idx="3"/>
            </p:cNvCxnSpPr>
            <p:nvPr/>
          </p:nvCxnSpPr>
          <p:spPr>
            <a:xfrm flipH="1">
              <a:off x="5151549" y="2601533"/>
              <a:ext cx="1275008" cy="0"/>
            </a:xfrm>
            <a:prstGeom prst="straightConnector1">
              <a:avLst/>
            </a:prstGeom>
            <a:ln w="22225">
              <a:solidFill>
                <a:schemeClr val="tx1">
                  <a:lumMod val="75000"/>
                  <a:lumOff val="25000"/>
                </a:schemeClr>
              </a:solidFill>
              <a:prstDash val="sysDash"/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화살표 연결선 11"/>
            <p:cNvCxnSpPr/>
            <p:nvPr/>
          </p:nvCxnSpPr>
          <p:spPr>
            <a:xfrm flipV="1">
              <a:off x="7486919" y="2958500"/>
              <a:ext cx="0" cy="685474"/>
            </a:xfrm>
            <a:prstGeom prst="straightConnector1">
              <a:avLst/>
            </a:prstGeom>
            <a:ln w="22225">
              <a:solidFill>
                <a:schemeClr val="tx1">
                  <a:lumMod val="75000"/>
                  <a:lumOff val="25000"/>
                </a:schemeClr>
              </a:solidFill>
              <a:prstDash val="solid"/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화살표 연결선 14"/>
            <p:cNvCxnSpPr/>
            <p:nvPr/>
          </p:nvCxnSpPr>
          <p:spPr>
            <a:xfrm flipV="1">
              <a:off x="7516970" y="4442464"/>
              <a:ext cx="0" cy="685474"/>
            </a:xfrm>
            <a:prstGeom prst="straightConnector1">
              <a:avLst/>
            </a:prstGeom>
            <a:ln w="22225">
              <a:solidFill>
                <a:schemeClr val="tx1">
                  <a:lumMod val="75000"/>
                  <a:lumOff val="25000"/>
                </a:schemeClr>
              </a:solidFill>
              <a:prstDash val="solid"/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화살표 연결선 15"/>
            <p:cNvCxnSpPr/>
            <p:nvPr/>
          </p:nvCxnSpPr>
          <p:spPr>
            <a:xfrm>
              <a:off x="9504868" y="2586459"/>
              <a:ext cx="0" cy="2796910"/>
            </a:xfrm>
            <a:prstGeom prst="straightConnector1">
              <a:avLst/>
            </a:prstGeom>
            <a:ln w="22225">
              <a:solidFill>
                <a:srgbClr val="0070C0"/>
              </a:solidFill>
              <a:prstDash val="solid"/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9903853" y="3863662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rgbClr val="0070C0"/>
                  </a:solidFill>
                </a:rPr>
                <a:t>상속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446690" y="1560619"/>
              <a:ext cx="7729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solidFill>
                    <a:srgbClr val="0070C0"/>
                  </a:solidFill>
                </a:rPr>
                <a:t>구현</a:t>
              </a:r>
            </a:p>
          </p:txBody>
        </p:sp>
        <p:cxnSp>
          <p:nvCxnSpPr>
            <p:cNvPr id="21" name="직선 화살표 연결선 20"/>
            <p:cNvCxnSpPr/>
            <p:nvPr/>
          </p:nvCxnSpPr>
          <p:spPr>
            <a:xfrm flipV="1">
              <a:off x="4763296" y="1987616"/>
              <a:ext cx="2139780" cy="2938"/>
            </a:xfrm>
            <a:prstGeom prst="straightConnector1">
              <a:avLst/>
            </a:prstGeom>
            <a:ln w="22225">
              <a:solidFill>
                <a:srgbClr val="0070C0"/>
              </a:solidFill>
              <a:prstDash val="solid"/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88529-ABE4-40AD-8768-23231B917785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F4D637-BD04-41B1-AA24-F6F3F39321E5}"/>
              </a:ext>
            </a:extLst>
          </p:cNvPr>
          <p:cNvSpPr txBox="1"/>
          <p:nvPr/>
        </p:nvSpPr>
        <p:spPr>
          <a:xfrm>
            <a:off x="2492845" y="3731980"/>
            <a:ext cx="2733112" cy="1169551"/>
          </a:xfrm>
          <a:prstGeom prst="rect">
            <a:avLst/>
          </a:prstGeom>
          <a:solidFill>
            <a:srgbClr val="92D050">
              <a:alpha val="54118"/>
            </a:srgb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/>
              <a:t>상위 인터페이스를 구현하여 일반적 </a:t>
            </a:r>
            <a:r>
              <a:rPr lang="ko-KR" altLang="en-US" sz="1400" b="1" dirty="0" err="1"/>
              <a:t>서블릿</a:t>
            </a:r>
            <a:r>
              <a:rPr lang="ko-KR" altLang="en-US" sz="1400" b="1" dirty="0"/>
              <a:t> 기능 구현</a:t>
            </a:r>
            <a:endParaRPr lang="en-US" altLang="ko-KR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/>
              <a:t>사용 프로토콜에 따라 </a:t>
            </a:r>
            <a:r>
              <a:rPr lang="en-US" altLang="ko-KR" sz="1400" b="1" dirty="0"/>
              <a:t>service() </a:t>
            </a:r>
            <a:r>
              <a:rPr lang="ko-KR" altLang="en-US" sz="1400" b="1" dirty="0"/>
              <a:t>를 오버라이딩하여 구현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E2D0F0-D8E9-4A65-ACFB-B4257BD6CD80}"/>
              </a:ext>
            </a:extLst>
          </p:cNvPr>
          <p:cNvSpPr txBox="1"/>
          <p:nvPr/>
        </p:nvSpPr>
        <p:spPr>
          <a:xfrm>
            <a:off x="7492100" y="5646099"/>
            <a:ext cx="3204475" cy="954107"/>
          </a:xfrm>
          <a:prstGeom prst="rect">
            <a:avLst/>
          </a:prstGeom>
          <a:solidFill>
            <a:srgbClr val="92D050">
              <a:alpha val="54118"/>
            </a:srgb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/>
              <a:t>HTTP </a:t>
            </a:r>
            <a:r>
              <a:rPr lang="ko-KR" altLang="en-US" sz="1400" b="1" dirty="0"/>
              <a:t>프로토콜을 사용하는 웹브라우저에서 </a:t>
            </a:r>
            <a:r>
              <a:rPr lang="ko-KR" altLang="en-US" sz="1400" b="1" dirty="0" err="1"/>
              <a:t>서블릿</a:t>
            </a:r>
            <a:r>
              <a:rPr lang="ko-KR" altLang="en-US" sz="1400" b="1" dirty="0"/>
              <a:t> 기능 수행</a:t>
            </a:r>
            <a:endParaRPr lang="en-US" altLang="ko-KR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/>
              <a:t>service()</a:t>
            </a:r>
            <a:r>
              <a:rPr lang="ko-KR" altLang="en-US" sz="1400" b="1" dirty="0"/>
              <a:t>가 호출되면서 방식에 따라 </a:t>
            </a:r>
            <a:r>
              <a:rPr lang="en-US" altLang="ko-KR" sz="1400" b="1" dirty="0" err="1"/>
              <a:t>doGet</a:t>
            </a:r>
            <a:r>
              <a:rPr lang="en-US" altLang="ko-KR" sz="1400" b="1" dirty="0"/>
              <a:t>(), </a:t>
            </a:r>
            <a:r>
              <a:rPr lang="en-US" altLang="ko-KR" sz="1400" b="1" dirty="0" err="1"/>
              <a:t>doPost</a:t>
            </a:r>
            <a:r>
              <a:rPr lang="en-US" altLang="ko-KR" sz="1400" b="1" dirty="0"/>
              <a:t>()</a:t>
            </a:r>
            <a:r>
              <a:rPr lang="ko-KR" altLang="en-US" sz="1400" b="1" dirty="0"/>
              <a:t>가 호출됨</a:t>
            </a:r>
          </a:p>
        </p:txBody>
      </p:sp>
    </p:spTree>
    <p:extLst>
      <p:ext uri="{BB962C8B-B14F-4D97-AF65-F5344CB8AC3E}">
        <p14:creationId xmlns:p14="http://schemas.microsoft.com/office/powerpoint/2010/main" val="1503815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Servlet</a:t>
            </a:r>
            <a:r>
              <a:rPr lang="en-US" altLang="ko-KR" dirty="0"/>
              <a:t> </a:t>
            </a:r>
            <a:r>
              <a:rPr lang="ko-KR" altLang="en-US" dirty="0"/>
              <a:t>인터페이스</a:t>
            </a:r>
            <a:r>
              <a:rPr lang="en-US" altLang="ko-KR" dirty="0"/>
              <a:t>(</a:t>
            </a:r>
            <a:r>
              <a:rPr lang="ko-KR" altLang="en-US" dirty="0"/>
              <a:t>최상위 클래스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Servlet </a:t>
            </a:r>
            <a:r>
              <a:rPr lang="ko-KR" altLang="en-US" dirty="0"/>
              <a:t>인터페이스의 </a:t>
            </a:r>
            <a:r>
              <a:rPr lang="ko-KR" altLang="en-US" dirty="0" err="1"/>
              <a:t>메소드</a:t>
            </a:r>
            <a:endParaRPr lang="en-US" altLang="ko-KR" dirty="0"/>
          </a:p>
          <a:p>
            <a:pPr lvl="1"/>
            <a:r>
              <a:rPr lang="en-US" altLang="ko-KR" b="1" dirty="0" err="1">
                <a:solidFill>
                  <a:srgbClr val="0000FF"/>
                </a:solidFill>
              </a:rPr>
              <a:t>init</a:t>
            </a:r>
            <a:r>
              <a:rPr lang="en-US" altLang="ko-KR" b="1" dirty="0">
                <a:solidFill>
                  <a:srgbClr val="0000FF"/>
                </a:solidFill>
              </a:rPr>
              <a:t>() </a:t>
            </a:r>
            <a:r>
              <a:rPr lang="en-US" altLang="ko-KR" dirty="0"/>
              <a:t>: </a:t>
            </a:r>
            <a:r>
              <a:rPr lang="ko-KR" altLang="en-US" dirty="0" err="1"/>
              <a:t>서블릿</a:t>
            </a:r>
            <a:r>
              <a:rPr lang="en-US" altLang="ko-KR" dirty="0"/>
              <a:t> </a:t>
            </a:r>
            <a:r>
              <a:rPr lang="ko-KR" altLang="en-US" dirty="0"/>
              <a:t>초기화</a:t>
            </a:r>
            <a:endParaRPr lang="en-US" altLang="ko-KR" dirty="0"/>
          </a:p>
          <a:p>
            <a:pPr lvl="1"/>
            <a:r>
              <a:rPr lang="en-US" altLang="ko-KR" b="1" dirty="0">
                <a:solidFill>
                  <a:srgbClr val="0000FF"/>
                </a:solidFill>
              </a:rPr>
              <a:t>service() </a:t>
            </a:r>
            <a:r>
              <a:rPr lang="en-US" altLang="ko-KR" dirty="0"/>
              <a:t>: </a:t>
            </a:r>
            <a:r>
              <a:rPr lang="ko-KR" altLang="en-US" dirty="0"/>
              <a:t>클라이언트의 모든 호출 처리</a:t>
            </a:r>
            <a:endParaRPr lang="en-US" altLang="ko-KR" dirty="0"/>
          </a:p>
          <a:p>
            <a:pPr lvl="1"/>
            <a:r>
              <a:rPr lang="en-US" altLang="ko-KR" b="1" dirty="0">
                <a:solidFill>
                  <a:srgbClr val="0000FF"/>
                </a:solidFill>
              </a:rPr>
              <a:t>destroy() </a:t>
            </a:r>
            <a:r>
              <a:rPr lang="en-US" altLang="ko-KR" dirty="0"/>
              <a:t>: </a:t>
            </a:r>
            <a:r>
              <a:rPr lang="ko-KR" altLang="en-US" dirty="0" err="1"/>
              <a:t>서블릿</a:t>
            </a:r>
            <a:r>
              <a:rPr lang="ko-KR" altLang="en-US" dirty="0"/>
              <a:t> 서비스가 중단 된 후 </a:t>
            </a:r>
            <a:r>
              <a:rPr lang="en-US" altLang="ko-KR" dirty="0"/>
              <a:t>Garbage</a:t>
            </a:r>
            <a:r>
              <a:rPr lang="ko-KR" altLang="en-US" dirty="0"/>
              <a:t> 수집 등을 완료</a:t>
            </a:r>
            <a:endParaRPr lang="en-US" altLang="ko-KR" dirty="0"/>
          </a:p>
          <a:p>
            <a:pPr lvl="1"/>
            <a:r>
              <a:rPr lang="en-US" altLang="ko-KR" b="1" dirty="0" err="1"/>
              <a:t>getServletConfig</a:t>
            </a:r>
            <a:r>
              <a:rPr lang="en-US" altLang="ko-KR" b="1" dirty="0"/>
              <a:t>() </a:t>
            </a:r>
            <a:r>
              <a:rPr lang="en-US" altLang="ko-KR" dirty="0"/>
              <a:t>: </a:t>
            </a:r>
            <a:r>
              <a:rPr lang="ko-KR" altLang="en-US" dirty="0" err="1"/>
              <a:t>서블릿의</a:t>
            </a:r>
            <a:r>
              <a:rPr lang="ko-KR" altLang="en-US" dirty="0"/>
              <a:t> 시작 정보를 가져 오는 데 사용</a:t>
            </a:r>
            <a:endParaRPr lang="en-US" altLang="ko-KR" dirty="0"/>
          </a:p>
          <a:p>
            <a:pPr lvl="1"/>
            <a:r>
              <a:rPr lang="en-US" altLang="ko-KR" b="1" dirty="0" err="1"/>
              <a:t>getServletInfo</a:t>
            </a:r>
            <a:r>
              <a:rPr lang="en-US" altLang="ko-KR" b="1" dirty="0"/>
              <a:t>() </a:t>
            </a:r>
            <a:r>
              <a:rPr lang="en-US" altLang="ko-KR" dirty="0"/>
              <a:t>: </a:t>
            </a:r>
            <a:r>
              <a:rPr lang="ko-KR" altLang="en-US" dirty="0" err="1"/>
              <a:t>서블릿의</a:t>
            </a:r>
            <a:r>
              <a:rPr lang="ko-KR" altLang="en-US" dirty="0"/>
              <a:t> 작성자</a:t>
            </a:r>
            <a:r>
              <a:rPr lang="en-US" altLang="ko-KR" dirty="0"/>
              <a:t>, </a:t>
            </a:r>
            <a:r>
              <a:rPr lang="ko-KR" altLang="en-US" dirty="0"/>
              <a:t>버전 및 서버와 같은 자체에 대한 기본 정보 제공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88529-ABE4-40AD-8768-23231B917785}" type="slidenum">
              <a:rPr lang="ko-KR" altLang="en-US" smtClean="0"/>
              <a:t>18</a:t>
            </a:fld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9487" y="3801862"/>
            <a:ext cx="4273455" cy="2867879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101510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Servlet</a:t>
            </a:r>
            <a:r>
              <a:rPr lang="en-US" altLang="ko-KR" dirty="0"/>
              <a:t> </a:t>
            </a:r>
            <a:r>
              <a:rPr lang="ko-KR" altLang="en-US" dirty="0"/>
              <a:t>인터페이스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101" y="1000566"/>
            <a:ext cx="7051478" cy="5389083"/>
          </a:xfrm>
          <a:prstGeom prst="rect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88529-ABE4-40AD-8768-23231B917785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6" name="모서리가 둥근 직사각형 5"/>
          <p:cNvSpPr/>
          <p:nvPr/>
        </p:nvSpPr>
        <p:spPr>
          <a:xfrm>
            <a:off x="4687290" y="1466642"/>
            <a:ext cx="7403018" cy="3368248"/>
          </a:xfrm>
          <a:prstGeom prst="roundRect">
            <a:avLst>
              <a:gd name="adj" fmla="val 1030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2000" b="1" dirty="0"/>
              <a:t>인터페이스</a:t>
            </a:r>
            <a:r>
              <a:rPr lang="en-US" altLang="ko-KR" sz="2000" b="1" dirty="0"/>
              <a:t>(interface)</a:t>
            </a:r>
            <a:r>
              <a:rPr lang="ko-KR" altLang="en-US" sz="2000" b="1" dirty="0"/>
              <a:t> </a:t>
            </a:r>
            <a:endParaRPr lang="en-US" altLang="ko-KR" sz="2000" b="1" dirty="0"/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+mj-lt"/>
              </a:rPr>
              <a:t>- </a:t>
            </a:r>
            <a:r>
              <a:rPr lang="ko-KR" altLang="en-US" dirty="0" err="1">
                <a:latin typeface="+mj-lt"/>
              </a:rPr>
              <a:t>호출자와</a:t>
            </a:r>
            <a:r>
              <a:rPr lang="ko-KR" altLang="en-US" dirty="0">
                <a:latin typeface="+mj-lt"/>
              </a:rPr>
              <a:t> 호출당하는 것 사이의 호출 규칙 정의에 사용되는 문법</a:t>
            </a:r>
            <a:endParaRPr lang="en-US" altLang="ko-KR" dirty="0">
              <a:latin typeface="+mj-lt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>
                <a:latin typeface="+mj-lt"/>
              </a:rPr>
              <a:t>Implements </a:t>
            </a:r>
            <a:r>
              <a:rPr lang="ko-KR" altLang="en-US" dirty="0">
                <a:latin typeface="+mj-lt"/>
              </a:rPr>
              <a:t>키워드로 구현</a:t>
            </a:r>
            <a:endParaRPr lang="en-US" altLang="ko-KR" dirty="0">
              <a:latin typeface="+mj-lt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+mj-lt"/>
              </a:rPr>
              <a:t>인터페이스를 구현하는 클래스는 반드시 인터페이스에 선언된 모든 메서드를 구현해야 함 </a:t>
            </a:r>
            <a:endParaRPr lang="en-US" altLang="ko-KR" sz="2000" dirty="0">
              <a:latin typeface="+mj-lt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sz="2000" dirty="0">
              <a:latin typeface="+mj-lt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sz="2000" dirty="0">
              <a:latin typeface="+mj-lt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sz="2000" dirty="0">
              <a:latin typeface="+mj-lt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4469" y="3132246"/>
            <a:ext cx="3113363" cy="1548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7977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GenericServlet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ko-KR" dirty="0"/>
              <a:t>Servlet </a:t>
            </a:r>
            <a:r>
              <a:rPr lang="ko-KR" altLang="en-US" dirty="0"/>
              <a:t>인터페이스를 구현한 </a:t>
            </a:r>
            <a:r>
              <a:rPr lang="ko-KR" altLang="en-US" b="1" dirty="0"/>
              <a:t>추상 클래스</a:t>
            </a:r>
            <a:endParaRPr lang="en-US" altLang="ko-KR" b="1" dirty="0"/>
          </a:p>
          <a:p>
            <a:pPr lvl="1"/>
            <a:r>
              <a:rPr lang="en-US" altLang="ko-KR" dirty="0" err="1"/>
              <a:t>GenericServlet</a:t>
            </a:r>
            <a:r>
              <a:rPr lang="ko-KR" altLang="en-US" dirty="0"/>
              <a:t>은 </a:t>
            </a:r>
            <a:r>
              <a:rPr lang="en-US" altLang="ko-KR" b="1" dirty="0"/>
              <a:t>service()</a:t>
            </a:r>
            <a:r>
              <a:rPr lang="ko-KR" altLang="en-US" dirty="0"/>
              <a:t>를 제외한 </a:t>
            </a:r>
            <a:r>
              <a:rPr lang="en-US" altLang="ko-KR" dirty="0"/>
              <a:t>4</a:t>
            </a:r>
            <a:r>
              <a:rPr lang="ko-KR" altLang="en-US" dirty="0"/>
              <a:t>개의 </a:t>
            </a:r>
            <a:r>
              <a:rPr lang="ko-KR" altLang="en-US" dirty="0" err="1"/>
              <a:t>메소드를</a:t>
            </a:r>
            <a:r>
              <a:rPr lang="ko-KR" altLang="en-US" dirty="0"/>
              <a:t> 미리 구현해 두어 서브클래스가 </a:t>
            </a:r>
            <a:r>
              <a:rPr lang="en-US" altLang="ko-KR" b="1" dirty="0"/>
              <a:t>service()</a:t>
            </a:r>
            <a:r>
              <a:rPr lang="ko-KR" altLang="en-US" dirty="0"/>
              <a:t>만을 구현할 수 있도록 함</a:t>
            </a:r>
          </a:p>
          <a:p>
            <a:pPr lvl="1">
              <a:lnSpc>
                <a:spcPct val="120000"/>
              </a:lnSpc>
            </a:pPr>
            <a:r>
              <a:rPr lang="en-US" altLang="ko-KR" dirty="0" err="1"/>
              <a:t>GenericServlet</a:t>
            </a:r>
            <a:r>
              <a:rPr lang="en-US" altLang="ko-KR" dirty="0"/>
              <a:t> </a:t>
            </a:r>
            <a:r>
              <a:rPr lang="ko-KR" altLang="en-US" dirty="0"/>
              <a:t>클래스는 </a:t>
            </a:r>
            <a:r>
              <a:rPr lang="ko-KR" altLang="en-US" b="1" dirty="0"/>
              <a:t>프로토콜에 무관</a:t>
            </a:r>
            <a:r>
              <a:rPr lang="ko-KR" altLang="en-US" dirty="0"/>
              <a:t>한 기본 서비스만 </a:t>
            </a:r>
            <a:r>
              <a:rPr lang="ko-KR" altLang="en-US"/>
              <a:t>제공하는 클래스</a:t>
            </a:r>
            <a:endParaRPr lang="en-US" altLang="ko-KR"/>
          </a:p>
          <a:p>
            <a:pPr lvl="1">
              <a:lnSpc>
                <a:spcPct val="120000"/>
              </a:lnSpc>
            </a:pPr>
            <a:r>
              <a:rPr lang="en-US" altLang="ko-KR" b="1">
                <a:solidFill>
                  <a:srgbClr val="0000FF"/>
                </a:solidFill>
              </a:rPr>
              <a:t>HttpServlet</a:t>
            </a:r>
            <a:r>
              <a:rPr lang="ko-KR" altLang="en-US" dirty="0"/>
              <a:t>과 같은 프로토콜 특정 서브 클래스를 확장하는 것이 더 일반적</a:t>
            </a:r>
            <a:endParaRPr lang="en-US" altLang="ko-KR" dirty="0"/>
          </a:p>
        </p:txBody>
      </p:sp>
      <p:sp>
        <p:nvSpPr>
          <p:cNvPr id="4" name="모서리가 둥근 직사각형 3"/>
          <p:cNvSpPr/>
          <p:nvPr/>
        </p:nvSpPr>
        <p:spPr>
          <a:xfrm>
            <a:off x="1118304" y="3863788"/>
            <a:ext cx="9507395" cy="2443429"/>
          </a:xfrm>
          <a:prstGeom prst="roundRect">
            <a:avLst>
              <a:gd name="adj" fmla="val 1030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추상 클래스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(abstract class)</a:t>
            </a:r>
          </a:p>
          <a:p>
            <a:pPr marL="342900" indent="-342900">
              <a:buFont typeface="맑은 고딕" panose="020B0503020000020004" pitchFamily="50" charset="-127"/>
              <a:buChar char="-"/>
            </a:pPr>
            <a:r>
              <a:rPr lang="ko-KR" altLang="en-US" sz="2000" dirty="0">
                <a:latin typeface="+mj-lt"/>
              </a:rPr>
              <a:t>하나 이상의 추상 </a:t>
            </a:r>
            <a:r>
              <a:rPr lang="ko-KR" altLang="en-US" sz="2000" dirty="0" err="1">
                <a:latin typeface="+mj-lt"/>
              </a:rPr>
              <a:t>메소드를</a:t>
            </a:r>
            <a:r>
              <a:rPr lang="ko-KR" altLang="en-US" sz="2000" dirty="0">
                <a:latin typeface="+mj-lt"/>
              </a:rPr>
              <a:t> 포함하는 클래스</a:t>
            </a:r>
            <a:endParaRPr lang="en-US" altLang="ko-KR" sz="2000" dirty="0">
              <a:latin typeface="+mj-lt"/>
            </a:endParaRPr>
          </a:p>
          <a:p>
            <a:pPr marL="342900" indent="-342900">
              <a:buFont typeface="맑은 고딕" panose="020B0503020000020004" pitchFamily="50" charset="-127"/>
              <a:buChar char="-"/>
            </a:pPr>
            <a:r>
              <a:rPr lang="ko-KR" altLang="en-US" sz="2000" dirty="0"/>
              <a:t>직접 인스턴스를 만들어 사용하는 것이 아니라 서브 </a:t>
            </a:r>
            <a:r>
              <a:rPr lang="ko-KR" altLang="en-US" sz="2000" dirty="0" err="1"/>
              <a:t>클래스에게</a:t>
            </a:r>
            <a:r>
              <a:rPr lang="ko-KR" altLang="en-US" sz="2000" dirty="0"/>
              <a:t> 상속해주는 용도의 클래스</a:t>
            </a:r>
            <a:endParaRPr lang="en-US" altLang="ko-KR" sz="2000" dirty="0"/>
          </a:p>
          <a:p>
            <a:pPr marL="342900" indent="-342900">
              <a:buFont typeface="맑은 고딕" panose="020B0503020000020004" pitchFamily="50" charset="-127"/>
              <a:buChar char="-"/>
            </a:pPr>
            <a:r>
              <a:rPr lang="ko-KR" altLang="en-US" sz="2000" b="1" dirty="0">
                <a:solidFill>
                  <a:srgbClr val="0000FF"/>
                </a:solidFill>
              </a:rPr>
              <a:t>공통 속성</a:t>
            </a:r>
            <a:r>
              <a:rPr lang="ko-KR" altLang="en-US" sz="2000" dirty="0"/>
              <a:t>이나 </a:t>
            </a:r>
            <a:r>
              <a:rPr lang="ko-KR" altLang="en-US" sz="2000" b="1" dirty="0">
                <a:solidFill>
                  <a:srgbClr val="0000FF"/>
                </a:solidFill>
              </a:rPr>
              <a:t>공통 </a:t>
            </a:r>
            <a:r>
              <a:rPr lang="ko-KR" altLang="en-US" sz="2000" b="1" dirty="0" err="1">
                <a:solidFill>
                  <a:srgbClr val="0000FF"/>
                </a:solidFill>
              </a:rPr>
              <a:t>메소드</a:t>
            </a:r>
            <a:r>
              <a:rPr lang="ko-KR" altLang="en-US" sz="2000" dirty="0" err="1"/>
              <a:t>를</a:t>
            </a:r>
            <a:r>
              <a:rPr lang="ko-KR" altLang="en-US" sz="2000" dirty="0"/>
              <a:t> 가지고 있는 클래스로서 자체가 사용되기 보다는 서브 클래스에서 상속해주는 용도로 사용되는 클래스로 정의하고자 할 때 추상클래스를 정의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88529-ABE4-40AD-8768-23231B917785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76553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GenericServlet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GenericServlet</a:t>
            </a:r>
            <a:r>
              <a:rPr lang="en-US" altLang="ko-KR" dirty="0"/>
              <a:t> </a:t>
            </a:r>
            <a:r>
              <a:rPr lang="ko-KR" altLang="en-US" dirty="0"/>
              <a:t>을 상속하는 </a:t>
            </a:r>
            <a:r>
              <a:rPr lang="en-US" altLang="ko-KR" dirty="0" err="1"/>
              <a:t>MyGenericServlet</a:t>
            </a:r>
            <a:r>
              <a:rPr lang="en-US" altLang="ko-KR" dirty="0"/>
              <a:t> </a:t>
            </a:r>
            <a:r>
              <a:rPr lang="ko-KR" altLang="en-US" dirty="0"/>
              <a:t>클래스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478" y="1594059"/>
            <a:ext cx="11124330" cy="366988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88529-ABE4-40AD-8768-23231B917785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2639547" y="4169664"/>
            <a:ext cx="798597" cy="2949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모서리가 둥근 직사각형 6"/>
          <p:cNvSpPr/>
          <p:nvPr/>
        </p:nvSpPr>
        <p:spPr>
          <a:xfrm>
            <a:off x="1134427" y="5500951"/>
            <a:ext cx="10224278" cy="1183341"/>
          </a:xfrm>
          <a:prstGeom prst="roundRect">
            <a:avLst>
              <a:gd name="adj" fmla="val 10302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2000" dirty="0"/>
              <a:t>@Override </a:t>
            </a:r>
            <a:r>
              <a:rPr lang="ko-KR" altLang="en-US" sz="2000" dirty="0" err="1"/>
              <a:t>애노테이션</a:t>
            </a:r>
            <a:endParaRPr lang="en-US" altLang="ko-KR" sz="2000" dirty="0"/>
          </a:p>
          <a:p>
            <a:pPr marL="274638" indent="-274638"/>
            <a:r>
              <a:rPr lang="en-US" altLang="ko-KR" sz="2000" dirty="0"/>
              <a:t> - </a:t>
            </a:r>
            <a:r>
              <a:rPr lang="ko-KR" altLang="en-US" sz="2000" dirty="0"/>
              <a:t>상위 클래스의 </a:t>
            </a:r>
            <a:r>
              <a:rPr lang="ko-KR" altLang="en-US" sz="2000" dirty="0" err="1"/>
              <a:t>메소드를</a:t>
            </a:r>
            <a:r>
              <a:rPr lang="ko-KR" altLang="en-US" sz="2000" dirty="0"/>
              <a:t> </a:t>
            </a:r>
            <a:r>
              <a:rPr lang="en-US" altLang="ko-KR" sz="2000" dirty="0"/>
              <a:t>override </a:t>
            </a:r>
            <a:r>
              <a:rPr lang="ko-KR" altLang="en-US" sz="2000" dirty="0"/>
              <a:t>하는 </a:t>
            </a:r>
            <a:r>
              <a:rPr lang="ko-KR" altLang="en-US" sz="2000" dirty="0" err="1"/>
              <a:t>메소드임을</a:t>
            </a:r>
            <a:r>
              <a:rPr lang="ko-KR" altLang="en-US" sz="2000" dirty="0"/>
              <a:t> 지정하여 잘못되지 않도록 방지</a:t>
            </a:r>
          </a:p>
        </p:txBody>
      </p:sp>
    </p:spTree>
    <p:extLst>
      <p:ext uri="{BB962C8B-B14F-4D97-AF65-F5344CB8AC3E}">
        <p14:creationId xmlns:p14="http://schemas.microsoft.com/office/powerpoint/2010/main" val="2936224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HttpServlet</a:t>
            </a:r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ko-KR" altLang="en-US" dirty="0"/>
              <a:t>클래스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altLang="ko-KR" dirty="0" err="1"/>
              <a:t>GenericServlet</a:t>
            </a:r>
            <a:r>
              <a:rPr lang="en-US" altLang="ko-KR" dirty="0"/>
              <a:t> </a:t>
            </a:r>
            <a:r>
              <a:rPr lang="ko-KR" altLang="en-US" dirty="0"/>
              <a:t>클래스 보다는 </a:t>
            </a:r>
            <a:r>
              <a:rPr lang="en-US" altLang="ko-KR" dirty="0" err="1"/>
              <a:t>HttpServlet</a:t>
            </a:r>
            <a:r>
              <a:rPr lang="ko-KR" altLang="en-US" dirty="0"/>
              <a:t>이 </a:t>
            </a:r>
            <a:r>
              <a:rPr lang="en-US" altLang="ko-KR" b="1" dirty="0"/>
              <a:t>HTTP </a:t>
            </a:r>
            <a:r>
              <a:rPr lang="ko-KR" altLang="en-US" b="1" dirty="0"/>
              <a:t>프로토콜 지원이 포함</a:t>
            </a:r>
            <a:r>
              <a:rPr lang="ko-KR" altLang="en-US" dirty="0"/>
              <a:t>되어 일반적 </a:t>
            </a:r>
            <a:r>
              <a:rPr lang="ko-KR" altLang="en-US" b="1" dirty="0"/>
              <a:t>웹 프로그램에 적합</a:t>
            </a:r>
            <a:endParaRPr lang="en-US" altLang="ko-KR" b="1" dirty="0"/>
          </a:p>
          <a:p>
            <a:pPr>
              <a:lnSpc>
                <a:spcPct val="110000"/>
              </a:lnSpc>
            </a:pPr>
            <a:r>
              <a:rPr lang="en-US" altLang="ko-KR" dirty="0" err="1"/>
              <a:t>HttpServlet</a:t>
            </a:r>
            <a:r>
              <a:rPr lang="ko-KR" altLang="en-US" dirty="0"/>
              <a:t>의 서브클래스는 적어도 다음 중 하나의 </a:t>
            </a:r>
            <a:r>
              <a:rPr lang="ko-KR" altLang="en-US" dirty="0" err="1"/>
              <a:t>메소드를</a:t>
            </a:r>
            <a:r>
              <a:rPr lang="ko-KR" altLang="en-US" dirty="0"/>
              <a:t> 작성해야 함</a:t>
            </a:r>
            <a:endParaRPr lang="en-US" altLang="ko-KR" dirty="0"/>
          </a:p>
          <a:p>
            <a:pPr lvl="1">
              <a:lnSpc>
                <a:spcPct val="110000"/>
              </a:lnSpc>
            </a:pPr>
            <a:r>
              <a:rPr lang="en-US" altLang="ko-KR" dirty="0"/>
              <a:t>request</a:t>
            </a:r>
            <a:r>
              <a:rPr lang="ko-KR" altLang="en-US" dirty="0"/>
              <a:t>의 종류에 때라 </a:t>
            </a:r>
            <a:r>
              <a:rPr lang="en-US" altLang="ko-KR" dirty="0" err="1"/>
              <a:t>doXXX</a:t>
            </a:r>
            <a:r>
              <a:rPr lang="en-US" altLang="ko-KR" dirty="0"/>
              <a:t>() </a:t>
            </a:r>
            <a:r>
              <a:rPr lang="ko-KR" altLang="en-US" dirty="0"/>
              <a:t>메서드를 호출</a:t>
            </a:r>
            <a:endParaRPr lang="en-US" altLang="ko-KR" dirty="0"/>
          </a:p>
          <a:p>
            <a:pPr lvl="1">
              <a:lnSpc>
                <a:spcPct val="110000"/>
              </a:lnSpc>
            </a:pPr>
            <a:r>
              <a:rPr lang="en-US" altLang="ko-KR" b="1" dirty="0" err="1">
                <a:solidFill>
                  <a:srgbClr val="0000FF"/>
                </a:solidFill>
              </a:rPr>
              <a:t>doGet</a:t>
            </a:r>
            <a:r>
              <a:rPr lang="en-US" altLang="ko-KR" b="1" dirty="0">
                <a:solidFill>
                  <a:srgbClr val="0000FF"/>
                </a:solidFill>
              </a:rPr>
              <a:t>() : get </a:t>
            </a:r>
            <a:r>
              <a:rPr lang="ko-KR" altLang="en-US" b="1" dirty="0">
                <a:solidFill>
                  <a:srgbClr val="0000FF"/>
                </a:solidFill>
              </a:rPr>
              <a:t>요청 시</a:t>
            </a:r>
            <a:endParaRPr lang="en-US" altLang="ko-KR" b="1" dirty="0">
              <a:solidFill>
                <a:srgbClr val="0000FF"/>
              </a:solidFill>
            </a:endParaRPr>
          </a:p>
          <a:p>
            <a:pPr lvl="1">
              <a:lnSpc>
                <a:spcPct val="110000"/>
              </a:lnSpc>
            </a:pPr>
            <a:r>
              <a:rPr lang="en-US" altLang="ko-KR" b="1" dirty="0" err="1">
                <a:solidFill>
                  <a:srgbClr val="0000FF"/>
                </a:solidFill>
              </a:rPr>
              <a:t>doPost</a:t>
            </a:r>
            <a:r>
              <a:rPr lang="en-US" altLang="ko-KR" b="1" dirty="0">
                <a:solidFill>
                  <a:srgbClr val="0000FF"/>
                </a:solidFill>
              </a:rPr>
              <a:t>() : post </a:t>
            </a:r>
            <a:r>
              <a:rPr lang="ko-KR" altLang="en-US" b="1" dirty="0">
                <a:solidFill>
                  <a:srgbClr val="0000FF"/>
                </a:solidFill>
              </a:rPr>
              <a:t>요청 시</a:t>
            </a:r>
            <a:endParaRPr lang="en-US" altLang="ko-KR" b="1" dirty="0">
              <a:solidFill>
                <a:srgbClr val="0000FF"/>
              </a:solidFill>
            </a:endParaRPr>
          </a:p>
          <a:p>
            <a:pPr lvl="1">
              <a:lnSpc>
                <a:spcPct val="110000"/>
              </a:lnSpc>
            </a:pPr>
            <a:r>
              <a:rPr lang="en-US" altLang="ko-KR" b="1" dirty="0">
                <a:solidFill>
                  <a:srgbClr val="0000FF"/>
                </a:solidFill>
              </a:rPr>
              <a:t>service() : </a:t>
            </a:r>
            <a:r>
              <a:rPr lang="ko-KR" altLang="en-US" b="1" dirty="0">
                <a:solidFill>
                  <a:srgbClr val="0000FF"/>
                </a:solidFill>
              </a:rPr>
              <a:t>클라이언트의 요청 시 </a:t>
            </a:r>
            <a:endParaRPr lang="en-US" altLang="ko-KR" b="1" dirty="0">
              <a:solidFill>
                <a:srgbClr val="0000FF"/>
              </a:solidFill>
            </a:endParaRPr>
          </a:p>
          <a:p>
            <a:pPr lvl="1">
              <a:lnSpc>
                <a:spcPct val="110000"/>
              </a:lnSpc>
            </a:pPr>
            <a:r>
              <a:rPr lang="en-US" altLang="ko-KR" dirty="0" err="1"/>
              <a:t>doPut</a:t>
            </a:r>
            <a:r>
              <a:rPr lang="en-US" altLang="ko-KR" dirty="0"/>
              <a:t>()</a:t>
            </a:r>
          </a:p>
          <a:p>
            <a:pPr lvl="1">
              <a:lnSpc>
                <a:spcPct val="110000"/>
              </a:lnSpc>
            </a:pPr>
            <a:r>
              <a:rPr lang="en-US" altLang="ko-KR" dirty="0" err="1"/>
              <a:t>doDelete</a:t>
            </a:r>
            <a:r>
              <a:rPr lang="en-US" altLang="ko-KR" dirty="0"/>
              <a:t>()</a:t>
            </a:r>
          </a:p>
          <a:p>
            <a:pPr lvl="1">
              <a:lnSpc>
                <a:spcPct val="110000"/>
              </a:lnSpc>
            </a:pPr>
            <a:r>
              <a:rPr lang="en-US" altLang="ko-KR" dirty="0" err="1"/>
              <a:t>doHead</a:t>
            </a:r>
            <a:r>
              <a:rPr lang="en-US" altLang="ko-KR" dirty="0"/>
              <a:t>()  </a:t>
            </a:r>
          </a:p>
          <a:p>
            <a:pPr lvl="1">
              <a:lnSpc>
                <a:spcPct val="110000"/>
              </a:lnSpc>
            </a:pPr>
            <a:r>
              <a:rPr lang="en-US" altLang="ko-KR" dirty="0" err="1"/>
              <a:t>doPut</a:t>
            </a:r>
            <a:r>
              <a:rPr lang="en-US" altLang="ko-KR" dirty="0"/>
              <a:t>() </a:t>
            </a:r>
          </a:p>
          <a:p>
            <a:pPr lvl="1">
              <a:lnSpc>
                <a:spcPct val="110000"/>
              </a:lnSpc>
            </a:pPr>
            <a:r>
              <a:rPr lang="en-US" altLang="ko-KR" dirty="0" err="1"/>
              <a:t>doOptions</a:t>
            </a:r>
            <a:r>
              <a:rPr lang="en-US" altLang="ko-KR" dirty="0"/>
              <a:t>()</a:t>
            </a:r>
          </a:p>
          <a:p>
            <a:pPr lvl="1">
              <a:lnSpc>
                <a:spcPct val="110000"/>
              </a:lnSpc>
            </a:pPr>
            <a:r>
              <a:rPr lang="en-US" altLang="ko-KR" dirty="0" err="1"/>
              <a:t>doTrace</a:t>
            </a:r>
            <a:r>
              <a:rPr lang="en-US" altLang="ko-KR" dirty="0"/>
              <a:t>() </a:t>
            </a:r>
          </a:p>
          <a:p>
            <a:pPr lvl="1">
              <a:lnSpc>
                <a:spcPct val="110000"/>
              </a:lnSpc>
            </a:pPr>
            <a:r>
              <a:rPr lang="en-US" altLang="ko-KR" dirty="0" err="1"/>
              <a:t>getLastModified</a:t>
            </a:r>
            <a:r>
              <a:rPr lang="en-US" altLang="ko-KR" dirty="0"/>
              <a:t>() </a:t>
            </a:r>
          </a:p>
          <a:p>
            <a:pPr lvl="1">
              <a:lnSpc>
                <a:spcPct val="110000"/>
              </a:lnSpc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88529-ABE4-40AD-8768-23231B917785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37641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Servlet</a:t>
            </a:r>
            <a:r>
              <a:rPr lang="ko-KR" altLang="en-US" dirty="0"/>
              <a:t> 작성 시 규칙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ko-KR" altLang="en-US" dirty="0" err="1"/>
              <a:t>서블릿</a:t>
            </a:r>
            <a:r>
              <a:rPr lang="ko-KR" altLang="en-US" dirty="0"/>
              <a:t> 클래스는 </a:t>
            </a:r>
            <a:r>
              <a:rPr lang="en-US" altLang="ko-KR" dirty="0" err="1"/>
              <a:t>javax.servlet.http.</a:t>
            </a:r>
            <a:r>
              <a:rPr lang="en-US" altLang="ko-KR" b="1" dirty="0" err="1">
                <a:solidFill>
                  <a:srgbClr val="0000FF"/>
                </a:solidFill>
              </a:rPr>
              <a:t>HttpServlet</a:t>
            </a:r>
            <a:r>
              <a:rPr lang="en-US" altLang="ko-KR" dirty="0"/>
              <a:t> </a:t>
            </a:r>
            <a:r>
              <a:rPr lang="ko-KR" altLang="en-US" dirty="0"/>
              <a:t>클래스를 상속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b="1" dirty="0" err="1"/>
              <a:t>doGet</a:t>
            </a:r>
            <a:r>
              <a:rPr lang="en-US" altLang="ko-KR" dirty="0"/>
              <a:t> </a:t>
            </a:r>
            <a:r>
              <a:rPr lang="ko-KR" altLang="en-US" dirty="0"/>
              <a:t>또는 </a:t>
            </a:r>
            <a:r>
              <a:rPr lang="en-US" altLang="ko-KR" b="1" dirty="0" err="1"/>
              <a:t>doPost</a:t>
            </a:r>
            <a:r>
              <a:rPr lang="en-US" altLang="ko-KR" dirty="0"/>
              <a:t> </a:t>
            </a:r>
            <a:r>
              <a:rPr lang="ko-KR" altLang="en-US" dirty="0"/>
              <a:t>메서드 내에 요청 처리 내용을 기술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HTML </a:t>
            </a:r>
            <a:r>
              <a:rPr lang="ko-KR" altLang="en-US" dirty="0"/>
              <a:t>문서는 </a:t>
            </a:r>
            <a:r>
              <a:rPr lang="en-US" altLang="ko-KR" dirty="0" err="1"/>
              <a:t>doGet</a:t>
            </a:r>
            <a:r>
              <a:rPr lang="en-US" altLang="ko-KR" dirty="0"/>
              <a:t>, </a:t>
            </a:r>
            <a:r>
              <a:rPr lang="en-US" altLang="ko-KR" dirty="0" err="1"/>
              <a:t>doPost</a:t>
            </a:r>
            <a:r>
              <a:rPr lang="en-US" altLang="ko-KR" dirty="0"/>
              <a:t> </a:t>
            </a:r>
            <a:r>
              <a:rPr lang="ko-KR" altLang="en-US" dirty="0" err="1"/>
              <a:t>메소드의</a:t>
            </a:r>
            <a:r>
              <a:rPr lang="ko-KR" altLang="en-US" dirty="0"/>
              <a:t> </a:t>
            </a:r>
            <a:r>
              <a:rPr lang="en-US" altLang="ko-KR" b="1" dirty="0"/>
              <a:t>response</a:t>
            </a:r>
            <a:r>
              <a:rPr lang="en-US" altLang="ko-KR" dirty="0"/>
              <a:t> </a:t>
            </a:r>
            <a:r>
              <a:rPr lang="ko-KR" altLang="en-US" dirty="0" err="1"/>
              <a:t>파라미터를</a:t>
            </a:r>
            <a:r>
              <a:rPr lang="ko-KR" altLang="en-US" dirty="0"/>
              <a:t> 이용하여 출력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88529-ABE4-40AD-8768-23231B917785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63837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Servlet</a:t>
            </a:r>
            <a:r>
              <a:rPr lang="ko-KR" altLang="en-US" dirty="0"/>
              <a:t> 동작구조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javax.servlet.http.HttpServlet</a:t>
            </a:r>
            <a:r>
              <a:rPr lang="en-US" altLang="ko-KR" dirty="0"/>
              <a:t> </a:t>
            </a:r>
            <a:r>
              <a:rPr lang="ko-KR" altLang="en-US" dirty="0"/>
              <a:t>을 상속 받은 </a:t>
            </a:r>
            <a:r>
              <a:rPr lang="en-US" altLang="ko-KR" dirty="0" err="1"/>
              <a:t>MyServlet</a:t>
            </a:r>
            <a:r>
              <a:rPr lang="ko-KR" altLang="en-US" dirty="0"/>
              <a:t>의 동작 구조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661"/>
          <a:stretch/>
        </p:blipFill>
        <p:spPr bwMode="auto">
          <a:xfrm>
            <a:off x="909254" y="1650381"/>
            <a:ext cx="10325101" cy="4234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88529-ABE4-40AD-8768-23231B917785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6783355" y="6092898"/>
            <a:ext cx="5028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>
                <a:solidFill>
                  <a:srgbClr val="0000FF"/>
                </a:solidFill>
                <a:latin typeface="+mn-ea"/>
              </a:rPr>
              <a:t>파라미터는</a:t>
            </a:r>
            <a:r>
              <a:rPr lang="ko-KR" altLang="en-US" b="1" dirty="0">
                <a:solidFill>
                  <a:srgbClr val="0000FF"/>
                </a:solidFill>
                <a:latin typeface="+mn-ea"/>
              </a:rPr>
              <a:t> 항상 </a:t>
            </a:r>
            <a:r>
              <a:rPr lang="en-US" altLang="ko-KR" b="1" dirty="0">
                <a:solidFill>
                  <a:srgbClr val="0000FF"/>
                </a:solidFill>
                <a:latin typeface="+mn-ea"/>
              </a:rPr>
              <a:t>request</a:t>
            </a:r>
            <a:r>
              <a:rPr lang="ko-KR" altLang="en-US" b="1" dirty="0">
                <a:solidFill>
                  <a:srgbClr val="0000FF"/>
                </a:solidFill>
                <a:latin typeface="+mn-ea"/>
              </a:rPr>
              <a:t>와 </a:t>
            </a:r>
            <a:r>
              <a:rPr lang="en-US" altLang="ko-KR" b="1" dirty="0">
                <a:solidFill>
                  <a:srgbClr val="0000FF"/>
                </a:solidFill>
                <a:latin typeface="+mn-ea"/>
              </a:rPr>
              <a:t>response</a:t>
            </a:r>
            <a:endParaRPr lang="ko-KR" altLang="en-US" b="1" dirty="0">
              <a:solidFill>
                <a:srgbClr val="0000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854728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클라이언트 요청 방식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GET </a:t>
            </a:r>
            <a:r>
              <a:rPr lang="ko-KR" altLang="en-US" b="1" dirty="0"/>
              <a:t>방식</a:t>
            </a:r>
            <a:endParaRPr lang="en-US" altLang="ko-KR" b="1" dirty="0"/>
          </a:p>
          <a:p>
            <a:pPr lvl="1"/>
            <a:r>
              <a:rPr lang="ko-KR" altLang="en-US" dirty="0" err="1"/>
              <a:t>서버정보를</a:t>
            </a:r>
            <a:r>
              <a:rPr lang="ko-KR" altLang="en-US" dirty="0"/>
              <a:t> 클라이언트로 가져오기 위한 방법</a:t>
            </a:r>
            <a:endParaRPr lang="en-US" altLang="ko-KR" dirty="0"/>
          </a:p>
          <a:p>
            <a:pPr lvl="1"/>
            <a:r>
              <a:rPr lang="en-US" altLang="ko-KR" dirty="0"/>
              <a:t>HTML, </a:t>
            </a:r>
            <a:r>
              <a:rPr lang="ko-KR" altLang="en-US" dirty="0"/>
              <a:t>이미지</a:t>
            </a:r>
            <a:r>
              <a:rPr lang="en-US" altLang="ko-KR" dirty="0"/>
              <a:t> </a:t>
            </a:r>
            <a:r>
              <a:rPr lang="ko-KR" altLang="en-US" dirty="0"/>
              <a:t>등을 웹브라우저에서보기 위해 요청하는 방식</a:t>
            </a:r>
            <a:endParaRPr lang="en-US" altLang="ko-KR" dirty="0"/>
          </a:p>
          <a:p>
            <a:pPr lvl="1"/>
            <a:r>
              <a:rPr lang="ko-KR" altLang="en-US" dirty="0"/>
              <a:t>서버에</a:t>
            </a:r>
            <a:r>
              <a:rPr lang="en-US" altLang="ko-KR" dirty="0"/>
              <a:t> </a:t>
            </a:r>
            <a:r>
              <a:rPr lang="ko-KR" altLang="en-US" dirty="0"/>
              <a:t>최대 </a:t>
            </a:r>
            <a:r>
              <a:rPr lang="en-US" altLang="ko-KR" dirty="0"/>
              <a:t>240Byte </a:t>
            </a:r>
            <a:r>
              <a:rPr lang="ko-KR" altLang="en-US" dirty="0"/>
              <a:t>전달</a:t>
            </a:r>
            <a:endParaRPr lang="en-US" altLang="ko-KR" dirty="0"/>
          </a:p>
          <a:p>
            <a:pPr lvl="1"/>
            <a:r>
              <a:rPr lang="en-US" altLang="ko-KR" dirty="0"/>
              <a:t>QUERY_STRING </a:t>
            </a:r>
            <a:r>
              <a:rPr lang="ko-KR" altLang="en-US" dirty="0"/>
              <a:t>환경변수를 통해 서버로 전달</a:t>
            </a:r>
            <a:endParaRPr lang="en-US" altLang="ko-KR" dirty="0"/>
          </a:p>
          <a:p>
            <a:pPr lvl="2"/>
            <a:r>
              <a:rPr lang="en-US" altLang="ko-KR" dirty="0"/>
              <a:t>QUERY_STRING : </a:t>
            </a:r>
            <a:r>
              <a:rPr lang="ko-KR" altLang="en-US" dirty="0"/>
              <a:t>파일명</a:t>
            </a:r>
            <a:r>
              <a:rPr lang="en-US" altLang="ko-KR" dirty="0"/>
              <a:t>?</a:t>
            </a:r>
            <a:r>
              <a:rPr lang="ko-KR" altLang="en-US" dirty="0"/>
              <a:t>속성</a:t>
            </a:r>
            <a:r>
              <a:rPr lang="en-US" altLang="ko-KR" dirty="0"/>
              <a:t>1=</a:t>
            </a:r>
            <a:r>
              <a:rPr lang="ko-KR" altLang="en-US" dirty="0"/>
              <a:t>속성값</a:t>
            </a:r>
            <a:r>
              <a:rPr lang="en-US" altLang="ko-KR" dirty="0"/>
              <a:t>1&amp;</a:t>
            </a:r>
            <a:r>
              <a:rPr lang="ko-KR" altLang="en-US" dirty="0"/>
              <a:t>속성</a:t>
            </a:r>
            <a:r>
              <a:rPr lang="en-US" altLang="ko-KR" dirty="0"/>
              <a:t>2=</a:t>
            </a:r>
            <a:r>
              <a:rPr lang="ko-KR" altLang="en-US" dirty="0"/>
              <a:t>속성값</a:t>
            </a:r>
            <a:r>
              <a:rPr lang="en-US" altLang="ko-KR" dirty="0"/>
              <a:t>2…</a:t>
            </a:r>
          </a:p>
          <a:p>
            <a:pPr lvl="1"/>
            <a:r>
              <a:rPr lang="en-US" altLang="ko-KR" dirty="0"/>
              <a:t>URL </a:t>
            </a:r>
            <a:r>
              <a:rPr lang="ko-KR" altLang="en-US" dirty="0"/>
              <a:t>노출로 보안 문제가 생길 수 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POST </a:t>
            </a:r>
            <a:r>
              <a:rPr lang="ko-KR" altLang="en-US" b="1" dirty="0"/>
              <a:t>방식</a:t>
            </a:r>
            <a:endParaRPr lang="en-US" altLang="ko-KR" b="1" dirty="0"/>
          </a:p>
          <a:p>
            <a:pPr lvl="1"/>
            <a:r>
              <a:rPr lang="ko-KR" altLang="en-US" dirty="0"/>
              <a:t>서버로 정보를 보내기 위해 설계된 방법</a:t>
            </a:r>
            <a:endParaRPr lang="en-US" altLang="ko-KR" dirty="0"/>
          </a:p>
          <a:p>
            <a:pPr lvl="1"/>
            <a:r>
              <a:rPr lang="en-US" altLang="ko-KR" dirty="0"/>
              <a:t>HTML </a:t>
            </a:r>
            <a:r>
              <a:rPr lang="ko-KR" altLang="en-US" dirty="0"/>
              <a:t>폼에 입력한 내용을 서버로 전달</a:t>
            </a:r>
            <a:endParaRPr lang="en-US" altLang="ko-KR" dirty="0"/>
          </a:p>
          <a:p>
            <a:pPr lvl="1"/>
            <a:r>
              <a:rPr lang="ko-KR" altLang="en-US" dirty="0"/>
              <a:t>서버 전달 데이터크기에 제한 없음</a:t>
            </a:r>
            <a:endParaRPr lang="en-US" altLang="ko-KR" dirty="0"/>
          </a:p>
          <a:p>
            <a:pPr lvl="1"/>
            <a:r>
              <a:rPr lang="en-US" altLang="ko-KR" dirty="0"/>
              <a:t>URL</a:t>
            </a:r>
            <a:r>
              <a:rPr lang="ko-KR" altLang="en-US" dirty="0"/>
              <a:t>에</a:t>
            </a:r>
            <a:r>
              <a:rPr lang="en-US" altLang="ko-KR" dirty="0"/>
              <a:t> </a:t>
            </a:r>
            <a:r>
              <a:rPr lang="ko-KR" altLang="en-US" dirty="0"/>
              <a:t>매개변수가 표시되지 않음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88529-ABE4-40AD-8768-23231B917785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46710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테스트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HttpServlet</a:t>
            </a:r>
            <a:r>
              <a:rPr lang="en-US" altLang="ko-KR" dirty="0"/>
              <a:t> </a:t>
            </a:r>
            <a:r>
              <a:rPr lang="ko-KR" altLang="en-US" dirty="0"/>
              <a:t>클래스를 상속한 </a:t>
            </a:r>
            <a:r>
              <a:rPr lang="en-US" altLang="ko-KR" dirty="0" err="1"/>
              <a:t>MyHttpServlet</a:t>
            </a:r>
            <a:r>
              <a:rPr lang="en-US" altLang="ko-KR" dirty="0"/>
              <a:t> </a:t>
            </a:r>
            <a:r>
              <a:rPr lang="ko-KR" altLang="en-US" dirty="0"/>
              <a:t>클래스를 </a:t>
            </a:r>
            <a:r>
              <a:rPr lang="en-US" altLang="ko-KR" dirty="0"/>
              <a:t>eclipse</a:t>
            </a:r>
            <a:r>
              <a:rPr lang="ko-KR" altLang="en-US" dirty="0"/>
              <a:t>에서  작성하기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88529-ABE4-40AD-8768-23231B917785}" type="slidenum">
              <a:rPr lang="ko-KR" altLang="en-US" smtClean="0"/>
              <a:t>26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777" y="2021096"/>
            <a:ext cx="9559303" cy="4590248"/>
          </a:xfrm>
          <a:prstGeom prst="rect">
            <a:avLst/>
          </a:prstGeom>
          <a:ln w="28575">
            <a:solidFill>
              <a:schemeClr val="bg2">
                <a:lumMod val="50000"/>
              </a:schemeClr>
            </a:solidFill>
          </a:ln>
        </p:spPr>
      </p:pic>
      <p:sp>
        <p:nvSpPr>
          <p:cNvPr id="6" name="직사각형 5"/>
          <p:cNvSpPr/>
          <p:nvPr/>
        </p:nvSpPr>
        <p:spPr>
          <a:xfrm>
            <a:off x="2176968" y="5933918"/>
            <a:ext cx="1910938" cy="2517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260028" y="6122943"/>
            <a:ext cx="3918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solidFill>
                  <a:srgbClr val="FF0000"/>
                </a:solidFill>
                <a:latin typeface="+mj-lt"/>
              </a:rPr>
              <a:t>doPost</a:t>
            </a:r>
            <a:r>
              <a:rPr lang="en-US" altLang="ko-KR" dirty="0">
                <a:solidFill>
                  <a:srgbClr val="FF0000"/>
                </a:solidFill>
                <a:latin typeface="+mj-lt"/>
              </a:rPr>
              <a:t>()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로 요청이 와도 </a:t>
            </a:r>
            <a:r>
              <a:rPr lang="en-US" altLang="ko-KR" dirty="0" err="1">
                <a:solidFill>
                  <a:srgbClr val="FF0000"/>
                </a:solidFill>
                <a:latin typeface="+mj-lt"/>
              </a:rPr>
              <a:t>doGet</a:t>
            </a:r>
            <a:r>
              <a:rPr lang="en-US" altLang="ko-KR" dirty="0">
                <a:solidFill>
                  <a:srgbClr val="FF0000"/>
                </a:solidFill>
                <a:latin typeface="+mj-lt"/>
              </a:rPr>
              <a:t>()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호출</a:t>
            </a:r>
            <a:endParaRPr lang="en-US" altLang="ko-KR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7363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88529-ABE4-40AD-8768-23231B917785}" type="slidenum">
              <a:rPr lang="ko-KR" altLang="en-US" smtClean="0"/>
              <a:t>27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608" y="543080"/>
            <a:ext cx="10879641" cy="5864392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181807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Servlet</a:t>
            </a:r>
            <a:r>
              <a:rPr lang="ko-KR" altLang="en-US" dirty="0"/>
              <a:t> 생명 주기</a:t>
            </a:r>
            <a:r>
              <a:rPr lang="en-US" altLang="ko-KR" dirty="0"/>
              <a:t>(Life Cycle)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43017" y="1505704"/>
            <a:ext cx="6344395" cy="5178588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200000"/>
              </a:lnSpc>
            </a:pPr>
            <a:r>
              <a:rPr lang="en-US" altLang="ko-KR" b="1" dirty="0"/>
              <a:t>Servlet</a:t>
            </a:r>
            <a:r>
              <a:rPr lang="ko-KR" altLang="en-US" b="1" dirty="0"/>
              <a:t> 초기화 </a:t>
            </a:r>
            <a:r>
              <a:rPr lang="en-US" altLang="ko-KR" dirty="0"/>
              <a:t>: </a:t>
            </a:r>
            <a:r>
              <a:rPr lang="en-US" altLang="ko-KR" b="1" dirty="0" err="1">
                <a:solidFill>
                  <a:srgbClr val="0000FF"/>
                </a:solidFill>
              </a:rPr>
              <a:t>init</a:t>
            </a:r>
            <a:r>
              <a:rPr lang="en-US" altLang="ko-KR" b="1" dirty="0">
                <a:solidFill>
                  <a:srgbClr val="0000FF"/>
                </a:solidFill>
              </a:rPr>
              <a:t>()</a:t>
            </a:r>
            <a:r>
              <a:rPr lang="en-US" altLang="ko-KR" dirty="0"/>
              <a:t> </a:t>
            </a:r>
            <a:r>
              <a:rPr lang="ko-KR" altLang="en-US" dirty="0"/>
              <a:t>메서드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Servlet</a:t>
            </a:r>
            <a:r>
              <a:rPr lang="ko-KR" altLang="en-US" dirty="0"/>
              <a:t> 실행 시 호출되는 메서드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초기에 한 번만 실행</a:t>
            </a:r>
            <a:r>
              <a:rPr lang="en-US" altLang="ko-KR" dirty="0"/>
              <a:t>(Java</a:t>
            </a:r>
            <a:r>
              <a:rPr lang="ko-KR" altLang="en-US" dirty="0"/>
              <a:t>의 </a:t>
            </a:r>
            <a:r>
              <a:rPr lang="en-US" altLang="ko-KR" dirty="0"/>
              <a:t>main()</a:t>
            </a:r>
            <a:r>
              <a:rPr lang="ko-KR" altLang="en-US" dirty="0"/>
              <a:t>와 같음</a:t>
            </a:r>
            <a:r>
              <a:rPr lang="en-US" altLang="ko-KR" dirty="0"/>
              <a:t>)</a:t>
            </a:r>
          </a:p>
          <a:p>
            <a:r>
              <a:rPr lang="ko-KR" altLang="en-US" b="1" dirty="0"/>
              <a:t>요청</a:t>
            </a:r>
            <a:r>
              <a:rPr lang="en-US" altLang="ko-KR" b="1" dirty="0"/>
              <a:t>/</a:t>
            </a:r>
            <a:r>
              <a:rPr lang="ko-KR" altLang="en-US" b="1" dirty="0"/>
              <a:t>응답 </a:t>
            </a:r>
            <a:r>
              <a:rPr lang="en-US" altLang="ko-KR" dirty="0"/>
              <a:t>: </a:t>
            </a:r>
            <a:r>
              <a:rPr lang="en-US" altLang="ko-KR" b="1" dirty="0">
                <a:solidFill>
                  <a:srgbClr val="0000FF"/>
                </a:solidFill>
              </a:rPr>
              <a:t>service()/</a:t>
            </a:r>
            <a:r>
              <a:rPr lang="en-US" altLang="ko-KR" b="1" dirty="0" err="1">
                <a:solidFill>
                  <a:srgbClr val="0000FF"/>
                </a:solidFill>
              </a:rPr>
              <a:t>doGet</a:t>
            </a:r>
            <a:r>
              <a:rPr lang="en-US" altLang="ko-KR" b="1" dirty="0">
                <a:solidFill>
                  <a:srgbClr val="0000FF"/>
                </a:solidFill>
              </a:rPr>
              <a:t>()/</a:t>
            </a:r>
            <a:r>
              <a:rPr lang="en-US" altLang="ko-KR" b="1" dirty="0" err="1">
                <a:solidFill>
                  <a:srgbClr val="0000FF"/>
                </a:solidFill>
              </a:rPr>
              <a:t>doPost</a:t>
            </a:r>
            <a:r>
              <a:rPr lang="en-US" altLang="ko-KR" b="1" dirty="0">
                <a:solidFill>
                  <a:srgbClr val="0000FF"/>
                </a:solidFill>
              </a:rPr>
              <a:t>() </a:t>
            </a:r>
            <a:r>
              <a:rPr lang="ko-KR" altLang="en-US" dirty="0"/>
              <a:t>메서드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사용자 요청에 따라 스레드로 실행되는 메서드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service() </a:t>
            </a:r>
            <a:r>
              <a:rPr lang="ko-KR" altLang="en-US" dirty="0"/>
              <a:t>를 통해 </a:t>
            </a:r>
            <a:r>
              <a:rPr lang="en-US" altLang="ko-KR" dirty="0" err="1"/>
              <a:t>doGet</a:t>
            </a:r>
            <a:r>
              <a:rPr lang="en-US" altLang="ko-KR" dirty="0"/>
              <a:t>() </a:t>
            </a:r>
            <a:r>
              <a:rPr lang="ko-KR" altLang="en-US" dirty="0"/>
              <a:t>혹은 </a:t>
            </a:r>
            <a:r>
              <a:rPr lang="en-US" altLang="ko-KR" dirty="0" err="1"/>
              <a:t>doPost</a:t>
            </a:r>
            <a:r>
              <a:rPr lang="en-US" altLang="ko-KR" dirty="0"/>
              <a:t>() </a:t>
            </a:r>
            <a:r>
              <a:rPr lang="ko-KR" altLang="en-US" dirty="0" err="1"/>
              <a:t>메서드호출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매개변수 </a:t>
            </a:r>
            <a:r>
              <a:rPr lang="en-US" altLang="ko-KR" dirty="0" err="1"/>
              <a:t>HttpServletRequest</a:t>
            </a:r>
            <a:r>
              <a:rPr lang="en-US" altLang="ko-KR" dirty="0"/>
              <a:t> </a:t>
            </a:r>
            <a:r>
              <a:rPr lang="ko-KR" altLang="en-US" dirty="0"/>
              <a:t>와 </a:t>
            </a:r>
            <a:r>
              <a:rPr lang="en-US" altLang="ko-KR" dirty="0" err="1"/>
              <a:t>HttpServletResponse</a:t>
            </a:r>
            <a:r>
              <a:rPr lang="en-US" altLang="ko-KR" dirty="0"/>
              <a:t> </a:t>
            </a:r>
            <a:r>
              <a:rPr lang="ko-KR" altLang="en-US" dirty="0"/>
              <a:t>를 통해 사용자 요청을 처리</a:t>
            </a:r>
            <a:endParaRPr lang="en-US" altLang="ko-KR" dirty="0"/>
          </a:p>
          <a:p>
            <a:r>
              <a:rPr lang="en-US" altLang="ko-KR" b="1" dirty="0"/>
              <a:t>Servlet</a:t>
            </a:r>
            <a:r>
              <a:rPr lang="ko-KR" altLang="en-US" b="1" dirty="0"/>
              <a:t> 종료 </a:t>
            </a:r>
            <a:r>
              <a:rPr lang="en-US" altLang="ko-KR" dirty="0"/>
              <a:t>: </a:t>
            </a:r>
            <a:r>
              <a:rPr lang="en-US" altLang="ko-KR" b="1" dirty="0">
                <a:solidFill>
                  <a:srgbClr val="0000FF"/>
                </a:solidFill>
              </a:rPr>
              <a:t>destroy() </a:t>
            </a:r>
            <a:r>
              <a:rPr lang="ko-KR" altLang="en-US" dirty="0"/>
              <a:t>메서드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컨테이너로부터 </a:t>
            </a:r>
            <a:r>
              <a:rPr lang="en-US" altLang="ko-KR" dirty="0"/>
              <a:t>Servlet</a:t>
            </a:r>
            <a:r>
              <a:rPr lang="ko-KR" altLang="en-US" dirty="0"/>
              <a:t> 종료 요청이 있을 때 호출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 err="1"/>
              <a:t>init</a:t>
            </a:r>
            <a:r>
              <a:rPr lang="en-US" altLang="ko-KR" dirty="0"/>
              <a:t>()</a:t>
            </a:r>
            <a:r>
              <a:rPr lang="ko-KR" altLang="en-US" dirty="0"/>
              <a:t>와 마찬가지로 한 번만 실행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Servlet</a:t>
            </a:r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ko-KR" altLang="en-US" dirty="0"/>
              <a:t>종료 시 정리 작업을 </a:t>
            </a:r>
            <a:r>
              <a:rPr lang="en-US" altLang="ko-KR" dirty="0"/>
              <a:t>destroy() </a:t>
            </a:r>
            <a:r>
              <a:rPr lang="ko-KR" altLang="en-US" dirty="0"/>
              <a:t>를 재정의해 구현</a:t>
            </a:r>
            <a:endParaRPr lang="en-US" altLang="ko-K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26"/>
          <a:stretch/>
        </p:blipFill>
        <p:spPr bwMode="auto">
          <a:xfrm>
            <a:off x="6417266" y="1767278"/>
            <a:ext cx="5531717" cy="3160468"/>
          </a:xfrm>
          <a:prstGeom prst="rect">
            <a:avLst/>
          </a:prstGeom>
          <a:noFill/>
          <a:ln w="1905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88529-ABE4-40AD-8768-23231B917785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19878" y="878200"/>
            <a:ext cx="11994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Servlet</a:t>
            </a:r>
            <a:r>
              <a:rPr lang="ko-KR" altLang="en-US" sz="2400" dirty="0">
                <a:latin typeface="+mj-lt"/>
              </a:rPr>
              <a:t> 생명주기 메서드 </a:t>
            </a:r>
            <a:r>
              <a:rPr lang="en-US" altLang="ko-KR" sz="2400" dirty="0">
                <a:latin typeface="+mj-lt"/>
              </a:rPr>
              <a:t>: </a:t>
            </a:r>
            <a:r>
              <a:rPr lang="en-US" altLang="ko-K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Servlet</a:t>
            </a:r>
            <a:r>
              <a:rPr lang="ko-KR" altLang="en-US" sz="2400" dirty="0">
                <a:latin typeface="+mj-lt"/>
              </a:rPr>
              <a:t> 실행 단계마다 호출되어 기능을 수행하는 메서드</a:t>
            </a:r>
            <a:endParaRPr lang="en-US" altLang="ko-KR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724541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브라우저 출력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클라이언트에서 출력될 수 있도록 </a:t>
            </a:r>
            <a:r>
              <a:rPr lang="en-US" altLang="ko-KR" b="1" dirty="0"/>
              <a:t>response</a:t>
            </a:r>
            <a:r>
              <a:rPr lang="ko-KR" altLang="en-US" dirty="0"/>
              <a:t>객체에 정보 저장</a:t>
            </a:r>
            <a:endParaRPr lang="en-US" altLang="ko-KR" dirty="0"/>
          </a:p>
          <a:p>
            <a:pPr>
              <a:lnSpc>
                <a:spcPct val="100000"/>
              </a:lnSpc>
            </a:pPr>
            <a:r>
              <a:rPr lang="ko-KR" altLang="en-US" dirty="0"/>
              <a:t>출력 스트림 객체 반환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 err="1"/>
              <a:t>PrintWriter</a:t>
            </a:r>
            <a:r>
              <a:rPr lang="en-US" altLang="ko-KR" dirty="0"/>
              <a:t> </a:t>
            </a:r>
            <a:r>
              <a:rPr lang="en-US" altLang="ko-KR" b="1" dirty="0">
                <a:solidFill>
                  <a:srgbClr val="0000FF"/>
                </a:solidFill>
              </a:rPr>
              <a:t>out</a:t>
            </a:r>
            <a:r>
              <a:rPr lang="en-US" altLang="ko-KR" dirty="0"/>
              <a:t> = </a:t>
            </a:r>
            <a:r>
              <a:rPr lang="en-US" altLang="ko-KR" b="1" dirty="0" err="1"/>
              <a:t>response</a:t>
            </a:r>
            <a:r>
              <a:rPr lang="en-US" altLang="ko-KR" dirty="0" err="1"/>
              <a:t>.getWriter</a:t>
            </a:r>
            <a:r>
              <a:rPr lang="en-US" altLang="ko-KR" dirty="0"/>
              <a:t>():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88529-ABE4-40AD-8768-23231B917785}" type="slidenum">
              <a:rPr lang="ko-KR" altLang="en-US" smtClean="0"/>
              <a:t>29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175" y="3016286"/>
            <a:ext cx="6849272" cy="3018753"/>
          </a:xfrm>
          <a:prstGeom prst="rect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689461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Servlet</a:t>
            </a:r>
            <a:r>
              <a:rPr lang="ko-KR" altLang="en-US" dirty="0"/>
              <a:t> 배포</a:t>
            </a:r>
            <a:r>
              <a:rPr lang="en-US" altLang="ko-KR" dirty="0"/>
              <a:t>(Deployment)</a:t>
            </a:r>
            <a:r>
              <a:rPr lang="ko-KR" altLang="en-US" dirty="0"/>
              <a:t> 방법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Servlet</a:t>
            </a:r>
            <a:r>
              <a:rPr lang="ko-KR" altLang="en-US" dirty="0"/>
              <a:t> 매핑 정보 설정 이유</a:t>
            </a:r>
            <a:endParaRPr lang="en-US" altLang="ko-KR" dirty="0"/>
          </a:p>
          <a:p>
            <a:pPr lvl="1"/>
            <a:r>
              <a:rPr lang="ko-KR" altLang="en-US" b="1" dirty="0" err="1"/>
              <a:t>서블릿</a:t>
            </a:r>
            <a:r>
              <a:rPr lang="ko-KR" altLang="en-US" b="1" dirty="0"/>
              <a:t> 저장 위치 </a:t>
            </a:r>
            <a:r>
              <a:rPr lang="en-US" altLang="ko-KR" dirty="0"/>
              <a:t>(</a:t>
            </a:r>
            <a:r>
              <a:rPr lang="ko-KR" altLang="en-US" dirty="0" err="1"/>
              <a:t>톰캣</a:t>
            </a:r>
            <a:r>
              <a:rPr lang="ko-KR" altLang="en-US" dirty="0"/>
              <a:t> 환경 기준</a:t>
            </a:r>
            <a:r>
              <a:rPr lang="en-US" altLang="ko-KR" dirty="0"/>
              <a:t>) : /WEB-INF/classes/</a:t>
            </a:r>
          </a:p>
          <a:p>
            <a:pPr lvl="1"/>
            <a:r>
              <a:rPr lang="en-US" altLang="ko-KR" dirty="0"/>
              <a:t>WEB-INF </a:t>
            </a:r>
            <a:r>
              <a:rPr lang="ko-KR" altLang="en-US" dirty="0"/>
              <a:t>파일은 외부에서 접근 불가능</a:t>
            </a:r>
            <a:endParaRPr lang="en-US" altLang="ko-KR" dirty="0"/>
          </a:p>
          <a:p>
            <a:pPr lvl="1"/>
            <a:r>
              <a:rPr lang="ko-KR" altLang="en-US" dirty="0"/>
              <a:t>클라이언트에서 </a:t>
            </a:r>
            <a:r>
              <a:rPr lang="en-US" altLang="ko-KR" dirty="0"/>
              <a:t>WEB-INF </a:t>
            </a:r>
            <a:r>
              <a:rPr lang="ko-KR" altLang="en-US" dirty="0"/>
              <a:t>내에 존재하는 파일을 호출하기 위해서는 매핑 정보를 이용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Servlet</a:t>
            </a:r>
            <a:r>
              <a:rPr lang="ko-KR" altLang="en-US" dirty="0"/>
              <a:t> 매핑 방법</a:t>
            </a:r>
            <a:endParaRPr lang="en-US" altLang="ko-KR" dirty="0"/>
          </a:p>
          <a:p>
            <a:pPr marL="971550" lvl="1" indent="-514350">
              <a:buFont typeface="+mj-lt"/>
              <a:buAutoNum type="arabicPeriod"/>
            </a:pPr>
            <a:r>
              <a:rPr lang="en-US" altLang="ko-KR" b="1" dirty="0"/>
              <a:t>web.xml </a:t>
            </a:r>
            <a:r>
              <a:rPr lang="ko-KR" altLang="en-US" dirty="0"/>
              <a:t>파일에 배치 정보 설정</a:t>
            </a:r>
            <a:endParaRPr lang="en-US" altLang="ko-KR" dirty="0"/>
          </a:p>
          <a:p>
            <a:pPr marL="971550" lvl="1" indent="-514350">
              <a:buFont typeface="+mj-lt"/>
              <a:buAutoNum type="arabicPeriod"/>
            </a:pPr>
            <a:r>
              <a:rPr lang="en-US" altLang="ko-KR" b="1" dirty="0"/>
              <a:t>Annotation</a:t>
            </a:r>
            <a:r>
              <a:rPr lang="en-US" altLang="ko-KR" dirty="0"/>
              <a:t> </a:t>
            </a:r>
            <a:r>
              <a:rPr lang="ko-KR" altLang="en-US" dirty="0"/>
              <a:t>으로 배치 정보 설정</a:t>
            </a:r>
            <a:r>
              <a:rPr lang="en-US" altLang="ko-KR" dirty="0"/>
              <a:t>(Servlet 3.0</a:t>
            </a:r>
            <a:r>
              <a:rPr lang="ko-KR" altLang="en-US" dirty="0"/>
              <a:t> 부터 적용</a:t>
            </a:r>
            <a:r>
              <a:rPr lang="en-US" altLang="ko-KR" dirty="0"/>
              <a:t>, tomcat7.0 </a:t>
            </a:r>
            <a:r>
              <a:rPr lang="ko-KR" altLang="en-US" dirty="0"/>
              <a:t>이상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88529-ABE4-40AD-8768-23231B917785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96500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web.xml </a:t>
            </a:r>
            <a:r>
              <a:rPr lang="ko-KR" altLang="en-US" dirty="0"/>
              <a:t>에 </a:t>
            </a:r>
            <a:r>
              <a:rPr lang="ko-KR" altLang="en-US" dirty="0" err="1"/>
              <a:t>서블릿</a:t>
            </a:r>
            <a:r>
              <a:rPr lang="ko-KR" altLang="en-US" dirty="0"/>
              <a:t> 배포 정보 설정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프로젝트의 설정 파일인 </a:t>
            </a:r>
            <a:r>
              <a:rPr lang="en-US" altLang="ko-KR" dirty="0"/>
              <a:t>web.xml </a:t>
            </a:r>
            <a:r>
              <a:rPr lang="ko-KR" altLang="en-US" dirty="0"/>
              <a:t>에 </a:t>
            </a:r>
            <a:r>
              <a:rPr lang="ko-KR" altLang="en-US" dirty="0" err="1"/>
              <a:t>서블릿</a:t>
            </a:r>
            <a:r>
              <a:rPr lang="ko-KR" altLang="en-US" dirty="0"/>
              <a:t> 관련 정보 저장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88529-ABE4-40AD-8768-23231B917785}" type="slidenum">
              <a:rPr lang="ko-KR" altLang="en-US" smtClean="0"/>
              <a:t>31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853" y="1762275"/>
            <a:ext cx="7877175" cy="2609850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  <p:sp>
        <p:nvSpPr>
          <p:cNvPr id="9" name="직사각형 8"/>
          <p:cNvSpPr/>
          <p:nvPr/>
        </p:nvSpPr>
        <p:spPr>
          <a:xfrm>
            <a:off x="998023" y="2436440"/>
            <a:ext cx="4409954" cy="1617261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00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6138" y="4399170"/>
            <a:ext cx="3287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00FF"/>
                </a:solidFill>
                <a:latin typeface="+mj-lt"/>
              </a:rPr>
              <a:t>Welcome </a:t>
            </a:r>
            <a:r>
              <a:rPr lang="ko-KR" altLang="en-US" b="1" dirty="0">
                <a:solidFill>
                  <a:srgbClr val="0000FF"/>
                </a:solidFill>
                <a:latin typeface="+mj-lt"/>
              </a:rPr>
              <a:t>파일 정보 설명하기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3153" y="4246773"/>
            <a:ext cx="7905342" cy="254324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140042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web.xml </a:t>
            </a:r>
            <a:r>
              <a:rPr lang="ko-KR" altLang="en-US" dirty="0"/>
              <a:t>에 </a:t>
            </a:r>
            <a:r>
              <a:rPr lang="ko-KR" altLang="en-US" dirty="0" err="1"/>
              <a:t>서블릿</a:t>
            </a:r>
            <a:r>
              <a:rPr lang="ko-KR" altLang="en-US" dirty="0"/>
              <a:t> 배포 정보 설정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여러 개의 </a:t>
            </a:r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Servlet </a:t>
            </a:r>
            <a:r>
              <a:rPr lang="ko-KR" altLang="en-US" dirty="0"/>
              <a:t>을 등록할 경우 </a:t>
            </a:r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Servlet</a:t>
            </a:r>
            <a:r>
              <a:rPr lang="ko-KR" altLang="en-US" dirty="0"/>
              <a:t> 등록과 </a:t>
            </a:r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Servlet</a:t>
            </a:r>
            <a:r>
              <a:rPr lang="ko-KR" altLang="en-US" dirty="0"/>
              <a:t> 매핑에 각각 정리한다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&lt;servlet-name&gt;</a:t>
            </a:r>
            <a:r>
              <a:rPr lang="ko-KR" altLang="en-US" dirty="0"/>
              <a:t>은 프로젝트 내에서 유일 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88529-ABE4-40AD-8768-23231B917785}" type="slidenum">
              <a:rPr lang="ko-KR" altLang="en-US" smtClean="0"/>
              <a:t>32</a:t>
            </a:fld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309" y="2561323"/>
            <a:ext cx="7069367" cy="4108418"/>
          </a:xfrm>
          <a:prstGeom prst="rect">
            <a:avLst/>
          </a:prstGeom>
          <a:ln w="38100">
            <a:solidFill>
              <a:srgbClr val="0000FF"/>
            </a:solidFill>
          </a:ln>
        </p:spPr>
      </p:pic>
    </p:spTree>
    <p:extLst>
      <p:ext uri="{BB962C8B-B14F-4D97-AF65-F5344CB8AC3E}">
        <p14:creationId xmlns:p14="http://schemas.microsoft.com/office/powerpoint/2010/main" val="14185929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Annotation - @</a:t>
            </a:r>
            <a:r>
              <a:rPr lang="en-US" altLang="ko-KR" dirty="0" err="1"/>
              <a:t>WebServlet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클래스나 </a:t>
            </a:r>
            <a:r>
              <a:rPr lang="ko-KR" altLang="en-US" dirty="0" err="1"/>
              <a:t>메소드에</a:t>
            </a:r>
            <a:r>
              <a:rPr lang="ko-KR" altLang="en-US" dirty="0"/>
              <a:t> 붙여지는 주석으로 </a:t>
            </a:r>
            <a:r>
              <a:rPr lang="ko-KR" altLang="en-US" b="1" dirty="0"/>
              <a:t>메타 데이타</a:t>
            </a:r>
            <a:r>
              <a:rPr lang="ko-KR" altLang="en-US" dirty="0"/>
              <a:t>라고도 함</a:t>
            </a:r>
            <a:endParaRPr lang="en-US" altLang="ko-KR" dirty="0"/>
          </a:p>
          <a:p>
            <a:r>
              <a:rPr lang="en-US" altLang="ko-KR" b="1" dirty="0"/>
              <a:t>servlet-api.jar </a:t>
            </a:r>
            <a:r>
              <a:rPr lang="ko-KR" altLang="en-US" b="1" dirty="0"/>
              <a:t>버전이 </a:t>
            </a:r>
            <a:r>
              <a:rPr lang="en-US" altLang="ko-KR" b="1" dirty="0"/>
              <a:t>3.0</a:t>
            </a:r>
            <a:r>
              <a:rPr lang="ko-KR" altLang="en-US" b="1" dirty="0"/>
              <a:t> 이상에서 사용 가능</a:t>
            </a:r>
            <a:endParaRPr lang="en-US" altLang="ko-KR" b="1" dirty="0"/>
          </a:p>
          <a:p>
            <a:r>
              <a:rPr lang="en-US" altLang="ko-KR" b="1" dirty="0"/>
              <a:t>@WebServlet</a:t>
            </a:r>
            <a:r>
              <a:rPr lang="ko-KR" altLang="en-US" dirty="0"/>
              <a:t>의 속성 값을 통해 해당 </a:t>
            </a:r>
            <a:r>
              <a:rPr lang="en-US" altLang="ko-KR" dirty="0"/>
              <a:t>Servlet</a:t>
            </a:r>
            <a:r>
              <a:rPr lang="ko-KR" altLang="en-US" dirty="0"/>
              <a:t>과 매핑 될 </a:t>
            </a:r>
            <a:r>
              <a:rPr lang="en-US" altLang="ko-KR" dirty="0"/>
              <a:t>URL </a:t>
            </a:r>
            <a:r>
              <a:rPr lang="ko-KR" altLang="en-US" dirty="0"/>
              <a:t>패턴을 지정</a:t>
            </a:r>
            <a:endParaRPr lang="en-US" altLang="ko-KR" dirty="0"/>
          </a:p>
          <a:p>
            <a:r>
              <a:rPr lang="ko-KR" altLang="en-US" dirty="0" err="1"/>
              <a:t>가독성</a:t>
            </a:r>
            <a:r>
              <a:rPr lang="en-US" altLang="ko-KR" dirty="0"/>
              <a:t>, </a:t>
            </a:r>
            <a:r>
              <a:rPr lang="ko-KR" altLang="en-US" dirty="0"/>
              <a:t>소스코드 구성에 도움 줌</a:t>
            </a:r>
            <a:endParaRPr lang="en-US" altLang="ko-KR" dirty="0"/>
          </a:p>
          <a:p>
            <a:r>
              <a:rPr lang="ko-KR" altLang="en-US" dirty="0"/>
              <a:t>코드가 실행되는 것은 아니나 연결 방법</a:t>
            </a:r>
            <a:r>
              <a:rPr lang="en-US" altLang="ko-KR" dirty="0"/>
              <a:t>, </a:t>
            </a:r>
            <a:r>
              <a:rPr lang="ko-KR" altLang="en-US" dirty="0"/>
              <a:t>소스 구조를 변경할 수 있음</a:t>
            </a:r>
            <a:endParaRPr lang="en-US" altLang="ko-KR" dirty="0"/>
          </a:p>
          <a:p>
            <a:pPr lvl="2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88529-ABE4-40AD-8768-23231B917785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2358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87729" y="638735"/>
            <a:ext cx="11434714" cy="5611906"/>
          </a:xfrm>
        </p:spPr>
        <p:txBody>
          <a:bodyPr/>
          <a:lstStyle/>
          <a:p>
            <a:r>
              <a:rPr lang="en-US" altLang="ko-KR" b="1" dirty="0"/>
              <a:t>@</a:t>
            </a:r>
            <a:r>
              <a:rPr lang="en-US" altLang="ko-KR" b="1" dirty="0" err="1"/>
              <a:t>WebServlet</a:t>
            </a:r>
            <a:r>
              <a:rPr lang="en-US" altLang="ko-KR" b="1" dirty="0"/>
              <a:t>()</a:t>
            </a:r>
            <a:r>
              <a:rPr lang="ko-KR" altLang="en-US" b="1" dirty="0"/>
              <a:t>의 주요 속성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88529-ABE4-40AD-8768-23231B917785}" type="slidenum">
              <a:rPr lang="ko-KR" altLang="en-US" smtClean="0"/>
              <a:t>34</a:t>
            </a:fld>
            <a:endParaRPr lang="ko-KR" altLang="en-US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348622"/>
              </p:ext>
            </p:extLst>
          </p:nvPr>
        </p:nvGraphicFramePr>
        <p:xfrm>
          <a:off x="693907" y="1538566"/>
          <a:ext cx="10760422" cy="40460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5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2192">
                  <a:extLst>
                    <a:ext uri="{9D8B030D-6E8A-4147-A177-3AD203B41FA5}">
                      <a16:colId xmlns:a16="http://schemas.microsoft.com/office/drawing/2014/main" val="4167199423"/>
                    </a:ext>
                  </a:extLst>
                </a:gridCol>
                <a:gridCol w="5972362">
                  <a:extLst>
                    <a:ext uri="{9D8B030D-6E8A-4147-A177-3AD203B41FA5}">
                      <a16:colId xmlns:a16="http://schemas.microsoft.com/office/drawing/2014/main" val="410780641"/>
                    </a:ext>
                  </a:extLst>
                </a:gridCol>
              </a:tblGrid>
              <a:tr h="4602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맑은 고딕" pitchFamily="50" charset="-127"/>
                          <a:ea typeface="맑은 고딕" pitchFamily="50" charset="-127"/>
                        </a:rPr>
                        <a:t>속성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맑은 고딕" pitchFamily="50" charset="-127"/>
                          <a:ea typeface="맑은 고딕" pitchFamily="50" charset="-127"/>
                        </a:rPr>
                        <a:t>기능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맑은 고딕" pitchFamily="50" charset="-127"/>
                          <a:ea typeface="맑은 고딕" pitchFamily="50" charset="-127"/>
                        </a:rPr>
                        <a:t>사용 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6945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name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kern="1200" dirty="0" err="1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서블릿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이름 설정</a:t>
                      </a:r>
                      <a:endParaRPr lang="en-US" altLang="ko-KR" sz="1600" kern="1200" dirty="0">
                        <a:solidFill>
                          <a:schemeClr val="dk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기본 값은 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“”(</a:t>
                      </a:r>
                      <a:r>
                        <a:rPr lang="ko-KR" altLang="en-US" sz="1600" kern="1200" dirty="0" err="1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빈문자열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)</a:t>
                      </a:r>
                      <a:endParaRPr lang="ko-KR" altLang="en-US" sz="1600" kern="1200" dirty="0">
                        <a:solidFill>
                          <a:schemeClr val="dk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@</a:t>
                      </a:r>
                      <a:r>
                        <a:rPr lang="en-US" altLang="ko-KR" sz="1600" dirty="0" err="1"/>
                        <a:t>WebServlet</a:t>
                      </a:r>
                      <a:r>
                        <a:rPr lang="en-US" altLang="ko-KR" sz="1600" dirty="0"/>
                        <a:t>(name = “</a:t>
                      </a:r>
                      <a:r>
                        <a:rPr lang="ko-KR" altLang="en-US" sz="1600" dirty="0" err="1"/>
                        <a:t>서블릿</a:t>
                      </a:r>
                      <a:r>
                        <a:rPr lang="ko-KR" altLang="en-US" sz="1600" dirty="0"/>
                        <a:t> 이름”</a:t>
                      </a:r>
                      <a:r>
                        <a:rPr lang="en-US" altLang="ko-KR" sz="160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27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>
                          <a:latin typeface="맑은 고딕" pitchFamily="50" charset="-127"/>
                          <a:ea typeface="+mn-ea"/>
                        </a:rPr>
                        <a:t>urlPatterns</a:t>
                      </a:r>
                      <a:endParaRPr lang="ko-KR" altLang="en-US" dirty="0">
                        <a:latin typeface="맑은 고딕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kern="1200" dirty="0" err="1">
                          <a:solidFill>
                            <a:schemeClr val="dk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서블릿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URL 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목록 설정</a:t>
                      </a:r>
                      <a:endParaRPr lang="en-US" altLang="ko-KR" sz="1600" kern="1200" dirty="0">
                        <a:solidFill>
                          <a:schemeClr val="dk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속성값으로 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String 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배열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2" indent="0"/>
                      <a:r>
                        <a:rPr lang="en-US" altLang="ko-KR" dirty="0"/>
                        <a:t>@</a:t>
                      </a:r>
                      <a:r>
                        <a:rPr lang="en-US" altLang="ko-KR" dirty="0" err="1"/>
                        <a:t>WebServlet</a:t>
                      </a:r>
                      <a:r>
                        <a:rPr lang="en-US" altLang="ko-KR" dirty="0"/>
                        <a:t>(</a:t>
                      </a:r>
                      <a:r>
                        <a:rPr lang="en-US" altLang="ko-KR" dirty="0" err="1"/>
                        <a:t>urlPatterns</a:t>
                      </a:r>
                      <a:r>
                        <a:rPr lang="en-US" altLang="ko-KR" dirty="0"/>
                        <a:t> = “/</a:t>
                      </a:r>
                      <a:r>
                        <a:rPr lang="en-US" altLang="ko-KR" dirty="0" err="1"/>
                        <a:t>url</a:t>
                      </a:r>
                      <a:r>
                        <a:rPr lang="en-US" altLang="ko-KR" dirty="0"/>
                        <a:t>”)</a:t>
                      </a:r>
                    </a:p>
                    <a:p>
                      <a:pPr marL="0" lvl="2" indent="0"/>
                      <a:r>
                        <a:rPr lang="en-US" altLang="ko-KR" dirty="0"/>
                        <a:t>@</a:t>
                      </a:r>
                      <a:r>
                        <a:rPr lang="en-US" altLang="ko-KR" dirty="0" err="1"/>
                        <a:t>WebServlet</a:t>
                      </a:r>
                      <a:r>
                        <a:rPr lang="en-US" altLang="ko-KR" dirty="0"/>
                        <a:t>(</a:t>
                      </a:r>
                      <a:r>
                        <a:rPr lang="en-US" altLang="ko-KR" dirty="0" err="1"/>
                        <a:t>urlPatterns</a:t>
                      </a:r>
                      <a:r>
                        <a:rPr lang="en-US" altLang="ko-KR" dirty="0"/>
                        <a:t> = {“/</a:t>
                      </a:r>
                      <a:r>
                        <a:rPr lang="en-US" altLang="ko-KR" dirty="0" err="1"/>
                        <a:t>url</a:t>
                      </a:r>
                      <a:r>
                        <a:rPr lang="en-US" altLang="ko-KR" dirty="0"/>
                        <a:t>”, “/url2”, “/url3”})</a:t>
                      </a:r>
                    </a:p>
                    <a:p>
                      <a:pPr marL="0" lvl="2" indent="0"/>
                      <a:r>
                        <a:rPr lang="en-US" altLang="ko-KR" dirty="0"/>
                        <a:t>@</a:t>
                      </a:r>
                      <a:r>
                        <a:rPr lang="en-US" altLang="ko-KR" dirty="0" err="1"/>
                        <a:t>WebServlet</a:t>
                      </a:r>
                      <a:r>
                        <a:rPr lang="en-US" altLang="ko-KR" dirty="0"/>
                        <a:t>(</a:t>
                      </a:r>
                      <a:r>
                        <a:rPr lang="en-US" altLang="ko-KR" dirty="0" err="1"/>
                        <a:t>urlPatterns</a:t>
                      </a:r>
                      <a:r>
                        <a:rPr lang="en-US" altLang="ko-KR" dirty="0"/>
                        <a:t> = {“/”, “/home”, “/</a:t>
                      </a:r>
                      <a:r>
                        <a:rPr lang="en-US" altLang="ko-KR" dirty="0" err="1"/>
                        <a:t>webcome</a:t>
                      </a:r>
                      <a:r>
                        <a:rPr lang="en-US" altLang="ko-KR" dirty="0"/>
                        <a:t>”})</a:t>
                      </a:r>
                    </a:p>
                    <a:p>
                      <a:endParaRPr lang="ko-KR" altLang="en-US" sz="1600" kern="1200" dirty="0">
                        <a:solidFill>
                          <a:schemeClr val="dk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729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value</a:t>
                      </a:r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600" dirty="0" err="1"/>
                        <a:t>urlPatterns</a:t>
                      </a:r>
                      <a:r>
                        <a:rPr lang="ko-KR" altLang="en-US" sz="1600" dirty="0"/>
                        <a:t>와 동일한 기능</a:t>
                      </a:r>
                      <a:endParaRPr lang="en-US" altLang="ko-KR" sz="1600" dirty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err="1"/>
                        <a:t>속성이름</a:t>
                      </a:r>
                      <a:r>
                        <a:rPr lang="ko-KR" altLang="en-US" sz="1600" dirty="0"/>
                        <a:t> 없이 값만 설정 가능</a:t>
                      </a:r>
                      <a:endParaRPr lang="en-US" altLang="ko-KR" sz="1600" dirty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600" dirty="0"/>
                        <a:t>value </a:t>
                      </a:r>
                      <a:r>
                        <a:rPr lang="ko-KR" altLang="en-US" sz="1600" dirty="0"/>
                        <a:t>속성 외에 다른 속성의 값도 필요한 경우는 속성의 이름을 생략할 수 없음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2" indent="0"/>
                      <a:r>
                        <a:rPr lang="en-US" altLang="ko-KR" dirty="0"/>
                        <a:t>@</a:t>
                      </a:r>
                      <a:r>
                        <a:rPr lang="en-US" altLang="ko-KR" dirty="0" err="1"/>
                        <a:t>WebServlet</a:t>
                      </a:r>
                      <a:r>
                        <a:rPr lang="en-US" altLang="ko-KR" dirty="0"/>
                        <a:t>(value = “/</a:t>
                      </a:r>
                      <a:r>
                        <a:rPr lang="en-US" altLang="ko-KR" dirty="0" err="1"/>
                        <a:t>calc</a:t>
                      </a:r>
                      <a:r>
                        <a:rPr lang="en-US" altLang="ko-KR" dirty="0"/>
                        <a:t>”)</a:t>
                      </a:r>
                    </a:p>
                    <a:p>
                      <a:pPr marL="0" lvl="2" indent="0"/>
                      <a:r>
                        <a:rPr lang="en-US" altLang="ko-KR" dirty="0"/>
                        <a:t>@</a:t>
                      </a:r>
                      <a:r>
                        <a:rPr lang="en-US" altLang="ko-KR" dirty="0" err="1"/>
                        <a:t>WebServlet</a:t>
                      </a:r>
                      <a:r>
                        <a:rPr lang="en-US" altLang="ko-KR" dirty="0"/>
                        <a:t>(“/</a:t>
                      </a:r>
                      <a:r>
                        <a:rPr lang="en-US" altLang="ko-KR" dirty="0" err="1"/>
                        <a:t>calc</a:t>
                      </a:r>
                      <a:r>
                        <a:rPr lang="en-US" altLang="ko-KR" dirty="0"/>
                        <a:t>”)</a:t>
                      </a:r>
                    </a:p>
                    <a:p>
                      <a:pPr marL="0" lvl="2" indent="0"/>
                      <a:r>
                        <a:rPr lang="en-US" altLang="ko-KR" dirty="0"/>
                        <a:t>@</a:t>
                      </a:r>
                      <a:r>
                        <a:rPr lang="en-US" altLang="ko-KR" dirty="0" err="1"/>
                        <a:t>WebServlet</a:t>
                      </a:r>
                      <a:r>
                        <a:rPr lang="en-US" altLang="ko-KR" dirty="0"/>
                        <a:t>(</a:t>
                      </a:r>
                      <a:r>
                        <a:rPr lang="en-US" altLang="ko-KR" dirty="0" err="1"/>
                        <a:t>urlPatterns</a:t>
                      </a:r>
                      <a:r>
                        <a:rPr lang="en-US" altLang="ko-KR" dirty="0"/>
                        <a:t>=“/</a:t>
                      </a:r>
                      <a:r>
                        <a:rPr lang="en-US" altLang="ko-KR" dirty="0" err="1"/>
                        <a:t>url</a:t>
                      </a:r>
                      <a:r>
                        <a:rPr lang="en-US" altLang="ko-KR" dirty="0"/>
                        <a:t>”, name=“hello”)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8371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73763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annotation @</a:t>
            </a:r>
            <a:r>
              <a:rPr lang="en-US" altLang="ko-KR" dirty="0" err="1"/>
              <a:t>WebServlet</a:t>
            </a:r>
            <a:r>
              <a:rPr lang="en-US" altLang="ko-KR" dirty="0"/>
              <a:t>()</a:t>
            </a:r>
            <a:r>
              <a:rPr lang="ko-KR" altLang="en-US" dirty="0"/>
              <a:t>으로 실행하기</a:t>
            </a:r>
            <a:endParaRPr lang="en-US" altLang="ko-KR" dirty="0"/>
          </a:p>
          <a:p>
            <a:r>
              <a:rPr lang="en-US" altLang="ko-KR" dirty="0"/>
              <a:t>web.xml</a:t>
            </a:r>
            <a:r>
              <a:rPr lang="ko-KR" altLang="en-US" dirty="0"/>
              <a:t>로 실행하기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88529-ABE4-40AD-8768-23231B917785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94132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</a:t>
            </a:r>
            <a:r>
              <a:rPr lang="en-US" altLang="ko-KR" dirty="0"/>
              <a:t>1 – </a:t>
            </a:r>
            <a:r>
              <a:rPr lang="en-US" altLang="ko-KR" dirty="0" err="1"/>
              <a:t>NameCheck</a:t>
            </a:r>
            <a:r>
              <a:rPr lang="en-US" altLang="ko-KR" dirty="0"/>
              <a:t> </a:t>
            </a:r>
            <a:r>
              <a:rPr lang="ko-KR" altLang="en-US" dirty="0"/>
              <a:t>작성하기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66286" y="1062931"/>
            <a:ext cx="11434714" cy="5611906"/>
          </a:xfrm>
        </p:spPr>
        <p:txBody>
          <a:bodyPr/>
          <a:lstStyle/>
          <a:p>
            <a:r>
              <a:rPr lang="ko-KR" altLang="en-US" dirty="0" err="1"/>
              <a:t>서블릿</a:t>
            </a:r>
            <a:r>
              <a:rPr lang="ko-KR" altLang="en-US" dirty="0"/>
              <a:t> </a:t>
            </a:r>
            <a:r>
              <a:rPr lang="en-US" altLang="ko-KR" dirty="0" err="1"/>
              <a:t>NameCheck</a:t>
            </a:r>
            <a:r>
              <a:rPr lang="ko-KR" altLang="en-US" dirty="0"/>
              <a:t>를 화면과 실행으로 분리하여 작성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88529-ABE4-40AD-8768-23231B917785}" type="slidenum">
              <a:rPr lang="ko-KR" altLang="en-US" smtClean="0"/>
              <a:t>36</a:t>
            </a:fld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650" y="2597521"/>
            <a:ext cx="4210050" cy="1685925"/>
          </a:xfrm>
          <a:prstGeom prst="rect">
            <a:avLst/>
          </a:prstGeom>
          <a:ln w="19050">
            <a:solidFill>
              <a:schemeClr val="bg2">
                <a:lumMod val="50000"/>
              </a:schemeClr>
            </a:solidFill>
          </a:ln>
        </p:spPr>
      </p:pic>
      <p:cxnSp>
        <p:nvCxnSpPr>
          <p:cNvPr id="8" name="직선 화살표 연결선 7"/>
          <p:cNvCxnSpPr/>
          <p:nvPr/>
        </p:nvCxnSpPr>
        <p:spPr>
          <a:xfrm>
            <a:off x="5266650" y="3411919"/>
            <a:ext cx="1996841" cy="1"/>
          </a:xfrm>
          <a:prstGeom prst="straightConnector1">
            <a:avLst/>
          </a:prstGeom>
          <a:ln w="22225">
            <a:solidFill>
              <a:schemeClr val="tx1">
                <a:lumMod val="75000"/>
                <a:lumOff val="25000"/>
              </a:schemeClr>
            </a:solidFill>
            <a:prstDash val="solid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/>
          <p:nvPr/>
        </p:nvCxnSpPr>
        <p:spPr>
          <a:xfrm flipH="1" flipV="1">
            <a:off x="5226177" y="3836804"/>
            <a:ext cx="2037314" cy="7017"/>
          </a:xfrm>
          <a:prstGeom prst="straightConnector1">
            <a:avLst/>
          </a:prstGeom>
          <a:ln w="22225">
            <a:solidFill>
              <a:schemeClr val="tx1">
                <a:lumMod val="75000"/>
                <a:lumOff val="25000"/>
              </a:schemeClr>
            </a:solidFill>
            <a:prstDash val="solid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763805" y="2946397"/>
            <a:ext cx="962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request</a:t>
            </a:r>
            <a:endParaRPr lang="ko-KR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5814487" y="3899373"/>
            <a:ext cx="11175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response</a:t>
            </a:r>
            <a:endParaRPr lang="ko-KR" altLang="en-US" dirty="0"/>
          </a:p>
        </p:txBody>
      </p:sp>
      <p:sp>
        <p:nvSpPr>
          <p:cNvPr id="19" name="직사각형 18"/>
          <p:cNvSpPr/>
          <p:nvPr/>
        </p:nvSpPr>
        <p:spPr>
          <a:xfrm>
            <a:off x="2292367" y="2944421"/>
            <a:ext cx="2667822" cy="3732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9730" y="2707853"/>
            <a:ext cx="3803366" cy="1685925"/>
          </a:xfrm>
          <a:prstGeom prst="rect">
            <a:avLst/>
          </a:prstGeom>
          <a:ln w="19050">
            <a:solidFill>
              <a:schemeClr val="bg2">
                <a:lumMod val="50000"/>
              </a:schemeClr>
            </a:solidFill>
          </a:ln>
        </p:spPr>
      </p:pic>
      <p:sp>
        <p:nvSpPr>
          <p:cNvPr id="18" name="직사각형 17"/>
          <p:cNvSpPr/>
          <p:nvPr/>
        </p:nvSpPr>
        <p:spPr>
          <a:xfrm>
            <a:off x="8383598" y="3177532"/>
            <a:ext cx="2789498" cy="3732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0704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</a:t>
            </a:r>
            <a:r>
              <a:rPr lang="en-US" altLang="ko-KR" dirty="0"/>
              <a:t>2– </a:t>
            </a:r>
            <a:r>
              <a:rPr lang="ko-KR" altLang="en-US" dirty="0"/>
              <a:t>간단한 계산기 만들기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calculator.html </a:t>
            </a:r>
            <a:r>
              <a:rPr lang="ko-KR" altLang="en-US" dirty="0"/>
              <a:t>작성</a:t>
            </a:r>
            <a:endParaRPr lang="en-US" altLang="ko-KR" dirty="0"/>
          </a:p>
          <a:p>
            <a:r>
              <a:rPr lang="en-US" altLang="ko-KR" dirty="0" err="1"/>
              <a:t>CalcServlet</a:t>
            </a:r>
            <a:r>
              <a:rPr lang="en-US" altLang="ko-KR" dirty="0"/>
              <a:t> </a:t>
            </a:r>
            <a:r>
              <a:rPr lang="ko-KR" altLang="en-US" dirty="0"/>
              <a:t>작성</a:t>
            </a:r>
            <a:endParaRPr lang="en-US" altLang="ko-KR" dirty="0"/>
          </a:p>
          <a:p>
            <a:r>
              <a:rPr lang="ko-KR" altLang="en-US" dirty="0"/>
              <a:t>배포</a:t>
            </a:r>
            <a:endParaRPr lang="en-US" altLang="ko-KR" dirty="0"/>
          </a:p>
          <a:p>
            <a:pPr lvl="1"/>
            <a:r>
              <a:rPr lang="en-US" altLang="ko-KR" dirty="0"/>
              <a:t>web.xml </a:t>
            </a:r>
            <a:r>
              <a:rPr lang="ko-KR" altLang="en-US" dirty="0"/>
              <a:t>사용</a:t>
            </a:r>
            <a:endParaRPr lang="en-US" altLang="ko-KR" dirty="0"/>
          </a:p>
          <a:p>
            <a:r>
              <a:rPr lang="ko-KR" altLang="en-US" dirty="0"/>
              <a:t>실행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88529-ABE4-40AD-8768-23231B917785}" type="slidenum">
              <a:rPr lang="ko-KR" altLang="en-US" smtClean="0"/>
              <a:t>37</a:t>
            </a:fld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236" y="1099591"/>
            <a:ext cx="7448550" cy="21240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861" y="4160891"/>
            <a:ext cx="3657600" cy="1571625"/>
          </a:xfrm>
          <a:prstGeom prst="rect">
            <a:avLst/>
          </a:prstGeom>
          <a:ln w="28575">
            <a:solidFill>
              <a:schemeClr val="bg2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702102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</a:t>
            </a:r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서블릿 </a:t>
            </a:r>
            <a:r>
              <a:rPr lang="en-US" altLang="ko-KR" dirty="0"/>
              <a:t>API</a:t>
            </a:r>
            <a:r>
              <a:rPr lang="ko-KR" altLang="en-US" dirty="0"/>
              <a:t>에서 </a:t>
            </a:r>
            <a:r>
              <a:rPr lang="ko-KR" altLang="en-US" dirty="0" err="1"/>
              <a:t>서블릿을</a:t>
            </a:r>
            <a:r>
              <a:rPr lang="ko-KR" altLang="en-US" dirty="0"/>
              <a:t> 작성하기 위해 필요한 객체 </a:t>
            </a:r>
            <a:r>
              <a:rPr lang="en-US" altLang="ko-KR" dirty="0"/>
              <a:t>3</a:t>
            </a:r>
            <a:r>
              <a:rPr lang="ko-KR" altLang="en-US" dirty="0"/>
              <a:t>개를 열거하고 구조를 설명하시오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 err="1"/>
              <a:t>서블릿을</a:t>
            </a:r>
            <a:r>
              <a:rPr lang="ko-KR" altLang="en-US" dirty="0"/>
              <a:t> 배치하고 매핑하는 방법 두가지를 설명하시오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 err="1"/>
              <a:t>서블릿을</a:t>
            </a:r>
            <a:r>
              <a:rPr lang="ko-KR" altLang="en-US" dirty="0"/>
              <a:t> 작성하고 배치한 뒤 실행하는 예제를 </a:t>
            </a:r>
            <a:r>
              <a:rPr lang="ko-KR" altLang="en-US" dirty="0" err="1"/>
              <a:t>구현하시오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88529-ABE4-40AD-8768-23231B917785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44441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도전 과제</a:t>
            </a:r>
            <a:r>
              <a:rPr lang="en-US" altLang="ko-KR" dirty="0"/>
              <a:t>(</a:t>
            </a:r>
            <a:r>
              <a:rPr lang="ko-KR" altLang="en-US" dirty="0"/>
              <a:t>옵션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  <a:r>
              <a:rPr lang="en-US" altLang="ko-KR" dirty="0"/>
              <a:t>3</a:t>
            </a:r>
            <a:r>
              <a:rPr lang="ko-KR" altLang="en-US" dirty="0"/>
              <a:t>의 내용에서 계산 부분만 다른 클래스에서 구현하기</a:t>
            </a:r>
            <a:endParaRPr lang="en-US" altLang="ko-KR" dirty="0"/>
          </a:p>
          <a:p>
            <a:pPr lvl="1"/>
            <a:r>
              <a:rPr lang="en-US" altLang="ko-KR" dirty="0"/>
              <a:t>calculator2.html : </a:t>
            </a:r>
            <a:r>
              <a:rPr lang="ko-KR" altLang="en-US" dirty="0"/>
              <a:t>화면</a:t>
            </a:r>
            <a:endParaRPr lang="en-US" altLang="ko-KR" dirty="0"/>
          </a:p>
          <a:p>
            <a:pPr lvl="1"/>
            <a:r>
              <a:rPr lang="en-US" altLang="ko-KR" dirty="0"/>
              <a:t>CalcServlet2 : </a:t>
            </a:r>
            <a:r>
              <a:rPr lang="ko-KR" altLang="en-US" dirty="0" err="1"/>
              <a:t>서블릿으로</a:t>
            </a:r>
            <a:r>
              <a:rPr lang="ko-KR" altLang="en-US" dirty="0"/>
              <a:t> </a:t>
            </a:r>
            <a:r>
              <a:rPr lang="en-US" altLang="ko-KR" dirty="0" err="1"/>
              <a:t>Calc</a:t>
            </a:r>
            <a:r>
              <a:rPr lang="en-US" altLang="ko-KR" dirty="0"/>
              <a:t> </a:t>
            </a:r>
            <a:r>
              <a:rPr lang="ko-KR" altLang="en-US" dirty="0"/>
              <a:t>객체</a:t>
            </a:r>
            <a:r>
              <a:rPr lang="en-US" altLang="ko-KR" dirty="0"/>
              <a:t> </a:t>
            </a:r>
            <a:r>
              <a:rPr lang="ko-KR" altLang="en-US" dirty="0"/>
              <a:t>사용</a:t>
            </a:r>
            <a:endParaRPr lang="en-US" altLang="ko-KR" dirty="0"/>
          </a:p>
          <a:p>
            <a:pPr lvl="1"/>
            <a:r>
              <a:rPr lang="en-US" altLang="ko-KR" dirty="0"/>
              <a:t>Calc.java : </a:t>
            </a:r>
            <a:r>
              <a:rPr lang="ko-KR" altLang="en-US" dirty="0"/>
              <a:t>계산 코드</a:t>
            </a:r>
            <a:endParaRPr lang="en-US" altLang="ko-KR" dirty="0"/>
          </a:p>
          <a:p>
            <a:pPr lvl="1"/>
            <a:r>
              <a:rPr lang="en-US" altLang="ko-KR" dirty="0"/>
              <a:t>Web.xml </a:t>
            </a:r>
            <a:r>
              <a:rPr lang="ko-KR" altLang="en-US" dirty="0"/>
              <a:t>또는 </a:t>
            </a:r>
            <a:r>
              <a:rPr lang="en-US" altLang="ko-KR" dirty="0"/>
              <a:t>annotation </a:t>
            </a:r>
            <a:r>
              <a:rPr lang="ko-KR" altLang="en-US" dirty="0"/>
              <a:t>으로 </a:t>
            </a:r>
            <a:r>
              <a:rPr lang="ko-KR" altLang="en-US" dirty="0" err="1"/>
              <a:t>서블릿</a:t>
            </a:r>
            <a:r>
              <a:rPr lang="ko-KR" altLang="en-US" dirty="0"/>
              <a:t> 배치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88529-ABE4-40AD-8768-23231B917785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478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jax소개.pptx" id="{D1380CD1-7E6D-4D6F-BA8A-057414EC29A0}" vid="{56E2C2C1-9BF5-492F-942A-388D76F4A9B1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2019-2</Template>
  <TotalTime>57267</TotalTime>
  <Words>1848</Words>
  <Application>Microsoft Office PowerPoint</Application>
  <PresentationFormat>와이드스크린</PresentationFormat>
  <Paragraphs>312</Paragraphs>
  <Slides>39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3" baseType="lpstr">
      <vt:lpstr>맑은 고딕</vt:lpstr>
      <vt:lpstr>Arial</vt:lpstr>
      <vt:lpstr>Wingdings</vt:lpstr>
      <vt:lpstr>Office 테마</vt:lpstr>
      <vt:lpstr>Servlet 기초</vt:lpstr>
      <vt:lpstr>학습 내용</vt:lpstr>
      <vt:lpstr>웹프로그래밍 학습 로드 맵</vt:lpstr>
      <vt:lpstr>웹프로그래밍 학습 로드 맵</vt:lpstr>
      <vt:lpstr>백엔드 기술의 발전 사항</vt:lpstr>
      <vt:lpstr>백엔드 기술의 발전 사항</vt:lpstr>
      <vt:lpstr>백엔드 기술의 발전 사항</vt:lpstr>
      <vt:lpstr>백엔드 기술의 발전 사항</vt:lpstr>
      <vt:lpstr>백엔드 기술의 발전 사항</vt:lpstr>
      <vt:lpstr>자바 웹 애플리케이션 실행</vt:lpstr>
      <vt:lpstr>Servlet 이란?</vt:lpstr>
      <vt:lpstr>Servlet 동작과정</vt:lpstr>
      <vt:lpstr>Servlet 컨테이너</vt:lpstr>
      <vt:lpstr>실습1 – HelloServlet 작성하기</vt:lpstr>
      <vt:lpstr>실습1 – HelloServlet 작성하기</vt:lpstr>
      <vt:lpstr>Servlet 특징</vt:lpstr>
      <vt:lpstr>Servlet 클래스의 상속/구현 관계도</vt:lpstr>
      <vt:lpstr>Servlet 인터페이스(최상위 클래스)</vt:lpstr>
      <vt:lpstr>Servlet 인터페이스</vt:lpstr>
      <vt:lpstr>GenericServlet</vt:lpstr>
      <vt:lpstr>GenericServlet</vt:lpstr>
      <vt:lpstr>HttpServlet 클래스</vt:lpstr>
      <vt:lpstr>Servlet 작성 시 규칙</vt:lpstr>
      <vt:lpstr>Servlet 동작구조</vt:lpstr>
      <vt:lpstr>클라이언트 요청 방식</vt:lpstr>
      <vt:lpstr>테스트 </vt:lpstr>
      <vt:lpstr>PowerPoint 프레젠테이션</vt:lpstr>
      <vt:lpstr>Servlet 생명 주기(Life Cycle)</vt:lpstr>
      <vt:lpstr>브라우저 출력</vt:lpstr>
      <vt:lpstr>Servlet 배포(Deployment) 방법</vt:lpstr>
      <vt:lpstr>1. web.xml 에 서블릿 배포 정보 설정</vt:lpstr>
      <vt:lpstr>1. web.xml 에 서블릿 배포 정보 설정</vt:lpstr>
      <vt:lpstr>2. Annotation - @WebServlet()</vt:lpstr>
      <vt:lpstr>PowerPoint 프레젠테이션</vt:lpstr>
      <vt:lpstr>실습1</vt:lpstr>
      <vt:lpstr>과제1 – NameCheck 작성하기</vt:lpstr>
      <vt:lpstr>과제2– 간단한 계산기 만들기</vt:lpstr>
      <vt:lpstr>과제3</vt:lpstr>
      <vt:lpstr>도전 과제(옵션)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Ajax</dc:title>
  <dc:creator>jinsook</dc:creator>
  <cp:lastModifiedBy>jinso</cp:lastModifiedBy>
  <cp:revision>183</cp:revision>
  <dcterms:created xsi:type="dcterms:W3CDTF">2019-07-29T15:30:48Z</dcterms:created>
  <dcterms:modified xsi:type="dcterms:W3CDTF">2025-05-15T08:00:12Z</dcterms:modified>
</cp:coreProperties>
</file>