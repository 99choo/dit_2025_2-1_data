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15"/>
  </p:notesMasterIdLst>
  <p:sldIdLst>
    <p:sldId id="256" r:id="rId2"/>
    <p:sldId id="257" r:id="rId3"/>
    <p:sldId id="258" r:id="rId4"/>
    <p:sldId id="340" r:id="rId5"/>
    <p:sldId id="339" r:id="rId6"/>
    <p:sldId id="341" r:id="rId7"/>
    <p:sldId id="342" r:id="rId8"/>
    <p:sldId id="343" r:id="rId9"/>
    <p:sldId id="344" r:id="rId10"/>
    <p:sldId id="303" r:id="rId11"/>
    <p:sldId id="345" r:id="rId12"/>
    <p:sldId id="320" r:id="rId13"/>
    <p:sldId id="27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BD2B46-ED7A-4A63-A880-227889412B42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C26BC2-3A5E-41D2-812B-C8BAFBFC9F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7399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6293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7247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34395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14141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63944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60662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05466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07191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09942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52654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39177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4897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">
          <a:xfrm>
            <a:off x="10948416" y="2788920"/>
            <a:ext cx="1243584" cy="1005840"/>
          </a:xfrm>
          <a:prstGeom prst="rect">
            <a:avLst/>
          </a:prstGeom>
          <a:solidFill>
            <a:schemeClr val="accent5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 bwMode="gray">
          <a:xfrm>
            <a:off x="0" y="2130552"/>
            <a:ext cx="11277600" cy="91440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 bwMode="gray">
          <a:xfrm>
            <a:off x="3328416" y="0"/>
            <a:ext cx="2279904" cy="2359152"/>
          </a:xfrm>
          <a:prstGeom prst="rect">
            <a:avLst/>
          </a:prstGeom>
          <a:solidFill>
            <a:schemeClr val="accent6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/>
        </p:nvSpPr>
        <p:spPr bwMode="gray">
          <a:xfrm>
            <a:off x="0" y="0"/>
            <a:ext cx="3718560" cy="235915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0832" y="3118105"/>
            <a:ext cx="10375392" cy="1470025"/>
          </a:xfrm>
        </p:spPr>
        <p:txBody>
          <a:bodyPr vert="horz" lIns="91440" tIns="45720" rIns="91440" bIns="45720" rtlCol="0" anchor="t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lang="en-US" sz="4800" b="1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2359152"/>
            <a:ext cx="10948416" cy="6858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None/>
              <a:defRPr lang="en-US" sz="2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7043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756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1728" y="3044952"/>
            <a:ext cx="6254496" cy="740664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r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Rectangle 6"/>
          <p:cNvSpPr/>
          <p:nvPr/>
        </p:nvSpPr>
        <p:spPr bwMode="gray">
          <a:xfrm>
            <a:off x="10948416" y="2788920"/>
            <a:ext cx="1243584" cy="1005840"/>
          </a:xfrm>
          <a:prstGeom prst="rect">
            <a:avLst/>
          </a:prstGeom>
          <a:solidFill>
            <a:schemeClr val="accent5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 bwMode="gray">
          <a:xfrm>
            <a:off x="0" y="2130552"/>
            <a:ext cx="11277600" cy="91440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 bwMode="gray">
          <a:xfrm>
            <a:off x="3328416" y="0"/>
            <a:ext cx="2279904" cy="2359152"/>
          </a:xfrm>
          <a:prstGeom prst="rect">
            <a:avLst/>
          </a:prstGeom>
          <a:solidFill>
            <a:schemeClr val="accent6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/>
        </p:nvSpPr>
        <p:spPr bwMode="gray">
          <a:xfrm>
            <a:off x="0" y="0"/>
            <a:ext cx="3718560" cy="267004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609600" y="3813048"/>
            <a:ext cx="10363200" cy="1143000"/>
          </a:xfr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lang="en-US" sz="4400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88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7802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7802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7722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609600" y="1627632"/>
            <a:ext cx="5386917" cy="63976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400" b="1" kern="1200" cap="none" spc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286000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6193368" y="1627632"/>
            <a:ext cx="5389033" cy="63976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400" b="1" kern="1200" cap="none" spc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286000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3888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6501384"/>
            <a:ext cx="12192000" cy="356616"/>
          </a:xfrm>
          <a:prstGeom prst="rect">
            <a:avLst/>
          </a:prstGeom>
          <a:solidFill>
            <a:schemeClr val="accent6">
              <a:lumMod val="60000"/>
              <a:lumOff val="4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 6"/>
          <p:cNvSpPr/>
          <p:nvPr/>
        </p:nvSpPr>
        <p:spPr bwMode="gray">
          <a:xfrm>
            <a:off x="0" y="0"/>
            <a:ext cx="12192000" cy="301752"/>
          </a:xfrm>
          <a:prstGeom prst="rect">
            <a:avLst/>
          </a:prstGeom>
          <a:solidFill>
            <a:schemeClr val="accent5">
              <a:lumMod val="60000"/>
              <a:lumOff val="4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 bwMode="gray">
          <a:xfrm>
            <a:off x="0" y="0"/>
            <a:ext cx="3243072" cy="530352"/>
          </a:xfrm>
          <a:prstGeom prst="rect">
            <a:avLst/>
          </a:prstGeom>
          <a:solidFill>
            <a:schemeClr val="accent2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 bwMode="gray">
          <a:xfrm>
            <a:off x="1901952" y="0"/>
            <a:ext cx="2097024" cy="438912"/>
          </a:xfrm>
          <a:prstGeom prst="rect">
            <a:avLst/>
          </a:prstGeom>
          <a:solidFill>
            <a:schemeClr val="accent6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4400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417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 bwMode="gray">
          <a:xfrm>
            <a:off x="0" y="6501384"/>
            <a:ext cx="12192000" cy="356616"/>
          </a:xfrm>
          <a:prstGeom prst="rect">
            <a:avLst/>
          </a:prstGeom>
          <a:solidFill>
            <a:schemeClr val="accent6">
              <a:lumMod val="60000"/>
              <a:lumOff val="4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Rectangle 11"/>
          <p:cNvSpPr/>
          <p:nvPr/>
        </p:nvSpPr>
        <p:spPr bwMode="gray">
          <a:xfrm>
            <a:off x="0" y="0"/>
            <a:ext cx="12192000" cy="301752"/>
          </a:xfrm>
          <a:prstGeom prst="rect">
            <a:avLst/>
          </a:prstGeom>
          <a:solidFill>
            <a:schemeClr val="accent5">
              <a:lumMod val="60000"/>
              <a:lumOff val="4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Rectangle 12"/>
          <p:cNvSpPr/>
          <p:nvPr/>
        </p:nvSpPr>
        <p:spPr bwMode="gray">
          <a:xfrm>
            <a:off x="0" y="0"/>
            <a:ext cx="402336" cy="6858000"/>
          </a:xfrm>
          <a:prstGeom prst="rect">
            <a:avLst/>
          </a:prstGeom>
          <a:solidFill>
            <a:srgbClr val="9BBB5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" name="Rectangle 13"/>
          <p:cNvSpPr/>
          <p:nvPr/>
        </p:nvSpPr>
        <p:spPr bwMode="gray">
          <a:xfrm>
            <a:off x="0" y="0"/>
            <a:ext cx="3243072" cy="530352"/>
          </a:xfrm>
          <a:prstGeom prst="rect">
            <a:avLst/>
          </a:prstGeom>
          <a:solidFill>
            <a:schemeClr val="accent2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/>
          <p:cNvSpPr/>
          <p:nvPr/>
        </p:nvSpPr>
        <p:spPr bwMode="gray">
          <a:xfrm>
            <a:off x="1901952" y="0"/>
            <a:ext cx="2097024" cy="438912"/>
          </a:xfrm>
          <a:prstGeom prst="rect">
            <a:avLst/>
          </a:prstGeom>
          <a:solidFill>
            <a:schemeClr val="accent6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Rectangle 15"/>
          <p:cNvSpPr/>
          <p:nvPr/>
        </p:nvSpPr>
        <p:spPr bwMode="gray">
          <a:xfrm>
            <a:off x="11789664" y="0"/>
            <a:ext cx="402336" cy="6858000"/>
          </a:xfrm>
          <a:prstGeom prst="rect">
            <a:avLst/>
          </a:prstGeom>
          <a:solidFill>
            <a:srgbClr val="9BBB5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1159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548640"/>
            <a:ext cx="10265664" cy="932688"/>
          </a:xfr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3200" b="1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07936" y="1645920"/>
            <a:ext cx="3755136" cy="44805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645920"/>
            <a:ext cx="6400800" cy="44805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092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1824" y="658368"/>
            <a:ext cx="7315200" cy="822960"/>
          </a:xfr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2800" b="1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gray">
          <a:xfrm>
            <a:off x="2389632" y="1618488"/>
            <a:ext cx="7315200" cy="3639312"/>
          </a:xfrm>
          <a:solidFill>
            <a:srgbClr val="F8F8F8"/>
          </a:solidFill>
          <a:ln w="76200" cmpd="sng">
            <a:solidFill>
              <a:srgbClr val="FFFFFF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None/>
              <a:defRPr lang="en-US" sz="3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32" y="5413248"/>
            <a:ext cx="7315200" cy="98755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5161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257432" cy="452596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514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">
          <a:xfrm rot="5400000">
            <a:off x="7182612" y="2048256"/>
            <a:ext cx="6519672" cy="2414016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 bwMode="gray">
          <a:xfrm>
            <a:off x="8737600" y="6135624"/>
            <a:ext cx="1316736" cy="722376"/>
          </a:xfrm>
          <a:prstGeom prst="rect">
            <a:avLst/>
          </a:prstGeom>
          <a:solidFill>
            <a:schemeClr val="accent5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 bwMode="gray">
          <a:xfrm>
            <a:off x="11474908" y="1379355"/>
            <a:ext cx="719328" cy="1463040"/>
          </a:xfrm>
          <a:prstGeom prst="rect">
            <a:avLst/>
          </a:prstGeom>
          <a:solidFill>
            <a:schemeClr val="accent6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/>
        </p:nvSpPr>
        <p:spPr bwMode="gray">
          <a:xfrm>
            <a:off x="11472672" y="0"/>
            <a:ext cx="719328" cy="182880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41536" y="274637"/>
            <a:ext cx="2231136" cy="585216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436864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628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">
          <a:xfrm>
            <a:off x="0" y="402336"/>
            <a:ext cx="11582400" cy="109728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 bwMode="gray">
          <a:xfrm>
            <a:off x="10887456" y="996696"/>
            <a:ext cx="1304544" cy="896112"/>
          </a:xfrm>
          <a:prstGeom prst="rect">
            <a:avLst/>
          </a:prstGeom>
          <a:solidFill>
            <a:schemeClr val="accent5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 bwMode="gray">
          <a:xfrm>
            <a:off x="2377440" y="0"/>
            <a:ext cx="2596896" cy="539496"/>
          </a:xfrm>
          <a:prstGeom prst="rect">
            <a:avLst/>
          </a:prstGeom>
          <a:solidFill>
            <a:schemeClr val="accent6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/>
        </p:nvSpPr>
        <p:spPr bwMode="gray">
          <a:xfrm>
            <a:off x="0" y="0"/>
            <a:ext cx="3243072" cy="539496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9496"/>
            <a:ext cx="10972800" cy="96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537960"/>
            <a:ext cx="2844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19F864-164D-4ED0-9F9C-B5C7D0A4A0B2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827264" y="6537960"/>
            <a:ext cx="3860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69536" y="6537960"/>
            <a:ext cx="2844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6779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2"/>
          </a:solidFill>
          <a:latin typeface="Aharoni" panose="02010803020104030203" pitchFamily="2" charset="-79"/>
          <a:ea typeface="+mj-ea"/>
          <a:cs typeface="Aharoni" panose="02010803020104030203" pitchFamily="2" charset="-79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Clr>
          <a:schemeClr val="accent1"/>
        </a:buClr>
        <a:buSzPct val="90000"/>
        <a:buFont typeface="Wingdings 3" pitchFamily="18" charset="2"/>
        <a:buChar char=""/>
        <a:defRPr sz="3200" kern="1200">
          <a:solidFill>
            <a:schemeClr val="tx1"/>
          </a:solidFill>
          <a:latin typeface="Book Antiqua" panose="02040602050305030304" pitchFamily="18" charset="0"/>
          <a:ea typeface="+mn-ea"/>
          <a:cs typeface="Aharoni" panose="02010803020104030203" pitchFamily="2" charset="-79"/>
        </a:defRPr>
      </a:lvl1pPr>
      <a:lvl2pPr marL="742950" indent="-285750" algn="l" defTabSz="914400" rtl="0" eaLnBrk="1" latinLnBrk="1" hangingPunct="1">
        <a:spcBef>
          <a:spcPct val="20000"/>
        </a:spcBef>
        <a:buClr>
          <a:schemeClr val="accent2"/>
        </a:buClr>
        <a:buSzPct val="90000"/>
        <a:buFont typeface="Wingdings 3" pitchFamily="18" charset="2"/>
        <a:buChar char=""/>
        <a:defRPr sz="2800" kern="1200">
          <a:solidFill>
            <a:schemeClr val="tx1"/>
          </a:solidFill>
          <a:latin typeface="Book Antiqua" panose="02040602050305030304" pitchFamily="18" charset="0"/>
          <a:ea typeface="+mn-ea"/>
          <a:cs typeface="Aharoni" panose="02010803020104030203" pitchFamily="2" charset="-79"/>
        </a:defRPr>
      </a:lvl2pPr>
      <a:lvl3pPr marL="1143000" indent="-228600" algn="l" defTabSz="914400" rtl="0" eaLnBrk="1" latinLnBrk="1" hangingPunct="1">
        <a:spcBef>
          <a:spcPct val="20000"/>
        </a:spcBef>
        <a:buClr>
          <a:schemeClr val="accent3"/>
        </a:buClr>
        <a:buSzPct val="90000"/>
        <a:buFont typeface="Wingdings 3" pitchFamily="18" charset="2"/>
        <a:buChar char=""/>
        <a:defRPr sz="2400" kern="1200">
          <a:solidFill>
            <a:schemeClr val="tx1"/>
          </a:solidFill>
          <a:latin typeface="Book Antiqua" panose="02040602050305030304" pitchFamily="18" charset="0"/>
          <a:ea typeface="+mn-ea"/>
          <a:cs typeface="Aharoni" panose="02010803020104030203" pitchFamily="2" charset="-79"/>
        </a:defRPr>
      </a:lvl3pPr>
      <a:lvl4pPr marL="1600200" indent="-228600" algn="l" defTabSz="914400" rtl="0" eaLnBrk="1" latinLnBrk="1" hangingPunct="1">
        <a:spcBef>
          <a:spcPct val="20000"/>
        </a:spcBef>
        <a:buClr>
          <a:schemeClr val="accent4"/>
        </a:buClr>
        <a:buSzPct val="90000"/>
        <a:buFont typeface="Wingdings 3" pitchFamily="18" charset="2"/>
        <a:buChar char=""/>
        <a:defRPr sz="2000" kern="1200">
          <a:solidFill>
            <a:schemeClr val="tx1"/>
          </a:solidFill>
          <a:latin typeface="Book Antiqua" panose="02040602050305030304" pitchFamily="18" charset="0"/>
          <a:ea typeface="+mn-ea"/>
          <a:cs typeface="Aharoni" panose="02010803020104030203" pitchFamily="2" charset="-79"/>
        </a:defRPr>
      </a:lvl4pPr>
      <a:lvl5pPr marL="2057400" indent="-228600" algn="l" defTabSz="914400" rtl="0" eaLnBrk="1" latinLnBrk="1" hangingPunct="1">
        <a:spcBef>
          <a:spcPct val="20000"/>
        </a:spcBef>
        <a:buClr>
          <a:schemeClr val="accent5"/>
        </a:buClr>
        <a:buSzPct val="90000"/>
        <a:buFont typeface="Wingdings 3" pitchFamily="18" charset="2"/>
        <a:buChar char=""/>
        <a:defRPr sz="2000" kern="1200">
          <a:solidFill>
            <a:schemeClr val="tx1"/>
          </a:solidFill>
          <a:latin typeface="Book Antiqua" panose="02040602050305030304" pitchFamily="18" charset="0"/>
          <a:ea typeface="+mn-ea"/>
          <a:cs typeface="Aharoni" panose="02010803020104030203" pitchFamily="2" charset="-79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6FFF2C-5BE4-4A02-EE82-5DE96A69A9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/>
              <a:t>소플의</a:t>
            </a:r>
            <a:r>
              <a:rPr lang="ko-KR" altLang="en-US" dirty="0"/>
              <a:t> 처음 만난 </a:t>
            </a:r>
            <a:r>
              <a:rPr lang="ko-KR" altLang="en-US" dirty="0" err="1"/>
              <a:t>리액트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7FA9B2-251D-830E-5283-181B2218F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1" y="5135883"/>
            <a:ext cx="10572000" cy="1028513"/>
          </a:xfrm>
        </p:spPr>
        <p:txBody>
          <a:bodyPr>
            <a:noAutofit/>
          </a:bodyPr>
          <a:lstStyle/>
          <a:p>
            <a:r>
              <a:rPr lang="ko-KR" altLang="en-US" sz="2000" dirty="0" err="1"/>
              <a:t>한빛미디어</a:t>
            </a:r>
            <a:endParaRPr lang="en-US" altLang="ko-KR" sz="2000" dirty="0"/>
          </a:p>
          <a:p>
            <a:r>
              <a:rPr lang="ko-KR" altLang="en-US" sz="2000" dirty="0"/>
              <a:t>김 경 민</a:t>
            </a:r>
          </a:p>
        </p:txBody>
      </p:sp>
    </p:spTree>
    <p:extLst>
      <p:ext uri="{BB962C8B-B14F-4D97-AF65-F5344CB8AC3E}">
        <p14:creationId xmlns:p14="http://schemas.microsoft.com/office/powerpoint/2010/main" val="373856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76E483-88F2-1E3C-A900-7D71AFB4C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132" y="539496"/>
            <a:ext cx="10309782" cy="960120"/>
          </a:xfrm>
        </p:spPr>
        <p:txBody>
          <a:bodyPr/>
          <a:lstStyle/>
          <a:p>
            <a:r>
              <a:rPr lang="en-US" altLang="ko-KR" b="1" dirty="0">
                <a:latin typeface="Britannic Bold" panose="020B0903060703020204" pitchFamily="34" charset="0"/>
              </a:rPr>
              <a:t>13</a:t>
            </a:r>
            <a:r>
              <a:rPr lang="ko-KR" altLang="en-US" b="1" dirty="0">
                <a:latin typeface="Britannic Bold" panose="020B0903060703020204" pitchFamily="34" charset="0"/>
              </a:rPr>
              <a:t>장 합성 </a:t>
            </a:r>
            <a:r>
              <a:rPr lang="en-US" altLang="ko-KR" b="1" dirty="0">
                <a:latin typeface="Britannic Bold" panose="020B0903060703020204" pitchFamily="34" charset="0"/>
              </a:rPr>
              <a:t>vs. </a:t>
            </a:r>
            <a:r>
              <a:rPr lang="ko-KR" altLang="en-US" b="1" dirty="0">
                <a:latin typeface="Britannic Bold" panose="020B0903060703020204" pitchFamily="34" charset="0"/>
              </a:rPr>
              <a:t>상속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EFB66B7-EA6A-EA72-E018-EE263D8B1A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2435" y="1499616"/>
            <a:ext cx="7145176" cy="533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583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>
                <a:latin typeface="Britannic Bold" panose="020B0903060703020204" pitchFamily="34" charset="0"/>
              </a:rPr>
              <a:t>13.1 </a:t>
            </a:r>
            <a:r>
              <a:rPr lang="ko-KR" altLang="en-US" sz="3600" dirty="0">
                <a:latin typeface="Britannic Bold" panose="020B0903060703020204" pitchFamily="34" charset="0"/>
              </a:rPr>
              <a:t>합성에 대해 알아보기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1231880" cy="5026842"/>
          </a:xfrm>
        </p:spPr>
        <p:txBody>
          <a:bodyPr>
            <a:normAutofit/>
          </a:bodyPr>
          <a:lstStyle/>
          <a:p>
            <a:r>
              <a:rPr lang="ko-KR" altLang="en-US" sz="2800" dirty="0"/>
              <a:t>합성이란</a:t>
            </a:r>
            <a:r>
              <a:rPr lang="en-US" altLang="ko-KR" sz="2800" dirty="0"/>
              <a:t>?</a:t>
            </a:r>
          </a:p>
          <a:p>
            <a:pPr lvl="1"/>
            <a:r>
              <a:rPr lang="ko-KR" altLang="en-US" sz="2400" dirty="0"/>
              <a:t>여러 개의 컴포넌트를 합쳐서 새로운 컴포넌트를 만드는 것</a:t>
            </a:r>
            <a:endParaRPr lang="en-US" altLang="ko-KR" sz="2400" dirty="0"/>
          </a:p>
          <a:p>
            <a:pPr lvl="1"/>
            <a:r>
              <a:rPr lang="ko-KR" altLang="en-US" sz="2400" dirty="0"/>
              <a:t>다양하고 복잡한 컴포넌트를 효율적으로 개발할 수 있음</a:t>
            </a:r>
            <a:endParaRPr lang="en-US" altLang="ko-KR" sz="2400" dirty="0"/>
          </a:p>
          <a:p>
            <a:pPr lvl="4"/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6439A7C-DC7A-BC7C-63D8-17A5B08518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7548" y="3047468"/>
            <a:ext cx="6296904" cy="3810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506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>
                <a:latin typeface="Britannic Bold" panose="020B0903060703020204" pitchFamily="34" charset="0"/>
              </a:rPr>
              <a:t>13.1 </a:t>
            </a:r>
            <a:r>
              <a:rPr lang="ko-KR" altLang="en-US" sz="3600" dirty="0">
                <a:latin typeface="Britannic Bold" panose="020B0903060703020204" pitchFamily="34" charset="0"/>
              </a:rPr>
              <a:t>합성에 대해 알아보기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1231880" cy="5026842"/>
          </a:xfrm>
        </p:spPr>
        <p:txBody>
          <a:bodyPr>
            <a:normAutofit/>
          </a:bodyPr>
          <a:lstStyle/>
          <a:p>
            <a:r>
              <a:rPr lang="ko-KR" altLang="en-US" sz="2800" dirty="0"/>
              <a:t>합성 기법 </a:t>
            </a:r>
            <a:r>
              <a:rPr lang="en-US" altLang="ko-KR" sz="2800" dirty="0"/>
              <a:t>- Containment</a:t>
            </a:r>
          </a:p>
          <a:p>
            <a:pPr lvl="1"/>
            <a:r>
              <a:rPr lang="ko-KR" altLang="en-US" sz="2400" dirty="0"/>
              <a:t>하위 컴포넌트를 포함하는 형태의 합성 방법</a:t>
            </a:r>
            <a:endParaRPr lang="en-US" altLang="ko-KR" sz="2400" dirty="0"/>
          </a:p>
          <a:p>
            <a:pPr lvl="1"/>
            <a:r>
              <a:rPr lang="ko-KR" altLang="en-US" sz="2400" dirty="0" err="1"/>
              <a:t>리액트</a:t>
            </a:r>
            <a:r>
              <a:rPr lang="ko-KR" altLang="en-US" sz="2400" dirty="0"/>
              <a:t> 컴포넌트의 </a:t>
            </a:r>
            <a:r>
              <a:rPr lang="en-US" altLang="ko-KR" sz="2400" dirty="0"/>
              <a:t>props</a:t>
            </a:r>
            <a:r>
              <a:rPr lang="ko-KR" altLang="en-US" sz="2400" dirty="0"/>
              <a:t>에 기본적으로 들어 있는 </a:t>
            </a:r>
            <a:r>
              <a:rPr lang="en-US" altLang="ko-KR" sz="2400" dirty="0"/>
              <a:t>children </a:t>
            </a:r>
            <a:r>
              <a:rPr lang="ko-KR" altLang="en-US" sz="2400" dirty="0"/>
              <a:t>속성을 사용</a:t>
            </a:r>
            <a:endParaRPr lang="en-US" altLang="ko-KR" sz="2400" dirty="0"/>
          </a:p>
          <a:p>
            <a:pPr lvl="1"/>
            <a:r>
              <a:rPr lang="ko-KR" altLang="en-US" sz="2400" dirty="0"/>
              <a:t>여러 개의 </a:t>
            </a:r>
            <a:r>
              <a:rPr lang="en-US" altLang="ko-KR" sz="2400" dirty="0"/>
              <a:t>children </a:t>
            </a:r>
            <a:r>
              <a:rPr lang="ko-KR" altLang="en-US" sz="2400" dirty="0"/>
              <a:t>집합이 필요한 경우 별도로 </a:t>
            </a:r>
            <a:r>
              <a:rPr lang="en-US" altLang="ko-KR" sz="2400" dirty="0"/>
              <a:t>props</a:t>
            </a:r>
            <a:r>
              <a:rPr lang="ko-KR" altLang="en-US" sz="2400" dirty="0"/>
              <a:t>를 각각 정의해서 사용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E98DC2C-9F3B-356E-2B5B-2BF91D1AA3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706" y="3510565"/>
            <a:ext cx="5030399" cy="2118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558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828148" cy="960120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Britannic Bold" panose="020B0903060703020204" pitchFamily="34" charset="0"/>
              </a:rPr>
              <a:t>13.1 </a:t>
            </a:r>
            <a:r>
              <a:rPr lang="ko-KR" altLang="en-US" sz="3600" dirty="0">
                <a:latin typeface="Britannic Bold" panose="020B0903060703020204" pitchFamily="34" charset="0"/>
              </a:rPr>
              <a:t>합성 기법 </a:t>
            </a:r>
            <a:r>
              <a:rPr lang="en-US" altLang="ko-KR" sz="3600" dirty="0">
                <a:latin typeface="Britannic Bold" panose="020B0903060703020204" pitchFamily="34" charset="0"/>
              </a:rPr>
              <a:t>- Containment</a:t>
            </a:r>
            <a:endParaRPr lang="ko-KR" altLang="en-US" sz="3600" dirty="0">
              <a:latin typeface="Britannic Bold" panose="020B0903060703020204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0AA6425-4399-E32E-2647-F8C6EFE097F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2"/>
          <a:stretch/>
        </p:blipFill>
        <p:spPr>
          <a:xfrm>
            <a:off x="0" y="1735286"/>
            <a:ext cx="7182920" cy="222277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D7D2539-F51C-989A-F47A-D8088F306D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7595" y="2941163"/>
            <a:ext cx="5878565" cy="3733014"/>
          </a:xfrm>
          <a:prstGeom prst="rect">
            <a:avLst/>
          </a:prstGeom>
        </p:spPr>
      </p:pic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A00FF286-E735-22C6-50A0-5D9FBC3A31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00422"/>
            <a:ext cx="11231880" cy="602136"/>
          </a:xfrm>
        </p:spPr>
        <p:txBody>
          <a:bodyPr>
            <a:normAutofit/>
          </a:bodyPr>
          <a:lstStyle/>
          <a:p>
            <a:pPr lvl="1"/>
            <a:r>
              <a:rPr lang="ko-KR" altLang="en-US" sz="2400" dirty="0" err="1"/>
              <a:t>리액트</a:t>
            </a:r>
            <a:r>
              <a:rPr lang="ko-KR" altLang="en-US" sz="2400" dirty="0"/>
              <a:t> 컴포넌트의 </a:t>
            </a:r>
            <a:r>
              <a:rPr lang="en-US" altLang="ko-KR" sz="2400" dirty="0"/>
              <a:t>props</a:t>
            </a:r>
            <a:r>
              <a:rPr lang="ko-KR" altLang="en-US" sz="2400" dirty="0"/>
              <a:t>에 기본적으로 들어 있는 </a:t>
            </a:r>
            <a:r>
              <a:rPr lang="en-US" altLang="ko-KR" sz="2400" dirty="0"/>
              <a:t>children </a:t>
            </a:r>
            <a:r>
              <a:rPr lang="ko-KR" altLang="en-US" sz="2400" dirty="0"/>
              <a:t>속성을 사용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3463149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828148" cy="960120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Britannic Bold" panose="020B0903060703020204" pitchFamily="34" charset="0"/>
              </a:rPr>
              <a:t>13.1 </a:t>
            </a:r>
            <a:r>
              <a:rPr lang="ko-KR" altLang="en-US" sz="3600" dirty="0">
                <a:latin typeface="Britannic Bold" panose="020B0903060703020204" pitchFamily="34" charset="0"/>
              </a:rPr>
              <a:t>합성 기법 </a:t>
            </a:r>
            <a:r>
              <a:rPr lang="en-US" altLang="ko-KR" sz="3600" dirty="0">
                <a:latin typeface="Britannic Bold" panose="020B0903060703020204" pitchFamily="34" charset="0"/>
              </a:rPr>
              <a:t>- Containment</a:t>
            </a:r>
            <a:endParaRPr lang="ko-KR" altLang="en-US" sz="3600" dirty="0">
              <a:latin typeface="Britannic Bold" panose="020B0903060703020204" pitchFamily="34" charset="0"/>
            </a:endParaRP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A00FF286-E735-22C6-50A0-5D9FBC3A31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00422"/>
            <a:ext cx="11231880" cy="602136"/>
          </a:xfrm>
        </p:spPr>
        <p:txBody>
          <a:bodyPr>
            <a:normAutofit/>
          </a:bodyPr>
          <a:lstStyle/>
          <a:p>
            <a:pPr lvl="1"/>
            <a:r>
              <a:rPr lang="ko-KR" altLang="en-US" sz="2400" dirty="0"/>
              <a:t>여러 개의 </a:t>
            </a:r>
            <a:r>
              <a:rPr lang="en-US" altLang="ko-KR" sz="2400" dirty="0"/>
              <a:t>children </a:t>
            </a:r>
            <a:r>
              <a:rPr lang="ko-KR" altLang="en-US" sz="2400" dirty="0"/>
              <a:t>집합이 필요한 경우 별도로 </a:t>
            </a:r>
            <a:r>
              <a:rPr lang="en-US" altLang="ko-KR" sz="2400" dirty="0"/>
              <a:t>props</a:t>
            </a:r>
            <a:r>
              <a:rPr lang="ko-KR" altLang="en-US" sz="2400" dirty="0"/>
              <a:t>를 각각 정의해서 사용</a:t>
            </a:r>
            <a:endParaRPr lang="en-US" altLang="ko-KR" sz="2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5460B9F-1203-0948-5D96-3AEAF8184D7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1641"/>
          <a:stretch/>
        </p:blipFill>
        <p:spPr>
          <a:xfrm>
            <a:off x="87715" y="1789283"/>
            <a:ext cx="6008285" cy="383969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0BBA284-9DEE-33E5-19EE-1FF2C266787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1641"/>
          <a:stretch/>
        </p:blipFill>
        <p:spPr>
          <a:xfrm>
            <a:off x="6096000" y="1789283"/>
            <a:ext cx="6008285" cy="383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302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DE46ED60-9DA8-6AFD-E79E-D411C8DCE3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22" y="2347561"/>
            <a:ext cx="4935174" cy="288950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2911C57-8F5D-84B1-3959-3A9EF30B151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1972"/>
          <a:stretch/>
        </p:blipFill>
        <p:spPr>
          <a:xfrm>
            <a:off x="5300085" y="2347561"/>
            <a:ext cx="6605969" cy="2591336"/>
          </a:xfrm>
          <a:prstGeom prst="rect">
            <a:avLst/>
          </a:prstGeom>
        </p:spPr>
      </p:pic>
      <p:sp>
        <p:nvSpPr>
          <p:cNvPr id="10" name="제목 1">
            <a:extLst>
              <a:ext uri="{FF2B5EF4-FFF2-40B4-BE49-F238E27FC236}">
                <a16:creationId xmlns:a16="http://schemas.microsoft.com/office/drawing/2014/main" id="{3D724784-D2E0-2D0A-39ED-50872E4E820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088957" cy="96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2"/>
                </a:solidFill>
                <a:latin typeface="Aharoni" panose="02010803020104030203" pitchFamily="2" charset="-79"/>
                <a:ea typeface="+mj-ea"/>
                <a:cs typeface="Aharoni" panose="02010803020104030203" pitchFamily="2" charset="-79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ko-KR" sz="3600" dirty="0">
                <a:latin typeface="Britannic Bold" panose="020B0903060703020204" pitchFamily="34" charset="0"/>
              </a:rPr>
              <a:t>13.1 </a:t>
            </a:r>
            <a:r>
              <a:rPr lang="ko-KR" altLang="en-US" sz="3600" dirty="0">
                <a:latin typeface="Britannic Bold" panose="020B0903060703020204" pitchFamily="34" charset="0"/>
              </a:rPr>
              <a:t>합성 기법 </a:t>
            </a:r>
            <a:r>
              <a:rPr lang="en-US" altLang="ko-KR" sz="3600" dirty="0">
                <a:latin typeface="Britannic Bold" panose="020B0903060703020204" pitchFamily="34" charset="0"/>
              </a:rPr>
              <a:t>- Specialization</a:t>
            </a:r>
            <a:endParaRPr lang="ko-KR" altLang="en-US" sz="3600" dirty="0">
              <a:latin typeface="Britannic Bold" panose="020B0903060703020204" pitchFamily="34" charset="0"/>
            </a:endParaRP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FC50105E-C7A6-014B-1AFF-82BCB5FC4506}"/>
              </a:ext>
            </a:extLst>
          </p:cNvPr>
          <p:cNvSpPr txBox="1">
            <a:spLocks/>
          </p:cNvSpPr>
          <p:nvPr/>
        </p:nvSpPr>
        <p:spPr>
          <a:xfrm>
            <a:off x="0" y="1075837"/>
            <a:ext cx="11632676" cy="115600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Char char=""/>
              <a:defRPr sz="3200" kern="1200">
                <a:solidFill>
                  <a:schemeClr val="tx1"/>
                </a:solidFill>
                <a:latin typeface="Book Antiqua" panose="02040602050305030304" pitchFamily="18" charset="0"/>
                <a:ea typeface="+mn-ea"/>
                <a:cs typeface="Aharoni" panose="02010803020104030203" pitchFamily="2" charset="-79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 3" pitchFamily="18" charset="2"/>
              <a:buChar char=""/>
              <a:defRPr sz="2800" kern="1200">
                <a:solidFill>
                  <a:schemeClr val="tx1"/>
                </a:solidFill>
                <a:latin typeface="Book Antiqua" panose="02040602050305030304" pitchFamily="18" charset="0"/>
                <a:ea typeface="+mn-ea"/>
                <a:cs typeface="Aharoni" panose="02010803020104030203" pitchFamily="2" charset="-79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Clr>
                <a:schemeClr val="accent3"/>
              </a:buClr>
              <a:buSzPct val="90000"/>
              <a:buFont typeface="Wingdings 3" pitchFamily="18" charset="2"/>
              <a:buChar char=""/>
              <a:defRPr sz="2400" kern="1200">
                <a:solidFill>
                  <a:schemeClr val="tx1"/>
                </a:solidFill>
                <a:latin typeface="Book Antiqua" panose="02040602050305030304" pitchFamily="18" charset="0"/>
                <a:ea typeface="+mn-ea"/>
                <a:cs typeface="Aharoni" panose="02010803020104030203" pitchFamily="2" charset="-79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Clr>
                <a:schemeClr val="accent4"/>
              </a:buClr>
              <a:buSzPct val="90000"/>
              <a:buFont typeface="Wingdings 3" pitchFamily="18" charset="2"/>
              <a:buChar char=""/>
              <a:defRPr sz="2000" kern="1200">
                <a:solidFill>
                  <a:schemeClr val="tx1"/>
                </a:solidFill>
                <a:latin typeface="Book Antiqua" panose="02040602050305030304" pitchFamily="18" charset="0"/>
                <a:ea typeface="+mn-ea"/>
                <a:cs typeface="Aharoni" panose="02010803020104030203" pitchFamily="2" charset="-79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Clr>
                <a:schemeClr val="accent5"/>
              </a:buClr>
              <a:buSzPct val="90000"/>
              <a:buFont typeface="Wingdings 3" pitchFamily="18" charset="2"/>
              <a:buChar char=""/>
              <a:defRPr sz="2000" kern="1200">
                <a:solidFill>
                  <a:schemeClr val="tx1"/>
                </a:solidFill>
                <a:latin typeface="Book Antiqua" panose="02040602050305030304" pitchFamily="18" charset="0"/>
                <a:ea typeface="+mn-ea"/>
                <a:cs typeface="Aharoni" panose="02010803020104030203" pitchFamily="2" charset="-79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ko-KR" altLang="en-US" sz="2400" dirty="0"/>
              <a:t>범용적인 </a:t>
            </a:r>
            <a:r>
              <a:rPr lang="ko-KR" altLang="en-US" sz="2400"/>
              <a:t>개념을 구별되도록 </a:t>
            </a:r>
            <a:r>
              <a:rPr lang="ko-KR" altLang="en-US" sz="2400" dirty="0"/>
              <a:t>구체화하는 것</a:t>
            </a:r>
            <a:endParaRPr lang="en-US" altLang="ko-KR" sz="2400" dirty="0"/>
          </a:p>
          <a:p>
            <a:pPr lvl="1"/>
            <a:r>
              <a:rPr lang="ko-KR" altLang="en-US" sz="2400" dirty="0"/>
              <a:t>범용적으로 쓸 수 있는 컴포넌트를 만들어 놓고 이를 구체화시켜서 컴포넌트를 사용하는 합성 방법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1484701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690" y="1348033"/>
            <a:ext cx="6303389" cy="1630835"/>
          </a:xfrm>
        </p:spPr>
        <p:txBody>
          <a:bodyPr>
            <a:normAutofit/>
          </a:bodyPr>
          <a:lstStyle/>
          <a:p>
            <a:r>
              <a:rPr lang="en-US" altLang="ko-KR" sz="2200" dirty="0" err="1"/>
              <a:t>props.children</a:t>
            </a:r>
            <a:r>
              <a:rPr lang="ko-KR" altLang="en-US" sz="2200" dirty="0"/>
              <a:t>을 통해 하위 컴포넌트를 포함시키기</a:t>
            </a:r>
            <a:r>
              <a:rPr lang="en-US" altLang="ko-KR" sz="2200" dirty="0"/>
              <a:t>(Containment)</a:t>
            </a:r>
          </a:p>
          <a:p>
            <a:r>
              <a:rPr lang="ko-KR" altLang="en-US" sz="2200" dirty="0"/>
              <a:t>별도의 </a:t>
            </a:r>
            <a:r>
              <a:rPr lang="en-US" altLang="ko-KR" sz="2200" dirty="0"/>
              <a:t>props</a:t>
            </a:r>
            <a:r>
              <a:rPr lang="ko-KR" altLang="en-US" sz="2200" dirty="0"/>
              <a:t>를 선언하여 구체화시키기</a:t>
            </a:r>
            <a:r>
              <a:rPr lang="en-US" altLang="ko-KR" sz="2200" dirty="0"/>
              <a:t>(Specialization)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1666D32-E69A-3236-FF3D-EE7BA159AE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29" y="2978868"/>
            <a:ext cx="4871230" cy="3760572"/>
          </a:xfrm>
          <a:prstGeom prst="rect">
            <a:avLst/>
          </a:prstGeom>
        </p:spPr>
      </p:pic>
      <p:sp>
        <p:nvSpPr>
          <p:cNvPr id="12" name="제목 1">
            <a:extLst>
              <a:ext uri="{FF2B5EF4-FFF2-40B4-BE49-F238E27FC236}">
                <a16:creationId xmlns:a16="http://schemas.microsoft.com/office/drawing/2014/main" id="{30540FF3-D90B-4C1B-D504-C379FAD09C17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6627043" cy="14328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2"/>
                </a:solidFill>
                <a:latin typeface="Aharoni" panose="02010803020104030203" pitchFamily="2" charset="-79"/>
                <a:ea typeface="+mj-ea"/>
                <a:cs typeface="Aharoni" panose="02010803020104030203" pitchFamily="2" charset="-79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altLang="ko-KR" sz="3600" dirty="0">
                <a:latin typeface="Britannic Bold" panose="020B0903060703020204" pitchFamily="34" charset="0"/>
              </a:rPr>
              <a:t>13.1 </a:t>
            </a:r>
            <a:r>
              <a:rPr lang="ko-KR" altLang="en-US" sz="3600" dirty="0">
                <a:latin typeface="Britannic Bold" panose="020B0903060703020204" pitchFamily="34" charset="0"/>
              </a:rPr>
              <a:t>합성 기법 </a:t>
            </a:r>
            <a:r>
              <a:rPr lang="en-US" altLang="ko-KR" sz="3600" dirty="0">
                <a:latin typeface="Britannic Bold" panose="020B0903060703020204" pitchFamily="34" charset="0"/>
              </a:rPr>
              <a:t>– Containment</a:t>
            </a:r>
            <a:r>
              <a:rPr lang="ko-KR" altLang="en-US" sz="3600" dirty="0">
                <a:latin typeface="Britannic Bold" panose="020B0903060703020204" pitchFamily="34" charset="0"/>
              </a:rPr>
              <a:t>와 </a:t>
            </a:r>
            <a:r>
              <a:rPr lang="en-US" altLang="ko-KR" sz="3600" dirty="0">
                <a:latin typeface="Britannic Bold" panose="020B0903060703020204" pitchFamily="34" charset="0"/>
              </a:rPr>
              <a:t>Specialization</a:t>
            </a:r>
            <a:r>
              <a:rPr lang="ko-KR" altLang="en-US" sz="3600" dirty="0">
                <a:latin typeface="Britannic Bold" panose="020B0903060703020204" pitchFamily="34" charset="0"/>
              </a:rPr>
              <a:t>을 함께 사용하기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8C6F357-45AF-5957-DC8D-2CBCA57477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7043" y="0"/>
            <a:ext cx="5439266" cy="680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464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>
                <a:latin typeface="Britannic Bold" panose="020B0903060703020204" pitchFamily="34" charset="0"/>
              </a:rPr>
              <a:t>13.2 </a:t>
            </a:r>
            <a:r>
              <a:rPr lang="ko-KR" altLang="en-US" sz="3600" dirty="0">
                <a:latin typeface="Britannic Bold" panose="020B0903060703020204" pitchFamily="34" charset="0"/>
              </a:rPr>
              <a:t>상속에 대해 알아보기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1231880" cy="5026842"/>
          </a:xfrm>
        </p:spPr>
        <p:txBody>
          <a:bodyPr>
            <a:normAutofit/>
          </a:bodyPr>
          <a:lstStyle/>
          <a:p>
            <a:pPr>
              <a:lnSpc>
                <a:spcPts val="3360"/>
              </a:lnSpc>
            </a:pPr>
            <a:r>
              <a:rPr lang="ko-KR" altLang="en-US" sz="2800" dirty="0"/>
              <a:t>상속</a:t>
            </a:r>
            <a:endParaRPr lang="en-US" altLang="ko-KR" sz="2800" dirty="0"/>
          </a:p>
          <a:p>
            <a:pPr lvl="1">
              <a:lnSpc>
                <a:spcPts val="3360"/>
              </a:lnSpc>
            </a:pPr>
            <a:r>
              <a:rPr lang="ko-KR" altLang="en-US" sz="2400" dirty="0"/>
              <a:t>다른 컴포넌트로부터 상속받아서 새로운 컴포넌트를 만드는 것</a:t>
            </a:r>
            <a:endParaRPr lang="en-US" altLang="ko-KR" sz="2400" dirty="0"/>
          </a:p>
          <a:p>
            <a:pPr lvl="1">
              <a:lnSpc>
                <a:spcPts val="3360"/>
              </a:lnSpc>
            </a:pPr>
            <a:r>
              <a:rPr lang="ko-KR" altLang="en-US" sz="2400" dirty="0"/>
              <a:t>상속을 사용하여 컴포넌트를 만드는 것을 추천할 만한 사용 사례를 찾지 못함</a:t>
            </a:r>
            <a:endParaRPr lang="en-US" altLang="ko-KR" sz="2400" dirty="0"/>
          </a:p>
          <a:p>
            <a:pPr lvl="2">
              <a:lnSpc>
                <a:spcPts val="3360"/>
              </a:lnSpc>
            </a:pPr>
            <a:r>
              <a:rPr lang="ko-KR" altLang="en-US" sz="2000" dirty="0" err="1"/>
              <a:t>리액트를</a:t>
            </a:r>
            <a:r>
              <a:rPr lang="ko-KR" altLang="en-US" sz="2000" dirty="0"/>
              <a:t> 개발한 메타는 페이스북의 수천 개의 </a:t>
            </a:r>
            <a:r>
              <a:rPr lang="ko-KR" altLang="en-US" sz="2000" dirty="0" err="1"/>
              <a:t>리액트</a:t>
            </a:r>
            <a:r>
              <a:rPr lang="ko-KR" altLang="en-US" sz="2000" dirty="0"/>
              <a:t> 컴포넌트에서 찾지 못함</a:t>
            </a:r>
            <a:endParaRPr lang="en-US" altLang="ko-KR" sz="2000" dirty="0"/>
          </a:p>
          <a:p>
            <a:pPr lvl="1">
              <a:lnSpc>
                <a:spcPts val="3360"/>
              </a:lnSpc>
            </a:pPr>
            <a:r>
              <a:rPr lang="ko-KR" altLang="en-US" sz="2400" dirty="0" err="1"/>
              <a:t>리액트에서는</a:t>
            </a:r>
            <a:r>
              <a:rPr lang="ko-KR" altLang="en-US" sz="2400" dirty="0"/>
              <a:t> 상속이라는 방법을 사용하는 것보다는 합성을 사용하는 것이 더 좋음</a:t>
            </a:r>
            <a:endParaRPr lang="en-US" altLang="ko-KR" sz="2400" dirty="0"/>
          </a:p>
          <a:p>
            <a:pPr lvl="1">
              <a:lnSpc>
                <a:spcPts val="3360"/>
              </a:lnSpc>
              <a:buFont typeface="Wingdings" panose="05000000000000000000" pitchFamily="2" charset="2"/>
              <a:buChar char="è"/>
            </a:pPr>
            <a:r>
              <a:rPr lang="ko-KR" altLang="en-US" sz="2400" dirty="0"/>
              <a:t> 복잡한 컴포넌트를 쪼개 여러 개의 컴포넌트를 만들고</a:t>
            </a:r>
            <a:r>
              <a:rPr lang="en-US" altLang="ko-KR" sz="2400" dirty="0"/>
              <a:t>, </a:t>
            </a:r>
          </a:p>
          <a:p>
            <a:pPr marL="457200" lvl="1" indent="0">
              <a:lnSpc>
                <a:spcPts val="3360"/>
              </a:lnSpc>
              <a:buNone/>
            </a:pPr>
            <a:r>
              <a:rPr lang="en-US" altLang="ko-KR" sz="2400"/>
              <a:t>     </a:t>
            </a:r>
            <a:r>
              <a:rPr lang="ko-KR" altLang="en-US" sz="2400"/>
              <a:t>만든 </a:t>
            </a:r>
            <a:r>
              <a:rPr lang="ko-KR" altLang="en-US" sz="2400" dirty="0"/>
              <a:t>컴포넌트들을 조합하여 새로운 컴포넌트를 만들자</a:t>
            </a:r>
            <a:r>
              <a:rPr lang="en-US" altLang="ko-KR" sz="2400" dirty="0"/>
              <a:t>!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82769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796" y="539496"/>
            <a:ext cx="11255604" cy="960120"/>
          </a:xfrm>
        </p:spPr>
        <p:txBody>
          <a:bodyPr>
            <a:normAutofit/>
          </a:bodyPr>
          <a:lstStyle/>
          <a:p>
            <a:pPr algn="l"/>
            <a:r>
              <a:rPr lang="en-US" altLang="ko-KR" sz="3600" dirty="0">
                <a:latin typeface="Britannic Bold" panose="020B0903060703020204" pitchFamily="34" charset="0"/>
              </a:rPr>
              <a:t>13.3 Card </a:t>
            </a:r>
            <a:r>
              <a:rPr lang="ko-KR" altLang="en-US" sz="3600" dirty="0">
                <a:latin typeface="Britannic Bold" panose="020B0903060703020204" pitchFamily="34" charset="0"/>
              </a:rPr>
              <a:t>컴포넌트 만들기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796" y="1581347"/>
            <a:ext cx="5942030" cy="4838306"/>
          </a:xfrm>
        </p:spPr>
        <p:txBody>
          <a:bodyPr>
            <a:normAutofit/>
          </a:bodyPr>
          <a:lstStyle/>
          <a:p>
            <a:r>
              <a:rPr lang="en-US" altLang="ko-KR" sz="2800" dirty="0"/>
              <a:t>Card </a:t>
            </a:r>
            <a:r>
              <a:rPr lang="ko-KR" altLang="en-US" sz="2800" dirty="0"/>
              <a:t>컴포넌트 만들기  </a:t>
            </a:r>
            <a:r>
              <a:rPr lang="en-US" altLang="ko-KR" sz="2800" dirty="0"/>
              <a:t>- </a:t>
            </a:r>
            <a:r>
              <a:rPr lang="en-US" altLang="ko-KR" sz="2800" dirty="0" err="1"/>
              <a:t>Card</a:t>
            </a:r>
            <a:r>
              <a:rPr lang="en-US" altLang="ko-KR" sz="2400" dirty="0" err="1"/>
              <a:t>.jsx</a:t>
            </a:r>
            <a:endParaRPr lang="en-US" altLang="ko-KR" sz="2400" dirty="0"/>
          </a:p>
          <a:p>
            <a:pPr lvl="1"/>
            <a:endParaRPr lang="en-US" altLang="ko-KR" sz="2400" dirty="0"/>
          </a:p>
          <a:p>
            <a:endParaRPr lang="en-US" altLang="ko-KR" sz="2800" dirty="0"/>
          </a:p>
          <a:p>
            <a:endParaRPr lang="en-US" altLang="ko-KR" sz="28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A269D59-9342-0888-3E33-B18F20A369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3040" y="624679"/>
            <a:ext cx="5904861" cy="122297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9C0643C-AEB6-B671-3080-2992465E8F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2468" y="1847652"/>
            <a:ext cx="6156242" cy="422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3003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796" y="539496"/>
            <a:ext cx="11255604" cy="960120"/>
          </a:xfrm>
        </p:spPr>
        <p:txBody>
          <a:bodyPr>
            <a:normAutofit/>
          </a:bodyPr>
          <a:lstStyle/>
          <a:p>
            <a:pPr algn="l"/>
            <a:r>
              <a:rPr lang="en-US" altLang="ko-KR" sz="3600" dirty="0">
                <a:latin typeface="Britannic Bold" panose="020B0903060703020204" pitchFamily="34" charset="0"/>
              </a:rPr>
              <a:t>13.3 Card </a:t>
            </a:r>
            <a:r>
              <a:rPr lang="ko-KR" altLang="en-US" sz="3600" dirty="0">
                <a:latin typeface="Britannic Bold" panose="020B0903060703020204" pitchFamily="34" charset="0"/>
              </a:rPr>
              <a:t>컴포넌트 만들기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796" y="1581347"/>
            <a:ext cx="5942030" cy="4838306"/>
          </a:xfrm>
        </p:spPr>
        <p:txBody>
          <a:bodyPr>
            <a:normAutofit/>
          </a:bodyPr>
          <a:lstStyle/>
          <a:p>
            <a:r>
              <a:rPr lang="en-US" altLang="ko-KR" sz="2800" dirty="0" err="1"/>
              <a:t>ProfileCard</a:t>
            </a:r>
            <a:r>
              <a:rPr lang="en-US" altLang="ko-KR" sz="2800" dirty="0"/>
              <a:t> </a:t>
            </a:r>
            <a:r>
              <a:rPr lang="ko-KR" altLang="en-US" sz="2800" dirty="0"/>
              <a:t>컴포넌트 만들기  </a:t>
            </a:r>
            <a:r>
              <a:rPr lang="en-US" altLang="ko-KR" sz="2800" dirty="0"/>
              <a:t>- </a:t>
            </a:r>
            <a:r>
              <a:rPr lang="en-US" altLang="ko-KR" sz="2800" dirty="0" err="1"/>
              <a:t>ProfileCard</a:t>
            </a:r>
            <a:r>
              <a:rPr lang="en-US" altLang="ko-KR" sz="2400" dirty="0" err="1"/>
              <a:t>.jsx</a:t>
            </a:r>
            <a:endParaRPr lang="en-US" altLang="ko-KR" sz="2400" dirty="0"/>
          </a:p>
          <a:p>
            <a:pPr lvl="1"/>
            <a:endParaRPr lang="en-US" altLang="ko-KR" sz="2400" dirty="0"/>
          </a:p>
          <a:p>
            <a:endParaRPr lang="en-US" altLang="ko-KR" sz="2800" dirty="0"/>
          </a:p>
          <a:p>
            <a:endParaRPr lang="en-US" altLang="ko-KR" sz="28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6DF06EF-E08E-416D-F03D-F174147662F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844"/>
          <a:stretch/>
        </p:blipFill>
        <p:spPr>
          <a:xfrm>
            <a:off x="5734723" y="1499615"/>
            <a:ext cx="6485875" cy="3845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699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659" y="1647335"/>
            <a:ext cx="11162749" cy="4838306"/>
          </a:xfrm>
        </p:spPr>
        <p:txBody>
          <a:bodyPr>
            <a:normAutofit/>
          </a:bodyPr>
          <a:lstStyle/>
          <a:p>
            <a:r>
              <a:rPr lang="ko-KR" altLang="en-US" sz="2800" dirty="0"/>
              <a:t>실행하기</a:t>
            </a:r>
            <a:endParaRPr lang="en-US" altLang="ko-KR" sz="2800" dirty="0"/>
          </a:p>
          <a:p>
            <a:r>
              <a:rPr lang="en-US" altLang="ko-KR" sz="2800" dirty="0"/>
              <a:t>index.js</a:t>
            </a:r>
          </a:p>
          <a:p>
            <a:pPr lvl="1"/>
            <a:r>
              <a:rPr lang="ko-KR" altLang="en-US" sz="2400" dirty="0"/>
              <a:t>실제로 화면에 렌더링</a:t>
            </a:r>
            <a:endParaRPr lang="en-US" altLang="ko-KR" sz="2400" dirty="0"/>
          </a:p>
          <a:p>
            <a:r>
              <a:rPr lang="ko-KR" altLang="en-US" sz="2800" dirty="0" err="1"/>
              <a:t>리액트</a:t>
            </a:r>
            <a:r>
              <a:rPr lang="ko-KR" altLang="en-US" sz="2800" dirty="0"/>
              <a:t> 애플리케이션 실행</a:t>
            </a:r>
            <a:endParaRPr lang="en-US" altLang="ko-KR" sz="2800" dirty="0"/>
          </a:p>
          <a:p>
            <a:pPr lvl="1"/>
            <a:r>
              <a:rPr lang="en-US" altLang="ko-KR" sz="2400" dirty="0"/>
              <a:t>Terminal &gt; New Terminal</a:t>
            </a:r>
          </a:p>
          <a:p>
            <a:pPr lvl="1"/>
            <a:r>
              <a:rPr lang="en-US" altLang="ko-KR" sz="2400" dirty="0" err="1"/>
              <a:t>npm</a:t>
            </a:r>
            <a:r>
              <a:rPr lang="en-US" altLang="ko-KR" sz="2400" dirty="0"/>
              <a:t> start</a:t>
            </a:r>
            <a:endParaRPr lang="ko-KR" altLang="en-US" sz="2400" dirty="0"/>
          </a:p>
          <a:p>
            <a:endParaRPr lang="en-US" altLang="ko-KR" sz="2800" dirty="0"/>
          </a:p>
          <a:p>
            <a:endParaRPr lang="en-US" altLang="ko-KR" sz="2800" dirty="0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6FDED28D-718C-11C6-DF85-87C68ACA1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659" y="539496"/>
            <a:ext cx="11280742" cy="960120"/>
          </a:xfrm>
        </p:spPr>
        <p:txBody>
          <a:bodyPr>
            <a:normAutofit/>
          </a:bodyPr>
          <a:lstStyle/>
          <a:p>
            <a:pPr algn="l"/>
            <a:r>
              <a:rPr lang="en-US" altLang="ko-KR" sz="3600" dirty="0">
                <a:latin typeface="Britannic Bold" panose="020B0903060703020204" pitchFamily="34" charset="0"/>
              </a:rPr>
              <a:t>13.3 Card </a:t>
            </a:r>
            <a:r>
              <a:rPr lang="ko-KR" altLang="en-US" sz="3600" dirty="0">
                <a:latin typeface="Britannic Bold" panose="020B0903060703020204" pitchFamily="34" charset="0"/>
              </a:rPr>
              <a:t>컴포넌트 만들기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5050B80-6DB6-F6B4-8443-E170E0F10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0975" y="84842"/>
            <a:ext cx="6221688" cy="268663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B610766-F2E8-1324-3445-935A7A679F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0975" y="2919199"/>
            <a:ext cx="5648803" cy="3853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5180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2EBEBC-B662-60CC-A949-FDBF3BF2E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537" y="539496"/>
            <a:ext cx="10972800" cy="960120"/>
          </a:xfrm>
        </p:spPr>
        <p:txBody>
          <a:bodyPr/>
          <a:lstStyle/>
          <a:p>
            <a:pPr algn="l"/>
            <a:r>
              <a:rPr lang="ko-KR" altLang="en-US" dirty="0"/>
              <a:t>마치며 </a:t>
            </a:r>
            <a:r>
              <a:rPr lang="en-US" altLang="ko-KR" dirty="0"/>
              <a:t>- </a:t>
            </a:r>
            <a:r>
              <a:rPr lang="ko-KR" altLang="en-US" dirty="0"/>
              <a:t>요약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1C910D4-50EB-CFFF-670A-20ACA52011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2545" y="0"/>
            <a:ext cx="8349455" cy="537327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9A2D093-D385-9F5C-032E-5565481D9E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2546" y="5348981"/>
            <a:ext cx="6819170" cy="1466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516476"/>
      </p:ext>
    </p:extLst>
  </p:cSld>
  <p:clrMapOvr>
    <a:masterClrMapping/>
  </p:clrMapOvr>
</p:sld>
</file>

<file path=ppt/theme/theme1.xml><?xml version="1.0" encoding="utf-8"?>
<a:theme xmlns:a="http://schemas.openxmlformats.org/drawingml/2006/main" name="New_Simple01">
  <a:themeElements>
    <a:clrScheme name="따뜻한 파란색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New_Simple01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맑은 고딕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맑은 고딕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New_Simple01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hade val="100000"/>
                <a:satMod val="165000"/>
              </a:schemeClr>
            </a:gs>
            <a:gs pos="55000">
              <a:schemeClr val="phClr">
                <a:tint val="83000"/>
                <a:shade val="100000"/>
                <a:satMod val="155000"/>
              </a:schemeClr>
            </a:gs>
            <a:gs pos="100000">
              <a:schemeClr val="phClr">
                <a:shade val="85000"/>
                <a:satMod val="100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20040000"/>
            </a:lightRig>
          </a:scene3d>
          <a:sp3d contourW="12700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hueMod val="105000"/>
                <a:satMod val="250000"/>
              </a:schemeClr>
            </a:gs>
            <a:gs pos="100000">
              <a:schemeClr val="phClr">
                <a:tint val="95000"/>
                <a:shade val="100000"/>
                <a:satMod val="200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4000"/>
                <a:satMod val="200000"/>
              </a:schemeClr>
            </a:gs>
            <a:gs pos="100000">
              <a:schemeClr val="phClr">
                <a:shade val="70000"/>
                <a:satMod val="200000"/>
              </a:schemeClr>
            </a:gs>
          </a:gsLst>
          <a:path path="circle">
            <a:fillToRect l="40000" r="40000" b="6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심플 테마</Template>
  <TotalTime>1490</TotalTime>
  <Words>272</Words>
  <Application>Microsoft Office PowerPoint</Application>
  <PresentationFormat>와이드스크린</PresentationFormat>
  <Paragraphs>57</Paragraphs>
  <Slides>13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2" baseType="lpstr">
      <vt:lpstr>맑은 고딕</vt:lpstr>
      <vt:lpstr>Aharoni</vt:lpstr>
      <vt:lpstr>Arial</vt:lpstr>
      <vt:lpstr>Book Antiqua</vt:lpstr>
      <vt:lpstr>Britannic Bold</vt:lpstr>
      <vt:lpstr>Tw Cen MT</vt:lpstr>
      <vt:lpstr>Wingdings</vt:lpstr>
      <vt:lpstr>Wingdings 3</vt:lpstr>
      <vt:lpstr>New_Simple01</vt:lpstr>
      <vt:lpstr>소플의 처음 만난 리액트</vt:lpstr>
      <vt:lpstr>13장 합성 vs. 상속</vt:lpstr>
      <vt:lpstr>13.1 합성에 대해 알아보기</vt:lpstr>
      <vt:lpstr>13.1 합성에 대해 알아보기</vt:lpstr>
      <vt:lpstr>13.1 합성 기법 - Containment</vt:lpstr>
      <vt:lpstr>13.1 합성 기법 - Containment</vt:lpstr>
      <vt:lpstr>PowerPoint 프레젠테이션</vt:lpstr>
      <vt:lpstr>PowerPoint 프레젠테이션</vt:lpstr>
      <vt:lpstr>13.2 상속에 대해 알아보기</vt:lpstr>
      <vt:lpstr>13.3 Card 컴포넌트 만들기</vt:lpstr>
      <vt:lpstr>13.3 Card 컴포넌트 만들기</vt:lpstr>
      <vt:lpstr>13.3 Card 컴포넌트 만들기</vt:lpstr>
      <vt:lpstr>마치며 - 요약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소플의 처음 만난 리액트</dc:title>
  <dc:creator>김경민</dc:creator>
  <cp:lastModifiedBy>김경민</cp:lastModifiedBy>
  <cp:revision>51</cp:revision>
  <dcterms:created xsi:type="dcterms:W3CDTF">2024-03-11T14:49:31Z</dcterms:created>
  <dcterms:modified xsi:type="dcterms:W3CDTF">2025-05-28T12:39:57Z</dcterms:modified>
</cp:coreProperties>
</file>