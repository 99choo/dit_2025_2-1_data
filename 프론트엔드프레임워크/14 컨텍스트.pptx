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25"/>
  </p:notesMasterIdLst>
  <p:sldIdLst>
    <p:sldId id="256" r:id="rId2"/>
    <p:sldId id="257" r:id="rId3"/>
    <p:sldId id="258" r:id="rId4"/>
    <p:sldId id="340" r:id="rId5"/>
    <p:sldId id="339" r:id="rId6"/>
    <p:sldId id="341" r:id="rId7"/>
    <p:sldId id="342" r:id="rId8"/>
    <p:sldId id="343" r:id="rId9"/>
    <p:sldId id="344" r:id="rId10"/>
    <p:sldId id="346" r:id="rId11"/>
    <p:sldId id="347" r:id="rId12"/>
    <p:sldId id="348" r:id="rId13"/>
    <p:sldId id="345" r:id="rId14"/>
    <p:sldId id="349" r:id="rId15"/>
    <p:sldId id="350" r:id="rId16"/>
    <p:sldId id="351" r:id="rId17"/>
    <p:sldId id="303" r:id="rId18"/>
    <p:sldId id="352" r:id="rId19"/>
    <p:sldId id="353" r:id="rId20"/>
    <p:sldId id="320" r:id="rId21"/>
    <p:sldId id="276" r:id="rId22"/>
    <p:sldId id="355" r:id="rId23"/>
    <p:sldId id="35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BD2B46-ED7A-4A63-A880-227889412B42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C26BC2-3A5E-41D2-812B-C8BAFBFC9F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7399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6293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7247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04050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82046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21551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01409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0340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63997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38895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3853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70206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90051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71333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74117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02746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09942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82932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98042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39177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48972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43073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4533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10948416" y="2788920"/>
            <a:ext cx="1243584" cy="1005840"/>
          </a:xfrm>
          <a:prstGeom prst="rect">
            <a:avLst/>
          </a:prstGeom>
          <a:solidFill>
            <a:schemeClr val="accent5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gray">
          <a:xfrm>
            <a:off x="0" y="2130552"/>
            <a:ext cx="11277600" cy="91440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gray">
          <a:xfrm>
            <a:off x="3328416" y="0"/>
            <a:ext cx="2279904" cy="2359152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/>
        </p:nvSpPr>
        <p:spPr bwMode="gray">
          <a:xfrm>
            <a:off x="0" y="0"/>
            <a:ext cx="3718560" cy="235915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0832" y="3118105"/>
            <a:ext cx="10375392" cy="1470025"/>
          </a:xfrm>
        </p:spPr>
        <p:txBody>
          <a:bodyPr vert="horz" lIns="91440" tIns="45720" rIns="91440" bIns="45720" rtlCol="0" anchor="t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lang="en-US" sz="4800" b="1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2359152"/>
            <a:ext cx="10948416" cy="6858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  <a:defRPr lang="en-US" sz="2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7043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756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1728" y="3044952"/>
            <a:ext cx="6254496" cy="740664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Rectangle 6"/>
          <p:cNvSpPr/>
          <p:nvPr/>
        </p:nvSpPr>
        <p:spPr bwMode="gray">
          <a:xfrm>
            <a:off x="10948416" y="2788920"/>
            <a:ext cx="1243584" cy="1005840"/>
          </a:xfrm>
          <a:prstGeom prst="rect">
            <a:avLst/>
          </a:prstGeom>
          <a:solidFill>
            <a:schemeClr val="accent5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gray">
          <a:xfrm>
            <a:off x="0" y="2130552"/>
            <a:ext cx="11277600" cy="91440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gray">
          <a:xfrm>
            <a:off x="3328416" y="0"/>
            <a:ext cx="2279904" cy="2359152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/>
        </p:nvSpPr>
        <p:spPr bwMode="gray">
          <a:xfrm>
            <a:off x="0" y="0"/>
            <a:ext cx="3718560" cy="267004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609600" y="3813048"/>
            <a:ext cx="10363200" cy="1143000"/>
          </a:xfr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lang="en-US" sz="4400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88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7802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802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7722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609600" y="1627632"/>
            <a:ext cx="5386917" cy="63976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400" b="1" kern="1200" cap="none" spc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286000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6193368" y="1627632"/>
            <a:ext cx="5389033" cy="63976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400" b="1" kern="1200" cap="none" spc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286000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3888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6501384"/>
            <a:ext cx="12192000" cy="356616"/>
          </a:xfrm>
          <a:prstGeom prst="rect">
            <a:avLst/>
          </a:prstGeom>
          <a:solidFill>
            <a:schemeClr val="accent6">
              <a:lumMod val="60000"/>
              <a:lumOff val="4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 6"/>
          <p:cNvSpPr/>
          <p:nvPr/>
        </p:nvSpPr>
        <p:spPr bwMode="gray">
          <a:xfrm>
            <a:off x="0" y="0"/>
            <a:ext cx="12192000" cy="301752"/>
          </a:xfrm>
          <a:prstGeom prst="rect">
            <a:avLst/>
          </a:prstGeom>
          <a:solidFill>
            <a:schemeClr val="accent5">
              <a:lumMod val="60000"/>
              <a:lumOff val="4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gray">
          <a:xfrm>
            <a:off x="0" y="0"/>
            <a:ext cx="3243072" cy="530352"/>
          </a:xfrm>
          <a:prstGeom prst="rect">
            <a:avLst/>
          </a:prstGeom>
          <a:solidFill>
            <a:schemeClr val="accent2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gray">
          <a:xfrm>
            <a:off x="1901952" y="0"/>
            <a:ext cx="2097024" cy="438912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4400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417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 bwMode="gray">
          <a:xfrm>
            <a:off x="0" y="6501384"/>
            <a:ext cx="12192000" cy="356616"/>
          </a:xfrm>
          <a:prstGeom prst="rect">
            <a:avLst/>
          </a:prstGeom>
          <a:solidFill>
            <a:schemeClr val="accent6">
              <a:lumMod val="60000"/>
              <a:lumOff val="4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Rectangle 11"/>
          <p:cNvSpPr/>
          <p:nvPr/>
        </p:nvSpPr>
        <p:spPr bwMode="gray">
          <a:xfrm>
            <a:off x="0" y="0"/>
            <a:ext cx="12192000" cy="301752"/>
          </a:xfrm>
          <a:prstGeom prst="rect">
            <a:avLst/>
          </a:prstGeom>
          <a:solidFill>
            <a:schemeClr val="accent5">
              <a:lumMod val="60000"/>
              <a:lumOff val="4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Rectangle 12"/>
          <p:cNvSpPr/>
          <p:nvPr/>
        </p:nvSpPr>
        <p:spPr bwMode="gray">
          <a:xfrm>
            <a:off x="0" y="0"/>
            <a:ext cx="402336" cy="6858000"/>
          </a:xfrm>
          <a:prstGeom prst="rect">
            <a:avLst/>
          </a:prstGeom>
          <a:solidFill>
            <a:srgbClr val="9BBB5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Rectangle 13"/>
          <p:cNvSpPr/>
          <p:nvPr/>
        </p:nvSpPr>
        <p:spPr bwMode="gray">
          <a:xfrm>
            <a:off x="0" y="0"/>
            <a:ext cx="3243072" cy="530352"/>
          </a:xfrm>
          <a:prstGeom prst="rect">
            <a:avLst/>
          </a:prstGeom>
          <a:solidFill>
            <a:schemeClr val="accent2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/>
          <p:cNvSpPr/>
          <p:nvPr/>
        </p:nvSpPr>
        <p:spPr bwMode="gray">
          <a:xfrm>
            <a:off x="1901952" y="0"/>
            <a:ext cx="2097024" cy="438912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Rectangle 15"/>
          <p:cNvSpPr/>
          <p:nvPr/>
        </p:nvSpPr>
        <p:spPr bwMode="gray">
          <a:xfrm>
            <a:off x="11789664" y="0"/>
            <a:ext cx="402336" cy="6858000"/>
          </a:xfrm>
          <a:prstGeom prst="rect">
            <a:avLst/>
          </a:prstGeom>
          <a:solidFill>
            <a:srgbClr val="9BBB5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1159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548640"/>
            <a:ext cx="10265664" cy="932688"/>
          </a:xfr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3200" b="1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07936" y="1645920"/>
            <a:ext cx="3755136" cy="44805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645920"/>
            <a:ext cx="6400800" cy="44805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092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1824" y="658368"/>
            <a:ext cx="7315200" cy="822960"/>
          </a:xfr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2800" b="1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gray">
          <a:xfrm>
            <a:off x="2389632" y="1618488"/>
            <a:ext cx="7315200" cy="3639312"/>
          </a:xfrm>
          <a:solidFill>
            <a:srgbClr val="F8F8F8"/>
          </a:solidFill>
          <a:ln w="76200" cmpd="sng">
            <a:solidFill>
              <a:srgbClr val="FFFFFF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  <a:defRPr lang="en-US" sz="3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32" y="5413248"/>
            <a:ext cx="7315200" cy="98755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5161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257432" cy="452596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514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 rot="5400000">
            <a:off x="7182612" y="2048256"/>
            <a:ext cx="6519672" cy="2414016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gray">
          <a:xfrm>
            <a:off x="8737600" y="6135624"/>
            <a:ext cx="1316736" cy="722376"/>
          </a:xfrm>
          <a:prstGeom prst="rect">
            <a:avLst/>
          </a:prstGeom>
          <a:solidFill>
            <a:schemeClr val="accent5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gray">
          <a:xfrm>
            <a:off x="11474908" y="1379355"/>
            <a:ext cx="719328" cy="1463040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/>
        </p:nvSpPr>
        <p:spPr bwMode="gray">
          <a:xfrm>
            <a:off x="11472672" y="0"/>
            <a:ext cx="719328" cy="182880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41536" y="274637"/>
            <a:ext cx="2231136" cy="585216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436864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628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0" y="402336"/>
            <a:ext cx="11582400" cy="109728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gray">
          <a:xfrm>
            <a:off x="10887456" y="996696"/>
            <a:ext cx="1304544" cy="896112"/>
          </a:xfrm>
          <a:prstGeom prst="rect">
            <a:avLst/>
          </a:prstGeom>
          <a:solidFill>
            <a:schemeClr val="accent5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gray">
          <a:xfrm>
            <a:off x="2377440" y="0"/>
            <a:ext cx="2596896" cy="539496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/>
        </p:nvSpPr>
        <p:spPr bwMode="gray">
          <a:xfrm>
            <a:off x="0" y="0"/>
            <a:ext cx="3243072" cy="53949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9496"/>
            <a:ext cx="10972800" cy="96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537960"/>
            <a:ext cx="2844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19F864-164D-4ED0-9F9C-B5C7D0A4A0B2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827264" y="6537960"/>
            <a:ext cx="3860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69536" y="6537960"/>
            <a:ext cx="2844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6779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2"/>
          </a:solidFill>
          <a:latin typeface="Aharoni" panose="02010803020104030203" pitchFamily="2" charset="-79"/>
          <a:ea typeface="+mj-ea"/>
          <a:cs typeface="Aharoni" panose="02010803020104030203" pitchFamily="2" charset="-79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Clr>
          <a:schemeClr val="accent1"/>
        </a:buClr>
        <a:buSzPct val="90000"/>
        <a:buFont typeface="Wingdings 3" pitchFamily="18" charset="2"/>
        <a:buChar char=""/>
        <a:defRPr sz="3200" kern="1200">
          <a:solidFill>
            <a:schemeClr val="tx1"/>
          </a:solidFill>
          <a:latin typeface="Book Antiqua" panose="02040602050305030304" pitchFamily="18" charset="0"/>
          <a:ea typeface="+mn-ea"/>
          <a:cs typeface="Aharoni" panose="02010803020104030203" pitchFamily="2" charset="-79"/>
        </a:defRPr>
      </a:lvl1pPr>
      <a:lvl2pPr marL="742950" indent="-285750" algn="l" defTabSz="914400" rtl="0" eaLnBrk="1" latinLnBrk="1" hangingPunct="1">
        <a:spcBef>
          <a:spcPct val="20000"/>
        </a:spcBef>
        <a:buClr>
          <a:schemeClr val="accent2"/>
        </a:buClr>
        <a:buSzPct val="90000"/>
        <a:buFont typeface="Wingdings 3" pitchFamily="18" charset="2"/>
        <a:buChar char=""/>
        <a:defRPr sz="2800" kern="1200">
          <a:solidFill>
            <a:schemeClr val="tx1"/>
          </a:solidFill>
          <a:latin typeface="Book Antiqua" panose="02040602050305030304" pitchFamily="18" charset="0"/>
          <a:ea typeface="+mn-ea"/>
          <a:cs typeface="Aharoni" panose="02010803020104030203" pitchFamily="2" charset="-79"/>
        </a:defRPr>
      </a:lvl2pPr>
      <a:lvl3pPr marL="1143000" indent="-228600" algn="l" defTabSz="914400" rtl="0" eaLnBrk="1" latinLnBrk="1" hangingPunct="1">
        <a:spcBef>
          <a:spcPct val="20000"/>
        </a:spcBef>
        <a:buClr>
          <a:schemeClr val="accent3"/>
        </a:buClr>
        <a:buSzPct val="90000"/>
        <a:buFont typeface="Wingdings 3" pitchFamily="18" charset="2"/>
        <a:buChar char=""/>
        <a:defRPr sz="2400" kern="1200">
          <a:solidFill>
            <a:schemeClr val="tx1"/>
          </a:solidFill>
          <a:latin typeface="Book Antiqua" panose="02040602050305030304" pitchFamily="18" charset="0"/>
          <a:ea typeface="+mn-ea"/>
          <a:cs typeface="Aharoni" panose="02010803020104030203" pitchFamily="2" charset="-79"/>
        </a:defRPr>
      </a:lvl3pPr>
      <a:lvl4pPr marL="1600200" indent="-228600" algn="l" defTabSz="914400" rtl="0" eaLnBrk="1" latinLnBrk="1" hangingPunct="1">
        <a:spcBef>
          <a:spcPct val="20000"/>
        </a:spcBef>
        <a:buClr>
          <a:schemeClr val="accent4"/>
        </a:buClr>
        <a:buSzPct val="90000"/>
        <a:buFont typeface="Wingdings 3" pitchFamily="18" charset="2"/>
        <a:buChar char=""/>
        <a:defRPr sz="2000" kern="1200">
          <a:solidFill>
            <a:schemeClr val="tx1"/>
          </a:solidFill>
          <a:latin typeface="Book Antiqua" panose="02040602050305030304" pitchFamily="18" charset="0"/>
          <a:ea typeface="+mn-ea"/>
          <a:cs typeface="Aharoni" panose="02010803020104030203" pitchFamily="2" charset="-79"/>
        </a:defRPr>
      </a:lvl4pPr>
      <a:lvl5pPr marL="2057400" indent="-228600" algn="l" defTabSz="914400" rtl="0" eaLnBrk="1" latinLnBrk="1" hangingPunct="1">
        <a:spcBef>
          <a:spcPct val="20000"/>
        </a:spcBef>
        <a:buClr>
          <a:schemeClr val="accent5"/>
        </a:buClr>
        <a:buSzPct val="90000"/>
        <a:buFont typeface="Wingdings 3" pitchFamily="18" charset="2"/>
        <a:buChar char=""/>
        <a:defRPr sz="2000" kern="1200">
          <a:solidFill>
            <a:schemeClr val="tx1"/>
          </a:solidFill>
          <a:latin typeface="Book Antiqua" panose="02040602050305030304" pitchFamily="18" charset="0"/>
          <a:ea typeface="+mn-ea"/>
          <a:cs typeface="Aharoni" panose="02010803020104030203" pitchFamily="2" charset="-79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6FFF2C-5BE4-4A02-EE82-5DE96A69A9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/>
              <a:t>소플의</a:t>
            </a:r>
            <a:r>
              <a:rPr lang="ko-KR" altLang="en-US" dirty="0"/>
              <a:t> 처음 만난 </a:t>
            </a:r>
            <a:r>
              <a:rPr lang="ko-KR" altLang="en-US" dirty="0" err="1"/>
              <a:t>리액트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7FA9B2-251D-830E-5283-181B2218F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5135883"/>
            <a:ext cx="10572000" cy="1028513"/>
          </a:xfrm>
        </p:spPr>
        <p:txBody>
          <a:bodyPr>
            <a:noAutofit/>
          </a:bodyPr>
          <a:lstStyle/>
          <a:p>
            <a:r>
              <a:rPr lang="ko-KR" altLang="en-US" sz="2000" dirty="0" err="1"/>
              <a:t>한빛미디어</a:t>
            </a:r>
            <a:endParaRPr lang="en-US" altLang="ko-KR" sz="2000" dirty="0"/>
          </a:p>
          <a:p>
            <a:r>
              <a:rPr lang="ko-KR" altLang="en-US" sz="2000" dirty="0"/>
              <a:t>김 경 민</a:t>
            </a:r>
          </a:p>
        </p:txBody>
      </p:sp>
    </p:spTree>
    <p:extLst>
      <p:ext uri="{BB962C8B-B14F-4D97-AF65-F5344CB8AC3E}">
        <p14:creationId xmlns:p14="http://schemas.microsoft.com/office/powerpoint/2010/main" val="373856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6E483-88F2-1E3C-A900-7D71AFB4C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817" y="539496"/>
            <a:ext cx="10501460" cy="960120"/>
          </a:xfrm>
        </p:spPr>
        <p:txBody>
          <a:bodyPr/>
          <a:lstStyle/>
          <a:p>
            <a:pPr algn="l"/>
            <a:r>
              <a:rPr lang="en-US" altLang="ko-KR" b="1" dirty="0">
                <a:latin typeface="Britannic Bold" panose="020B0903060703020204" pitchFamily="34" charset="0"/>
              </a:rPr>
              <a:t>14</a:t>
            </a:r>
            <a:r>
              <a:rPr lang="ko-KR" altLang="en-US" b="1" dirty="0">
                <a:latin typeface="Britannic Bold" panose="020B0903060703020204" pitchFamily="34" charset="0"/>
              </a:rPr>
              <a:t>장 컨텍스트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98FD53C-8AA7-4B87-6330-7386E2CB7B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7745" y="0"/>
            <a:ext cx="79633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583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14.1 </a:t>
            </a:r>
            <a:r>
              <a:rPr lang="ko-KR" altLang="en-US" sz="3600" dirty="0" err="1">
                <a:latin typeface="Britannic Bold" panose="020B0903060703020204" pitchFamily="34" charset="0"/>
              </a:rPr>
              <a:t>컨텍스트란</a:t>
            </a:r>
            <a:r>
              <a:rPr lang="ko-KR" altLang="en-US" sz="3600" dirty="0">
                <a:latin typeface="Britannic Bold" panose="020B0903060703020204" pitchFamily="34" charset="0"/>
              </a:rPr>
              <a:t> 무엇인가</a:t>
            </a:r>
            <a:r>
              <a:rPr lang="en-US" altLang="ko-KR" sz="3600" dirty="0">
                <a:latin typeface="Britannic Bold" panose="020B0903060703020204" pitchFamily="34" charset="0"/>
              </a:rPr>
              <a:t>?</a:t>
            </a:r>
            <a:endParaRPr lang="ko-KR" altLang="en-US" sz="3600" dirty="0">
              <a:latin typeface="Britannic Bold" panose="020B090306070302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1447282" cy="5026842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컴포넌트들 사이에서 데이터를 </a:t>
            </a:r>
            <a:r>
              <a:rPr lang="en-US" altLang="ko-KR" sz="2400" dirty="0"/>
              <a:t>props</a:t>
            </a:r>
            <a:r>
              <a:rPr lang="ko-KR" altLang="en-US" sz="2400" dirty="0"/>
              <a:t>를 통해 전달하는 것이 아닌 컴포넌트 트리를 통해 곧바로 데이터를 전달하는 방식</a:t>
            </a:r>
            <a:endParaRPr lang="en-US" altLang="ko-KR" sz="2400" dirty="0"/>
          </a:p>
          <a:p>
            <a:r>
              <a:rPr lang="ko-KR" altLang="en-US" sz="2400" dirty="0"/>
              <a:t>어떤 </a:t>
            </a:r>
            <a:r>
              <a:rPr lang="ko-KR" altLang="en-US" sz="2400" dirty="0" err="1"/>
              <a:t>컴포넌트든지</a:t>
            </a:r>
            <a:r>
              <a:rPr lang="ko-KR" altLang="en-US" sz="2400" dirty="0"/>
              <a:t> 컨텍스트에 있는 데이터에 쉽게 접근할 수 있음</a:t>
            </a:r>
            <a:endParaRPr lang="en-US" altLang="ko-KR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E98038F-8818-F43D-C764-21564B7DB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277" y="2865709"/>
            <a:ext cx="4373054" cy="386191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718EC9E-B0D6-1958-47D2-7FB7CF39B4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8462" y="2865709"/>
            <a:ext cx="5985261" cy="3861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506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14.2 </a:t>
            </a:r>
            <a:r>
              <a:rPr lang="ko-KR" altLang="en-US" sz="3600" dirty="0">
                <a:latin typeface="Britannic Bold" panose="020B0903060703020204" pitchFamily="34" charset="0"/>
              </a:rPr>
              <a:t>언제 컨텍스트를 사용해야 할까</a:t>
            </a:r>
            <a:r>
              <a:rPr lang="en-US" altLang="ko-KR" sz="3600" dirty="0">
                <a:latin typeface="Britannic Bold" panose="020B0903060703020204" pitchFamily="34" charset="0"/>
              </a:rPr>
              <a:t>?</a:t>
            </a:r>
            <a:endParaRPr lang="ko-KR" altLang="en-US" sz="3600" dirty="0">
              <a:latin typeface="Britannic Bold" panose="020B090306070302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1447282" cy="5026842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여러 컴포넌트에서 계속해서 접근이 일어날 수 있는 데이터들이 있는 경우 </a:t>
            </a:r>
            <a:endParaRPr lang="en-US" altLang="ko-KR" sz="2400" dirty="0"/>
          </a:p>
          <a:p>
            <a:r>
              <a:rPr lang="en-US" altLang="ko-KR" sz="2400" dirty="0"/>
              <a:t>Provider</a:t>
            </a:r>
            <a:r>
              <a:rPr lang="ko-KR" altLang="en-US" sz="2400" dirty="0"/>
              <a:t>의 모든 하위 컴포넌트가 얼마나 깊이 위치해 있는지 관계없이 컨텍스트의 데이터를 읽을 수 있음</a:t>
            </a:r>
            <a:endParaRPr lang="en-US" altLang="ko-KR" sz="2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D422C9B-1336-6F6F-CF0F-E267F850B4C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8969"/>
          <a:stretch/>
        </p:blipFill>
        <p:spPr>
          <a:xfrm>
            <a:off x="0" y="3030718"/>
            <a:ext cx="7693015" cy="275668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38BAAD9-D223-CB38-5F6C-86B832B536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2183" y="3827282"/>
            <a:ext cx="5249987" cy="246773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AB01283-96F3-A372-43BF-C8E81923A44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1169" r="46202" b="902"/>
          <a:stretch/>
        </p:blipFill>
        <p:spPr>
          <a:xfrm>
            <a:off x="7523328" y="3167406"/>
            <a:ext cx="4541383" cy="66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627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BB1B9EDB-98B7-2584-D330-213B43B126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5413" y="0"/>
            <a:ext cx="7004114" cy="283920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74E87E0-37B7-13D8-604E-51F38E45606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7540"/>
          <a:stretch/>
        </p:blipFill>
        <p:spPr>
          <a:xfrm>
            <a:off x="-75413" y="2839207"/>
            <a:ext cx="7220931" cy="174059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810AB173-1E44-D13E-0C51-E36B26D7BE7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5764"/>
          <a:stretch/>
        </p:blipFill>
        <p:spPr>
          <a:xfrm>
            <a:off x="5369086" y="1928847"/>
            <a:ext cx="6822914" cy="5435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372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14.3 </a:t>
            </a:r>
            <a:r>
              <a:rPr lang="ko-KR" altLang="en-US" sz="3600" dirty="0">
                <a:latin typeface="Britannic Bold" panose="020B0903060703020204" pitchFamily="34" charset="0"/>
              </a:rPr>
              <a:t>컨텍스트를 사용하기 전에 고려할 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3" y="1600201"/>
            <a:ext cx="11387578" cy="5026842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컴포넌트와 컨텍스트가 연동되면 재사용성이 떨어짐</a:t>
            </a:r>
            <a:endParaRPr lang="en-US" altLang="ko-KR" sz="2400" dirty="0"/>
          </a:p>
          <a:p>
            <a:r>
              <a:rPr lang="ko-KR" altLang="en-US" sz="2400" dirty="0"/>
              <a:t>다른 레벨의 많은 컴포넌트가 데이터를 필요로 하는 경우가 아니라면</a:t>
            </a:r>
            <a:r>
              <a:rPr lang="en-US" altLang="ko-KR" sz="2400" dirty="0"/>
              <a:t>, </a:t>
            </a:r>
            <a:r>
              <a:rPr lang="ko-KR" altLang="en-US" sz="2400" dirty="0"/>
              <a:t>기존 방식대로 </a:t>
            </a:r>
            <a:r>
              <a:rPr lang="en-US" altLang="ko-KR" sz="2400" dirty="0"/>
              <a:t>props</a:t>
            </a:r>
            <a:r>
              <a:rPr lang="ko-KR" altLang="en-US" sz="2400" dirty="0"/>
              <a:t>를 통해 데이터를 전달하는 것이 더 적합</a:t>
            </a:r>
            <a:endParaRPr lang="en-US" altLang="ko-KR" sz="2400" dirty="0"/>
          </a:p>
          <a:p>
            <a:r>
              <a:rPr lang="ko-KR" altLang="en-US" sz="2400" dirty="0"/>
              <a:t>예제</a:t>
            </a:r>
            <a:r>
              <a:rPr lang="en-US" altLang="ko-KR" sz="2400" dirty="0"/>
              <a:t>)</a:t>
            </a:r>
          </a:p>
          <a:p>
            <a:pPr lvl="1"/>
            <a:r>
              <a:rPr lang="ko-KR" altLang="en-US" sz="2000" dirty="0"/>
              <a:t>사용자 정보와 아바타 사이즈를 </a:t>
            </a:r>
            <a:endParaRPr lang="en-US" altLang="ko-KR" sz="2000" dirty="0"/>
          </a:p>
          <a:p>
            <a:pPr marL="457200" lvl="1" indent="0">
              <a:buNone/>
            </a:pPr>
            <a:r>
              <a:rPr lang="en-US" altLang="ko-KR" sz="2000" dirty="0"/>
              <a:t>    </a:t>
            </a:r>
            <a:r>
              <a:rPr lang="ko-KR" altLang="en-US" sz="2000" dirty="0"/>
              <a:t>몇 단계에 걸쳐서 하위 컴포넌트인 </a:t>
            </a:r>
            <a:endParaRPr lang="en-US" altLang="ko-KR" sz="2000" dirty="0"/>
          </a:p>
          <a:p>
            <a:pPr marL="457200" lvl="1" indent="0">
              <a:buNone/>
            </a:pPr>
            <a:r>
              <a:rPr lang="en-US" altLang="ko-KR" sz="2000" dirty="0"/>
              <a:t>    Link</a:t>
            </a:r>
            <a:r>
              <a:rPr lang="ko-KR" altLang="en-US" sz="2000" dirty="0"/>
              <a:t>와 </a:t>
            </a:r>
            <a:r>
              <a:rPr lang="en-US" altLang="ko-KR" sz="2000" dirty="0"/>
              <a:t>Avatar</a:t>
            </a:r>
            <a:r>
              <a:rPr lang="ko-KR" altLang="en-US" sz="2000" dirty="0"/>
              <a:t>로 전달하는 </a:t>
            </a:r>
            <a:r>
              <a:rPr lang="en-US" altLang="ko-KR" sz="2000" dirty="0"/>
              <a:t>Page </a:t>
            </a:r>
            <a:r>
              <a:rPr lang="ko-KR" altLang="en-US" sz="2000" dirty="0" err="1"/>
              <a:t>컨포넌트</a:t>
            </a:r>
            <a:endParaRPr lang="en-US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4F10743-AC74-A179-5358-38A14D42B7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93"/>
          <a:stretch/>
        </p:blipFill>
        <p:spPr>
          <a:xfrm>
            <a:off x="6207657" y="2818614"/>
            <a:ext cx="5773432" cy="4039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853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960120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14.3 </a:t>
            </a:r>
            <a:r>
              <a:rPr lang="ko-KR" altLang="en-US" sz="3600" dirty="0">
                <a:latin typeface="Britannic Bold" panose="020B0903060703020204" pitchFamily="34" charset="0"/>
              </a:rPr>
              <a:t>컨텍스트를 사용하기 전에 고려할 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600201"/>
            <a:ext cx="5147035" cy="5026842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컨텍스트를 사용하지 않고 해결할 수 있는 방법</a:t>
            </a:r>
            <a:endParaRPr lang="en-US" altLang="ko-KR" sz="2400" dirty="0"/>
          </a:p>
          <a:p>
            <a:pPr lvl="1"/>
            <a:r>
              <a:rPr lang="en-US" altLang="ko-KR" sz="2000" dirty="0"/>
              <a:t>Avatar </a:t>
            </a:r>
            <a:r>
              <a:rPr lang="ko-KR" altLang="en-US" sz="2000" dirty="0"/>
              <a:t>컴포넌트를 변수에 저장하여 직접 넘겨주기</a:t>
            </a:r>
            <a:endParaRPr lang="en-US" altLang="ko-KR" sz="2000" dirty="0"/>
          </a:p>
          <a:p>
            <a:pPr lvl="1"/>
            <a:r>
              <a:rPr lang="en-US" altLang="ko-KR" sz="2000" dirty="0"/>
              <a:t>9</a:t>
            </a:r>
            <a:r>
              <a:rPr lang="ko-KR" altLang="en-US" sz="2000" dirty="0"/>
              <a:t>장에서 배운 </a:t>
            </a:r>
            <a:r>
              <a:rPr lang="ko-KR" altLang="en-US" sz="2000" dirty="0" err="1"/>
              <a:t>엘리먼트</a:t>
            </a:r>
            <a:r>
              <a:rPr lang="ko-KR" altLang="en-US" sz="2000" dirty="0"/>
              <a:t> 변수 형태</a:t>
            </a:r>
            <a:endParaRPr lang="en-US" altLang="ko-KR" sz="2000" dirty="0"/>
          </a:p>
          <a:p>
            <a:pPr lvl="1"/>
            <a:r>
              <a:rPr lang="ko-KR" altLang="en-US" sz="2000" dirty="0"/>
              <a:t>모든 상황에 이 방식이 좋은 것은 아님</a:t>
            </a:r>
            <a:endParaRPr lang="en-US" altLang="ko-KR" sz="2000" dirty="0"/>
          </a:p>
          <a:p>
            <a:pPr lvl="1"/>
            <a:r>
              <a:rPr lang="ko-KR" altLang="en-US" sz="2000" dirty="0"/>
              <a:t>데이터가 많아질수록 상위 컴포넌트에 몰리기 때문에 상위 컴포넌트는 점점 더 복잡해짐</a:t>
            </a:r>
            <a:endParaRPr lang="en-US" altLang="ko-KR" sz="20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7AA7D3E-E24E-3721-8985-E02E30F5A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0785" y="810705"/>
            <a:ext cx="7141215" cy="6047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299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14.4 </a:t>
            </a:r>
            <a:r>
              <a:rPr lang="ko-KR" altLang="en-US" sz="3600" dirty="0">
                <a:latin typeface="Britannic Bold" panose="020B0903060703020204" pitchFamily="34" charset="0"/>
              </a:rPr>
              <a:t>컨텍스트 </a:t>
            </a:r>
            <a:r>
              <a:rPr lang="en-US" altLang="ko-KR" sz="3600" dirty="0">
                <a:latin typeface="Britannic Bold" panose="020B0903060703020204" pitchFamily="34" charset="0"/>
              </a:rPr>
              <a:t>API</a:t>
            </a:r>
            <a:endParaRPr lang="ko-KR" altLang="en-US" sz="3600" dirty="0">
              <a:latin typeface="Britannic Bold" panose="020B090306070302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3" y="1600201"/>
            <a:ext cx="11387578" cy="5026842"/>
          </a:xfrm>
        </p:spPr>
        <p:txBody>
          <a:bodyPr>
            <a:normAutofit/>
          </a:bodyPr>
          <a:lstStyle/>
          <a:p>
            <a:r>
              <a:rPr lang="en-US" altLang="ko-KR" sz="2800" dirty="0" err="1"/>
              <a:t>React.createContext</a:t>
            </a:r>
            <a:r>
              <a:rPr lang="en-US" altLang="ko-KR" sz="2800" dirty="0"/>
              <a:t>()</a:t>
            </a:r>
          </a:p>
          <a:p>
            <a:pPr lvl="1"/>
            <a:r>
              <a:rPr lang="ko-KR" altLang="en-US" sz="2400" dirty="0"/>
              <a:t>컨텍스트를 생성하기 위한 함수</a:t>
            </a:r>
            <a:endParaRPr lang="en-US" altLang="ko-KR" sz="2400" dirty="0"/>
          </a:p>
          <a:p>
            <a:pPr lvl="1"/>
            <a:r>
              <a:rPr lang="ko-KR" altLang="en-US" sz="2400" dirty="0"/>
              <a:t>컨텍스트 객체를 </a:t>
            </a:r>
            <a:r>
              <a:rPr lang="ko-KR" altLang="en-US" sz="2400" dirty="0" err="1"/>
              <a:t>리턴함</a:t>
            </a:r>
            <a:endParaRPr lang="en-US" altLang="ko-KR" sz="2400" dirty="0"/>
          </a:p>
          <a:p>
            <a:pPr lvl="1"/>
            <a:r>
              <a:rPr lang="ko-KR" altLang="en-US" sz="2400" dirty="0"/>
              <a:t>기본값으로 </a:t>
            </a:r>
            <a:r>
              <a:rPr lang="en-US" altLang="ko-KR" sz="2400" dirty="0"/>
              <a:t>undefined</a:t>
            </a:r>
            <a:r>
              <a:rPr lang="ko-KR" altLang="en-US" sz="2400" dirty="0"/>
              <a:t>를 넣으면 기본값이 사용되지 않음</a:t>
            </a:r>
            <a:endParaRPr lang="en-US" altLang="ko-KR" sz="2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FE0B405-7CE7-415A-12BF-27F7998523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19" y="3619507"/>
            <a:ext cx="6539256" cy="791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981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14.4 </a:t>
            </a:r>
            <a:r>
              <a:rPr lang="ko-KR" altLang="en-US" sz="3600" dirty="0">
                <a:latin typeface="Britannic Bold" panose="020B0903060703020204" pitchFamily="34" charset="0"/>
              </a:rPr>
              <a:t>컨텍스트 </a:t>
            </a:r>
            <a:r>
              <a:rPr lang="en-US" altLang="ko-KR" sz="3600" dirty="0">
                <a:latin typeface="Britannic Bold" panose="020B0903060703020204" pitchFamily="34" charset="0"/>
              </a:rPr>
              <a:t>API</a:t>
            </a:r>
            <a:endParaRPr lang="ko-KR" altLang="en-US" sz="3600" dirty="0">
              <a:latin typeface="Britannic Bold" panose="020B090306070302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3" y="1600201"/>
            <a:ext cx="11233607" cy="5026842"/>
          </a:xfrm>
        </p:spPr>
        <p:txBody>
          <a:bodyPr>
            <a:normAutofit/>
          </a:bodyPr>
          <a:lstStyle/>
          <a:p>
            <a:r>
              <a:rPr lang="en-US" altLang="ko-KR" sz="2800" dirty="0" err="1"/>
              <a:t>Context.Provider</a:t>
            </a:r>
            <a:endParaRPr lang="en-US" altLang="ko-KR" sz="2800" dirty="0"/>
          </a:p>
          <a:p>
            <a:pPr lvl="1"/>
            <a:r>
              <a:rPr lang="ko-KR" altLang="en-US" sz="2400" dirty="0"/>
              <a:t>제공자</a:t>
            </a:r>
            <a:r>
              <a:rPr lang="en-US" altLang="ko-KR" sz="2400" dirty="0"/>
              <a:t>, </a:t>
            </a:r>
            <a:r>
              <a:rPr lang="ko-KR" altLang="en-US" sz="2400" dirty="0"/>
              <a:t>데이터를 제공해주는 컴포넌트</a:t>
            </a:r>
            <a:endParaRPr lang="en-US" altLang="ko-KR" sz="2400" dirty="0"/>
          </a:p>
          <a:p>
            <a:pPr lvl="1"/>
            <a:r>
              <a:rPr lang="ko-KR" altLang="en-US" sz="2400" dirty="0"/>
              <a:t>모든 컨텍스트 객체는 </a:t>
            </a:r>
            <a:r>
              <a:rPr lang="en-US" altLang="ko-KR" sz="2400" dirty="0"/>
              <a:t>Provider</a:t>
            </a:r>
            <a:r>
              <a:rPr lang="ko-KR" altLang="en-US" sz="2400" dirty="0"/>
              <a:t>라는 컴포넌트를 가지고 있음</a:t>
            </a:r>
            <a:endParaRPr lang="en-US" altLang="ko-KR" sz="2400" dirty="0"/>
          </a:p>
          <a:p>
            <a:pPr lvl="1"/>
            <a:r>
              <a:rPr lang="en-US" altLang="ko-KR" sz="2400" dirty="0"/>
              <a:t>Provider </a:t>
            </a:r>
            <a:r>
              <a:rPr lang="ko-KR" altLang="en-US" sz="2400" dirty="0"/>
              <a:t>컴포넌트로 하위 컴포넌트들을 감싸주면 모든 하위 컴포넌트들이 해당 컨텍스트의 데이터에 접근할 수 있게 됨</a:t>
            </a:r>
            <a:endParaRPr lang="en-US" altLang="ko-KR" sz="2400" dirty="0"/>
          </a:p>
          <a:p>
            <a:pPr lvl="1"/>
            <a:r>
              <a:rPr lang="en-US" altLang="ko-KR" sz="2400" dirty="0"/>
              <a:t>Provider</a:t>
            </a:r>
            <a:r>
              <a:rPr lang="ko-KR" altLang="en-US" sz="2400" dirty="0"/>
              <a:t>에는 </a:t>
            </a:r>
            <a:r>
              <a:rPr lang="en-US" altLang="ko-KR" sz="2400" dirty="0"/>
              <a:t>value</a:t>
            </a:r>
            <a:r>
              <a:rPr lang="ko-KR" altLang="en-US" sz="2400" dirty="0"/>
              <a:t>라는 </a:t>
            </a:r>
            <a:r>
              <a:rPr lang="en-US" altLang="ko-KR" sz="2400" dirty="0"/>
              <a:t>prop</a:t>
            </a:r>
            <a:r>
              <a:rPr lang="ko-KR" altLang="en-US" sz="2400" dirty="0"/>
              <a:t>이 있으며</a:t>
            </a:r>
            <a:r>
              <a:rPr lang="en-US" altLang="ko-KR" sz="2400" dirty="0"/>
              <a:t>, </a:t>
            </a:r>
            <a:r>
              <a:rPr lang="ko-KR" altLang="en-US" sz="2400" dirty="0"/>
              <a:t>이것이 데이터로써 하위에 있는 컴포넌트들에게 전달됨</a:t>
            </a:r>
            <a:endParaRPr lang="en-US" altLang="ko-KR" sz="2400" dirty="0"/>
          </a:p>
          <a:p>
            <a:pPr lvl="1"/>
            <a:r>
              <a:rPr lang="ko-KR" altLang="en-US" sz="2400" dirty="0"/>
              <a:t>여러 개의 </a:t>
            </a:r>
            <a:r>
              <a:rPr lang="en-US" altLang="ko-KR" sz="2400" dirty="0"/>
              <a:t>Provider </a:t>
            </a:r>
            <a:r>
              <a:rPr lang="ko-KR" altLang="en-US" sz="2400" dirty="0"/>
              <a:t>컴포넌트를 </a:t>
            </a:r>
            <a:r>
              <a:rPr lang="ko-KR" altLang="en-US" sz="2400" dirty="0" err="1"/>
              <a:t>중첩시켜</a:t>
            </a:r>
            <a:r>
              <a:rPr lang="ko-KR" altLang="en-US" sz="2400" dirty="0"/>
              <a:t> 사용할 수 있음</a:t>
            </a:r>
            <a:endParaRPr lang="en-US" altLang="ko-KR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4159615-46F9-74BB-D96B-6BFC3AEA8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096" y="5144678"/>
            <a:ext cx="6269848" cy="814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550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14.4 </a:t>
            </a:r>
            <a:r>
              <a:rPr lang="ko-KR" altLang="en-US" sz="3600" dirty="0">
                <a:latin typeface="Britannic Bold" panose="020B0903060703020204" pitchFamily="34" charset="0"/>
              </a:rPr>
              <a:t>컨텍스트 </a:t>
            </a:r>
            <a:r>
              <a:rPr lang="en-US" altLang="ko-KR" sz="3600" dirty="0">
                <a:latin typeface="Britannic Bold" panose="020B0903060703020204" pitchFamily="34" charset="0"/>
              </a:rPr>
              <a:t>API</a:t>
            </a:r>
            <a:endParaRPr lang="ko-KR" altLang="en-US" sz="3600" dirty="0">
              <a:latin typeface="Britannic Bold" panose="020B090306070302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3" y="1600201"/>
            <a:ext cx="11233607" cy="5026842"/>
          </a:xfrm>
        </p:spPr>
        <p:txBody>
          <a:bodyPr>
            <a:normAutofit/>
          </a:bodyPr>
          <a:lstStyle/>
          <a:p>
            <a:r>
              <a:rPr lang="en-US" altLang="ko-KR" sz="2800" dirty="0" err="1"/>
              <a:t>Class.contextType</a:t>
            </a:r>
            <a:endParaRPr lang="en-US" altLang="ko-KR" sz="2800" dirty="0"/>
          </a:p>
          <a:p>
            <a:pPr lvl="1"/>
            <a:r>
              <a:rPr lang="en-US" altLang="ko-KR" sz="2400" dirty="0"/>
              <a:t>Provider </a:t>
            </a:r>
            <a:r>
              <a:rPr lang="ko-KR" altLang="en-US" sz="2400" dirty="0"/>
              <a:t>하위에 있는 </a:t>
            </a:r>
            <a:r>
              <a:rPr lang="ko-KR" altLang="en-US" sz="2400" b="1" u="sng" dirty="0"/>
              <a:t>클래스 컴포넌트</a:t>
            </a:r>
            <a:r>
              <a:rPr lang="ko-KR" altLang="en-US" sz="2400" dirty="0"/>
              <a:t>에서 컨텍스트의 데이터에 접근하기 위해 사용</a:t>
            </a:r>
            <a:endParaRPr lang="en-US" altLang="ko-KR" sz="2400" dirty="0"/>
          </a:p>
          <a:p>
            <a:pPr lvl="1"/>
            <a:r>
              <a:rPr lang="ko-KR" altLang="en-US" sz="2400" dirty="0"/>
              <a:t>단 하나의 </a:t>
            </a:r>
            <a:r>
              <a:rPr lang="ko-KR" altLang="en-US" sz="2400" dirty="0" err="1"/>
              <a:t>컨텍스트만을</a:t>
            </a:r>
            <a:r>
              <a:rPr lang="ko-KR" altLang="en-US" sz="2400" dirty="0"/>
              <a:t> 구독할 수 있음</a:t>
            </a:r>
            <a:endParaRPr lang="en-US" altLang="ko-KR" sz="2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AEC3637-0C52-9A0D-79E7-211C96DBB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29000"/>
            <a:ext cx="6479130" cy="275784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FCF0C00-667B-1F53-D74E-63BCA1E984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9130" y="3715897"/>
            <a:ext cx="5672708" cy="2911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103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14.4 </a:t>
            </a:r>
            <a:r>
              <a:rPr lang="ko-KR" altLang="en-US" sz="3600" dirty="0">
                <a:latin typeface="Britannic Bold" panose="020B0903060703020204" pitchFamily="34" charset="0"/>
              </a:rPr>
              <a:t>컨텍스트 </a:t>
            </a:r>
            <a:r>
              <a:rPr lang="en-US" altLang="ko-KR" sz="3600" dirty="0">
                <a:latin typeface="Britannic Bold" panose="020B0903060703020204" pitchFamily="34" charset="0"/>
              </a:rPr>
              <a:t>API</a:t>
            </a:r>
            <a:endParaRPr lang="ko-KR" altLang="en-US" sz="3600" dirty="0">
              <a:latin typeface="Britannic Bold" panose="020B090306070302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3" y="1600201"/>
            <a:ext cx="11843207" cy="5026842"/>
          </a:xfrm>
        </p:spPr>
        <p:txBody>
          <a:bodyPr>
            <a:normAutofit/>
          </a:bodyPr>
          <a:lstStyle/>
          <a:p>
            <a:r>
              <a:rPr lang="en-US" altLang="ko-KR" sz="2800" dirty="0" err="1"/>
              <a:t>Context.Consumer</a:t>
            </a:r>
            <a:endParaRPr lang="en-US" altLang="ko-KR" sz="2800" dirty="0"/>
          </a:p>
          <a:p>
            <a:pPr lvl="1"/>
            <a:r>
              <a:rPr lang="ko-KR" altLang="en-US" sz="2400" dirty="0"/>
              <a:t>컨텍스트의 데이터를 구독하는 컴포넌트</a:t>
            </a:r>
            <a:endParaRPr lang="en-US" altLang="ko-KR" sz="2400" dirty="0"/>
          </a:p>
          <a:p>
            <a:pPr lvl="1"/>
            <a:r>
              <a:rPr lang="ko-KR" altLang="en-US" sz="2400" dirty="0"/>
              <a:t>데이터를 소비한다는 뜻에서 </a:t>
            </a:r>
            <a:r>
              <a:rPr lang="en-US" altLang="ko-KR" sz="2400" dirty="0"/>
              <a:t>consumer </a:t>
            </a:r>
            <a:r>
              <a:rPr lang="ko-KR" altLang="en-US" sz="2400" dirty="0"/>
              <a:t>컴포넌트라고도 부름</a:t>
            </a:r>
            <a:endParaRPr lang="en-US" altLang="ko-KR" sz="2400" dirty="0"/>
          </a:p>
          <a:p>
            <a:pPr lvl="1"/>
            <a:r>
              <a:rPr lang="en-US" altLang="ko-KR" sz="2400" dirty="0"/>
              <a:t>consumer </a:t>
            </a:r>
            <a:r>
              <a:rPr lang="ko-KR" altLang="en-US" sz="2400" dirty="0"/>
              <a:t>컴포넌트는 컨텍스트 값의 변화를 지켜보다가 값이 변경되면 </a:t>
            </a:r>
            <a:r>
              <a:rPr lang="ko-KR" altLang="en-US" sz="2400" dirty="0" err="1"/>
              <a:t>재렌더링됨</a:t>
            </a:r>
            <a:endParaRPr lang="en-US" altLang="ko-KR" sz="2400" dirty="0"/>
          </a:p>
          <a:p>
            <a:pPr lvl="1"/>
            <a:r>
              <a:rPr lang="ko-KR" altLang="en-US" sz="2400" dirty="0"/>
              <a:t>하나의 </a:t>
            </a:r>
            <a:r>
              <a:rPr lang="en-US" altLang="ko-KR" sz="2400" dirty="0"/>
              <a:t>Provider </a:t>
            </a:r>
            <a:r>
              <a:rPr lang="ko-KR" altLang="en-US" sz="2400" dirty="0"/>
              <a:t>컴포넌트는 여러 개의 </a:t>
            </a:r>
            <a:r>
              <a:rPr lang="en-US" altLang="ko-KR" sz="2400" dirty="0"/>
              <a:t>consumer </a:t>
            </a:r>
            <a:r>
              <a:rPr lang="ko-KR" altLang="en-US" sz="2400" dirty="0"/>
              <a:t>컴포넌트와 연결될 수 있음</a:t>
            </a:r>
            <a:endParaRPr lang="en-US" altLang="ko-KR" sz="2400" dirty="0"/>
          </a:p>
          <a:p>
            <a:pPr lvl="1"/>
            <a:r>
              <a:rPr lang="ko-KR" altLang="en-US" sz="2400" dirty="0"/>
              <a:t>상위 레벨에 매칭되는 </a:t>
            </a:r>
            <a:r>
              <a:rPr lang="en-US" altLang="ko-KR" sz="2400" dirty="0"/>
              <a:t>Provider</a:t>
            </a:r>
            <a:r>
              <a:rPr lang="ko-KR" altLang="en-US" sz="2400" dirty="0"/>
              <a:t>가 없을 경우 기본값이 사용됨</a:t>
            </a:r>
            <a:endParaRPr lang="en-US" altLang="ko-KR" sz="2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4B13938-B4F6-4DED-6071-3BAF70748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589" y="4764246"/>
            <a:ext cx="7968180" cy="1504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437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14.4 </a:t>
            </a:r>
            <a:r>
              <a:rPr lang="ko-KR" altLang="en-US" sz="3600" dirty="0">
                <a:latin typeface="Britannic Bold" panose="020B0903060703020204" pitchFamily="34" charset="0"/>
              </a:rPr>
              <a:t>컨텍스트 </a:t>
            </a:r>
            <a:r>
              <a:rPr lang="en-US" altLang="ko-KR" sz="3600" dirty="0">
                <a:latin typeface="Britannic Bold" panose="020B0903060703020204" pitchFamily="34" charset="0"/>
              </a:rPr>
              <a:t>API</a:t>
            </a:r>
            <a:endParaRPr lang="ko-KR" altLang="en-US" sz="3600" dirty="0">
              <a:latin typeface="Britannic Bold" panose="020B090306070302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2388407-2FC0-3BAC-86A3-2017907B7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9881" y="1499616"/>
            <a:ext cx="8605925" cy="4164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2850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F298F62D-DA65-C8DC-1986-5C40AD7C6C2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2385"/>
          <a:stretch/>
        </p:blipFill>
        <p:spPr>
          <a:xfrm>
            <a:off x="-1" y="-1"/>
            <a:ext cx="7634245" cy="265792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C132EC93-47B1-9F62-C9C9-AF5350CA476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7826" r="19096"/>
          <a:stretch/>
        </p:blipFill>
        <p:spPr>
          <a:xfrm>
            <a:off x="-1" y="2657926"/>
            <a:ext cx="6176414" cy="126476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2423C69-70F1-32DA-A42C-4173CEB9CE7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3544" b="79445"/>
          <a:stretch/>
        </p:blipFill>
        <p:spPr>
          <a:xfrm>
            <a:off x="0" y="3903834"/>
            <a:ext cx="6176413" cy="92268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CD30844-DF89-089D-00E7-688D0B819E0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0286"/>
          <a:stretch/>
        </p:blipFill>
        <p:spPr>
          <a:xfrm>
            <a:off x="4595657" y="3035431"/>
            <a:ext cx="7596344" cy="3804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8858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14.4 </a:t>
            </a:r>
            <a:r>
              <a:rPr lang="ko-KR" altLang="en-US" sz="3600" dirty="0">
                <a:latin typeface="Britannic Bold" panose="020B0903060703020204" pitchFamily="34" charset="0"/>
              </a:rPr>
              <a:t>컨텍스트 </a:t>
            </a:r>
            <a:r>
              <a:rPr lang="en-US" altLang="ko-KR" sz="3600" dirty="0">
                <a:latin typeface="Britannic Bold" panose="020B0903060703020204" pitchFamily="34" charset="0"/>
              </a:rPr>
              <a:t>API</a:t>
            </a:r>
            <a:endParaRPr lang="ko-KR" altLang="en-US" sz="3600" dirty="0">
              <a:latin typeface="Britannic Bold" panose="020B090306070302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3" y="1600201"/>
            <a:ext cx="11843207" cy="5026842"/>
          </a:xfrm>
        </p:spPr>
        <p:txBody>
          <a:bodyPr>
            <a:normAutofit/>
          </a:bodyPr>
          <a:lstStyle/>
          <a:p>
            <a:r>
              <a:rPr lang="en-US" altLang="ko-KR" sz="2800" dirty="0" err="1"/>
              <a:t>Context.displayName</a:t>
            </a:r>
            <a:endParaRPr lang="en-US" altLang="ko-KR" sz="2800" dirty="0"/>
          </a:p>
          <a:p>
            <a:pPr lvl="1"/>
            <a:r>
              <a:rPr lang="ko-KR" altLang="en-US" sz="2400" dirty="0"/>
              <a:t>크롬의 </a:t>
            </a:r>
            <a:r>
              <a:rPr lang="ko-KR" altLang="en-US" sz="2400" dirty="0" err="1"/>
              <a:t>리액트</a:t>
            </a:r>
            <a:r>
              <a:rPr lang="ko-KR" altLang="en-US" sz="2400" dirty="0"/>
              <a:t> 개발자 도구에서 표시되는 컨텍스트 객체의 이름</a:t>
            </a:r>
            <a:endParaRPr lang="en-US" altLang="ko-KR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D96EF2E-4A99-2A6E-C924-1F5DEB77C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353" y="2730392"/>
            <a:ext cx="7774881" cy="294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179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960120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14.5 </a:t>
            </a:r>
            <a:r>
              <a:rPr lang="ko-KR" altLang="en-US" sz="3600" dirty="0">
                <a:latin typeface="Britannic Bold" panose="020B0903060703020204" pitchFamily="34" charset="0"/>
              </a:rPr>
              <a:t>여러 개의 컨텍스트 사용하기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3" y="960120"/>
            <a:ext cx="11843207" cy="596244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Provider </a:t>
            </a:r>
            <a:r>
              <a:rPr lang="ko-KR" altLang="en-US" sz="2400" dirty="0"/>
              <a:t>컴포넌트와 </a:t>
            </a:r>
            <a:r>
              <a:rPr lang="en-US" altLang="ko-KR" sz="2400" dirty="0"/>
              <a:t>Consumer </a:t>
            </a:r>
            <a:r>
              <a:rPr lang="ko-KR" altLang="en-US" sz="2400" dirty="0"/>
              <a:t>컴포넌트를 여러 개 중첩해서 사용하면 됨</a:t>
            </a:r>
            <a:endParaRPr lang="en-US" altLang="ko-KR" sz="2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B25215E-4872-D81E-B213-57BD40C87D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479072"/>
            <a:ext cx="5638335" cy="590211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AA14F22-E109-CE12-6DEB-E041DA4084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008" y="1479071"/>
            <a:ext cx="5799522" cy="5971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2291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14.6 </a:t>
            </a:r>
            <a:r>
              <a:rPr lang="en-US" altLang="ko-KR" sz="3600" dirty="0" err="1">
                <a:latin typeface="Britannic Bold" panose="020B0903060703020204" pitchFamily="34" charset="0"/>
              </a:rPr>
              <a:t>useContext</a:t>
            </a:r>
            <a:r>
              <a:rPr lang="en-US" altLang="ko-KR" sz="3600" dirty="0">
                <a:latin typeface="Britannic Bold" panose="020B0903060703020204" pitchFamily="34" charset="0"/>
              </a:rPr>
              <a:t>()</a:t>
            </a:r>
            <a:endParaRPr lang="ko-KR" altLang="en-US" sz="3600" dirty="0">
              <a:latin typeface="Britannic Bold" panose="020B090306070302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3" y="1600201"/>
            <a:ext cx="11843207" cy="5026842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함수 컴포넌트에서 컨텍스트를 사용하기 위해 컴포넌트를 매번 </a:t>
            </a:r>
            <a:r>
              <a:rPr lang="en-US" altLang="ko-KR" sz="2400" dirty="0"/>
              <a:t>Consumer </a:t>
            </a:r>
            <a:r>
              <a:rPr lang="ko-KR" altLang="en-US" sz="2400" dirty="0"/>
              <a:t>컴포넌트로 감싸주는 것보다 더 좋은 방법</a:t>
            </a:r>
            <a:endParaRPr lang="en-US" altLang="ko-KR" sz="2400" dirty="0"/>
          </a:p>
          <a:p>
            <a:r>
              <a:rPr lang="ko-KR" altLang="en-US" sz="2400" dirty="0"/>
              <a:t>함수 컴포넌트에서 컨텍스트를 쉽게 사용할 수 있게 해 주는 </a:t>
            </a:r>
            <a:r>
              <a:rPr lang="ko-KR" altLang="en-US" sz="2400" b="1" u="sng" dirty="0"/>
              <a:t>훅</a:t>
            </a:r>
            <a:endParaRPr lang="en-US" altLang="ko-KR" sz="2400" b="1" u="sng" dirty="0"/>
          </a:p>
          <a:p>
            <a:r>
              <a:rPr lang="en-US" altLang="ko-KR" sz="2400" dirty="0" err="1"/>
              <a:t>React.createContext</a:t>
            </a:r>
            <a:r>
              <a:rPr lang="en-US" altLang="ko-KR" sz="2400" dirty="0"/>
              <a:t>() </a:t>
            </a:r>
            <a:r>
              <a:rPr lang="ko-KR" altLang="en-US" sz="2400" dirty="0"/>
              <a:t>함수 호출로 생성된 컨텍스트 객체를 인자로 받아서 현재 컨텍스트의 값을 리턴</a:t>
            </a:r>
            <a:endParaRPr lang="en-US" altLang="ko-KR" sz="2400" dirty="0"/>
          </a:p>
          <a:p>
            <a:r>
              <a:rPr lang="ko-KR" altLang="en-US" sz="2400" dirty="0"/>
              <a:t>컨텍스트의 값이 변경되면 변경된 값과 함께 </a:t>
            </a:r>
            <a:r>
              <a:rPr lang="en-US" altLang="ko-KR" sz="2400" dirty="0" err="1"/>
              <a:t>useContext</a:t>
            </a:r>
            <a:r>
              <a:rPr lang="en-US" altLang="ko-KR" sz="2400" dirty="0"/>
              <a:t>() </a:t>
            </a:r>
            <a:r>
              <a:rPr lang="ko-KR" altLang="en-US" sz="2400" dirty="0"/>
              <a:t>훅을 사용하는 컴포넌트가 </a:t>
            </a:r>
            <a:r>
              <a:rPr lang="ko-KR" altLang="en-US" sz="2400" dirty="0" err="1"/>
              <a:t>재렌더링됨</a:t>
            </a:r>
            <a:endParaRPr lang="en-US" altLang="ko-KR" sz="2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67B309D-47A1-9F37-7B4D-21F68C469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312" y="4486125"/>
            <a:ext cx="4876259" cy="237187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9074E4D-2ACA-94C6-1DDA-337BEF800E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0631" y="4550319"/>
            <a:ext cx="4193337" cy="2177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394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14.7 </a:t>
            </a:r>
            <a:r>
              <a:rPr lang="ko-KR" altLang="en-US" sz="3600" dirty="0">
                <a:latin typeface="Britannic Bold" panose="020B0903060703020204" pitchFamily="34" charset="0"/>
              </a:rPr>
              <a:t>컨텍스트를 사용하여 테마 변경 기능 만들기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767" y="1600200"/>
            <a:ext cx="8917757" cy="4838306"/>
          </a:xfrm>
        </p:spPr>
        <p:txBody>
          <a:bodyPr>
            <a:normAutofit/>
          </a:bodyPr>
          <a:lstStyle/>
          <a:p>
            <a:r>
              <a:rPr lang="en-US" altLang="ko-KR" sz="2800" dirty="0" err="1"/>
              <a:t>ThemeContext.jsx</a:t>
            </a:r>
            <a:r>
              <a:rPr lang="en-US" altLang="ko-KR" sz="2800" dirty="0"/>
              <a:t> </a:t>
            </a:r>
          </a:p>
          <a:p>
            <a:pPr lvl="1"/>
            <a:r>
              <a:rPr lang="ko-KR" altLang="en-US" sz="2400" dirty="0"/>
              <a:t>테마 컨텍스트 만들기</a:t>
            </a:r>
            <a:endParaRPr lang="en-US" altLang="ko-KR" sz="2000" dirty="0"/>
          </a:p>
          <a:p>
            <a:pPr lvl="1"/>
            <a:endParaRPr lang="en-US" altLang="ko-KR" sz="2400" dirty="0"/>
          </a:p>
          <a:p>
            <a:endParaRPr lang="en-US" altLang="ko-KR" sz="2800" dirty="0"/>
          </a:p>
          <a:p>
            <a:endParaRPr lang="en-US" altLang="ko-KR" sz="28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B28073B-AF76-885E-9767-C53151037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022" y="2899431"/>
            <a:ext cx="7343740" cy="126721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01354D7-865C-61AB-DF42-FD06862F70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449" y="4166646"/>
            <a:ext cx="6517433" cy="1275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3003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22169"/>
            <a:ext cx="5275782" cy="5797484"/>
          </a:xfrm>
        </p:spPr>
        <p:txBody>
          <a:bodyPr>
            <a:normAutofit/>
          </a:bodyPr>
          <a:lstStyle/>
          <a:p>
            <a:r>
              <a:rPr lang="en-US" altLang="ko-KR" sz="2800" dirty="0" err="1"/>
              <a:t>MainContent.jsx</a:t>
            </a:r>
            <a:r>
              <a:rPr lang="en-US" altLang="ko-KR" sz="2800" dirty="0"/>
              <a:t> </a:t>
            </a:r>
          </a:p>
          <a:p>
            <a:pPr lvl="1"/>
            <a:r>
              <a:rPr lang="ko-KR" altLang="en-US" sz="2400" dirty="0"/>
              <a:t>테마 컨텍스트를 사용하는</a:t>
            </a:r>
            <a:r>
              <a:rPr lang="en-US" altLang="ko-KR" sz="2400" dirty="0"/>
              <a:t>  </a:t>
            </a:r>
            <a:r>
              <a:rPr lang="ko-KR" altLang="en-US" sz="2400" dirty="0"/>
              <a:t>메인 </a:t>
            </a:r>
            <a:r>
              <a:rPr lang="ko-KR" altLang="en-US" sz="2400" dirty="0" err="1"/>
              <a:t>컨텐트</a:t>
            </a:r>
            <a:r>
              <a:rPr lang="ko-KR" altLang="en-US" sz="2400" dirty="0"/>
              <a:t>  </a:t>
            </a:r>
            <a:endParaRPr lang="en-US" altLang="ko-KR" sz="2400" dirty="0"/>
          </a:p>
          <a:p>
            <a:pPr lvl="1"/>
            <a:r>
              <a:rPr lang="en-US" altLang="ko-KR" sz="2400" dirty="0" err="1"/>
              <a:t>ThemeContext</a:t>
            </a:r>
            <a:r>
              <a:rPr lang="ko-KR" altLang="en-US" sz="2400" dirty="0"/>
              <a:t>로부터 현재 설정된 테마 값을 받아와 실제 화면의 컨텐츠를 렌더링하는 역할</a:t>
            </a:r>
            <a:endParaRPr lang="en-US" altLang="ko-KR" sz="2400" dirty="0"/>
          </a:p>
          <a:p>
            <a:pPr lvl="1"/>
            <a:r>
              <a:rPr lang="en-US" altLang="ko-KR" sz="2400" dirty="0" err="1"/>
              <a:t>ThemeContext</a:t>
            </a:r>
            <a:r>
              <a:rPr lang="ko-KR" altLang="en-US" sz="2400" dirty="0"/>
              <a:t>의 값을 가져오기 위해 </a:t>
            </a:r>
            <a:r>
              <a:rPr lang="en-US" altLang="ko-KR" sz="2400" dirty="0" err="1"/>
              <a:t>ThemeContext.Consumer</a:t>
            </a:r>
            <a:r>
              <a:rPr lang="en-US" altLang="ko-KR" sz="2400" dirty="0"/>
              <a:t> </a:t>
            </a:r>
            <a:r>
              <a:rPr lang="ko-KR" altLang="en-US" sz="2400" dirty="0"/>
              <a:t>컴포넌트를 사용하는 방법 대신 </a:t>
            </a:r>
            <a:r>
              <a:rPr lang="en-US" altLang="ko-KR" sz="2400" dirty="0" err="1"/>
              <a:t>useContext</a:t>
            </a:r>
            <a:r>
              <a:rPr lang="en-US" altLang="ko-KR" sz="2400" dirty="0"/>
              <a:t>() </a:t>
            </a:r>
            <a:r>
              <a:rPr lang="ko-KR" altLang="en-US" sz="2400" dirty="0"/>
              <a:t>훅을 사용</a:t>
            </a:r>
            <a:endParaRPr lang="en-US" altLang="ko-KR" sz="2400" dirty="0"/>
          </a:p>
          <a:p>
            <a:endParaRPr lang="en-US" altLang="ko-KR" sz="2800" dirty="0"/>
          </a:p>
          <a:p>
            <a:endParaRPr lang="en-US" altLang="ko-KR" sz="28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CCCA5F6-90A6-607F-773E-3001CAED71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5782" y="0"/>
            <a:ext cx="69162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4230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7EB32C5-CD0D-EEC3-DCD7-D875A56E91C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2982"/>
          <a:stretch/>
        </p:blipFill>
        <p:spPr>
          <a:xfrm>
            <a:off x="5184741" y="209162"/>
            <a:ext cx="5750351" cy="74987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79E0113-E23C-C75D-801C-8ACD92020C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4741" y="965732"/>
            <a:ext cx="7050427" cy="5661309"/>
          </a:xfrm>
          <a:prstGeom prst="rect">
            <a:avLst/>
          </a:prstGeom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E18233CA-5CB2-1477-AB89-1B383038D20F}"/>
              </a:ext>
            </a:extLst>
          </p:cNvPr>
          <p:cNvSpPr txBox="1">
            <a:spLocks/>
          </p:cNvSpPr>
          <p:nvPr/>
        </p:nvSpPr>
        <p:spPr>
          <a:xfrm>
            <a:off x="0" y="622169"/>
            <a:ext cx="5275782" cy="57974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Char char=""/>
              <a:defRPr sz="3200" kern="1200">
                <a:solidFill>
                  <a:schemeClr val="tx1"/>
                </a:solidFill>
                <a:latin typeface="Book Antiqua" panose="02040602050305030304" pitchFamily="18" charset="0"/>
                <a:ea typeface="+mn-ea"/>
                <a:cs typeface="Aharoni" panose="02010803020104030203" pitchFamily="2" charset="-79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 3" pitchFamily="18" charset="2"/>
              <a:buChar char=""/>
              <a:defRPr sz="2800" kern="1200">
                <a:solidFill>
                  <a:schemeClr val="tx1"/>
                </a:solidFill>
                <a:latin typeface="Book Antiqua" panose="02040602050305030304" pitchFamily="18" charset="0"/>
                <a:ea typeface="+mn-ea"/>
                <a:cs typeface="Aharoni" panose="02010803020104030203" pitchFamily="2" charset="-79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Clr>
                <a:schemeClr val="accent3"/>
              </a:buClr>
              <a:buSzPct val="90000"/>
              <a:buFont typeface="Wingdings 3" pitchFamily="18" charset="2"/>
              <a:buChar char=""/>
              <a:defRPr sz="2400" kern="1200">
                <a:solidFill>
                  <a:schemeClr val="tx1"/>
                </a:solidFill>
                <a:latin typeface="Book Antiqua" panose="02040602050305030304" pitchFamily="18" charset="0"/>
                <a:ea typeface="+mn-ea"/>
                <a:cs typeface="Aharoni" panose="02010803020104030203" pitchFamily="2" charset="-79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Clr>
                <a:schemeClr val="accent4"/>
              </a:buClr>
              <a:buSzPct val="90000"/>
              <a:buFont typeface="Wingdings 3" pitchFamily="18" charset="2"/>
              <a:buChar char=""/>
              <a:defRPr sz="2000" kern="1200">
                <a:solidFill>
                  <a:schemeClr val="tx1"/>
                </a:solidFill>
                <a:latin typeface="Book Antiqua" panose="02040602050305030304" pitchFamily="18" charset="0"/>
                <a:ea typeface="+mn-ea"/>
                <a:cs typeface="Aharoni" panose="02010803020104030203" pitchFamily="2" charset="-79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Clr>
                <a:schemeClr val="accent5"/>
              </a:buClr>
              <a:buSzPct val="90000"/>
              <a:buFont typeface="Wingdings 3" pitchFamily="18" charset="2"/>
              <a:buChar char=""/>
              <a:defRPr sz="2000" kern="1200">
                <a:solidFill>
                  <a:schemeClr val="tx1"/>
                </a:solidFill>
                <a:latin typeface="Book Antiqua" panose="02040602050305030304" pitchFamily="18" charset="0"/>
                <a:ea typeface="+mn-ea"/>
                <a:cs typeface="Aharoni" panose="02010803020104030203" pitchFamily="2" charset="-79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dirty="0" err="1"/>
              <a:t>DarkOrLight.jsx</a:t>
            </a:r>
            <a:r>
              <a:rPr lang="en-US" altLang="ko-KR" sz="2800" dirty="0"/>
              <a:t> </a:t>
            </a:r>
          </a:p>
          <a:p>
            <a:pPr lvl="1"/>
            <a:r>
              <a:rPr lang="en-US" altLang="ko-KR" sz="2400" dirty="0" err="1"/>
              <a:t>MainContent</a:t>
            </a:r>
            <a:r>
              <a:rPr lang="en-US" altLang="ko-KR" sz="2400" dirty="0"/>
              <a:t> </a:t>
            </a:r>
            <a:r>
              <a:rPr lang="ko-KR" altLang="en-US" sz="2400" dirty="0"/>
              <a:t>컴포넌트를 자식으로 가짐</a:t>
            </a:r>
            <a:endParaRPr lang="en-US" altLang="ko-KR" sz="2400" dirty="0"/>
          </a:p>
          <a:p>
            <a:pPr lvl="1"/>
            <a:r>
              <a:rPr lang="ko-KR" altLang="en-US" sz="2400" dirty="0"/>
              <a:t>이를 </a:t>
            </a:r>
            <a:r>
              <a:rPr lang="en-US" altLang="ko-KR" sz="2400" dirty="0" err="1"/>
              <a:t>ThemeContext.Provider</a:t>
            </a:r>
            <a:r>
              <a:rPr lang="ko-KR" altLang="en-US" sz="2400" dirty="0"/>
              <a:t>로 감싸서 </a:t>
            </a:r>
            <a:r>
              <a:rPr lang="en-US" altLang="ko-KR" sz="2400" dirty="0" err="1"/>
              <a:t>ThemeContext</a:t>
            </a:r>
            <a:r>
              <a:rPr lang="ko-KR" altLang="en-US" sz="2400" dirty="0"/>
              <a:t>의 값을 하위 컴포넌트들이 사용할 수 있도록 </a:t>
            </a:r>
            <a:r>
              <a:rPr lang="ko-KR" altLang="en-US" sz="2400" dirty="0" err="1"/>
              <a:t>해줌</a:t>
            </a:r>
            <a:r>
              <a:rPr lang="ko-KR" altLang="en-US" sz="2400" dirty="0"/>
              <a:t>  </a:t>
            </a:r>
            <a:endParaRPr lang="en-US" altLang="ko-KR" sz="2400" dirty="0"/>
          </a:p>
          <a:p>
            <a:pPr lvl="1"/>
            <a:endParaRPr lang="en-US" altLang="ko-KR" sz="2400" dirty="0"/>
          </a:p>
          <a:p>
            <a:pPr lvl="1"/>
            <a:endParaRPr lang="en-US" altLang="ko-KR" sz="2800" dirty="0"/>
          </a:p>
          <a:p>
            <a:endParaRPr lang="en-US" altLang="ko-KR" sz="2800" dirty="0"/>
          </a:p>
        </p:txBody>
      </p:sp>
    </p:spTree>
    <p:extLst>
      <p:ext uri="{BB962C8B-B14F-4D97-AF65-F5344CB8AC3E}">
        <p14:creationId xmlns:p14="http://schemas.microsoft.com/office/powerpoint/2010/main" val="16220971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85" y="84841"/>
            <a:ext cx="5309583" cy="6400800"/>
          </a:xfrm>
        </p:spPr>
        <p:txBody>
          <a:bodyPr>
            <a:normAutofit/>
          </a:bodyPr>
          <a:lstStyle/>
          <a:p>
            <a:r>
              <a:rPr lang="ko-KR" altLang="en-US" sz="2800" dirty="0"/>
              <a:t>실행하기</a:t>
            </a:r>
            <a:endParaRPr lang="en-US" altLang="ko-KR" sz="2800" dirty="0"/>
          </a:p>
          <a:p>
            <a:r>
              <a:rPr lang="en-US" altLang="ko-KR" sz="2800" dirty="0"/>
              <a:t>index.js</a:t>
            </a:r>
          </a:p>
          <a:p>
            <a:pPr lvl="1"/>
            <a:r>
              <a:rPr lang="ko-KR" altLang="en-US" sz="2400" dirty="0"/>
              <a:t>실제로 화면에 렌더링</a:t>
            </a:r>
            <a:endParaRPr lang="en-US" altLang="ko-KR" sz="2400" dirty="0"/>
          </a:p>
          <a:p>
            <a:r>
              <a:rPr lang="ko-KR" altLang="en-US" sz="2800" dirty="0" err="1"/>
              <a:t>리액트</a:t>
            </a:r>
            <a:r>
              <a:rPr lang="ko-KR" altLang="en-US" sz="2800" dirty="0"/>
              <a:t> 애플리케이션 실행</a:t>
            </a:r>
            <a:endParaRPr lang="en-US" altLang="ko-KR" sz="2800" dirty="0"/>
          </a:p>
          <a:p>
            <a:pPr lvl="1"/>
            <a:r>
              <a:rPr lang="en-US" altLang="ko-KR" sz="2400" dirty="0"/>
              <a:t>Terminal &gt; New Terminal</a:t>
            </a:r>
          </a:p>
          <a:p>
            <a:pPr lvl="1"/>
            <a:r>
              <a:rPr lang="en-US" altLang="ko-KR" sz="2400" dirty="0" err="1"/>
              <a:t>npm</a:t>
            </a:r>
            <a:r>
              <a:rPr lang="en-US" altLang="ko-KR" sz="2400" dirty="0"/>
              <a:t> start</a:t>
            </a:r>
            <a:endParaRPr lang="ko-KR" altLang="en-US" sz="2400" dirty="0"/>
          </a:p>
          <a:p>
            <a:endParaRPr lang="en-US" altLang="ko-KR" sz="2800" dirty="0"/>
          </a:p>
          <a:p>
            <a:endParaRPr lang="en-US" altLang="ko-KR" sz="28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192CA91-9881-4CE7-81C9-FD63C3E6C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8659" y="76313"/>
            <a:ext cx="7533341" cy="138529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305906D-8D00-4DFB-DB64-378036862D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9232" y="1409066"/>
            <a:ext cx="3354125" cy="1690697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274DE5C2-468D-924A-EB14-B9454F89FC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262994"/>
            <a:ext cx="6385316" cy="3595006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6163D13D-B1B8-2DE0-1ECE-ADE6E9C9C5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1167" y="3262994"/>
            <a:ext cx="6350833" cy="359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5180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2EBEBC-B662-60CC-A949-FDBF3BF2E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37" y="539496"/>
            <a:ext cx="10972800" cy="960120"/>
          </a:xfrm>
        </p:spPr>
        <p:txBody>
          <a:bodyPr/>
          <a:lstStyle/>
          <a:p>
            <a:pPr algn="l"/>
            <a:r>
              <a:rPr lang="ko-KR" altLang="en-US" dirty="0"/>
              <a:t>마치며 </a:t>
            </a:r>
            <a:r>
              <a:rPr lang="en-US" altLang="ko-KR" dirty="0"/>
              <a:t>- </a:t>
            </a:r>
            <a:r>
              <a:rPr lang="ko-KR" altLang="en-US" dirty="0"/>
              <a:t>요약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85F0F78-627E-A509-0639-59C152BE4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2687" y="143947"/>
            <a:ext cx="8459313" cy="6285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5164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2EBEBC-B662-60CC-A949-FDBF3BF2E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37" y="539496"/>
            <a:ext cx="10972800" cy="960120"/>
          </a:xfrm>
        </p:spPr>
        <p:txBody>
          <a:bodyPr/>
          <a:lstStyle/>
          <a:p>
            <a:pPr algn="l"/>
            <a:r>
              <a:rPr lang="ko-KR" altLang="en-US" dirty="0"/>
              <a:t>마치며 </a:t>
            </a:r>
            <a:r>
              <a:rPr lang="en-US" altLang="ko-KR" dirty="0"/>
              <a:t>- </a:t>
            </a:r>
            <a:r>
              <a:rPr lang="ko-KR" altLang="en-US" dirty="0"/>
              <a:t>요약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B7BD8CC-2C7D-B4BF-7C4C-48C41D568FD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1" b="29878"/>
          <a:stretch/>
        </p:blipFill>
        <p:spPr>
          <a:xfrm>
            <a:off x="3855562" y="169682"/>
            <a:ext cx="8336437" cy="632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3748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2EBEBC-B662-60CC-A949-FDBF3BF2E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36" y="539496"/>
            <a:ext cx="11767797" cy="960120"/>
          </a:xfrm>
        </p:spPr>
        <p:txBody>
          <a:bodyPr/>
          <a:lstStyle/>
          <a:p>
            <a:r>
              <a:rPr lang="ko-KR" altLang="en-US" dirty="0"/>
              <a:t>마치며 </a:t>
            </a:r>
            <a:r>
              <a:rPr lang="en-US" altLang="ko-KR" dirty="0"/>
              <a:t>- </a:t>
            </a:r>
            <a:r>
              <a:rPr lang="ko-KR" altLang="en-US" dirty="0"/>
              <a:t>요약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CC589B2-0E11-5CA0-0022-67FE9986778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0627"/>
          <a:stretch/>
        </p:blipFill>
        <p:spPr>
          <a:xfrm>
            <a:off x="1800641" y="1739245"/>
            <a:ext cx="8590717" cy="2729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572278"/>
      </p:ext>
    </p:extLst>
  </p:cSld>
  <p:clrMapOvr>
    <a:masterClrMapping/>
  </p:clrMapOvr>
</p:sld>
</file>

<file path=ppt/theme/theme1.xml><?xml version="1.0" encoding="utf-8"?>
<a:theme xmlns:a="http://schemas.openxmlformats.org/drawingml/2006/main" name="New_Simple01">
  <a:themeElements>
    <a:clrScheme name="따뜻한 파란색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New_Simple01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맑은 고딕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맑은 고딕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New_Simple01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hade val="100000"/>
                <a:satMod val="165000"/>
              </a:schemeClr>
            </a:gs>
            <a:gs pos="55000">
              <a:schemeClr val="phClr">
                <a:tint val="83000"/>
                <a:shade val="100000"/>
                <a:satMod val="155000"/>
              </a:schemeClr>
            </a:gs>
            <a:gs pos="100000">
              <a:schemeClr val="phClr">
                <a:shade val="85000"/>
                <a:satMod val="100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20040000"/>
            </a:lightRig>
          </a:scene3d>
          <a:sp3d contourW="12700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hueMod val="105000"/>
                <a:satMod val="250000"/>
              </a:schemeClr>
            </a:gs>
            <a:gs pos="100000">
              <a:schemeClr val="phClr">
                <a:tint val="95000"/>
                <a:shade val="100000"/>
                <a:satMod val="200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4000"/>
                <a:satMod val="200000"/>
              </a:schemeClr>
            </a:gs>
            <a:gs pos="100000">
              <a:schemeClr val="phClr">
                <a:shade val="70000"/>
                <a:satMod val="200000"/>
              </a:schemeClr>
            </a:gs>
          </a:gsLst>
          <a:path path="circle">
            <a:fillToRect l="40000" r="40000" b="6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심플 테마</Template>
  <TotalTime>1543</TotalTime>
  <Words>511</Words>
  <Application>Microsoft Office PowerPoint</Application>
  <PresentationFormat>와이드스크린</PresentationFormat>
  <Paragraphs>100</Paragraphs>
  <Slides>23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1" baseType="lpstr">
      <vt:lpstr>맑은 고딕</vt:lpstr>
      <vt:lpstr>Aharoni</vt:lpstr>
      <vt:lpstr>Arial</vt:lpstr>
      <vt:lpstr>Book Antiqua</vt:lpstr>
      <vt:lpstr>Britannic Bold</vt:lpstr>
      <vt:lpstr>Tw Cen MT</vt:lpstr>
      <vt:lpstr>Wingdings 3</vt:lpstr>
      <vt:lpstr>New_Simple01</vt:lpstr>
      <vt:lpstr>소플의 처음 만난 리액트</vt:lpstr>
      <vt:lpstr>14장 컨텍스트</vt:lpstr>
      <vt:lpstr>14.1 컨텍스트란 무엇인가?</vt:lpstr>
      <vt:lpstr>14.2 언제 컨텍스트를 사용해야 할까?</vt:lpstr>
      <vt:lpstr>PowerPoint 프레젠테이션</vt:lpstr>
      <vt:lpstr>14.3 컨텍스트를 사용하기 전에 고려할 점</vt:lpstr>
      <vt:lpstr>14.3 컨텍스트를 사용하기 전에 고려할 점</vt:lpstr>
      <vt:lpstr>14.4 컨텍스트 API</vt:lpstr>
      <vt:lpstr>14.4 컨텍스트 API</vt:lpstr>
      <vt:lpstr>14.4 컨텍스트 API</vt:lpstr>
      <vt:lpstr>14.4 컨텍스트 API</vt:lpstr>
      <vt:lpstr>14.4 컨텍스트 API</vt:lpstr>
      <vt:lpstr>PowerPoint 프레젠테이션</vt:lpstr>
      <vt:lpstr>14.4 컨텍스트 API</vt:lpstr>
      <vt:lpstr>14.5 여러 개의 컨텍스트 사용하기</vt:lpstr>
      <vt:lpstr>14.6 useContext()</vt:lpstr>
      <vt:lpstr>14.7 컨텍스트를 사용하여 테마 변경 기능 만들기</vt:lpstr>
      <vt:lpstr>PowerPoint 프레젠테이션</vt:lpstr>
      <vt:lpstr>PowerPoint 프레젠테이션</vt:lpstr>
      <vt:lpstr>PowerPoint 프레젠테이션</vt:lpstr>
      <vt:lpstr>마치며 - 요약</vt:lpstr>
      <vt:lpstr>마치며 - 요약</vt:lpstr>
      <vt:lpstr>마치며 - 요약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소플의 처음 만난 리액트</dc:title>
  <dc:creator>김경민</dc:creator>
  <cp:lastModifiedBy>김경민</cp:lastModifiedBy>
  <cp:revision>51</cp:revision>
  <dcterms:created xsi:type="dcterms:W3CDTF">2024-03-11T14:49:31Z</dcterms:created>
  <dcterms:modified xsi:type="dcterms:W3CDTF">2025-05-28T14:00:02Z</dcterms:modified>
</cp:coreProperties>
</file>