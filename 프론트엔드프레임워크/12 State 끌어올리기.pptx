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19"/>
  </p:notesMasterIdLst>
  <p:sldIdLst>
    <p:sldId id="256" r:id="rId2"/>
    <p:sldId id="257" r:id="rId3"/>
    <p:sldId id="258" r:id="rId4"/>
    <p:sldId id="331" r:id="rId5"/>
    <p:sldId id="339" r:id="rId6"/>
    <p:sldId id="340" r:id="rId7"/>
    <p:sldId id="341" r:id="rId8"/>
    <p:sldId id="343" r:id="rId9"/>
    <p:sldId id="342" r:id="rId10"/>
    <p:sldId id="344" r:id="rId11"/>
    <p:sldId id="345" r:id="rId12"/>
    <p:sldId id="303" r:id="rId13"/>
    <p:sldId id="346" r:id="rId14"/>
    <p:sldId id="347" r:id="rId15"/>
    <p:sldId id="348" r:id="rId16"/>
    <p:sldId id="349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D2B46-ED7A-4A63-A880-227889412B4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C26BC2-3A5E-41D2-812B-C8BAFBFC9FA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7399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293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724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265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474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0449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7426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241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179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8518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43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994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3698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2146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33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333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C26BC2-3A5E-41D2-812B-C8BAFBFC9FA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4897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359152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832" y="3118105"/>
            <a:ext cx="10375392" cy="1470025"/>
          </a:xfrm>
        </p:spPr>
        <p:txBody>
          <a:bodyPr vert="horz" lIns="91440" tIns="45720" rIns="91440" bIns="45720" rtlCol="0" anchor="t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2359152"/>
            <a:ext cx="10948416" cy="685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043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5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1728" y="3044952"/>
            <a:ext cx="6254496" cy="74066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2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r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Rectangle 6"/>
          <p:cNvSpPr/>
          <p:nvPr/>
        </p:nvSpPr>
        <p:spPr bwMode="gray">
          <a:xfrm>
            <a:off x="10948416" y="2788920"/>
            <a:ext cx="1243584" cy="1005840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2130552"/>
            <a:ext cx="11277600" cy="91440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3328416" y="0"/>
            <a:ext cx="2279904" cy="235915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718560" cy="2670048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09600" y="3813048"/>
            <a:ext cx="10363200" cy="1143000"/>
          </a:xfr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8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802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722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609600" y="1627632"/>
            <a:ext cx="5386917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286000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gray">
          <a:xfrm>
            <a:off x="6193368" y="1627632"/>
            <a:ext cx="5389033" cy="63976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b="1" kern="1200" cap="none" spc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286000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3888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Rectangle 6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400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417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 bwMode="gray">
          <a:xfrm>
            <a:off x="0" y="6501384"/>
            <a:ext cx="12192000" cy="356616"/>
          </a:xfrm>
          <a:prstGeom prst="rect">
            <a:avLst/>
          </a:prstGeom>
          <a:solidFill>
            <a:schemeClr val="accent6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Rectangle 11"/>
          <p:cNvSpPr/>
          <p:nvPr/>
        </p:nvSpPr>
        <p:spPr bwMode="gray">
          <a:xfrm>
            <a:off x="0" y="0"/>
            <a:ext cx="12192000" cy="301752"/>
          </a:xfrm>
          <a:prstGeom prst="rect">
            <a:avLst/>
          </a:prstGeom>
          <a:solidFill>
            <a:schemeClr val="accent5">
              <a:lumMod val="60000"/>
              <a:lumOff val="4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Rectangle 12"/>
          <p:cNvSpPr/>
          <p:nvPr/>
        </p:nvSpPr>
        <p:spPr bwMode="gray">
          <a:xfrm>
            <a:off x="0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Rectangle 13"/>
          <p:cNvSpPr/>
          <p:nvPr/>
        </p:nvSpPr>
        <p:spPr bwMode="gray">
          <a:xfrm>
            <a:off x="0" y="0"/>
            <a:ext cx="3243072" cy="530352"/>
          </a:xfrm>
          <a:prstGeom prst="rect">
            <a:avLst/>
          </a:prstGeom>
          <a:solidFill>
            <a:schemeClr val="accent2"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Rectangle 14"/>
          <p:cNvSpPr/>
          <p:nvPr/>
        </p:nvSpPr>
        <p:spPr bwMode="gray">
          <a:xfrm>
            <a:off x="1901952" y="0"/>
            <a:ext cx="2097024" cy="438912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Rectangle 15"/>
          <p:cNvSpPr/>
          <p:nvPr/>
        </p:nvSpPr>
        <p:spPr bwMode="gray">
          <a:xfrm>
            <a:off x="11789664" y="0"/>
            <a:ext cx="402336" cy="6858000"/>
          </a:xfrm>
          <a:prstGeom prst="rect">
            <a:avLst/>
          </a:prstGeom>
          <a:solidFill>
            <a:srgbClr val="9BBB59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159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548640"/>
            <a:ext cx="10265664" cy="932688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32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07936" y="1645920"/>
            <a:ext cx="3755136" cy="44805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645920"/>
            <a:ext cx="6400800" cy="44805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9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1824" y="658368"/>
            <a:ext cx="7315200" cy="822960"/>
          </a:xfr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2800" b="1" kern="1200" smtClean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gray">
          <a:xfrm>
            <a:off x="2389632" y="1618488"/>
            <a:ext cx="7315200" cy="3639312"/>
          </a:xfrm>
          <a:solidFill>
            <a:srgbClr val="F8F8F8"/>
          </a:solidFill>
          <a:ln w="76200" cmpd="sng">
            <a:solidFill>
              <a:srgbClr val="FFFFFF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Wingdings 3" pitchFamily="18" charset="2"/>
              <a:buNone/>
              <a:defRPr lang="en-US" sz="3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32" y="5413248"/>
            <a:ext cx="7315200" cy="9875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16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257432" cy="452596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51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 rot="5400000">
            <a:off x="7182612" y="2048256"/>
            <a:ext cx="6519672" cy="2414016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8737600" y="6135624"/>
            <a:ext cx="1316736" cy="722376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11474908" y="1379355"/>
            <a:ext cx="719328" cy="1463040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11472672" y="0"/>
            <a:ext cx="719328" cy="18288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41536" y="274637"/>
            <a:ext cx="2231136" cy="585216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436864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28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0" y="402336"/>
            <a:ext cx="11582400" cy="1097280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 bwMode="gray">
          <a:xfrm>
            <a:off x="10887456" y="996696"/>
            <a:ext cx="1304544" cy="896112"/>
          </a:xfrm>
          <a:prstGeom prst="rect">
            <a:avLst/>
          </a:prstGeom>
          <a:solidFill>
            <a:schemeClr val="accent5">
              <a:lumMod val="60000"/>
              <a:lumOff val="4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 bwMode="gray">
          <a:xfrm>
            <a:off x="2377440" y="0"/>
            <a:ext cx="2596896" cy="539496"/>
          </a:xfrm>
          <a:prstGeom prst="rect">
            <a:avLst/>
          </a:prstGeom>
          <a:solidFill>
            <a:schemeClr val="accent6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 bwMode="gray">
          <a:xfrm>
            <a:off x="0" y="0"/>
            <a:ext cx="3243072" cy="539496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9496"/>
            <a:ext cx="109728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9F864-164D-4ED0-9F9C-B5C7D0A4A0B2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27264" y="6537960"/>
            <a:ext cx="3860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69536" y="6537960"/>
            <a:ext cx="284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C7058-0004-47D5-9B3B-DD6F6B84C79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77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2"/>
          </a:solidFill>
          <a:latin typeface="Aharoni" panose="02010803020104030203" pitchFamily="2" charset="-79"/>
          <a:ea typeface="+mj-ea"/>
          <a:cs typeface="Aharoni" panose="02010803020104030203" pitchFamily="2" charset="-79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1"/>
        </a:buClr>
        <a:buSzPct val="90000"/>
        <a:buFont typeface="Wingdings 3" pitchFamily="18" charset="2"/>
        <a:buChar char=""/>
        <a:defRPr sz="32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1pPr>
      <a:lvl2pPr marL="742950" indent="-285750" algn="l" defTabSz="914400" rtl="0" eaLnBrk="1" latinLnBrk="1" hangingPunct="1">
        <a:spcBef>
          <a:spcPct val="20000"/>
        </a:spcBef>
        <a:buClr>
          <a:schemeClr val="accent2"/>
        </a:buClr>
        <a:buSzPct val="90000"/>
        <a:buFont typeface="Wingdings 3" pitchFamily="18" charset="2"/>
        <a:buChar char=""/>
        <a:defRPr sz="28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2pPr>
      <a:lvl3pPr marL="1143000" indent="-228600" algn="l" defTabSz="914400" rtl="0" eaLnBrk="1" latinLnBrk="1" hangingPunct="1">
        <a:spcBef>
          <a:spcPct val="20000"/>
        </a:spcBef>
        <a:buClr>
          <a:schemeClr val="accent3"/>
        </a:buClr>
        <a:buSzPct val="90000"/>
        <a:buFont typeface="Wingdings 3" pitchFamily="18" charset="2"/>
        <a:buChar char=""/>
        <a:defRPr sz="24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3pPr>
      <a:lvl4pPr marL="1600200" indent="-228600" algn="l" defTabSz="914400" rtl="0" eaLnBrk="1" latinLnBrk="1" hangingPunct="1">
        <a:spcBef>
          <a:spcPct val="20000"/>
        </a:spcBef>
        <a:buClr>
          <a:schemeClr val="accent4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4pPr>
      <a:lvl5pPr marL="2057400" indent="-228600" algn="l" defTabSz="914400" rtl="0" eaLnBrk="1" latinLnBrk="1" hangingPunct="1">
        <a:spcBef>
          <a:spcPct val="20000"/>
        </a:spcBef>
        <a:buClr>
          <a:schemeClr val="accent5"/>
        </a:buClr>
        <a:buSzPct val="90000"/>
        <a:buFont typeface="Wingdings 3" pitchFamily="18" charset="2"/>
        <a:buChar char=""/>
        <a:defRPr sz="2000" kern="1200">
          <a:solidFill>
            <a:schemeClr val="tx1"/>
          </a:solidFill>
          <a:latin typeface="Book Antiqua" panose="02040602050305030304" pitchFamily="18" charset="0"/>
          <a:ea typeface="+mn-ea"/>
          <a:cs typeface="Aharoni" panose="02010803020104030203" pitchFamily="2" charset="-79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6FFF2C-5BE4-4A02-EE82-5DE96A69A9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/>
              <a:t>소플의</a:t>
            </a:r>
            <a:r>
              <a:rPr lang="ko-KR" altLang="en-US" dirty="0"/>
              <a:t> 처음 만난 </a:t>
            </a:r>
            <a:r>
              <a:rPr lang="ko-KR" altLang="en-US" dirty="0" err="1"/>
              <a:t>리액트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7FA9B2-251D-830E-5283-181B2218F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135883"/>
            <a:ext cx="10572000" cy="1028513"/>
          </a:xfrm>
        </p:spPr>
        <p:txBody>
          <a:bodyPr>
            <a:noAutofit/>
          </a:bodyPr>
          <a:lstStyle/>
          <a:p>
            <a:r>
              <a:rPr lang="ko-KR" altLang="en-US" sz="2000" dirty="0" err="1"/>
              <a:t>한빛미디어</a:t>
            </a:r>
            <a:endParaRPr lang="en-US" altLang="ko-KR" sz="2000" dirty="0"/>
          </a:p>
          <a:p>
            <a:r>
              <a:rPr lang="ko-KR" altLang="en-US" sz="2000" dirty="0"/>
              <a:t>김 경 민</a:t>
            </a:r>
          </a:p>
        </p:txBody>
      </p:sp>
    </p:spTree>
    <p:extLst>
      <p:ext uri="{BB962C8B-B14F-4D97-AF65-F5344CB8AC3E}">
        <p14:creationId xmlns:p14="http://schemas.microsoft.com/office/powerpoint/2010/main" val="373856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6E483-88F2-1E3C-A900-7D71AFB4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132" y="539496"/>
            <a:ext cx="10309782" cy="960120"/>
          </a:xfrm>
        </p:spPr>
        <p:txBody>
          <a:bodyPr/>
          <a:lstStyle/>
          <a:p>
            <a:r>
              <a:rPr lang="en-US" altLang="ko-KR" b="1" dirty="0">
                <a:latin typeface="Britannic Bold" panose="020B0903060703020204" pitchFamily="34" charset="0"/>
              </a:rPr>
              <a:t>12</a:t>
            </a:r>
            <a:r>
              <a:rPr lang="ko-KR" altLang="en-US" b="1" dirty="0">
                <a:latin typeface="Britannic Bold" panose="020B0903060703020204" pitchFamily="34" charset="0"/>
              </a:rPr>
              <a:t>장 </a:t>
            </a:r>
            <a:r>
              <a:rPr lang="en-US" altLang="ko-KR" b="1" dirty="0">
                <a:latin typeface="Britannic Bold" panose="020B0903060703020204" pitchFamily="34" charset="0"/>
              </a:rPr>
              <a:t>State </a:t>
            </a:r>
            <a:r>
              <a:rPr lang="ko-KR" altLang="en-US" b="1" dirty="0">
                <a:latin typeface="Britannic Bold" panose="020B0903060703020204" pitchFamily="34" charset="0"/>
              </a:rPr>
              <a:t>끌어올리기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BA5BAD-C2CC-8C2F-8B2F-9A2C8486B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1092" y="-31779"/>
            <a:ext cx="8449856" cy="692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58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12.1 Shared State</a:t>
            </a:r>
            <a:endParaRPr lang="ko-KR" altLang="en-US" sz="3600" dirty="0">
              <a:latin typeface="Britannic Bold" panose="020B090306070302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1231880" cy="5026842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Shared state</a:t>
            </a:r>
          </a:p>
          <a:p>
            <a:pPr lvl="1"/>
            <a:r>
              <a:rPr lang="ko-KR" altLang="en-US" sz="2400" dirty="0"/>
              <a:t>하위 컴포넌트가 공통된 부모 컴포넌트의 </a:t>
            </a:r>
            <a:r>
              <a:rPr lang="en-US" altLang="ko-KR" sz="2400" dirty="0"/>
              <a:t>state</a:t>
            </a:r>
            <a:r>
              <a:rPr lang="ko-KR" altLang="en-US" sz="2400" dirty="0"/>
              <a:t>를 공유해서 사용하는 것</a:t>
            </a:r>
            <a:endParaRPr lang="en-US" altLang="ko-KR" sz="2400" dirty="0"/>
          </a:p>
          <a:p>
            <a:r>
              <a:rPr lang="en-US" altLang="ko-KR" sz="2800" dirty="0"/>
              <a:t>state </a:t>
            </a:r>
            <a:r>
              <a:rPr lang="ko-KR" altLang="en-US" sz="2800" dirty="0"/>
              <a:t>끌어올리기</a:t>
            </a:r>
            <a:endParaRPr lang="en-US" altLang="ko-KR" sz="2800" dirty="0"/>
          </a:p>
          <a:p>
            <a:pPr lvl="1"/>
            <a:r>
              <a:rPr lang="ko-KR" altLang="en-US" sz="2400" dirty="0"/>
              <a:t>하위 컴포넌트의 </a:t>
            </a:r>
            <a:r>
              <a:rPr lang="en-US" altLang="ko-KR" sz="2400" dirty="0"/>
              <a:t>state</a:t>
            </a:r>
            <a:r>
              <a:rPr lang="ko-KR" altLang="en-US" sz="2400" dirty="0"/>
              <a:t>를 공통된 부모 컴포넌트로 끌어올려서 공유하는 방식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78FF3C6-F437-C0BF-C541-AD4EEBAD4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78" y="3632079"/>
            <a:ext cx="5782538" cy="28912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99529B4-7110-D7DD-FB79-559015DCD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540" y="3632079"/>
            <a:ext cx="5863982" cy="289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5067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48" y="526470"/>
            <a:ext cx="10972800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12.2 </a:t>
            </a:r>
            <a:r>
              <a:rPr lang="ko-KR" altLang="en-US" sz="3600" dirty="0">
                <a:latin typeface="Britannic Bold" panose="020B0903060703020204" pitchFamily="34" charset="0"/>
              </a:rPr>
              <a:t>하위 컴포넌트에서 </a:t>
            </a:r>
            <a:r>
              <a:rPr lang="en-US" altLang="ko-KR" sz="3600" dirty="0">
                <a:latin typeface="Britannic Bold" panose="020B0903060703020204" pitchFamily="34" charset="0"/>
              </a:rPr>
              <a:t>State </a:t>
            </a:r>
            <a:r>
              <a:rPr lang="ko-KR" altLang="en-US" sz="3600" dirty="0">
                <a:latin typeface="Britannic Bold" panose="020B0903060703020204" pitchFamily="34" charset="0"/>
              </a:rPr>
              <a:t>공유하기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658" y="1734531"/>
            <a:ext cx="11528981" cy="4892511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온도를 입력 받아서 각각 섭씨온도와 화씨온도로 표현해 주고</a:t>
            </a:r>
            <a:r>
              <a:rPr lang="en-US" altLang="ko-KR" sz="2800" dirty="0"/>
              <a:t>,</a:t>
            </a:r>
            <a:r>
              <a:rPr lang="ko-KR" altLang="en-US" sz="2800" dirty="0"/>
              <a:t> </a:t>
            </a:r>
            <a:endParaRPr lang="en-US" altLang="ko-KR" sz="2800" dirty="0"/>
          </a:p>
          <a:p>
            <a:r>
              <a:rPr lang="ko-KR" altLang="en-US" sz="2800" dirty="0"/>
              <a:t>해당 온도에서 물이 끓는지 안 끓는지를 출력해주는 컴포넌트</a:t>
            </a:r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537293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996"/>
            <a:ext cx="10972800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12.2 </a:t>
            </a:r>
            <a:r>
              <a:rPr lang="ko-KR" altLang="en-US" sz="3600" dirty="0">
                <a:latin typeface="Britannic Bold" panose="020B0903060703020204" pitchFamily="34" charset="0"/>
              </a:rPr>
              <a:t>하위 컴포넌트에서 </a:t>
            </a:r>
            <a:r>
              <a:rPr lang="en-US" altLang="ko-KR" sz="3600" dirty="0">
                <a:latin typeface="Britannic Bold" panose="020B0903060703020204" pitchFamily="34" charset="0"/>
              </a:rPr>
              <a:t>State </a:t>
            </a:r>
            <a:r>
              <a:rPr lang="ko-KR" altLang="en-US" sz="3600" dirty="0">
                <a:latin typeface="Britannic Bold" panose="020B0903060703020204" pitchFamily="34" charset="0"/>
              </a:rPr>
              <a:t>공유하기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8115"/>
            <a:ext cx="12192000" cy="5658927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물의 끓음 여부를 알려주는 컴포넌트 </a:t>
            </a:r>
            <a:r>
              <a:rPr lang="en-US" altLang="ko-KR" sz="2400" dirty="0"/>
              <a:t>– </a:t>
            </a:r>
            <a:r>
              <a:rPr lang="ko-KR" altLang="en-US" sz="2400" dirty="0"/>
              <a:t>이 컴포넌트를 사용하는 부모 컴포넌트</a:t>
            </a:r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77D9868-FC74-DECE-31BC-D921737BB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28" y="1520490"/>
            <a:ext cx="4833894" cy="25141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3DE439B-AD52-9A1C-501D-BFF241020D5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0491"/>
          <a:stretch/>
        </p:blipFill>
        <p:spPr>
          <a:xfrm>
            <a:off x="5530022" y="1528486"/>
            <a:ext cx="6294354" cy="532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98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996"/>
            <a:ext cx="10972800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12.2 </a:t>
            </a:r>
            <a:r>
              <a:rPr lang="ko-KR" altLang="en-US" sz="3600" dirty="0">
                <a:latin typeface="Britannic Bold" panose="020B0903060703020204" pitchFamily="34" charset="0"/>
              </a:rPr>
              <a:t>하위 컴포넌트에서 </a:t>
            </a:r>
            <a:r>
              <a:rPr lang="en-US" altLang="ko-KR" sz="3600" dirty="0">
                <a:latin typeface="Britannic Bold" panose="020B0903060703020204" pitchFamily="34" charset="0"/>
              </a:rPr>
              <a:t>State </a:t>
            </a:r>
            <a:r>
              <a:rPr lang="ko-KR" altLang="en-US" sz="3600" dirty="0">
                <a:latin typeface="Britannic Bold" panose="020B0903060703020204" pitchFamily="34" charset="0"/>
              </a:rPr>
              <a:t>공유하기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8115"/>
            <a:ext cx="12192000" cy="5658927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입력 컴포넌트 추출하기 </a:t>
            </a: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섭씨온도와 화씨온도를 따로 </a:t>
            </a:r>
            <a:r>
              <a:rPr lang="ko-KR" altLang="en-US" sz="2400" dirty="0" err="1">
                <a:sym typeface="Wingdings" panose="05000000000000000000" pitchFamily="2" charset="2"/>
              </a:rPr>
              <a:t>입력받을</a:t>
            </a:r>
            <a:r>
              <a:rPr lang="ko-KR" altLang="en-US" sz="2400" dirty="0">
                <a:sym typeface="Wingdings" panose="05000000000000000000" pitchFamily="2" charset="2"/>
              </a:rPr>
              <a:t> 수 있도록</a:t>
            </a:r>
            <a:r>
              <a:rPr lang="en-US" altLang="ko-KR" sz="2400" b="1" u="sng" dirty="0">
                <a:sym typeface="Wingdings" panose="05000000000000000000" pitchFamily="2" charset="2"/>
              </a:rPr>
              <a:t>(</a:t>
            </a:r>
            <a:r>
              <a:rPr lang="ko-KR" altLang="en-US" sz="2400" b="1" u="sng" dirty="0">
                <a:sym typeface="Wingdings" panose="05000000000000000000" pitchFamily="2" charset="2"/>
              </a:rPr>
              <a:t>재사용</a:t>
            </a:r>
            <a:r>
              <a:rPr lang="en-US" altLang="ko-KR" sz="2400" b="1" u="sng" dirty="0">
                <a:sym typeface="Wingdings" panose="05000000000000000000" pitchFamily="2" charset="2"/>
              </a:rPr>
              <a:t>)</a:t>
            </a:r>
            <a:endParaRPr lang="en-US" altLang="ko-KR" sz="2400" b="1" u="sng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DF45A8-191A-860D-DE38-66E719D576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661"/>
          <a:stretch/>
        </p:blipFill>
        <p:spPr>
          <a:xfrm>
            <a:off x="-1" y="1459998"/>
            <a:ext cx="8250372" cy="53900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938BE23-DF3D-6778-6AEC-51A89055A6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6646" y="1459997"/>
            <a:ext cx="5136541" cy="2984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41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996"/>
            <a:ext cx="10972800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12.2 </a:t>
            </a:r>
            <a:r>
              <a:rPr lang="ko-KR" altLang="en-US" sz="3600" dirty="0">
                <a:latin typeface="Britannic Bold" panose="020B0903060703020204" pitchFamily="34" charset="0"/>
              </a:rPr>
              <a:t>하위 컴포넌트에서 </a:t>
            </a:r>
            <a:r>
              <a:rPr lang="en-US" altLang="ko-KR" sz="3600" dirty="0">
                <a:latin typeface="Britannic Bold" panose="020B0903060703020204" pitchFamily="34" charset="0"/>
              </a:rPr>
              <a:t>State </a:t>
            </a:r>
            <a:r>
              <a:rPr lang="ko-KR" altLang="en-US" sz="3600" dirty="0">
                <a:latin typeface="Britannic Bold" panose="020B0903060703020204" pitchFamily="34" charset="0"/>
              </a:rPr>
              <a:t>공유하기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8115"/>
            <a:ext cx="12192000" cy="5658927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온도 변환 함수 작성하기 </a:t>
            </a:r>
            <a:r>
              <a:rPr lang="en-US" altLang="ko-KR" sz="2400" dirty="0"/>
              <a:t>– </a:t>
            </a:r>
            <a:r>
              <a:rPr lang="ko-KR" altLang="en-US" sz="2400" dirty="0"/>
              <a:t>만든 함수를 호출하는 함수 </a:t>
            </a:r>
            <a:endParaRPr lang="en-US" altLang="ko-KR" sz="2400" b="1" u="sng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B7A7F56-31B9-CB73-A815-11155D595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9770"/>
            <a:ext cx="5312177" cy="29962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BD9748A-BC47-2E00-E51E-95D7E3DE08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2961" y="1509770"/>
            <a:ext cx="6649039" cy="367185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0AB69AA-71FA-9622-FBB1-A4869E3BCF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9824" y="5181626"/>
            <a:ext cx="6636312" cy="110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52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996"/>
            <a:ext cx="10972800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12.2 </a:t>
            </a:r>
            <a:r>
              <a:rPr lang="ko-KR" altLang="en-US" sz="3600" dirty="0">
                <a:latin typeface="Britannic Bold" panose="020B0903060703020204" pitchFamily="34" charset="0"/>
              </a:rPr>
              <a:t>하위 컴포넌트에서 </a:t>
            </a:r>
            <a:r>
              <a:rPr lang="en-US" altLang="ko-KR" sz="3600" dirty="0">
                <a:latin typeface="Britannic Bold" panose="020B0903060703020204" pitchFamily="34" charset="0"/>
              </a:rPr>
              <a:t>State </a:t>
            </a:r>
            <a:r>
              <a:rPr lang="ko-KR" altLang="en-US" sz="3600" dirty="0">
                <a:latin typeface="Britannic Bold" panose="020B0903060703020204" pitchFamily="34" charset="0"/>
              </a:rPr>
              <a:t>공유하기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8115"/>
            <a:ext cx="12192000" cy="5658927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Shard State </a:t>
            </a:r>
            <a:r>
              <a:rPr lang="ko-KR" altLang="en-US" sz="2400" dirty="0"/>
              <a:t>적용하기 </a:t>
            </a: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하위 컴포넌트의 </a:t>
            </a:r>
            <a:r>
              <a:rPr lang="en-US" altLang="ko-KR" sz="2400" dirty="0">
                <a:sym typeface="Wingdings" panose="05000000000000000000" pitchFamily="2" charset="2"/>
              </a:rPr>
              <a:t>state</a:t>
            </a:r>
            <a:r>
              <a:rPr lang="ko-KR" altLang="en-US" sz="2400" dirty="0">
                <a:sym typeface="Wingdings" panose="05000000000000000000" pitchFamily="2" charset="2"/>
              </a:rPr>
              <a:t>를 공통된 부모 컴포넌트로 올려서 적용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			            </a:t>
            </a:r>
            <a:r>
              <a:rPr lang="en-US" altLang="ko-KR" sz="2400" dirty="0"/>
              <a:t> </a:t>
            </a:r>
            <a:r>
              <a:rPr lang="en-US" altLang="ko-KR" sz="2400" b="1" u="sng" dirty="0"/>
              <a:t>State </a:t>
            </a:r>
            <a:r>
              <a:rPr lang="ko-KR" altLang="en-US" sz="2400" b="1" u="sng" dirty="0"/>
              <a:t>끌어올리기</a:t>
            </a:r>
            <a:endParaRPr lang="en-US" altLang="ko-KR" sz="2400" b="1" u="sng" dirty="0"/>
          </a:p>
          <a:p>
            <a:endParaRPr lang="en-US" altLang="ko-KR" sz="1000" dirty="0">
              <a:sym typeface="Wingdings" panose="05000000000000000000" pitchFamily="2" charset="2"/>
            </a:endParaRPr>
          </a:p>
          <a:p>
            <a:r>
              <a:rPr lang="ko-KR" altLang="en-US" sz="2400" dirty="0">
                <a:sym typeface="Wingdings" panose="05000000000000000000" pitchFamily="2" charset="2"/>
              </a:rPr>
              <a:t>온도 값을 컴포넌트의 </a:t>
            </a:r>
            <a:r>
              <a:rPr lang="en-US" altLang="ko-KR" sz="2400" dirty="0">
                <a:sym typeface="Wingdings" panose="05000000000000000000" pitchFamily="2" charset="2"/>
              </a:rPr>
              <a:t>state</a:t>
            </a:r>
            <a:r>
              <a:rPr lang="ko-KR" altLang="en-US" sz="2400" dirty="0">
                <a:sym typeface="Wingdings" panose="05000000000000000000" pitchFamily="2" charset="2"/>
              </a:rPr>
              <a:t>에서 가져오는 것이 아닌 </a:t>
            </a:r>
            <a:r>
              <a:rPr lang="en-US" altLang="ko-KR" sz="2400" dirty="0">
                <a:sym typeface="Wingdings" panose="05000000000000000000" pitchFamily="2" charset="2"/>
              </a:rPr>
              <a:t>props</a:t>
            </a:r>
            <a:r>
              <a:rPr lang="ko-KR" altLang="en-US" sz="2400" dirty="0">
                <a:sym typeface="Wingdings" panose="05000000000000000000" pitchFamily="2" charset="2"/>
              </a:rPr>
              <a:t>를 통해서 가져오게 됨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endParaRPr lang="en-US" altLang="ko-KR" sz="2400" dirty="0">
              <a:sym typeface="Wingdings" panose="05000000000000000000" pitchFamily="2" charset="2"/>
            </a:endParaRPr>
          </a:p>
          <a:p>
            <a:endParaRPr lang="en-US" altLang="ko-KR" sz="2400" dirty="0">
              <a:sym typeface="Wingdings" panose="05000000000000000000" pitchFamily="2" charset="2"/>
            </a:endParaRPr>
          </a:p>
          <a:p>
            <a:endParaRPr lang="en-US" altLang="ko-KR" sz="2400" dirty="0">
              <a:sym typeface="Wingdings" panose="05000000000000000000" pitchFamily="2" charset="2"/>
            </a:endParaRPr>
          </a:p>
          <a:p>
            <a:endParaRPr lang="en-US" altLang="ko-KR" sz="2400" dirty="0">
              <a:sym typeface="Wingdings" panose="05000000000000000000" pitchFamily="2" charset="2"/>
            </a:endParaRPr>
          </a:p>
          <a:p>
            <a:endParaRPr lang="en-US" altLang="ko-KR" sz="1600" dirty="0">
              <a:sym typeface="Wingdings" panose="05000000000000000000" pitchFamily="2" charset="2"/>
            </a:endParaRPr>
          </a:p>
          <a:p>
            <a:r>
              <a:rPr lang="ko-KR" altLang="en-US" sz="2400" dirty="0">
                <a:sym typeface="Wingdings" panose="05000000000000000000" pitchFamily="2" charset="2"/>
              </a:rPr>
              <a:t>컴포넌트의 </a:t>
            </a:r>
            <a:r>
              <a:rPr lang="en-US" altLang="ko-KR" sz="2400" dirty="0">
                <a:sym typeface="Wingdings" panose="05000000000000000000" pitchFamily="2" charset="2"/>
              </a:rPr>
              <a:t>state</a:t>
            </a:r>
            <a:r>
              <a:rPr lang="ko-KR" altLang="en-US" sz="2400" dirty="0">
                <a:sym typeface="Wingdings" panose="05000000000000000000" pitchFamily="2" charset="2"/>
              </a:rPr>
              <a:t>를 사용하지 않게 되기 때문에 입력 값이 변경되었을 때 상위 컴포넌트로 변경된 값을 전달해야 함</a:t>
            </a:r>
            <a:endParaRPr lang="en-US" altLang="ko-KR" sz="2400" dirty="0"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02458E2-6794-DD80-A712-BAC431BD24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32" t="7909" r="-212" b="21847"/>
          <a:stretch/>
        </p:blipFill>
        <p:spPr>
          <a:xfrm>
            <a:off x="432519" y="2475713"/>
            <a:ext cx="8882278" cy="181230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82B8DDA-4D21-8A04-CA43-6C62543DB7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516" t="9671" r="-1" b="9721"/>
          <a:stretch/>
        </p:blipFill>
        <p:spPr>
          <a:xfrm>
            <a:off x="4873658" y="5010541"/>
            <a:ext cx="6419653" cy="1446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44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996"/>
            <a:ext cx="10972800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12.2 </a:t>
            </a:r>
            <a:r>
              <a:rPr lang="ko-KR" altLang="en-US" sz="3600" dirty="0">
                <a:latin typeface="Britannic Bold" panose="020B0903060703020204" pitchFamily="34" charset="0"/>
              </a:rPr>
              <a:t>하위 컴포넌트에서 </a:t>
            </a:r>
            <a:r>
              <a:rPr lang="en-US" altLang="ko-KR" sz="3600" dirty="0">
                <a:latin typeface="Britannic Bold" panose="020B0903060703020204" pitchFamily="34" charset="0"/>
              </a:rPr>
              <a:t>State </a:t>
            </a:r>
            <a:r>
              <a:rPr lang="ko-KR" altLang="en-US" sz="3600" dirty="0">
                <a:latin typeface="Britannic Bold" panose="020B0903060703020204" pitchFamily="34" charset="0"/>
              </a:rPr>
              <a:t>공유하기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8115"/>
            <a:ext cx="12192000" cy="5658927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Shard State </a:t>
            </a:r>
            <a:r>
              <a:rPr lang="ko-KR" altLang="en-US" sz="2400" dirty="0"/>
              <a:t>적용하기 </a:t>
            </a: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하위 컴포넌트의 </a:t>
            </a:r>
            <a:r>
              <a:rPr lang="en-US" altLang="ko-KR" sz="2400" dirty="0">
                <a:sym typeface="Wingdings" panose="05000000000000000000" pitchFamily="2" charset="2"/>
              </a:rPr>
              <a:t>state</a:t>
            </a:r>
            <a:r>
              <a:rPr lang="ko-KR" altLang="en-US" sz="2400" dirty="0">
                <a:sym typeface="Wingdings" panose="05000000000000000000" pitchFamily="2" charset="2"/>
              </a:rPr>
              <a:t>를 공통된 부모 컴포넌트로 올려서 적용</a:t>
            </a:r>
            <a:endParaRPr lang="en-US" altLang="ko-KR" sz="24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altLang="ko-KR" sz="2400" dirty="0">
                <a:sym typeface="Wingdings" panose="05000000000000000000" pitchFamily="2" charset="2"/>
              </a:rPr>
              <a:t>			            </a:t>
            </a:r>
            <a:r>
              <a:rPr lang="en-US" altLang="ko-KR" sz="2400" dirty="0"/>
              <a:t> </a:t>
            </a:r>
            <a:r>
              <a:rPr lang="en-US" altLang="ko-KR" sz="2400" b="1" u="sng" dirty="0"/>
              <a:t>State </a:t>
            </a:r>
            <a:r>
              <a:rPr lang="ko-KR" altLang="en-US" sz="2400" b="1" u="sng" dirty="0"/>
              <a:t>끌어올리기</a:t>
            </a:r>
            <a:endParaRPr lang="en-US" altLang="ko-KR" sz="2400" b="1" u="sng" dirty="0">
              <a:sym typeface="Wingdings" panose="05000000000000000000" pitchFamily="2" charset="2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7C48DBA-DC8D-6A48-43A2-2C3A47859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893088"/>
            <a:ext cx="8715909" cy="495691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02458E2-6794-DD80-A712-BAC431BD242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158" t="36122" b="50198"/>
          <a:stretch/>
        </p:blipFill>
        <p:spPr>
          <a:xfrm>
            <a:off x="1894788" y="4915427"/>
            <a:ext cx="7418894" cy="35708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82B8DDA-4D21-8A04-CA43-6C62543DB7E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6639" t="29335" b="48766"/>
          <a:stretch/>
        </p:blipFill>
        <p:spPr>
          <a:xfrm>
            <a:off x="6573701" y="2780322"/>
            <a:ext cx="5511461" cy="40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8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996"/>
            <a:ext cx="10972800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12.2 </a:t>
            </a:r>
            <a:r>
              <a:rPr lang="ko-KR" altLang="en-US" sz="3600" dirty="0">
                <a:latin typeface="Britannic Bold" panose="020B0903060703020204" pitchFamily="34" charset="0"/>
              </a:rPr>
              <a:t>하위 컴포넌트에서 </a:t>
            </a:r>
            <a:r>
              <a:rPr lang="en-US" altLang="ko-KR" sz="3600" dirty="0">
                <a:latin typeface="Britannic Bold" panose="020B0903060703020204" pitchFamily="34" charset="0"/>
              </a:rPr>
              <a:t>State </a:t>
            </a:r>
            <a:r>
              <a:rPr lang="ko-KR" altLang="en-US" sz="3600" dirty="0">
                <a:latin typeface="Britannic Bold" panose="020B0903060703020204" pitchFamily="34" charset="0"/>
              </a:rPr>
              <a:t>공유하기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8115"/>
            <a:ext cx="12192000" cy="5658927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Calculator </a:t>
            </a:r>
            <a:r>
              <a:rPr lang="ko-KR" altLang="en-US" sz="2400" dirty="0"/>
              <a:t>컴포넌트 변경하기 </a:t>
            </a:r>
            <a:r>
              <a:rPr lang="en-US" altLang="ko-KR" sz="2400" dirty="0"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sym typeface="Wingdings" panose="05000000000000000000" pitchFamily="2" charset="2"/>
              </a:rPr>
              <a:t>변경된 </a:t>
            </a:r>
            <a:r>
              <a:rPr lang="en-US" altLang="ko-KR" sz="2400" dirty="0" err="1">
                <a:sym typeface="Wingdings" panose="05000000000000000000" pitchFamily="2" charset="2"/>
              </a:rPr>
              <a:t>TemperatureInput</a:t>
            </a:r>
            <a:r>
              <a:rPr lang="ko-KR" altLang="en-US" sz="2400" dirty="0">
                <a:sym typeface="Wingdings" panose="05000000000000000000" pitchFamily="2" charset="2"/>
              </a:rPr>
              <a:t>에</a:t>
            </a: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sym typeface="Wingdings" panose="05000000000000000000" pitchFamily="2" charset="2"/>
              </a:rPr>
              <a:t>맞춰 </a:t>
            </a:r>
            <a:r>
              <a:rPr lang="en-US" altLang="ko-KR" sz="2400" dirty="0">
                <a:sym typeface="Wingdings" panose="05000000000000000000" pitchFamily="2" charset="2"/>
              </a:rPr>
              <a:t>Calculator </a:t>
            </a:r>
            <a:r>
              <a:rPr lang="ko-KR" altLang="en-US" sz="2400" dirty="0">
                <a:sym typeface="Wingdings" panose="05000000000000000000" pitchFamily="2" charset="2"/>
              </a:rPr>
              <a:t>변경</a:t>
            </a:r>
            <a:endParaRPr lang="en-US" altLang="ko-KR" sz="2400" b="1" u="sng" dirty="0">
              <a:sym typeface="Wingdings" panose="05000000000000000000" pitchFamily="2" charset="2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6248F28-BA87-A5BC-FA45-3CAE9FFDBF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705"/>
          <a:stretch/>
        </p:blipFill>
        <p:spPr>
          <a:xfrm>
            <a:off x="0" y="1537512"/>
            <a:ext cx="4997838" cy="379806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6642A02-4D78-A2A3-3DAD-122D998BBEB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39" b="9201"/>
          <a:stretch/>
        </p:blipFill>
        <p:spPr>
          <a:xfrm>
            <a:off x="5165889" y="1556367"/>
            <a:ext cx="7026112" cy="5350199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2436B91-AA77-ACF9-2FD5-010E51E859C8}"/>
              </a:ext>
            </a:extLst>
          </p:cNvPr>
          <p:cNvCxnSpPr>
            <a:cxnSpLocks/>
          </p:cNvCxnSpPr>
          <p:nvPr/>
        </p:nvCxnSpPr>
        <p:spPr>
          <a:xfrm>
            <a:off x="5128182" y="1499804"/>
            <a:ext cx="0" cy="5350199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151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5897"/>
            <a:ext cx="10972800" cy="960120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12.2 </a:t>
            </a:r>
            <a:r>
              <a:rPr lang="ko-KR" altLang="en-US" sz="3600" dirty="0">
                <a:latin typeface="Britannic Bold" panose="020B0903060703020204" pitchFamily="34" charset="0"/>
              </a:rPr>
              <a:t>하위 컴포넌트에서 </a:t>
            </a:r>
            <a:r>
              <a:rPr lang="en-US" altLang="ko-KR" sz="3600" dirty="0">
                <a:latin typeface="Britannic Bold" panose="020B0903060703020204" pitchFamily="34" charset="0"/>
              </a:rPr>
              <a:t>State </a:t>
            </a:r>
            <a:r>
              <a:rPr lang="ko-KR" altLang="en-US" sz="3600" dirty="0">
                <a:latin typeface="Britannic Bold" panose="020B0903060703020204" pitchFamily="34" charset="0"/>
              </a:rPr>
              <a:t>공유하기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4" y="1659118"/>
            <a:ext cx="11887201" cy="4967924"/>
          </a:xfrm>
        </p:spPr>
        <p:txBody>
          <a:bodyPr>
            <a:normAutofit/>
          </a:bodyPr>
          <a:lstStyle/>
          <a:p>
            <a:r>
              <a:rPr lang="ko-KR" altLang="en-US" sz="2400" dirty="0">
                <a:sym typeface="Wingdings" panose="05000000000000000000" pitchFamily="2" charset="2"/>
              </a:rPr>
              <a:t>각 컴포넌트가 </a:t>
            </a:r>
            <a:r>
              <a:rPr lang="en-US" altLang="ko-KR" sz="2400" dirty="0">
                <a:sym typeface="Wingdings" panose="05000000000000000000" pitchFamily="2" charset="2"/>
              </a:rPr>
              <a:t>state</a:t>
            </a:r>
            <a:r>
              <a:rPr lang="ko-KR" altLang="en-US" sz="2400" dirty="0">
                <a:sym typeface="Wingdings" panose="05000000000000000000" pitchFamily="2" charset="2"/>
              </a:rPr>
              <a:t>에 값을 가지고 있는 것이 아니라 공통된 상위 컴포넌트로 올려서 공유하는 방법을 사용하면 </a:t>
            </a:r>
            <a:r>
              <a:rPr lang="ko-KR" altLang="en-US" sz="2400" dirty="0" err="1">
                <a:sym typeface="Wingdings" panose="05000000000000000000" pitchFamily="2" charset="2"/>
              </a:rPr>
              <a:t>리액트에서</a:t>
            </a:r>
            <a:r>
              <a:rPr lang="ko-KR" altLang="en-US" sz="2400" dirty="0">
                <a:sym typeface="Wingdings" panose="05000000000000000000" pitchFamily="2" charset="2"/>
              </a:rPr>
              <a:t> 더욱 간결하고 효율적인 개발을 할 수 있음</a:t>
            </a:r>
            <a:endParaRPr lang="en-US" altLang="ko-KR" sz="2400" dirty="0">
              <a:sym typeface="Wingdings" panose="05000000000000000000" pitchFamily="2" charset="2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4156FD8-F5C8-F4E4-B158-74FDAB228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062" y="2472563"/>
            <a:ext cx="6319023" cy="431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54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675695" cy="1499616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12.3 </a:t>
            </a:r>
            <a:r>
              <a:rPr lang="ko-KR" altLang="en-US" sz="3600" dirty="0">
                <a:latin typeface="Britannic Bold" panose="020B0903060703020204" pitchFamily="34" charset="0"/>
              </a:rPr>
              <a:t>섭씨온도와 화씨온도 표시하기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581347"/>
            <a:ext cx="5065706" cy="4838306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TemperatureInput</a:t>
            </a:r>
            <a:r>
              <a:rPr lang="ko-KR" altLang="en-US" sz="2400" dirty="0"/>
              <a:t> 컴포넌트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  </a:t>
            </a:r>
            <a:r>
              <a:rPr lang="ko-KR" altLang="en-US" sz="2400" dirty="0"/>
              <a:t> </a:t>
            </a:r>
            <a:r>
              <a:rPr lang="en-US" altLang="ko-KR" sz="2400" dirty="0"/>
              <a:t>- </a:t>
            </a:r>
            <a:r>
              <a:rPr lang="en-US" altLang="ko-KR" sz="2400" dirty="0" err="1"/>
              <a:t>TemperatureInput.jsx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9A929A2-48DB-08FD-AC0D-3B9588F1F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469" y="84841"/>
            <a:ext cx="7424531" cy="668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300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675695" cy="1499616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12.3 </a:t>
            </a:r>
            <a:r>
              <a:rPr lang="ko-KR" altLang="en-US" sz="3600" dirty="0">
                <a:latin typeface="Britannic Bold" panose="020B0903060703020204" pitchFamily="34" charset="0"/>
              </a:rPr>
              <a:t>섭씨온도와 화씨온도 표시하기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581347"/>
            <a:ext cx="5065706" cy="4838306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Calculator</a:t>
            </a:r>
            <a:r>
              <a:rPr lang="ko-KR" altLang="en-US" sz="2400" dirty="0"/>
              <a:t> 컴포넌트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  </a:t>
            </a:r>
            <a:r>
              <a:rPr lang="ko-KR" altLang="en-US" sz="2400" dirty="0"/>
              <a:t> </a:t>
            </a:r>
            <a:r>
              <a:rPr lang="en-US" altLang="ko-KR" sz="2400" dirty="0"/>
              <a:t>- </a:t>
            </a:r>
            <a:r>
              <a:rPr lang="en-US" altLang="ko-KR" sz="2400" dirty="0" err="1"/>
              <a:t>Calculator.jsx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4243D0-4152-0162-91AD-B0302B406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75" y="154976"/>
            <a:ext cx="6082932" cy="15371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D534214-51D9-BE61-242D-0C1CB0000D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9047"/>
          <a:stretch/>
        </p:blipFill>
        <p:spPr>
          <a:xfrm>
            <a:off x="4908721" y="1692133"/>
            <a:ext cx="6340857" cy="459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318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675695" cy="1499616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12.3 </a:t>
            </a:r>
            <a:r>
              <a:rPr lang="ko-KR" altLang="en-US" sz="3600" dirty="0">
                <a:latin typeface="Britannic Bold" panose="020B0903060703020204" pitchFamily="34" charset="0"/>
              </a:rPr>
              <a:t>섭씨온도와 화씨온도 표시하기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581347"/>
            <a:ext cx="5065706" cy="4838306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Calculator</a:t>
            </a:r>
            <a:r>
              <a:rPr lang="ko-KR" altLang="en-US" sz="2400" dirty="0"/>
              <a:t> 컴포넌트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  </a:t>
            </a:r>
            <a:r>
              <a:rPr lang="ko-KR" altLang="en-US" sz="2400" dirty="0"/>
              <a:t> </a:t>
            </a:r>
            <a:r>
              <a:rPr lang="en-US" altLang="ko-KR" sz="2400" dirty="0"/>
              <a:t>- </a:t>
            </a:r>
            <a:r>
              <a:rPr lang="en-US" altLang="ko-KR" sz="2400" dirty="0" err="1"/>
              <a:t>Calculator.jsx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63D23B-5BE0-4017-F9F4-8EBAE2DA5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206" y="18854"/>
            <a:ext cx="5766357" cy="567182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6B266AE-4976-4A84-9A97-F8F61D44420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r="18420" b="85212"/>
          <a:stretch/>
        </p:blipFill>
        <p:spPr>
          <a:xfrm>
            <a:off x="4987634" y="5694057"/>
            <a:ext cx="5645801" cy="113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0973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675695" cy="1499616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12.3 </a:t>
            </a:r>
            <a:r>
              <a:rPr lang="ko-KR" altLang="en-US" sz="3600" dirty="0">
                <a:latin typeface="Britannic Bold" panose="020B0903060703020204" pitchFamily="34" charset="0"/>
              </a:rPr>
              <a:t>섭씨온도와 화씨온도 표시하기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581347"/>
            <a:ext cx="5065706" cy="4838306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Calculator</a:t>
            </a:r>
            <a:r>
              <a:rPr lang="ko-KR" altLang="en-US" sz="2400" dirty="0"/>
              <a:t> 컴포넌트 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  </a:t>
            </a:r>
            <a:r>
              <a:rPr lang="ko-KR" altLang="en-US" sz="2400" dirty="0"/>
              <a:t> </a:t>
            </a:r>
            <a:r>
              <a:rPr lang="en-US" altLang="ko-KR" sz="2400" dirty="0"/>
              <a:t>- </a:t>
            </a:r>
            <a:r>
              <a:rPr lang="en-US" altLang="ko-KR" sz="2400" dirty="0" err="1"/>
              <a:t>Calculator.jsx</a:t>
            </a:r>
            <a:endParaRPr lang="en-US" altLang="ko-KR" sz="2400" dirty="0"/>
          </a:p>
          <a:p>
            <a:pPr lvl="1"/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EF319F9-F3EA-278C-4DED-70190DCD8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952" y="0"/>
            <a:ext cx="6959382" cy="681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82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EF16DE-B607-B8EA-9AA2-F46E12343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675695" cy="1499616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Britannic Bold" panose="020B0903060703020204" pitchFamily="34" charset="0"/>
              </a:rPr>
              <a:t>12.3 </a:t>
            </a:r>
            <a:r>
              <a:rPr lang="ko-KR" altLang="en-US" sz="3600" dirty="0">
                <a:latin typeface="Britannic Bold" panose="020B0903060703020204" pitchFamily="34" charset="0"/>
              </a:rPr>
              <a:t>섭씨온도와 화씨온도 표시하기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F34381-C1F5-E98E-A371-C6A6969B4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581347"/>
            <a:ext cx="5065706" cy="4838306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실행하기</a:t>
            </a:r>
            <a:endParaRPr lang="en-US" altLang="ko-KR" sz="2800" dirty="0"/>
          </a:p>
          <a:p>
            <a:r>
              <a:rPr lang="en-US" altLang="ko-KR" sz="2800" dirty="0"/>
              <a:t>index.js</a:t>
            </a:r>
          </a:p>
          <a:p>
            <a:pPr lvl="1"/>
            <a:r>
              <a:rPr lang="ko-KR" altLang="en-US" sz="2400" dirty="0"/>
              <a:t>실제로 화면에 렌더링</a:t>
            </a:r>
            <a:endParaRPr lang="en-US" altLang="ko-KR" sz="2400" dirty="0"/>
          </a:p>
          <a:p>
            <a:r>
              <a:rPr lang="ko-KR" altLang="en-US" sz="2800" dirty="0" err="1"/>
              <a:t>리액트</a:t>
            </a:r>
            <a:r>
              <a:rPr lang="ko-KR" altLang="en-US" sz="2800" dirty="0"/>
              <a:t> 애플리케이션 실행</a:t>
            </a:r>
            <a:endParaRPr lang="en-US" altLang="ko-KR" sz="2800" dirty="0"/>
          </a:p>
          <a:p>
            <a:pPr lvl="1"/>
            <a:r>
              <a:rPr lang="en-US" altLang="ko-KR" sz="2400" dirty="0"/>
              <a:t>Terminal &gt; New Terminal</a:t>
            </a:r>
          </a:p>
          <a:p>
            <a:pPr lvl="1"/>
            <a:r>
              <a:rPr lang="en-US" altLang="ko-KR" sz="2400" dirty="0" err="1"/>
              <a:t>npm</a:t>
            </a:r>
            <a:r>
              <a:rPr lang="en-US" altLang="ko-KR" sz="2400" dirty="0"/>
              <a:t> start</a:t>
            </a:r>
            <a:endParaRPr lang="ko-KR" altLang="en-US" sz="2400" dirty="0"/>
          </a:p>
          <a:p>
            <a:pPr lvl="1"/>
            <a:endParaRPr lang="en-US" altLang="ko-KR" sz="2400" dirty="0"/>
          </a:p>
          <a:p>
            <a:endParaRPr lang="en-US" altLang="ko-KR" sz="2800" dirty="0"/>
          </a:p>
          <a:p>
            <a:endParaRPr lang="en-US" altLang="ko-KR" sz="2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CCB9B8-F94A-454C-FB8E-6C7EE2363C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786" y="164311"/>
            <a:ext cx="6883095" cy="30030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9B52398-B69F-F319-5FDA-31D7916825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237" y="3167406"/>
            <a:ext cx="3815096" cy="239652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610A6D0-3ECF-CD2C-24F5-DCDCF0ECF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6904" y="3617205"/>
            <a:ext cx="3815095" cy="237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967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EBEBC-B662-60CC-A949-FDBF3BF2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537" y="539496"/>
            <a:ext cx="10972800" cy="960120"/>
          </a:xfrm>
        </p:spPr>
        <p:txBody>
          <a:bodyPr/>
          <a:lstStyle/>
          <a:p>
            <a:r>
              <a:rPr lang="ko-KR" altLang="en-US" dirty="0"/>
              <a:t>마치며 </a:t>
            </a:r>
            <a:r>
              <a:rPr lang="en-US" altLang="ko-KR" dirty="0"/>
              <a:t>- </a:t>
            </a:r>
            <a:r>
              <a:rPr lang="ko-KR" altLang="en-US" dirty="0"/>
              <a:t>요약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568054F-F4C4-CF73-3561-5E7197087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653" y="1843320"/>
            <a:ext cx="8174084" cy="198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16476"/>
      </p:ext>
    </p:extLst>
  </p:cSld>
  <p:clrMapOvr>
    <a:masterClrMapping/>
  </p:clrMapOvr>
</p:sld>
</file>

<file path=ppt/theme/theme1.xml><?xml version="1.0" encoding="utf-8"?>
<a:theme xmlns:a="http://schemas.openxmlformats.org/drawingml/2006/main" name="New_Simple01">
  <a:themeElements>
    <a:clrScheme name="따뜻한 파란색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New_Simple01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맑은 고딕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ew_Simple01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hade val="100000"/>
                <a:satMod val="165000"/>
              </a:schemeClr>
            </a:gs>
            <a:gs pos="55000">
              <a:schemeClr val="phClr">
                <a:tint val="83000"/>
                <a:shade val="100000"/>
                <a:satMod val="155000"/>
              </a:schemeClr>
            </a:gs>
            <a:gs pos="100000">
              <a:schemeClr val="phClr">
                <a:shade val="85000"/>
                <a:satMod val="100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20040000"/>
            </a:lightRig>
          </a:scene3d>
          <a:sp3d contourW="12700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hueMod val="105000"/>
                <a:satMod val="250000"/>
              </a:schemeClr>
            </a:gs>
            <a:gs pos="100000">
              <a:schemeClr val="phClr">
                <a:tint val="95000"/>
                <a:shade val="100000"/>
                <a:satMod val="200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4000"/>
                <a:satMod val="200000"/>
              </a:schemeClr>
            </a:gs>
            <a:gs pos="100000">
              <a:schemeClr val="phClr">
                <a:shade val="70000"/>
                <a:satMod val="200000"/>
              </a:schemeClr>
            </a:gs>
          </a:gsLst>
          <a:path path="circle">
            <a:fillToRect l="40000" r="40000" b="6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심플 테마</Template>
  <TotalTime>1478</TotalTime>
  <Words>316</Words>
  <Application>Microsoft Office PowerPoint</Application>
  <PresentationFormat>와이드스크린</PresentationFormat>
  <Paragraphs>77</Paragraphs>
  <Slides>17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맑은 고딕</vt:lpstr>
      <vt:lpstr>Aharoni</vt:lpstr>
      <vt:lpstr>Arial</vt:lpstr>
      <vt:lpstr>Book Antiqua</vt:lpstr>
      <vt:lpstr>Britannic Bold</vt:lpstr>
      <vt:lpstr>Tw Cen MT</vt:lpstr>
      <vt:lpstr>Wingdings</vt:lpstr>
      <vt:lpstr>Wingdings 3</vt:lpstr>
      <vt:lpstr>New_Simple01</vt:lpstr>
      <vt:lpstr>소플의 처음 만난 리액트</vt:lpstr>
      <vt:lpstr>12장 State 끌어올리기</vt:lpstr>
      <vt:lpstr>12.1 Shared State</vt:lpstr>
      <vt:lpstr>12.2 하위 컴포넌트에서 State 공유하기</vt:lpstr>
      <vt:lpstr>12.2 하위 컴포넌트에서 State 공유하기</vt:lpstr>
      <vt:lpstr>12.2 하위 컴포넌트에서 State 공유하기</vt:lpstr>
      <vt:lpstr>12.2 하위 컴포넌트에서 State 공유하기</vt:lpstr>
      <vt:lpstr>12.2 하위 컴포넌트에서 State 공유하기</vt:lpstr>
      <vt:lpstr>12.2 하위 컴포넌트에서 State 공유하기</vt:lpstr>
      <vt:lpstr>12.2 하위 컴포넌트에서 State 공유하기</vt:lpstr>
      <vt:lpstr>12.2 하위 컴포넌트에서 State 공유하기</vt:lpstr>
      <vt:lpstr>12.3 섭씨온도와 화씨온도 표시하기</vt:lpstr>
      <vt:lpstr>12.3 섭씨온도와 화씨온도 표시하기</vt:lpstr>
      <vt:lpstr>12.3 섭씨온도와 화씨온도 표시하기</vt:lpstr>
      <vt:lpstr>12.3 섭씨온도와 화씨온도 표시하기</vt:lpstr>
      <vt:lpstr>12.3 섭씨온도와 화씨온도 표시하기</vt:lpstr>
      <vt:lpstr>마치며 - 요약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소플의 처음 만난 리액트</dc:title>
  <dc:creator>김경민</dc:creator>
  <cp:lastModifiedBy>김경민</cp:lastModifiedBy>
  <cp:revision>45</cp:revision>
  <dcterms:created xsi:type="dcterms:W3CDTF">2024-03-11T14:49:31Z</dcterms:created>
  <dcterms:modified xsi:type="dcterms:W3CDTF">2025-05-21T13:22:44Z</dcterms:modified>
</cp:coreProperties>
</file>