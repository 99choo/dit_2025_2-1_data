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21"/>
  </p:notesMasterIdLst>
  <p:sldIdLst>
    <p:sldId id="259" r:id="rId2"/>
    <p:sldId id="271" r:id="rId3"/>
    <p:sldId id="306" r:id="rId4"/>
    <p:sldId id="273" r:id="rId5"/>
    <p:sldId id="308" r:id="rId6"/>
    <p:sldId id="287" r:id="rId7"/>
    <p:sldId id="289" r:id="rId8"/>
    <p:sldId id="309" r:id="rId9"/>
    <p:sldId id="320" r:id="rId10"/>
    <p:sldId id="317" r:id="rId11"/>
    <p:sldId id="311" r:id="rId12"/>
    <p:sldId id="318" r:id="rId13"/>
    <p:sldId id="319" r:id="rId14"/>
    <p:sldId id="322" r:id="rId15"/>
    <p:sldId id="293" r:id="rId16"/>
    <p:sldId id="292" r:id="rId17"/>
    <p:sldId id="291" r:id="rId18"/>
    <p:sldId id="294" r:id="rId19"/>
    <p:sldId id="296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33CC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3" autoAdjust="0"/>
    <p:restoredTop sz="94660"/>
  </p:normalViewPr>
  <p:slideViewPr>
    <p:cSldViewPr>
      <p:cViewPr varScale="1">
        <p:scale>
          <a:sx n="113" d="100"/>
          <a:sy n="113" d="100"/>
        </p:scale>
        <p:origin x="228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C81B3-66AF-4A74-A173-A03EFED95F15}" type="datetimeFigureOut">
              <a:rPr lang="ko-KR" altLang="en-US" smtClean="0"/>
              <a:pPr/>
              <a:t>2025-05-21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573CF-381C-4479-B621-03C12491FF8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626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BD7322-6974-4CC7-991F-711A20C6B767}" type="datetime1">
              <a:rPr lang="ko-KR" altLang="en-US" smtClean="0"/>
              <a:pPr/>
              <a:t>2025-05-21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7" name="Picture 2" descr="DIT동의과학대학교(DONG-EUI INSTITUTE OF TECHNOLOGY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4504" y="64992"/>
            <a:ext cx="931937" cy="19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5703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2510" y="173708"/>
            <a:ext cx="11822266" cy="738745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7072" y="1057835"/>
            <a:ext cx="11434714" cy="561190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722443" y="6492275"/>
            <a:ext cx="453081" cy="365125"/>
          </a:xfrm>
        </p:spPr>
        <p:txBody>
          <a:bodyPr/>
          <a:lstStyle/>
          <a:p>
            <a:fld id="{8B40AADC-E18F-469E-84D1-3A01AA8753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85073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4FAFA-028B-403D-83AC-A392DA1F429C}" type="datetime1">
              <a:rPr lang="ko-KR" altLang="en-US" smtClean="0"/>
              <a:pPr/>
              <a:t>2025-05-21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58457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70071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18526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4FAFA-028B-403D-83AC-A392DA1F429C}" type="datetime1">
              <a:rPr lang="ko-KR" altLang="en-US" smtClean="0"/>
              <a:pPr/>
              <a:t>2025-05-21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78596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4FAFA-028B-403D-83AC-A392DA1F429C}" type="datetime1">
              <a:rPr lang="ko-KR" altLang="en-US" smtClean="0"/>
              <a:pPr/>
              <a:t>2025-05-21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7836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84533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4FAFA-028B-403D-83AC-A392DA1F429C}" type="datetime1">
              <a:rPr lang="ko-KR" altLang="en-US" smtClean="0"/>
              <a:pPr/>
              <a:t>2025-05-21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3933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43763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50112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5991" y="117298"/>
            <a:ext cx="11929216" cy="68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73465" y="940036"/>
            <a:ext cx="11801741" cy="577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776817" y="6492875"/>
            <a:ext cx="4151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0AADC-E18F-469E-84D1-3A01AA87535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5" name="Picture 2" descr="DIT동의과학대학교(DONG-EUI INSTITUTE OF TECHNOLOGY)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4504" y="64992"/>
            <a:ext cx="931937" cy="19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0395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lena-chamna.netlify.app/post/http_multipart_form-data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javaee.github.io/javaee-spec/javadocs/index.html?javax/servlet/http/package-summary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991544" y="1268760"/>
            <a:ext cx="8352928" cy="216024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altLang="ko-KR" dirty="0"/>
              <a:t>7</a:t>
            </a:r>
            <a:r>
              <a:rPr lang="ko-KR" altLang="en-US" dirty="0"/>
              <a:t>장 파일 업로드와 간의 </a:t>
            </a:r>
            <a:r>
              <a:rPr lang="ko-KR" altLang="en-US"/>
              <a:t>웹하드 구현</a:t>
            </a:r>
            <a:br>
              <a:rPr lang="en-US" altLang="ko-KR"/>
            </a:br>
            <a:r>
              <a:rPr lang="en-US" altLang="ko-KR" sz="4400"/>
              <a:t>(</a:t>
            </a:r>
            <a:r>
              <a:rPr lang="ko-KR" altLang="en-US" sz="4400"/>
              <a:t>서블릿 활용</a:t>
            </a:r>
            <a:r>
              <a:rPr lang="en-US" altLang="ko-KR" sz="4400"/>
              <a:t>)</a:t>
            </a:r>
            <a:endParaRPr lang="ko-KR" altLang="en-US" sz="4400" dirty="0"/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>
          <a:xfrm>
            <a:off x="1524000" y="4149080"/>
            <a:ext cx="9144000" cy="1655762"/>
          </a:xfrm>
        </p:spPr>
        <p:txBody>
          <a:bodyPr>
            <a:normAutofit/>
          </a:bodyPr>
          <a:lstStyle/>
          <a:p>
            <a:r>
              <a:rPr lang="ko-KR" altLang="en-US" dirty="0"/>
              <a:t>동의과학대학교</a:t>
            </a:r>
            <a:endParaRPr lang="en-US" altLang="ko-KR" dirty="0"/>
          </a:p>
          <a:p>
            <a:r>
              <a:rPr lang="ko-KR" altLang="en-US" dirty="0"/>
              <a:t>컴퓨터정보과</a:t>
            </a:r>
            <a:endParaRPr lang="en-US" altLang="ko-KR" dirty="0"/>
          </a:p>
          <a:p>
            <a:r>
              <a:rPr lang="ko-KR" altLang="en-US" dirty="0"/>
              <a:t>김진숙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1667" y="188640"/>
            <a:ext cx="2828029" cy="578235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내용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33784" y="2024844"/>
            <a:ext cx="8208911" cy="280831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sz="3200" dirty="0"/>
              <a:t>파일 업로드</a:t>
            </a:r>
            <a:endParaRPr lang="en-US" altLang="ko-KR" sz="32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3200" dirty="0"/>
              <a:t>파일 다운로드</a:t>
            </a:r>
            <a:endParaRPr lang="en-US" altLang="ko-KR" sz="32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3200" dirty="0"/>
              <a:t>배포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C0BC5E-6B62-4DAD-A3E2-37B7693E8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파일 업로드 실습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BC1AAE-5F7A-4390-A7F9-615525DD3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/>
              <a:t>준비 사항</a:t>
            </a:r>
            <a:endParaRPr lang="en-US" altLang="ko-KR"/>
          </a:p>
          <a:p>
            <a:pPr marL="971550" lvl="1" indent="-514350">
              <a:buFont typeface="+mj-lt"/>
              <a:buAutoNum type="arabicPeriod"/>
            </a:pPr>
            <a:r>
              <a:rPr lang="ko-KR" altLang="en-US"/>
              <a:t>프로젝트 파일 준비</a:t>
            </a:r>
            <a:endParaRPr lang="en-US" altLang="ko-KR"/>
          </a:p>
          <a:p>
            <a:pPr marL="971550" lvl="1" indent="-514350">
              <a:buFont typeface="+mj-lt"/>
              <a:buAutoNum type="arabicPeriod"/>
            </a:pPr>
            <a:r>
              <a:rPr lang="ko-KR" altLang="en-US"/>
              <a:t>테이블 준비</a:t>
            </a:r>
            <a:r>
              <a:rPr lang="en-US" altLang="ko-KR"/>
              <a:t>(member2)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/>
              <a:t>MemberDTO/MemberDAO </a:t>
            </a:r>
            <a:r>
              <a:rPr lang="ko-KR" altLang="en-US"/>
              <a:t>변경</a:t>
            </a:r>
            <a:r>
              <a:rPr lang="en-US" altLang="ko-KR"/>
              <a:t>(</a:t>
            </a:r>
            <a:r>
              <a:rPr lang="ko-KR" altLang="en-US"/>
              <a:t>테이블 구조 변경에 따른</a:t>
            </a:r>
            <a:r>
              <a:rPr lang="en-US" altLang="ko-KR"/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ko-KR" altLang="en-US"/>
              <a:t>이클립스의 퍼블리싱 기능 해제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업로드 폼 작성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업로드 처리 서블릿 작성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업로드 파일 다운로드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다른 파일들 정리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5A23F2-A8A4-49D5-B7A9-825DD4776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485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0517" y="72437"/>
            <a:ext cx="11822266" cy="738745"/>
          </a:xfrm>
        </p:spPr>
        <p:txBody>
          <a:bodyPr>
            <a:normAutofit/>
          </a:bodyPr>
          <a:lstStyle/>
          <a:p>
            <a:r>
              <a:rPr lang="en-US" altLang="ko-KR"/>
              <a:t>1. </a:t>
            </a:r>
            <a:r>
              <a:rPr lang="ko-KR" altLang="en-US"/>
              <a:t>준비 사항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8643" y="908720"/>
            <a:ext cx="11045949" cy="5611906"/>
          </a:xfrm>
        </p:spPr>
        <p:txBody>
          <a:bodyPr/>
          <a:lstStyle/>
          <a:p>
            <a:r>
              <a:rPr lang="en-US" altLang="ko-KR"/>
              <a:t>member-dao </a:t>
            </a:r>
            <a:r>
              <a:rPr lang="ko-KR" altLang="en-US"/>
              <a:t>프로젝트 파일</a:t>
            </a:r>
            <a:endParaRPr lang="en-US" altLang="ko-KR"/>
          </a:p>
          <a:p>
            <a:pPr lvl="1"/>
            <a:r>
              <a:rPr lang="en-US" altLang="ko-KR"/>
              <a:t>copy </a:t>
            </a:r>
            <a:r>
              <a:rPr lang="ko-KR" altLang="en-US"/>
              <a:t>하여 </a:t>
            </a:r>
            <a:r>
              <a:rPr lang="en-US" altLang="ko-KR"/>
              <a:t>member-file </a:t>
            </a:r>
            <a:r>
              <a:rPr lang="ko-KR" altLang="en-US"/>
              <a:t>프로젝트 준비</a:t>
            </a:r>
            <a:endParaRPr lang="en-US" altLang="ko-KR"/>
          </a:p>
          <a:p>
            <a:r>
              <a:rPr lang="ko-KR" altLang="en-US"/>
              <a:t>데이터베이스 테이블</a:t>
            </a:r>
            <a:endParaRPr lang="en-US" altLang="ko-KR"/>
          </a:p>
          <a:p>
            <a:pPr lvl="1"/>
            <a:r>
              <a:rPr lang="ko-KR" altLang="en-US"/>
              <a:t>이전 프로젝트에 문제가 생기지 않도록</a:t>
            </a:r>
            <a:r>
              <a:rPr lang="en-US" altLang="ko-KR"/>
              <a:t> member2 </a:t>
            </a:r>
            <a:r>
              <a:rPr lang="ko-KR" altLang="en-US"/>
              <a:t>테이블을 생성하여 사용하도록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208568" y="6808291"/>
            <a:ext cx="764215" cy="365125"/>
          </a:xfrm>
        </p:spPr>
        <p:txBody>
          <a:bodyPr/>
          <a:lstStyle/>
          <a:p>
            <a:fld id="{8B40AADC-E18F-469E-84D1-3A01AA875353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D2D1FC2-5606-4199-9C84-D9F6EA89F52C}"/>
              </a:ext>
            </a:extLst>
          </p:cNvPr>
          <p:cNvSpPr/>
          <p:nvPr/>
        </p:nvSpPr>
        <p:spPr>
          <a:xfrm>
            <a:off x="1271464" y="3211308"/>
            <a:ext cx="5688632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400" b="1">
                <a:solidFill>
                  <a:srgbClr val="0000FF"/>
                </a:solidFill>
                <a:latin typeface="Courier New" panose="02070309020205020404" pitchFamily="49" charset="0"/>
              </a:rPr>
              <a:t>CREATE</a:t>
            </a:r>
            <a:r>
              <a:rPr lang="en-US" altLang="ko-KR" sz="24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2400" b="1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sz="24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2400">
                <a:solidFill>
                  <a:srgbClr val="808000"/>
                </a:solidFill>
                <a:latin typeface="Courier New" panose="02070309020205020404" pitchFamily="49" charset="0"/>
              </a:rPr>
              <a:t>member2</a:t>
            </a:r>
            <a:r>
              <a:rPr lang="en-US" altLang="ko-KR" sz="240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</a:p>
          <a:p>
            <a:pPr lvl="1"/>
            <a:r>
              <a:rPr lang="en-US" altLang="ko-KR" sz="2400">
                <a:solidFill>
                  <a:srgbClr val="808000"/>
                </a:solidFill>
                <a:latin typeface="Courier New" panose="02070309020205020404" pitchFamily="49" charset="0"/>
              </a:rPr>
              <a:t>id</a:t>
            </a:r>
            <a:r>
              <a:rPr lang="en-US" altLang="ko-KR" sz="24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2400" b="1">
                <a:solidFill>
                  <a:srgbClr val="8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240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2400">
                <a:solidFill>
                  <a:srgbClr val="800080"/>
                </a:solidFill>
                <a:latin typeface="Courier New" panose="02070309020205020404" pitchFamily="49" charset="0"/>
              </a:rPr>
              <a:t>50</a:t>
            </a:r>
            <a:r>
              <a:rPr lang="en-US" altLang="ko-KR" sz="2400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pPr lvl="1"/>
            <a:r>
              <a:rPr lang="en-US" altLang="ko-KR" sz="2400" b="1">
                <a:solidFill>
                  <a:srgbClr val="0000FF"/>
                </a:solidFill>
                <a:latin typeface="Courier New" panose="02070309020205020404" pitchFamily="49" charset="0"/>
              </a:rPr>
              <a:t>NAME</a:t>
            </a:r>
            <a:r>
              <a:rPr lang="en-US" altLang="ko-KR" sz="24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2400" b="1">
                <a:solidFill>
                  <a:srgbClr val="8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240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2400">
                <a:solidFill>
                  <a:srgbClr val="800080"/>
                </a:solidFill>
                <a:latin typeface="Courier New" panose="02070309020205020404" pitchFamily="49" charset="0"/>
              </a:rPr>
              <a:t>20</a:t>
            </a:r>
            <a:r>
              <a:rPr lang="en-US" altLang="ko-KR" sz="2400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pPr lvl="1"/>
            <a:r>
              <a:rPr lang="en-US" altLang="ko-KR" sz="2400">
                <a:solidFill>
                  <a:srgbClr val="808000"/>
                </a:solidFill>
                <a:latin typeface="Courier New" panose="02070309020205020404" pitchFamily="49" charset="0"/>
              </a:rPr>
              <a:t>pwd</a:t>
            </a:r>
            <a:r>
              <a:rPr lang="en-US" altLang="ko-KR" sz="24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2400" b="1">
                <a:solidFill>
                  <a:srgbClr val="8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240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2400">
                <a:solidFill>
                  <a:srgbClr val="800080"/>
                </a:solidFill>
                <a:latin typeface="Courier New" panose="02070309020205020404" pitchFamily="49" charset="0"/>
              </a:rPr>
              <a:t>15</a:t>
            </a:r>
            <a:r>
              <a:rPr lang="en-US" altLang="ko-KR" sz="2400">
                <a:solidFill>
                  <a:srgbClr val="0000FF"/>
                </a:solidFill>
                <a:latin typeface="Courier New" panose="02070309020205020404" pitchFamily="49" charset="0"/>
              </a:rPr>
              <a:t>),</a:t>
            </a:r>
          </a:p>
          <a:p>
            <a:pPr lvl="1"/>
            <a:r>
              <a:rPr lang="en-US" altLang="ko-KR" sz="2400">
                <a:solidFill>
                  <a:srgbClr val="808000"/>
                </a:solidFill>
                <a:latin typeface="Courier New" panose="02070309020205020404" pitchFamily="49" charset="0"/>
              </a:rPr>
              <a:t>photo</a:t>
            </a:r>
            <a:r>
              <a:rPr lang="en-US" altLang="ko-KR" sz="24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2400" b="1">
                <a:solidFill>
                  <a:srgbClr val="8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sz="240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2400">
                <a:solidFill>
                  <a:srgbClr val="800080"/>
                </a:solidFill>
                <a:latin typeface="Courier New" panose="02070309020205020404" pitchFamily="49" charset="0"/>
              </a:rPr>
              <a:t>200</a:t>
            </a:r>
            <a:r>
              <a:rPr lang="en-US" altLang="ko-KR" sz="240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2400">
                <a:solidFill>
                  <a:srgbClr val="0000FF"/>
                </a:solidFill>
                <a:latin typeface="Courier New" panose="02070309020205020404" pitchFamily="49" charset="0"/>
              </a:rPr>
              <a:t>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0517" y="72437"/>
            <a:ext cx="11822266" cy="738745"/>
          </a:xfrm>
        </p:spPr>
        <p:txBody>
          <a:bodyPr>
            <a:normAutofit/>
          </a:bodyPr>
          <a:lstStyle/>
          <a:p>
            <a:r>
              <a:rPr lang="en-US" altLang="ko-KR"/>
              <a:t>1. </a:t>
            </a:r>
            <a:r>
              <a:rPr lang="ko-KR" altLang="en-US"/>
              <a:t>준비 사항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8643" y="908720"/>
            <a:ext cx="11434714" cy="5611906"/>
          </a:xfrm>
        </p:spPr>
        <p:txBody>
          <a:bodyPr/>
          <a:lstStyle/>
          <a:p>
            <a:r>
              <a:rPr lang="ko-KR" altLang="en-US"/>
              <a:t>퍼블리싱 기능 </a:t>
            </a:r>
            <a:r>
              <a:rPr lang="en-US" altLang="ko-KR"/>
              <a:t>: </a:t>
            </a:r>
          </a:p>
          <a:p>
            <a:pPr lvl="1"/>
            <a:r>
              <a:rPr lang="ko-KR" altLang="en-US"/>
              <a:t>웹 애플리케이션을 실행할 때</a:t>
            </a:r>
            <a:r>
              <a:rPr lang="en-US" altLang="ko-KR"/>
              <a:t>, </a:t>
            </a:r>
            <a:r>
              <a:rPr lang="ko-KR" altLang="en-US"/>
              <a:t>이클립스는 웹 애플리케이션의 원본 폴더는 건드리지 않고</a:t>
            </a:r>
            <a:r>
              <a:rPr lang="en-US" altLang="ko-KR"/>
              <a:t>, </a:t>
            </a:r>
            <a:r>
              <a:rPr lang="ko-KR" altLang="en-US" b="1"/>
              <a:t>원본을 복사한 실행용 폴더를 다른 위치에서 만들어서 사용</a:t>
            </a:r>
          </a:p>
          <a:p>
            <a:pPr lvl="1"/>
            <a:r>
              <a:rPr lang="ko-KR" altLang="en-US"/>
              <a:t>파일 업로드를 할 때에는 물리적으로 저장된 폴더를 찾기 어렵다는 문제가 발생하여 이를 해제하는 것이 좋음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208568" y="6808291"/>
            <a:ext cx="764215" cy="365125"/>
          </a:xfrm>
        </p:spPr>
        <p:txBody>
          <a:bodyPr/>
          <a:lstStyle/>
          <a:p>
            <a:fld id="{8B40AADC-E18F-469E-84D1-3A01AA875353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6" name="_x301513144" descr="EMB00009c2801e7">
            <a:extLst>
              <a:ext uri="{FF2B5EF4-FFF2-40B4-BE49-F238E27FC236}">
                <a16:creationId xmlns:a16="http://schemas.microsoft.com/office/drawing/2014/main" id="{6BFF61B1-82E7-4C64-94B3-AB1B5F1D6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8" y="3356992"/>
            <a:ext cx="7417927" cy="280831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B9FDA4-0153-4835-8989-53C70F117EA1}"/>
              </a:ext>
            </a:extLst>
          </p:cNvPr>
          <p:cNvSpPr txBox="1"/>
          <p:nvPr/>
        </p:nvSpPr>
        <p:spPr>
          <a:xfrm>
            <a:off x="3791744" y="3789040"/>
            <a:ext cx="58945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실제 워크스페이스 프로젝트 폴더에 </a:t>
            </a:r>
            <a:r>
              <a:rPr lang="ko-KR" altLang="en-US" sz="1600" b="1">
                <a:solidFill>
                  <a:srgbClr val="FF0000"/>
                </a:solidFill>
              </a:rPr>
              <a:t>파일이 생성됨</a:t>
            </a:r>
            <a:r>
              <a:rPr lang="en-US" altLang="ko-KR" sz="1600" b="1">
                <a:solidFill>
                  <a:srgbClr val="FF0000"/>
                </a:solidFill>
              </a:rPr>
              <a:t>(</a:t>
            </a:r>
            <a:r>
              <a:rPr lang="ko-KR" altLang="en-US" sz="1600" b="1">
                <a:solidFill>
                  <a:srgbClr val="FF0000"/>
                </a:solidFill>
              </a:rPr>
              <a:t>체크할 것</a:t>
            </a:r>
            <a:r>
              <a:rPr lang="en-US" altLang="ko-KR" sz="1600" b="1">
                <a:solidFill>
                  <a:srgbClr val="FF0000"/>
                </a:solidFill>
              </a:rPr>
              <a:t>)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173E94-FDFA-4355-AB41-99A35ED32B23}"/>
              </a:ext>
            </a:extLst>
          </p:cNvPr>
          <p:cNvSpPr txBox="1"/>
          <p:nvPr/>
        </p:nvSpPr>
        <p:spPr>
          <a:xfrm>
            <a:off x="6896253" y="4638618"/>
            <a:ext cx="35509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>
                <a:solidFill>
                  <a:srgbClr val="FF0000"/>
                </a:solidFill>
              </a:rPr>
              <a:t>서버를 중지시키고 기능을 체크할 것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36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0B2CB-8E88-4315-A4E0-DA1C5A52B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준비 사항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BCAFF6-648C-45AA-97B8-59064627F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F932391-F690-4237-91AA-9DBDBEC33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3121480"/>
            <a:ext cx="6480720" cy="3386025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BD97AD7-6523-4BC0-A61B-DBB269F15CB2}"/>
              </a:ext>
            </a:extLst>
          </p:cNvPr>
          <p:cNvSpPr/>
          <p:nvPr/>
        </p:nvSpPr>
        <p:spPr>
          <a:xfrm>
            <a:off x="1631503" y="5733256"/>
            <a:ext cx="1944217" cy="216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ㅊ</a:t>
            </a:r>
            <a:endParaRPr lang="ko-KR" altLang="en-US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B9A33F0E-4396-407F-AADA-E0233E43D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072" y="1057835"/>
            <a:ext cx="11434714" cy="5611906"/>
          </a:xfrm>
        </p:spPr>
        <p:txBody>
          <a:bodyPr/>
          <a:lstStyle/>
          <a:p>
            <a:pPr fontAlgn="base"/>
            <a:r>
              <a:rPr lang="ko-KR" altLang="en-US" dirty="0"/>
              <a:t>이클립스의 퍼블리싱 기능</a:t>
            </a:r>
            <a:endParaRPr lang="en-US" altLang="ko-KR" dirty="0"/>
          </a:p>
          <a:p>
            <a:pPr lvl="1" fontAlgn="base"/>
            <a:r>
              <a:rPr lang="ko-KR" altLang="en-US" dirty="0" err="1"/>
              <a:t>톰캣</a:t>
            </a:r>
            <a:r>
              <a:rPr lang="ko-KR" altLang="en-US" dirty="0"/>
              <a:t> 서버가 동작 중이라면 중지하고 설정</a:t>
            </a:r>
            <a:endParaRPr lang="en-US" altLang="ko-KR" dirty="0"/>
          </a:p>
          <a:p>
            <a:pPr lvl="1" fontAlgn="base"/>
            <a:r>
              <a:rPr lang="ko-KR" altLang="en-US" dirty="0"/>
              <a:t>퍼블리싱</a:t>
            </a:r>
            <a:r>
              <a:rPr lang="en-US" altLang="ko-KR" dirty="0"/>
              <a:t>(publishing)</a:t>
            </a:r>
          </a:p>
          <a:p>
            <a:pPr lvl="2" fontAlgn="base"/>
            <a:r>
              <a:rPr lang="ko-KR" altLang="en-US" dirty="0"/>
              <a:t>웹 애플리케이션을 실행할 때</a:t>
            </a:r>
            <a:r>
              <a:rPr lang="en-US" altLang="ko-KR" dirty="0"/>
              <a:t>, </a:t>
            </a:r>
            <a:r>
              <a:rPr lang="ko-KR" altLang="en-US" dirty="0"/>
              <a:t>웹 애플리케이션의 원본 폴더는 건드리지 않고</a:t>
            </a:r>
            <a:r>
              <a:rPr lang="en-US" altLang="ko-KR" dirty="0"/>
              <a:t>, </a:t>
            </a:r>
            <a:r>
              <a:rPr lang="ko-KR" altLang="en-US" dirty="0"/>
              <a:t>원본을 복사한 실행용 폴더를 만들어서 사용</a:t>
            </a:r>
            <a:r>
              <a:rPr lang="en-US" altLang="ko-KR" dirty="0"/>
              <a:t>(</a:t>
            </a:r>
            <a:r>
              <a:rPr lang="ko-KR" altLang="en-US" dirty="0"/>
              <a:t>이클립스 가상환경에서 실행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58196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26B1E-ABB8-4EF9-9EC7-F222B1C5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03C804-EB69-4B03-AF71-2CA03DF37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072" y="1057835"/>
            <a:ext cx="11617704" cy="5611906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Serve modules without publishing </a:t>
            </a:r>
            <a:r>
              <a:rPr lang="ko-KR" altLang="en-US" dirty="0"/>
              <a:t>체크 안함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514350" indent="-514350">
              <a:buFont typeface="+mj-lt"/>
              <a:buAutoNum type="arabicPeriod" startAt="2"/>
            </a:pPr>
            <a:r>
              <a:rPr lang="en-US" altLang="ko-KR" dirty="0"/>
              <a:t>Server modules without publishing </a:t>
            </a:r>
            <a:r>
              <a:rPr lang="ko-KR" altLang="en-US" dirty="0"/>
              <a:t>체크</a:t>
            </a:r>
            <a:r>
              <a:rPr lang="en-US" altLang="ko-KR" dirty="0"/>
              <a:t>(</a:t>
            </a:r>
            <a:r>
              <a:rPr lang="ko-KR" altLang="en-US" dirty="0"/>
              <a:t>사용할 것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ko-KR" altLang="en-US" dirty="0"/>
              <a:t>메인 프로젝트는 의존하는 모듈</a:t>
            </a:r>
            <a:r>
              <a:rPr lang="en-US" altLang="ko-KR" dirty="0"/>
              <a:t>(</a:t>
            </a:r>
            <a:r>
              <a:rPr lang="ko-KR" altLang="en-US" dirty="0"/>
              <a:t>프로젝트 등</a:t>
            </a:r>
            <a:r>
              <a:rPr lang="en-US" altLang="ko-KR" dirty="0"/>
              <a:t>)</a:t>
            </a:r>
            <a:r>
              <a:rPr lang="ko-KR" altLang="en-US" dirty="0"/>
              <a:t>을 퍼블리싱 하지 않고 직접 참조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313B40-BF96-4275-96B4-4C1E9E770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8D03EF3-F3CA-4321-B4AA-08EA5F37C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1604607"/>
            <a:ext cx="10097909" cy="154326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2D4F8CC-2D0A-4EE3-A31E-049C9039C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99" y="4832757"/>
            <a:ext cx="6277851" cy="158137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3D100EB-F4EA-4E0F-A05B-5A2F7E90B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104" y="5157192"/>
            <a:ext cx="4448796" cy="153373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766F230-3C60-428B-B295-AF4A4D56A9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5899" y="2249978"/>
            <a:ext cx="4148903" cy="139504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48892A-93C5-4CBE-8826-91E2ACE05D2D}"/>
              </a:ext>
            </a:extLst>
          </p:cNvPr>
          <p:cNvSpPr txBox="1"/>
          <p:nvPr/>
        </p:nvSpPr>
        <p:spPr>
          <a:xfrm>
            <a:off x="7146442" y="4715169"/>
            <a:ext cx="4854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실제 워크스페이스 프로젝트 폴더에 파일이 생성됨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4CC5A3A-B2D5-4607-BBB2-9F19DC3F769A}"/>
              </a:ext>
            </a:extLst>
          </p:cNvPr>
          <p:cNvSpPr/>
          <p:nvPr/>
        </p:nvSpPr>
        <p:spPr>
          <a:xfrm>
            <a:off x="7037242" y="5589240"/>
            <a:ext cx="2952328" cy="2244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ㅊ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496E58C-D1BB-4877-AD77-A6BA789806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8674" y="2249976"/>
            <a:ext cx="3703850" cy="139504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5E6D038-9111-45A3-9D4E-D81E59F297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7727" y="5537975"/>
            <a:ext cx="3142833" cy="118460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966A812-62B2-4191-8D50-7C4B24589F28}"/>
              </a:ext>
            </a:extLst>
          </p:cNvPr>
          <p:cNvSpPr txBox="1"/>
          <p:nvPr/>
        </p:nvSpPr>
        <p:spPr>
          <a:xfrm>
            <a:off x="5951984" y="2504110"/>
            <a:ext cx="28632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>
                <a:solidFill>
                  <a:srgbClr val="FF0000"/>
                </a:solidFill>
              </a:rPr>
              <a:t>가상 환경을 사용한다는 의미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3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4B2C1-1044-4002-B2D0-54C3572C1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업로드 폼 작성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0C1308-D1FC-497C-935B-5F93B2674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폼의 </a:t>
            </a:r>
            <a:r>
              <a:rPr lang="en-US" altLang="ko-KR" b="1"/>
              <a:t>enctype</a:t>
            </a:r>
            <a:r>
              <a:rPr lang="en-US" altLang="ko-KR"/>
              <a:t> </a:t>
            </a:r>
            <a:r>
              <a:rPr lang="ko-KR" altLang="en-US"/>
              <a:t>주요 속성값</a:t>
            </a:r>
            <a:endParaRPr lang="en-US" altLang="ko-KR"/>
          </a:p>
          <a:p>
            <a:pPr lvl="1"/>
            <a:r>
              <a:rPr lang="en-US" altLang="ko-KR"/>
              <a:t>application/x-www-form-urlencoded</a:t>
            </a:r>
          </a:p>
          <a:p>
            <a:pPr lvl="2"/>
            <a:r>
              <a:rPr lang="ko-KR" altLang="en-US"/>
              <a:t>요청 </a:t>
            </a:r>
            <a:r>
              <a:rPr lang="en-US" altLang="ko-KR"/>
              <a:t>Http</a:t>
            </a:r>
            <a:r>
              <a:rPr lang="ko-KR" altLang="en-US"/>
              <a:t>의기본 </a:t>
            </a:r>
            <a:r>
              <a:rPr lang="en-US" altLang="ko-KR"/>
              <a:t>Content-Type</a:t>
            </a:r>
            <a:r>
              <a:rPr lang="ko-KR" altLang="en-US"/>
              <a:t>의 기본값으로 모든 문자들을 서버로 보내기 전 인코딩되는 것을 명시</a:t>
            </a:r>
            <a:endParaRPr lang="en-US" altLang="ko-KR"/>
          </a:p>
          <a:p>
            <a:pPr lvl="2"/>
            <a:r>
              <a:rPr lang="ko-KR" altLang="en-US"/>
              <a:t>메시지 </a:t>
            </a:r>
            <a:r>
              <a:rPr lang="en-US" altLang="ko-KR"/>
              <a:t>body</a:t>
            </a:r>
            <a:r>
              <a:rPr lang="ko-KR" altLang="en-US"/>
              <a:t>에 들어가는 데이터 타입을 명시</a:t>
            </a:r>
            <a:r>
              <a:rPr lang="en-US" altLang="ko-KR"/>
              <a:t>, </a:t>
            </a:r>
            <a:r>
              <a:rPr lang="ko-KR" altLang="en-US"/>
              <a:t>기본 값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AEEDDC-AFE0-42F9-9749-1AC9DF85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DB2B65B-C633-4DA3-8D81-B3795DB00308}"/>
              </a:ext>
            </a:extLst>
          </p:cNvPr>
          <p:cNvSpPr/>
          <p:nvPr/>
        </p:nvSpPr>
        <p:spPr>
          <a:xfrm>
            <a:off x="1415480" y="3494456"/>
            <a:ext cx="7128792" cy="73866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>
                <a:solidFill>
                  <a:srgbClr val="0000FF"/>
                </a:solidFill>
                <a:latin typeface="+mn-ea"/>
              </a:rPr>
              <a:t>&lt;form&gt;</a:t>
            </a:r>
            <a:r>
              <a:rPr lang="ko-KR" altLang="en-US" sz="1400">
                <a:solidFill>
                  <a:srgbClr val="0000FF"/>
                </a:solidFill>
                <a:latin typeface="+mn-ea"/>
              </a:rPr>
              <a:t>에서 enctype속성을 변경해주지 않으면 기본값인 application/x-www-form-urlencoded로 데이터를 전송하게 되고 여러가지 타입의 데이터를 동시에 전송할 수 없기 때문에 텍스트 데이터만 전송하게 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D27C854-51AF-4202-BDC1-5DD73D5E1305}"/>
              </a:ext>
            </a:extLst>
          </p:cNvPr>
          <p:cNvSpPr/>
          <p:nvPr/>
        </p:nvSpPr>
        <p:spPr>
          <a:xfrm>
            <a:off x="1487488" y="5301208"/>
            <a:ext cx="705678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 : </a:t>
            </a:r>
            <a:endParaRPr lang="en-US" altLang="ko-KR">
              <a:hlinkClick r:id="rId2"/>
            </a:endParaRPr>
          </a:p>
          <a:p>
            <a:r>
              <a:rPr lang="en-US" altLang="ko-KR">
                <a:hlinkClick r:id="rId2"/>
              </a:rPr>
              <a:t>https://lena-chamna.netlify.app/post/http_multipart_form-data/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58121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4B2C1-1044-4002-B2D0-54C3572C1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업로드 폼 작성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0C1308-D1FC-497C-935B-5F93B2674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폼의 </a:t>
            </a:r>
            <a:r>
              <a:rPr lang="en-US" altLang="ko-KR"/>
              <a:t>enctype </a:t>
            </a:r>
            <a:r>
              <a:rPr lang="ko-KR" altLang="en-US"/>
              <a:t>주요 속성값</a:t>
            </a:r>
            <a:endParaRPr lang="en-US" altLang="ko-KR"/>
          </a:p>
          <a:p>
            <a:pPr lvl="1"/>
            <a:r>
              <a:rPr lang="en-US" altLang="ko-KR" b="1"/>
              <a:t>multipart/form-data </a:t>
            </a:r>
            <a:r>
              <a:rPr lang="ko-KR" altLang="en-US" b="1"/>
              <a:t>형식</a:t>
            </a:r>
            <a:endParaRPr lang="en-US" altLang="ko-KR" b="1"/>
          </a:p>
          <a:p>
            <a:pPr lvl="2"/>
            <a:r>
              <a:rPr lang="en-US" altLang="ko-KR"/>
              <a:t>&lt;form&gt; </a:t>
            </a:r>
            <a:r>
              <a:rPr lang="ko-KR" altLang="en-US"/>
              <a:t>요소가 </a:t>
            </a:r>
            <a:r>
              <a:rPr lang="ko-KR" altLang="en-US" b="1"/>
              <a:t>파일이나 이미지를 서버로 전송</a:t>
            </a:r>
            <a:r>
              <a:rPr lang="ko-KR" altLang="en-US"/>
              <a:t>할 때 반드시 사용</a:t>
            </a:r>
            <a:endParaRPr lang="en-US" altLang="ko-KR"/>
          </a:p>
          <a:p>
            <a:pPr lvl="2"/>
            <a:r>
              <a:rPr lang="en-US" altLang="ko-KR"/>
              <a:t>POST </a:t>
            </a:r>
            <a:r>
              <a:rPr lang="ko-KR" altLang="en-US"/>
              <a:t>전송방식일 때만 사용 가능</a:t>
            </a:r>
            <a:endParaRPr lang="en-US" altLang="ko-KR"/>
          </a:p>
          <a:p>
            <a:pPr lvl="2"/>
            <a:r>
              <a:rPr lang="ko-KR" altLang="en-US"/>
              <a:t>한 폼 내의 두개의 </a:t>
            </a:r>
            <a:r>
              <a:rPr lang="en-US" altLang="ko-KR"/>
              <a:t>input </a:t>
            </a:r>
            <a:r>
              <a:rPr lang="ko-KR" altLang="en-US"/>
              <a:t>요소가 다른 </a:t>
            </a:r>
            <a:r>
              <a:rPr lang="en-US" altLang="ko-KR"/>
              <a:t>Content-type</a:t>
            </a:r>
            <a:r>
              <a:rPr lang="ko-KR" altLang="en-US"/>
              <a:t>으로 데이터를 전송할 때 사용</a:t>
            </a:r>
            <a:endParaRPr lang="en-US" altLang="ko-KR"/>
          </a:p>
          <a:p>
            <a:pPr lvl="2"/>
            <a:r>
              <a:rPr lang="ko-KR" altLang="en-US"/>
              <a:t>구성 내용</a:t>
            </a:r>
            <a:endParaRPr lang="en-US" altLang="ko-KR"/>
          </a:p>
          <a:p>
            <a:pPr lvl="3"/>
            <a:r>
              <a:rPr lang="en-US" altLang="ko-KR"/>
              <a:t>Content-Type </a:t>
            </a:r>
            <a:r>
              <a:rPr lang="ko-KR" altLang="en-US"/>
              <a:t>헤더</a:t>
            </a:r>
            <a:r>
              <a:rPr lang="en-US" altLang="ko-KR"/>
              <a:t>:</a:t>
            </a:r>
          </a:p>
          <a:p>
            <a:pPr lvl="3"/>
            <a:r>
              <a:rPr lang="ko-KR" altLang="en-US"/>
              <a:t>메시지 본문</a:t>
            </a:r>
            <a:r>
              <a:rPr lang="en-US" altLang="ko-KR"/>
              <a:t>(body))</a:t>
            </a:r>
          </a:p>
          <a:p>
            <a:pPr lvl="4"/>
            <a:r>
              <a:rPr lang="ko-KR" altLang="en-US"/>
              <a:t>요청 본문은 하나 이상의 </a:t>
            </a:r>
            <a:r>
              <a:rPr lang="en-US" altLang="ko-KR"/>
              <a:t>Part</a:t>
            </a:r>
            <a:r>
              <a:rPr lang="ko-KR" altLang="en-US"/>
              <a:t>로 구성됨</a:t>
            </a:r>
            <a:endParaRPr lang="en-US" altLang="ko-KR"/>
          </a:p>
          <a:p>
            <a:pPr lvl="4"/>
            <a:r>
              <a:rPr lang="ko-KR" altLang="en-US"/>
              <a:t>각</a:t>
            </a:r>
            <a:r>
              <a:rPr lang="en-US" altLang="ko-KR"/>
              <a:t> part</a:t>
            </a:r>
            <a:r>
              <a:rPr lang="ko-KR" altLang="en-US"/>
              <a:t>는 독립적인 데이터를 담고 있으며 다음과 같은 구조로 이루어짐</a:t>
            </a:r>
            <a:endParaRPr lang="en-US" altLang="ko-KR"/>
          </a:p>
          <a:p>
            <a:pPr lvl="5"/>
            <a:r>
              <a:rPr lang="ko-KR" altLang="en-US"/>
              <a:t>시작경계</a:t>
            </a:r>
            <a:r>
              <a:rPr lang="en-US" altLang="ko-KR"/>
              <a:t>(boundary) : </a:t>
            </a:r>
            <a:r>
              <a:rPr lang="ko-KR" altLang="en-US"/>
              <a:t>각 </a:t>
            </a:r>
            <a:r>
              <a:rPr lang="en-US" altLang="ko-KR"/>
              <a:t>part</a:t>
            </a:r>
            <a:r>
              <a:rPr lang="ko-KR" altLang="en-US"/>
              <a:t>의 시작을 알리는 역할</a:t>
            </a:r>
            <a:endParaRPr lang="en-US" altLang="ko-KR"/>
          </a:p>
          <a:p>
            <a:pPr lvl="5"/>
            <a:r>
              <a:rPr lang="en-US" altLang="ko-KR"/>
              <a:t>Content-Disposition </a:t>
            </a:r>
            <a:r>
              <a:rPr lang="ko-KR" altLang="en-US"/>
              <a:t>헤더 </a:t>
            </a:r>
            <a:r>
              <a:rPr lang="en-US" altLang="ko-KR"/>
              <a:t>: </a:t>
            </a:r>
            <a:r>
              <a:rPr lang="ko-KR" altLang="en-US"/>
              <a:t>해당</a:t>
            </a:r>
            <a:r>
              <a:rPr lang="en-US" altLang="ko-KR"/>
              <a:t> Part </a:t>
            </a:r>
            <a:r>
              <a:rPr lang="ko-KR" altLang="en-US"/>
              <a:t>데이터에 대한 정보</a:t>
            </a:r>
            <a:endParaRPr lang="en-US" altLang="ko-KR"/>
          </a:p>
          <a:p>
            <a:pPr lvl="6"/>
            <a:r>
              <a:rPr lang="ko-KR" altLang="en-US"/>
              <a:t>텍스트 </a:t>
            </a:r>
            <a:r>
              <a:rPr lang="en-US" altLang="ko-KR"/>
              <a:t>: </a:t>
            </a:r>
          </a:p>
          <a:p>
            <a:pPr lvl="6"/>
            <a:r>
              <a:rPr lang="ko-KR" altLang="en-US"/>
              <a:t>파일 </a:t>
            </a:r>
            <a:r>
              <a:rPr lang="en-US" altLang="ko-KR"/>
              <a:t>: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AEEDDC-AFE0-42F9-9749-1AC9DF85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9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3D4CCCB-3BD3-4118-8646-AF42ECD465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439"/>
          <a:stretch/>
        </p:blipFill>
        <p:spPr>
          <a:xfrm>
            <a:off x="4327150" y="5445224"/>
            <a:ext cx="3512986" cy="27143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EDDA647-FFAE-4452-A8B0-8F181A567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150" y="5959803"/>
            <a:ext cx="5226920" cy="53247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4008459-3D6E-4376-9E59-68AA17811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4190" y="3501008"/>
            <a:ext cx="5216186" cy="271431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58237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4B2C1-1044-4002-B2D0-54C3572C1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업로드 폼 작성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0C1308-D1FC-497C-935B-5F93B2674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insertForm.jsp </a:t>
            </a:r>
            <a:r>
              <a:rPr lang="ko-KR" altLang="en-US"/>
              <a:t>에서 항목 추가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AEEDDC-AFE0-42F9-9749-1AC9DF85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90423C1-0BB1-4FE0-9BD2-B89C14400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438" y="1591877"/>
            <a:ext cx="6545569" cy="511814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CCFBCEF-EE6D-4BB8-B0AF-6C52674D95E0}"/>
              </a:ext>
            </a:extLst>
          </p:cNvPr>
          <p:cNvSpPr/>
          <p:nvPr/>
        </p:nvSpPr>
        <p:spPr>
          <a:xfrm>
            <a:off x="4871864" y="3068960"/>
            <a:ext cx="2736304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914E28-410E-4BA2-8C95-1299EDCDB919}"/>
              </a:ext>
            </a:extLst>
          </p:cNvPr>
          <p:cNvSpPr/>
          <p:nvPr/>
        </p:nvSpPr>
        <p:spPr>
          <a:xfrm>
            <a:off x="2279576" y="3127241"/>
            <a:ext cx="1440160" cy="1958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F20D21D-8734-4D0B-8A60-BEF5A34DBBDE}"/>
              </a:ext>
            </a:extLst>
          </p:cNvPr>
          <p:cNvSpPr/>
          <p:nvPr/>
        </p:nvSpPr>
        <p:spPr>
          <a:xfrm>
            <a:off x="1919535" y="5151247"/>
            <a:ext cx="5858471" cy="6319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1DBC61-946E-447D-9AC1-C89EE43661F5}"/>
              </a:ext>
            </a:extLst>
          </p:cNvPr>
          <p:cNvSpPr/>
          <p:nvPr/>
        </p:nvSpPr>
        <p:spPr>
          <a:xfrm>
            <a:off x="4948672" y="2097148"/>
            <a:ext cx="36913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>
                <a:solidFill>
                  <a:srgbClr val="FF0000"/>
                </a:solidFill>
                <a:latin typeface="+mn-ea"/>
              </a:rPr>
              <a:t>여러가지 타입의 데이터를 동시에 전송할 수 있게 하는 속성</a:t>
            </a:r>
            <a:endParaRPr lang="ko-KR" altLang="en-US" sz="1600">
              <a:solidFill>
                <a:srgbClr val="FF0000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3E9A820-F5D3-4486-A4A6-501595377B8F}"/>
              </a:ext>
            </a:extLst>
          </p:cNvPr>
          <p:cNvCxnSpPr>
            <a:cxnSpLocks/>
          </p:cNvCxnSpPr>
          <p:nvPr/>
        </p:nvCxnSpPr>
        <p:spPr>
          <a:xfrm flipH="1">
            <a:off x="6384032" y="2681924"/>
            <a:ext cx="96861" cy="3467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47CDB358-84A4-457B-8072-ECFC0CE87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4906" y="2827305"/>
            <a:ext cx="357683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023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6E494-0D86-45C6-B591-6334BB8F7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업로드 처리 서블릿 작성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A3E776-1FB1-4F97-AC7C-8C6954D23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프로젝트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F830B4-11C8-4BE0-A8EA-76E5287E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11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605090C-BDE6-4BDE-A5D6-071DE128B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1720364"/>
            <a:ext cx="3024336" cy="493098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F5D01D14-B52D-4BD0-9EB1-8D238CBDF270}"/>
              </a:ext>
            </a:extLst>
          </p:cNvPr>
          <p:cNvSpPr/>
          <p:nvPr/>
        </p:nvSpPr>
        <p:spPr>
          <a:xfrm>
            <a:off x="2279576" y="3268050"/>
            <a:ext cx="2016224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A684E7-1632-4507-809E-9C30877ECFC8}"/>
              </a:ext>
            </a:extLst>
          </p:cNvPr>
          <p:cNvSpPr txBox="1"/>
          <p:nvPr/>
        </p:nvSpPr>
        <p:spPr>
          <a:xfrm>
            <a:off x="5343116" y="3191396"/>
            <a:ext cx="192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0000FF"/>
                </a:solidFill>
                <a:latin typeface="Consolas" panose="020B0609020204030204" pitchFamily="49" charset="0"/>
              </a:rPr>
              <a:t>서블릿으로 작성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897996E-AB49-4F54-BD9E-AA4B97D8A868}"/>
              </a:ext>
            </a:extLst>
          </p:cNvPr>
          <p:cNvCxnSpPr>
            <a:cxnSpLocks/>
            <a:stCxn id="10" idx="1"/>
            <a:endCxn id="9" idx="3"/>
          </p:cNvCxnSpPr>
          <p:nvPr/>
        </p:nvCxnSpPr>
        <p:spPr>
          <a:xfrm flipH="1">
            <a:off x="4295800" y="3376062"/>
            <a:ext cx="1047316" cy="0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13EE35A-F8E7-4A34-B8C2-10D06D6C73D5}"/>
              </a:ext>
            </a:extLst>
          </p:cNvPr>
          <p:cNvSpPr txBox="1"/>
          <p:nvPr/>
        </p:nvSpPr>
        <p:spPr>
          <a:xfrm>
            <a:off x="4899245" y="4765750"/>
            <a:ext cx="3334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0000FF"/>
                </a:solidFill>
                <a:latin typeface="Consolas" panose="020B0609020204030204" pitchFamily="49" charset="0"/>
              </a:rPr>
              <a:t>코드상에서 생성되도록 할것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F724363-03B7-42EF-AE31-5DD61BED2299}"/>
              </a:ext>
            </a:extLst>
          </p:cNvPr>
          <p:cNvCxnSpPr>
            <a:cxnSpLocks/>
            <a:stCxn id="15" idx="1"/>
            <a:endCxn id="17" idx="3"/>
          </p:cNvCxnSpPr>
          <p:nvPr/>
        </p:nvCxnSpPr>
        <p:spPr>
          <a:xfrm flipH="1">
            <a:off x="3287688" y="4950416"/>
            <a:ext cx="1611557" cy="0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12C23B7-83CD-4585-BC27-6F5C6A7DD9B3}"/>
              </a:ext>
            </a:extLst>
          </p:cNvPr>
          <p:cNvSpPr/>
          <p:nvPr/>
        </p:nvSpPr>
        <p:spPr>
          <a:xfrm>
            <a:off x="2315472" y="4842404"/>
            <a:ext cx="972216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065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18ECF0-BC72-46BF-903E-D264089A8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업로드 처리 서블릿 작성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7C982A-1F2A-496E-BA4B-9DEBA9B90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071" y="985446"/>
            <a:ext cx="11617705" cy="5611906"/>
          </a:xfrm>
        </p:spPr>
        <p:txBody>
          <a:bodyPr/>
          <a:lstStyle/>
          <a:p>
            <a:r>
              <a:rPr lang="ko-KR" altLang="en-US"/>
              <a:t>폼의 </a:t>
            </a:r>
            <a:r>
              <a:rPr lang="en-US" altLang="ko-KR"/>
              <a:t>enctype </a:t>
            </a:r>
            <a:r>
              <a:rPr lang="ko-KR" altLang="en-US"/>
              <a:t>주요 속성값</a:t>
            </a:r>
            <a:endParaRPr lang="en-US" altLang="ko-KR"/>
          </a:p>
          <a:p>
            <a:pPr lvl="1"/>
            <a:r>
              <a:rPr lang="en-US" altLang="ko-KR" b="1"/>
              <a:t>multipart/form-data</a:t>
            </a:r>
            <a:r>
              <a:rPr lang="ko-KR" altLang="en-US"/>
              <a:t>으로 지정된 폼에서 만들어진 </a:t>
            </a:r>
            <a:r>
              <a:rPr lang="en-US" altLang="ko-KR"/>
              <a:t>HTTP request</a:t>
            </a:r>
            <a:r>
              <a:rPr lang="ko-KR" altLang="en-US"/>
              <a:t> 메시지</a:t>
            </a:r>
            <a:endParaRPr lang="en-US" altLang="ko-KR"/>
          </a:p>
          <a:p>
            <a:pPr lvl="2"/>
            <a:r>
              <a:rPr lang="en-US" altLang="ko-KR" b="1"/>
              <a:t>boundary(</a:t>
            </a:r>
            <a:r>
              <a:rPr lang="ko-KR" altLang="en-US" b="1"/>
              <a:t>메세지 파트를 구분하는 역할</a:t>
            </a:r>
            <a:r>
              <a:rPr lang="en-US" altLang="ko-KR" b="1"/>
              <a:t>)</a:t>
            </a:r>
            <a:r>
              <a:rPr lang="ko-KR" altLang="en-US"/>
              <a:t>를 기준으로 여러개의 부분</a:t>
            </a:r>
            <a:r>
              <a:rPr lang="en-US" altLang="ko-KR"/>
              <a:t>(Part)</a:t>
            </a:r>
            <a:r>
              <a:rPr lang="ko-KR" altLang="en-US"/>
              <a:t>으로 나뉘어짐</a:t>
            </a:r>
            <a:endParaRPr lang="en-US" altLang="ko-KR"/>
          </a:p>
          <a:p>
            <a:pPr lvl="2"/>
            <a:r>
              <a:rPr lang="ko-KR" altLang="en-US"/>
              <a:t>서버에서 이를 </a:t>
            </a:r>
            <a:r>
              <a:rPr lang="en-US" altLang="ko-KR"/>
              <a:t>Part</a:t>
            </a:r>
            <a:r>
              <a:rPr lang="ko-KR" altLang="en-US"/>
              <a:t>객체로 만들어 확인할 것임</a:t>
            </a:r>
            <a:endParaRPr lang="en-US" altLang="ko-KR"/>
          </a:p>
          <a:p>
            <a:pPr lvl="2"/>
            <a:r>
              <a:rPr lang="en-US" altLang="ko-KR"/>
              <a:t>request header : </a:t>
            </a:r>
            <a:r>
              <a:rPr lang="ko-KR" altLang="en-US"/>
              <a:t>개발자 도구</a:t>
            </a:r>
            <a:r>
              <a:rPr lang="en-US" altLang="ko-KR"/>
              <a:t>(F12)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B85360-05C1-4E01-A1AF-7FD661616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12</a:t>
            </a:fld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9F0F8427-82D8-4893-A3EC-0F97194EB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392" y="3060798"/>
            <a:ext cx="6256573" cy="3555809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19E7EF-EA81-48D0-9F5F-83C0AE491A61}"/>
              </a:ext>
            </a:extLst>
          </p:cNvPr>
          <p:cNvSpPr/>
          <p:nvPr/>
        </p:nvSpPr>
        <p:spPr>
          <a:xfrm>
            <a:off x="1487488" y="5983148"/>
            <a:ext cx="6696744" cy="1736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EE9DCC-1EF7-4BC2-B966-50294911513F}"/>
              </a:ext>
            </a:extLst>
          </p:cNvPr>
          <p:cNvSpPr txBox="1"/>
          <p:nvPr/>
        </p:nvSpPr>
        <p:spPr>
          <a:xfrm>
            <a:off x="8976320" y="5983148"/>
            <a:ext cx="2569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rgbClr val="0000FF"/>
                </a:solidFill>
                <a:latin typeface="Consolas" panose="020B0609020204030204" pitchFamily="49" charset="0"/>
              </a:rPr>
              <a:t>request.getContentType()</a:t>
            </a:r>
            <a:endParaRPr lang="ko-KR" altLang="en-US" sz="140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3013A10-79C9-451A-BE20-FA834D3A2F20}"/>
              </a:ext>
            </a:extLst>
          </p:cNvPr>
          <p:cNvCxnSpPr>
            <a:stCxn id="26" idx="1"/>
            <a:endCxn id="25" idx="3"/>
          </p:cNvCxnSpPr>
          <p:nvPr/>
        </p:nvCxnSpPr>
        <p:spPr>
          <a:xfrm flipH="1" flipV="1">
            <a:off x="8184232" y="6069993"/>
            <a:ext cx="792088" cy="67044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F2FAF5A-300C-4D4F-8B7C-09E63B78E1A4}"/>
              </a:ext>
            </a:extLst>
          </p:cNvPr>
          <p:cNvSpPr/>
          <p:nvPr/>
        </p:nvSpPr>
        <p:spPr>
          <a:xfrm>
            <a:off x="1337970" y="4420178"/>
            <a:ext cx="941606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ACBA350-CB69-4A94-B550-C1EB2A0CD2D5}"/>
              </a:ext>
            </a:extLst>
          </p:cNvPr>
          <p:cNvCxnSpPr>
            <a:cxnSpLocks/>
          </p:cNvCxnSpPr>
          <p:nvPr/>
        </p:nvCxnSpPr>
        <p:spPr>
          <a:xfrm>
            <a:off x="1808774" y="4665741"/>
            <a:ext cx="356948" cy="1317407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AA3E903-DAA1-4F81-9AAB-14112B4BC074}"/>
              </a:ext>
            </a:extLst>
          </p:cNvPr>
          <p:cNvSpPr/>
          <p:nvPr/>
        </p:nvSpPr>
        <p:spPr>
          <a:xfrm>
            <a:off x="8088456" y="4768686"/>
            <a:ext cx="37045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Consolas" panose="020B0609020204030204" pitchFamily="49" charset="0"/>
              </a:rPr>
              <a:t>boundary</a:t>
            </a:r>
            <a:r>
              <a:rPr lang="en-US" altLang="ko-KR" sz="1200">
                <a:latin typeface="Consolas" panose="020B0609020204030204" pitchFamily="49" charset="0"/>
              </a:rPr>
              <a:t> </a:t>
            </a:r>
            <a:r>
              <a:rPr lang="ko-KR" altLang="en-US" sz="1200">
                <a:latin typeface="Consolas" panose="020B0609020204030204" pitchFamily="49" charset="0"/>
              </a:rPr>
              <a:t>속성</a:t>
            </a:r>
            <a:r>
              <a:rPr lang="en-US" altLang="ko-KR" sz="1200">
                <a:latin typeface="Consolas" panose="020B0609020204030204" pitchFamily="49" charset="0"/>
              </a:rPr>
              <a:t>: </a:t>
            </a:r>
            <a:r>
              <a:rPr lang="ko-KR" altLang="en-US" sz="1200">
                <a:latin typeface="Consolas" panose="020B0609020204030204" pitchFamily="49" charset="0"/>
              </a:rPr>
              <a:t>여러 개의 </a:t>
            </a:r>
            <a:r>
              <a:rPr lang="en-US" altLang="ko-KR" sz="1200">
                <a:latin typeface="Consolas" panose="020B0609020204030204" pitchFamily="49" charset="0"/>
              </a:rPr>
              <a:t>part</a:t>
            </a:r>
            <a:r>
              <a:rPr lang="ko-KR" altLang="en-US" sz="1200">
                <a:latin typeface="Consolas" panose="020B0609020204030204" pitchFamily="49" charset="0"/>
              </a:rPr>
              <a:t>들을 서로 명확하게 구분하기 위해 사용되는 고유한 문자열</a:t>
            </a:r>
          </a:p>
          <a:p>
            <a:r>
              <a:rPr lang="en-US" altLang="ko-KR" sz="1200" b="1"/>
              <a:t>WebKitFormBoundary</a:t>
            </a:r>
            <a:r>
              <a:rPr lang="en-US" altLang="ko-KR" sz="1200"/>
              <a:t> : </a:t>
            </a:r>
            <a:r>
              <a:rPr lang="ko-KR" altLang="en-US" sz="1200"/>
              <a:t>경계 문자열임을 나타내는 관례적인 접두사</a:t>
            </a:r>
          </a:p>
        </p:txBody>
      </p:sp>
    </p:spTree>
    <p:extLst>
      <p:ext uri="{BB962C8B-B14F-4D97-AF65-F5344CB8AC3E}">
        <p14:creationId xmlns:p14="http://schemas.microsoft.com/office/powerpoint/2010/main" val="3417308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18ECF0-BC72-46BF-903E-D264089A8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업로드 처리 서블릿 작성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7C982A-1F2A-496E-BA4B-9DEBA9B90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071" y="1057835"/>
            <a:ext cx="6450849" cy="5611906"/>
          </a:xfrm>
        </p:spPr>
        <p:txBody>
          <a:bodyPr/>
          <a:lstStyle/>
          <a:p>
            <a:r>
              <a:rPr lang="ko-KR" altLang="en-US"/>
              <a:t>폼의 </a:t>
            </a:r>
            <a:r>
              <a:rPr lang="en-US" altLang="ko-KR"/>
              <a:t>enctype </a:t>
            </a:r>
            <a:r>
              <a:rPr lang="ko-KR" altLang="en-US"/>
              <a:t>주요 속성값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B85360-05C1-4E01-A1AF-7FD661616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FD5B4E9-F128-4986-A276-77691D4A41F5}"/>
              </a:ext>
            </a:extLst>
          </p:cNvPr>
          <p:cNvSpPr/>
          <p:nvPr/>
        </p:nvSpPr>
        <p:spPr>
          <a:xfrm>
            <a:off x="2190917" y="3136079"/>
            <a:ext cx="39613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000000"/>
                </a:solidFill>
                <a:latin typeface="Consolas" panose="020B0609020204030204" pitchFamily="49" charset="0"/>
              </a:rPr>
              <a:t>Part.getHeader(</a:t>
            </a:r>
            <a:r>
              <a:rPr lang="en-US" altLang="ko-KR" sz="1400">
                <a:solidFill>
                  <a:srgbClr val="2A00FF"/>
                </a:solidFill>
                <a:latin typeface="Consolas" panose="020B0609020204030204" pitchFamily="49" charset="0"/>
              </a:rPr>
              <a:t>"Content-Disposition"</a:t>
            </a:r>
            <a:r>
              <a:rPr lang="en-US" altLang="ko-KR" sz="14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ko-KR" altLang="en-US" sz="140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24B9F4B-428F-4D5D-92DF-D39D8E79A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24369"/>
            <a:ext cx="4846974" cy="5959923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EB65E779-C9B0-4846-80DC-97F2ECB232A9}"/>
              </a:ext>
            </a:extLst>
          </p:cNvPr>
          <p:cNvSpPr/>
          <p:nvPr/>
        </p:nvSpPr>
        <p:spPr>
          <a:xfrm>
            <a:off x="8996635" y="5611051"/>
            <a:ext cx="1421371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52476EC-9B4C-476F-B35E-9A6FBC5DEE9F}"/>
              </a:ext>
            </a:extLst>
          </p:cNvPr>
          <p:cNvCxnSpPr>
            <a:cxnSpLocks/>
          </p:cNvCxnSpPr>
          <p:nvPr/>
        </p:nvCxnSpPr>
        <p:spPr>
          <a:xfrm>
            <a:off x="6337901" y="3395795"/>
            <a:ext cx="115212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27CA5F6-26FA-4337-BA42-BE75F30F390D}"/>
              </a:ext>
            </a:extLst>
          </p:cNvPr>
          <p:cNvCxnSpPr>
            <a:cxnSpLocks/>
          </p:cNvCxnSpPr>
          <p:nvPr/>
        </p:nvCxnSpPr>
        <p:spPr>
          <a:xfrm>
            <a:off x="6337901" y="4216374"/>
            <a:ext cx="115212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3A8DD29-09EC-46C4-8967-F725CF4F5A1E}"/>
              </a:ext>
            </a:extLst>
          </p:cNvPr>
          <p:cNvCxnSpPr>
            <a:cxnSpLocks/>
          </p:cNvCxnSpPr>
          <p:nvPr/>
        </p:nvCxnSpPr>
        <p:spPr>
          <a:xfrm>
            <a:off x="6337901" y="4991610"/>
            <a:ext cx="115212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21D8F60-D712-4D8C-8D13-1F90D3D43199}"/>
              </a:ext>
            </a:extLst>
          </p:cNvPr>
          <p:cNvCxnSpPr>
            <a:cxnSpLocks/>
          </p:cNvCxnSpPr>
          <p:nvPr/>
        </p:nvCxnSpPr>
        <p:spPr>
          <a:xfrm>
            <a:off x="6337901" y="5803333"/>
            <a:ext cx="115212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D6BB047-5EC5-41A8-9DC3-CD594725ACEF}"/>
              </a:ext>
            </a:extLst>
          </p:cNvPr>
          <p:cNvSpPr txBox="1"/>
          <p:nvPr/>
        </p:nvSpPr>
        <p:spPr>
          <a:xfrm>
            <a:off x="6337901" y="6044420"/>
            <a:ext cx="1699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request body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AC2114C-0F10-4C16-990A-CF03AF4552DF}"/>
              </a:ext>
            </a:extLst>
          </p:cNvPr>
          <p:cNvSpPr/>
          <p:nvPr/>
        </p:nvSpPr>
        <p:spPr>
          <a:xfrm>
            <a:off x="2190917" y="3908597"/>
            <a:ext cx="39613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000000"/>
                </a:solidFill>
                <a:latin typeface="Consolas" panose="020B0609020204030204" pitchFamily="49" charset="0"/>
              </a:rPr>
              <a:t>Part.getHeader(</a:t>
            </a:r>
            <a:r>
              <a:rPr lang="en-US" altLang="ko-KR" sz="1400">
                <a:solidFill>
                  <a:srgbClr val="2A00FF"/>
                </a:solidFill>
                <a:latin typeface="Consolas" panose="020B0609020204030204" pitchFamily="49" charset="0"/>
              </a:rPr>
              <a:t>"Content-Disposition"</a:t>
            </a:r>
            <a:r>
              <a:rPr lang="en-US" altLang="ko-KR" sz="14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ko-KR" altLang="en-US" sz="14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519C425-5452-4A33-AB8A-4CFBB22ECF9A}"/>
              </a:ext>
            </a:extLst>
          </p:cNvPr>
          <p:cNvSpPr/>
          <p:nvPr/>
        </p:nvSpPr>
        <p:spPr>
          <a:xfrm>
            <a:off x="2199741" y="4710908"/>
            <a:ext cx="39613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000000"/>
                </a:solidFill>
                <a:latin typeface="Consolas" panose="020B0609020204030204" pitchFamily="49" charset="0"/>
              </a:rPr>
              <a:t>Part.getHeader(</a:t>
            </a:r>
            <a:r>
              <a:rPr lang="en-US" altLang="ko-KR" sz="1400">
                <a:solidFill>
                  <a:srgbClr val="2A00FF"/>
                </a:solidFill>
                <a:latin typeface="Consolas" panose="020B0609020204030204" pitchFamily="49" charset="0"/>
              </a:rPr>
              <a:t>"Content-Disposition"</a:t>
            </a:r>
            <a:r>
              <a:rPr lang="en-US" altLang="ko-KR" sz="14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ko-KR" altLang="en-US" sz="1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5D10148-7C61-478A-910E-BFDB72ED96E2}"/>
              </a:ext>
            </a:extLst>
          </p:cNvPr>
          <p:cNvSpPr/>
          <p:nvPr/>
        </p:nvSpPr>
        <p:spPr>
          <a:xfrm>
            <a:off x="2231524" y="5532044"/>
            <a:ext cx="39613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000000"/>
                </a:solidFill>
                <a:latin typeface="Consolas" panose="020B0609020204030204" pitchFamily="49" charset="0"/>
              </a:rPr>
              <a:t>Part.getHeader(</a:t>
            </a:r>
            <a:r>
              <a:rPr lang="en-US" altLang="ko-KR" sz="1400">
                <a:solidFill>
                  <a:srgbClr val="2A00FF"/>
                </a:solidFill>
                <a:latin typeface="Consolas" panose="020B0609020204030204" pitchFamily="49" charset="0"/>
              </a:rPr>
              <a:t>"Content-Disposition"</a:t>
            </a:r>
            <a:r>
              <a:rPr lang="en-US" altLang="ko-KR" sz="14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420605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6E494-0D86-45C6-B591-6334BB8F7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업로드 처리 서블릿 작성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A3E776-1FB1-4F97-AC7C-8C6954D23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Part </a:t>
            </a:r>
            <a:r>
              <a:rPr lang="ko-KR" altLang="en-US"/>
              <a:t>인터페이스</a:t>
            </a:r>
            <a:endParaRPr lang="en-US" altLang="ko-KR"/>
          </a:p>
          <a:p>
            <a:pPr lvl="1"/>
            <a:r>
              <a:rPr lang="en-US" altLang="ko-KR"/>
              <a:t>Part </a:t>
            </a:r>
            <a:r>
              <a:rPr lang="ko-KR" altLang="en-US"/>
              <a:t>클래스는 </a:t>
            </a:r>
            <a:r>
              <a:rPr lang="en-US" altLang="ko-KR"/>
              <a:t>multipart/form-data Post </a:t>
            </a:r>
            <a:r>
              <a:rPr lang="ko-KR" altLang="en-US"/>
              <a:t>요청에서 전달된 부분 또는 폼 데이터를 처리</a:t>
            </a:r>
            <a:endParaRPr lang="en-US" altLang="ko-KR"/>
          </a:p>
          <a:p>
            <a:pPr lvl="1"/>
            <a:r>
              <a:rPr lang="en-US" altLang="ko-KR"/>
              <a:t>Servlet 3.0 </a:t>
            </a:r>
            <a:r>
              <a:rPr lang="ko-KR" altLang="en-US"/>
              <a:t>이상 지원</a:t>
            </a:r>
          </a:p>
          <a:p>
            <a:pPr lvl="1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F830B4-11C8-4BE0-A8EA-76E5287E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A1546F-7F20-4E3A-94CB-9C350DE2447B}"/>
              </a:ext>
            </a:extLst>
          </p:cNvPr>
          <p:cNvSpPr/>
          <p:nvPr/>
        </p:nvSpPr>
        <p:spPr>
          <a:xfrm>
            <a:off x="1065259" y="2852936"/>
            <a:ext cx="106571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>
                <a:hlinkClick r:id="rId2"/>
              </a:rPr>
              <a:t>https://javaee.github.io/javaee-spec/javadocs/index.html?javax/servlet/http/package-summary.html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52703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98E36-EE92-4475-BB34-2A50FF89E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업로드 처리 서블릿 작성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053FE2-A9B2-414F-A63D-148FE9F1A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Part </a:t>
            </a:r>
            <a:r>
              <a:rPr lang="ko-KR" altLang="en-US"/>
              <a:t>인터페이스와 관련된 </a:t>
            </a:r>
            <a:r>
              <a:rPr lang="en-US" altLang="ko-KR"/>
              <a:t>HttpServletRequest </a:t>
            </a:r>
            <a:r>
              <a:rPr lang="ko-KR" altLang="en-US"/>
              <a:t>객체 메소드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FD8408-9191-41E8-A108-649636B0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15</a:t>
            </a:fld>
            <a:endParaRPr lang="ko-KR" altLang="en-US"/>
          </a:p>
        </p:txBody>
      </p:sp>
      <p:graphicFrame>
        <p:nvGraphicFramePr>
          <p:cNvPr id="5" name="Group 178">
            <a:extLst>
              <a:ext uri="{FF2B5EF4-FFF2-40B4-BE49-F238E27FC236}">
                <a16:creationId xmlns:a16="http://schemas.microsoft.com/office/drawing/2014/main" id="{E6F8B7D8-D545-4791-8D20-E4B578DEA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143987"/>
              </p:ext>
            </p:extLst>
          </p:nvPr>
        </p:nvGraphicFramePr>
        <p:xfrm>
          <a:off x="983432" y="2237291"/>
          <a:ext cx="9893010" cy="1493520"/>
        </p:xfrm>
        <a:graphic>
          <a:graphicData uri="http://schemas.openxmlformats.org/drawingml/2006/table">
            <a:tbl>
              <a:tblPr/>
              <a:tblGrid>
                <a:gridCol w="3816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6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메소드</a:t>
                      </a: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설명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Collection&lt;Part&gt; </a:t>
                      </a: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getParts()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throws IOException, ServletException</a:t>
                      </a: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multipart/form-data 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타입이 제공하는 이 요청의 모든 </a:t>
                      </a: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Part 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구성요소들을 얻어냄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Part </a:t>
                      </a: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getPart(String name) </a:t>
                      </a:r>
                      <a:r>
                        <a:rPr kumimoji="1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throws IOException, ServletException</a:t>
                      </a: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요청된 </a:t>
                      </a: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Part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의 이름으로 </a:t>
                      </a: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Part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를 얻어냄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1632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A1AFE-50BE-4B9B-88CB-E0EAEEDA4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업로드 처리 서블릿 작성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D84936-878B-4FA3-AFD8-3C0ACAFF0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00DCE3AE-E39B-4506-96FC-355E2D821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Part </a:t>
            </a:r>
            <a:r>
              <a:rPr lang="ko-KR" altLang="en-US"/>
              <a:t>인터페이스의 주요</a:t>
            </a:r>
            <a:r>
              <a:rPr lang="en-US" altLang="ko-KR"/>
              <a:t> </a:t>
            </a:r>
            <a:r>
              <a:rPr lang="ko-KR" altLang="en-US"/>
              <a:t>메서드</a:t>
            </a:r>
          </a:p>
        </p:txBody>
      </p:sp>
      <p:graphicFrame>
        <p:nvGraphicFramePr>
          <p:cNvPr id="10" name="Group 178">
            <a:extLst>
              <a:ext uri="{FF2B5EF4-FFF2-40B4-BE49-F238E27FC236}">
                <a16:creationId xmlns:a16="http://schemas.microsoft.com/office/drawing/2014/main" id="{25D59D3E-B394-4D87-9A0D-F7DE9FCDE1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649207"/>
              </p:ext>
            </p:extLst>
          </p:nvPr>
        </p:nvGraphicFramePr>
        <p:xfrm>
          <a:off x="695400" y="1714948"/>
          <a:ext cx="9821002" cy="3962400"/>
        </p:xfrm>
        <a:graphic>
          <a:graphicData uri="http://schemas.openxmlformats.org/drawingml/2006/table">
            <a:tbl>
              <a:tblPr/>
              <a:tblGrid>
                <a:gridCol w="36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0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메소드</a:t>
                      </a: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설명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Public String </a:t>
                      </a:r>
                      <a:r>
                        <a:rPr kumimoji="1" lang="en-US" altLang="ko-KR" sz="16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getContentType()</a:t>
                      </a:r>
                      <a:endParaRPr kumimoji="1" lang="en-US" altLang="ko-KR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Content-Type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을 리턴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public String </a:t>
                      </a:r>
                      <a:r>
                        <a:rPr kumimoji="1" lang="en-US" altLang="ko-KR" sz="16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getName()</a:t>
                      </a:r>
                      <a:endParaRPr kumimoji="1" lang="en-US" altLang="ko-KR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파라미터명을 리턴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public String </a:t>
                      </a:r>
                      <a:r>
                        <a:rPr kumimoji="1" lang="en-US" altLang="ko-KR" sz="16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getSubmittedFileName()</a:t>
                      </a:r>
                      <a:endParaRPr kumimoji="1" lang="en-US" altLang="ko-KR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업로드한 파일명을 리턴</a:t>
                      </a:r>
                      <a:endParaRPr kumimoji="1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servlet 3.1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부터 사용 가능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public long </a:t>
                      </a:r>
                      <a:r>
                        <a:rPr kumimoji="1" lang="en-US" altLang="ko-KR" sz="16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getSize();</a:t>
                      </a:r>
                      <a:endParaRPr kumimoji="1" lang="en-US" altLang="ko-KR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파일의 크기를 </a:t>
                      </a: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byte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단위로 리턴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public void </a:t>
                      </a:r>
                      <a:r>
                        <a:rPr kumimoji="1" lang="en-US" altLang="ko-KR" sz="16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write(String fileName) </a:t>
                      </a:r>
                      <a:r>
                        <a:rPr kumimoji="1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throws IOException</a:t>
                      </a: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임시저장되어 있는 파일 데이터를 복사하여 </a:t>
                      </a: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fileName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에 지정한 경로로 저장</a:t>
                      </a:r>
                      <a:endParaRPr kumimoji="1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임시저장 되어있는 파일데이터가 메모리상에 있든 디스크에 있든 신경쓰지 않아도 됨</a:t>
                      </a: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public void </a:t>
                      </a:r>
                      <a:r>
                        <a:rPr kumimoji="1" lang="en-US" altLang="ko-KR" sz="16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delete() </a:t>
                      </a:r>
                      <a:r>
                        <a:rPr kumimoji="1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throws IOException</a:t>
                      </a: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임시저장된 파일 데이터를 제거</a:t>
                      </a:r>
                      <a:endParaRPr kumimoji="1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HTTP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요청이 처리되고 나면 자동으로 제거되지만 그 전에 메모리나 디스크 자원을 아끼고 싶다면 수동으로 제거할 수 있음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public String </a:t>
                      </a:r>
                      <a:r>
                        <a:rPr kumimoji="1" lang="en-US" altLang="ko-KR" sz="16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getHeader(String name)</a:t>
                      </a:r>
                      <a:endParaRPr kumimoji="1" lang="en-US" altLang="ko-KR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Part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로부터 지정한 </a:t>
                      </a: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name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헤더값을 리턴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8039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C3AC57-B47F-40CF-B1D5-782E18758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업로드 처리 서블릿 작성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8BB4C0-C4B4-4E16-AF95-401CFA394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072" y="1057835"/>
            <a:ext cx="11617704" cy="5611906"/>
          </a:xfrm>
        </p:spPr>
        <p:txBody>
          <a:bodyPr>
            <a:normAutofit/>
          </a:bodyPr>
          <a:lstStyle/>
          <a:p>
            <a:r>
              <a:rPr lang="ko-KR" altLang="en-US">
                <a:latin typeface="+mn-ea"/>
              </a:rPr>
              <a:t>서블릿 배포 방법</a:t>
            </a:r>
            <a:endParaRPr lang="en-US" altLang="ko-KR">
              <a:latin typeface="+mn-ea"/>
            </a:endParaRPr>
          </a:p>
          <a:p>
            <a:pPr marL="457200" lvl="1" indent="0">
              <a:buNone/>
            </a:pPr>
            <a:r>
              <a:rPr lang="en-US" altLang="ko-KR" b="1">
                <a:latin typeface="+mn-ea"/>
              </a:rPr>
              <a:t>1. @</a:t>
            </a:r>
            <a:r>
              <a:rPr lang="en-US" altLang="ko-KR" b="1"/>
              <a:t>MultipartConfig </a:t>
            </a:r>
            <a:r>
              <a:rPr lang="ko-KR" altLang="en-US" b="1"/>
              <a:t>어노테이션</a:t>
            </a:r>
            <a:endParaRPr lang="en-US" altLang="ko-KR" b="1"/>
          </a:p>
          <a:p>
            <a:pPr lvl="2"/>
            <a:r>
              <a:rPr lang="en-US" altLang="ko-KR" sz="1800"/>
              <a:t>fileSizeThreshold: </a:t>
            </a:r>
            <a:r>
              <a:rPr lang="ko-KR" altLang="en-US" sz="1800"/>
              <a:t>파일이 디스크에 쓰여지는 사이즈를 지정할 수 있다</a:t>
            </a:r>
            <a:r>
              <a:rPr lang="en-US" altLang="ko-KR" sz="1800"/>
              <a:t>. </a:t>
            </a:r>
            <a:r>
              <a:rPr lang="ko-KR" altLang="en-US" sz="1800"/>
              <a:t>크기 값은 바이트 단위</a:t>
            </a:r>
            <a:r>
              <a:rPr lang="en-US" altLang="ko-KR" sz="1800"/>
              <a:t>(1024 * 1024 * 10 = 10MB)</a:t>
            </a:r>
          </a:p>
          <a:p>
            <a:pPr lvl="2"/>
            <a:r>
              <a:rPr lang="en-US" altLang="ko-KR" sz="1800"/>
              <a:t>location: </a:t>
            </a:r>
            <a:r>
              <a:rPr lang="ko-KR" altLang="en-US" sz="1800"/>
              <a:t>파일이 임시로 저장되는 디렉토리</a:t>
            </a:r>
            <a:r>
              <a:rPr lang="en-US" altLang="ko-KR" sz="1800"/>
              <a:t>, </a:t>
            </a:r>
            <a:r>
              <a:rPr lang="ko-KR" altLang="en-US" sz="1800"/>
              <a:t>기본값은 </a:t>
            </a:r>
            <a:r>
              <a:rPr lang="en-US" altLang="ko-KR" sz="1800"/>
              <a:t>"“</a:t>
            </a:r>
          </a:p>
          <a:p>
            <a:pPr lvl="2"/>
            <a:r>
              <a:rPr lang="en-US" altLang="ko-KR" sz="1800"/>
              <a:t>maxFileSize: </a:t>
            </a:r>
            <a:r>
              <a:rPr lang="ko-KR" altLang="en-US" sz="1800"/>
              <a:t>파일을 업로드할 수 있는 최대 크기</a:t>
            </a:r>
            <a:r>
              <a:rPr lang="en-US" altLang="ko-KR" sz="1800"/>
              <a:t>, </a:t>
            </a:r>
            <a:r>
              <a:rPr lang="ko-KR" altLang="en-US" sz="1800"/>
              <a:t>값은 바이트 단위</a:t>
            </a:r>
            <a:endParaRPr lang="en-US" altLang="ko-KR" sz="1800"/>
          </a:p>
          <a:p>
            <a:pPr lvl="2"/>
            <a:r>
              <a:rPr lang="en-US" altLang="ko-KR" sz="1800"/>
              <a:t>maxRequestSize: multipart/form-data </a:t>
            </a:r>
            <a:r>
              <a:rPr lang="ko-KR" altLang="en-US" sz="1800"/>
              <a:t>요청에 허용되는 최대 크기</a:t>
            </a:r>
            <a:r>
              <a:rPr lang="en-US" altLang="ko-KR" sz="1800"/>
              <a:t>, </a:t>
            </a:r>
            <a:r>
              <a:rPr lang="ko-KR" altLang="en-US" sz="1800"/>
              <a:t>기본값은 무제한을 의미하는 </a:t>
            </a:r>
            <a:r>
              <a:rPr lang="en-US" altLang="ko-KR" sz="1800"/>
              <a:t>-1L</a:t>
            </a:r>
          </a:p>
          <a:p>
            <a:pPr marL="457200" lvl="1" indent="0">
              <a:buNone/>
            </a:pPr>
            <a:r>
              <a:rPr lang="en-US" altLang="ko-KR" b="1"/>
              <a:t>2. web.xml</a:t>
            </a:r>
            <a:r>
              <a:rPr lang="ko-KR" altLang="en-US" b="1"/>
              <a:t> 에서 설정</a:t>
            </a:r>
            <a:endParaRPr lang="en-US" altLang="ko-KR" b="1"/>
          </a:p>
          <a:p>
            <a:pPr lvl="2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BF8239-EB74-4746-806D-D22FE9533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54A510-EA7D-4476-8B35-8AB9EF60E233}"/>
              </a:ext>
            </a:extLst>
          </p:cNvPr>
          <p:cNvSpPr/>
          <p:nvPr/>
        </p:nvSpPr>
        <p:spPr>
          <a:xfrm>
            <a:off x="1343472" y="4085915"/>
            <a:ext cx="4448437" cy="267765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/>
              <a:t>&lt;servlet&gt;</a:t>
            </a:r>
          </a:p>
          <a:p>
            <a:r>
              <a:rPr lang="ko-KR" altLang="en-US" sz="1200"/>
              <a:t>      &lt;servlet-name&gt;FileUploadServlet&lt;/servlet-name&gt;</a:t>
            </a:r>
          </a:p>
          <a:p>
            <a:r>
              <a:rPr lang="ko-KR" altLang="en-US" sz="1200"/>
              <a:t>      &lt;servlet-class&gt;servlet.FileUploadServlet&lt;/servlet-class&gt;</a:t>
            </a:r>
          </a:p>
          <a:p>
            <a:r>
              <a:rPr lang="ko-KR" altLang="en-US" sz="1200" b="1"/>
              <a:t>      &lt;multipart-config&gt;</a:t>
            </a:r>
          </a:p>
          <a:p>
            <a:r>
              <a:rPr lang="ko-KR" altLang="en-US" sz="1200" b="1"/>
              <a:t>          &lt;location&gt;C:\</a:t>
            </a:r>
            <a:r>
              <a:rPr lang="en-US" altLang="ko-KR" sz="1200" b="1"/>
              <a:t>tmp</a:t>
            </a:r>
            <a:r>
              <a:rPr lang="ko-KR" altLang="en-US" sz="1200" b="1"/>
              <a:t>&lt;/location&gt;</a:t>
            </a:r>
          </a:p>
          <a:p>
            <a:r>
              <a:rPr lang="ko-KR" altLang="en-US" sz="1200" b="1"/>
              <a:t>          &lt;max-file-size&gt;-1&lt;/max-file-size&gt;</a:t>
            </a:r>
          </a:p>
          <a:p>
            <a:r>
              <a:rPr lang="ko-KR" altLang="en-US" sz="1200" b="1"/>
              <a:t>          &lt;max-request-size&gt;-1&lt;/max-request-size&gt;</a:t>
            </a:r>
          </a:p>
          <a:p>
            <a:r>
              <a:rPr lang="ko-KR" altLang="en-US" sz="1200" b="1"/>
              <a:t>          &lt;file-size-threshold&gt;1024&lt;/file-size-threshold&gt;</a:t>
            </a:r>
          </a:p>
          <a:p>
            <a:r>
              <a:rPr lang="ko-KR" altLang="en-US" sz="1200" b="1"/>
              <a:t>      &lt;/multipart-config&gt;</a:t>
            </a:r>
          </a:p>
          <a:p>
            <a:r>
              <a:rPr lang="ko-KR" altLang="en-US" sz="1200"/>
              <a:t>&lt;/servlet&gt;</a:t>
            </a:r>
          </a:p>
          <a:p>
            <a:r>
              <a:rPr lang="ko-KR" altLang="en-US" sz="1200"/>
              <a:t>&lt;servlet-mapping&gt;</a:t>
            </a:r>
          </a:p>
          <a:p>
            <a:r>
              <a:rPr lang="ko-KR" altLang="en-US" sz="1200"/>
              <a:t>      </a:t>
            </a:r>
            <a:r>
              <a:rPr lang="en-US" altLang="ko-KR" sz="1200"/>
              <a:t>&lt;</a:t>
            </a:r>
            <a:r>
              <a:rPr lang="ko-KR" altLang="en-US" sz="1200"/>
              <a:t>servlet-name&gt;FileUploadServlet&lt;/servlet-name&gt;</a:t>
            </a:r>
          </a:p>
          <a:p>
            <a:r>
              <a:rPr lang="ko-KR" altLang="en-US" sz="1200"/>
              <a:t>      &lt;url-pattern&gt;/fileUpload&lt;/url-pattern&gt;</a:t>
            </a:r>
          </a:p>
          <a:p>
            <a:r>
              <a:rPr lang="ko-KR" altLang="en-US" sz="1200"/>
              <a:t>&lt;/servlet-mapping&gt;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C05ED9-3DC0-405F-B530-1169FF4DE0F2}"/>
              </a:ext>
            </a:extLst>
          </p:cNvPr>
          <p:cNvSpPr/>
          <p:nvPr/>
        </p:nvSpPr>
        <p:spPr>
          <a:xfrm>
            <a:off x="1703512" y="4715934"/>
            <a:ext cx="3888432" cy="10423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225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D34ECF-2773-4F9D-B0F1-3A1367826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업로드 처리 서블릿 작성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FD499E-183B-4938-B60F-27488670E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286" y="896411"/>
            <a:ext cx="11434714" cy="5611906"/>
          </a:xfrm>
        </p:spPr>
        <p:txBody>
          <a:bodyPr>
            <a:normAutofit/>
          </a:bodyPr>
          <a:lstStyle/>
          <a:p>
            <a:r>
              <a:rPr lang="ko-KR" altLang="en-US" b="1"/>
              <a:t>관련 속성들</a:t>
            </a:r>
            <a:endParaRPr lang="en-US" altLang="ko-KR" b="1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41AB90-65EB-40FC-8915-C9B57CDC9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18</a:t>
            </a:fld>
            <a:endParaRPr lang="ko-KR" altLang="en-US"/>
          </a:p>
        </p:txBody>
      </p:sp>
      <p:graphicFrame>
        <p:nvGraphicFramePr>
          <p:cNvPr id="6" name="Group 178">
            <a:extLst>
              <a:ext uri="{FF2B5EF4-FFF2-40B4-BE49-F238E27FC236}">
                <a16:creationId xmlns:a16="http://schemas.microsoft.com/office/drawing/2014/main" id="{C3C09FB5-A97C-4372-9B9B-68AE860E4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099882"/>
              </p:ext>
            </p:extLst>
          </p:nvPr>
        </p:nvGraphicFramePr>
        <p:xfrm>
          <a:off x="1127448" y="1593114"/>
          <a:ext cx="9573958" cy="4284158"/>
        </p:xfrm>
        <a:graphic>
          <a:graphicData uri="http://schemas.openxmlformats.org/drawingml/2006/table">
            <a:tbl>
              <a:tblPr/>
              <a:tblGrid>
                <a:gridCol w="2088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5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0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태그</a:t>
                      </a: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설명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&lt;multipart-config&gt;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400"/>
                        <a:t>multipart/form-data </a:t>
                      </a:r>
                      <a:r>
                        <a:rPr lang="ko-KR" altLang="en-US" sz="1400"/>
                        <a:t>로 전송된 데이터에 대해 </a:t>
                      </a:r>
                      <a:r>
                        <a:rPr lang="en-US" altLang="ko-KR" sz="1400"/>
                        <a:t>Part API</a:t>
                      </a:r>
                      <a:r>
                        <a:rPr lang="ko-KR" altLang="en-US" sz="1400"/>
                        <a:t>로 처리할 수 있도록 하는 설정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&lt;location&gt;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업로드한 파일의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임시 저장 경로 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지정</a:t>
                      </a: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 </a:t>
                      </a:r>
                    </a:p>
                    <a:p>
                      <a:pPr marL="285750" marR="0" lvl="0" indent="-28575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명시적으로 지정되지 않으면웹 서버의 기본 임시 디렉터리가 사용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&lt;max-file-size&gt;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업로드 가능한 최대 </a:t>
                      </a: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size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를 </a:t>
                      </a: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byte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단위로 지정</a:t>
                      </a:r>
                      <a:endParaRPr kumimoji="1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-1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 경우 제한 없음</a:t>
                      </a:r>
                      <a:endParaRPr kumimoji="1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request.getParts()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호출시 파일 크기가 이 값을 넘는 경우 </a:t>
                      </a: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IllegalStateException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가 발생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05215"/>
                  </a:ext>
                </a:extLst>
              </a:tr>
              <a:tr h="5873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&lt;max-request-size&gt;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전체적인 </a:t>
                      </a: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multipart 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데이터 최대 </a:t>
                      </a: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size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를 </a:t>
                      </a: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byte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단위로 지정</a:t>
                      </a:r>
                      <a:endParaRPr kumimoji="1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-1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 경우 제한 없음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382095"/>
                  </a:ext>
                </a:extLst>
              </a:tr>
              <a:tr h="15547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&lt;file-size-threshold&gt;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임시파일로 저장 여부를 결정할 데이터 크기를 </a:t>
                      </a: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byte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로 지정</a:t>
                      </a:r>
                      <a:endParaRPr kumimoji="1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이값을 넘는 경우 </a:t>
                      </a: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&lt;location&gt;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으로 지정한 경로에 임시파일로 저장</a:t>
                      </a:r>
                      <a:r>
                        <a:rPr kumimoji="1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아니면 메모리상에 가지고 있음</a:t>
                      </a:r>
                      <a:endParaRPr kumimoji="1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메모리상에 저장된 파일 데이터는 언젠가 제거되나 크기가 큰 파일을 메모리상에 적재하게 되면 서버에 부하를 줄 수 있으므로 적당한 크기를 지정해 곧바로 임시파일로 저장하는것이 좋음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727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62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4DD7F-1855-4A57-AC18-30AB50ECA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업로드 처리 서블릿 작성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A3CD48-0899-458B-A244-A8B874D11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@MultipartConfig() </a:t>
            </a:r>
            <a:r>
              <a:rPr lang="ko-KR" altLang="en-US"/>
              <a:t>으로</a:t>
            </a:r>
            <a:r>
              <a:rPr lang="en-US" altLang="ko-KR"/>
              <a:t> </a:t>
            </a:r>
            <a:r>
              <a:rPr lang="ko-KR" altLang="en-US"/>
              <a:t>설정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r>
              <a:rPr lang="en-US" altLang="ko-KR"/>
              <a:t>maxFileSize </a:t>
            </a:r>
            <a:r>
              <a:rPr lang="ko-KR" altLang="en-US"/>
              <a:t>설정을 통해 업로드 파일 크기 제한이 있는 경우제한을 넘기게 되면 </a:t>
            </a:r>
            <a:r>
              <a:rPr lang="en-US" altLang="ko-KR"/>
              <a:t>request.getParts()</a:t>
            </a:r>
            <a:r>
              <a:rPr lang="ko-KR" altLang="en-US"/>
              <a:t>호출시 다음과 같이 </a:t>
            </a:r>
            <a:r>
              <a:rPr lang="en-US" altLang="ko-KR"/>
              <a:t>IllegalStateException</a:t>
            </a:r>
            <a:r>
              <a:rPr lang="ko-KR" altLang="en-US"/>
              <a:t>예외가 발생</a:t>
            </a:r>
            <a:r>
              <a:rPr lang="en-US" altLang="ko-KR"/>
              <a:t>   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D5ED02-1FC4-4D9E-8548-C697B8931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AADC-E18F-469E-84D1-3A01AA875353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3A3BAF-9C78-4FC3-B86E-F7B8AD3022C6}"/>
              </a:ext>
            </a:extLst>
          </p:cNvPr>
          <p:cNvSpPr/>
          <p:nvPr/>
        </p:nvSpPr>
        <p:spPr>
          <a:xfrm>
            <a:off x="1127448" y="1674674"/>
            <a:ext cx="4248472" cy="175432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/>
              <a:t>@MultipartConfig(</a:t>
            </a:r>
          </a:p>
          <a:p>
            <a:r>
              <a:rPr lang="en-US" altLang="ko-KR"/>
              <a:t>        location = "C:\\tmp",</a:t>
            </a:r>
          </a:p>
          <a:p>
            <a:r>
              <a:rPr lang="en-US" altLang="ko-KR"/>
              <a:t>        maxFileSize = -1,</a:t>
            </a:r>
          </a:p>
          <a:p>
            <a:r>
              <a:rPr lang="en-US" altLang="ko-KR"/>
              <a:t>        maxRequestSize = -1,</a:t>
            </a:r>
          </a:p>
          <a:p>
            <a:r>
              <a:rPr lang="en-US" altLang="ko-KR"/>
              <a:t>        fileSizeThreshold = 1024)</a:t>
            </a:r>
          </a:p>
          <a:p>
            <a:r>
              <a:rPr lang="en-US" altLang="ko-KR"/>
              <a:t>@WebServlet("/uppload")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4945992-F083-4ADE-B798-4223158385BB}"/>
              </a:ext>
            </a:extLst>
          </p:cNvPr>
          <p:cNvSpPr/>
          <p:nvPr/>
        </p:nvSpPr>
        <p:spPr>
          <a:xfrm>
            <a:off x="1127448" y="4737949"/>
            <a:ext cx="4824536" cy="175432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/>
              <a:t>Collection&lt;Part&gt; parts = null;</a:t>
            </a:r>
          </a:p>
          <a:p>
            <a:r>
              <a:rPr lang="ko-KR" altLang="en-US"/>
              <a:t>try {</a:t>
            </a:r>
          </a:p>
          <a:p>
            <a:r>
              <a:rPr lang="ko-KR" altLang="en-US"/>
              <a:t>    parts = request.getParts();</a:t>
            </a:r>
          </a:p>
          <a:p>
            <a:r>
              <a:rPr lang="ko-KR" altLang="en-US"/>
              <a:t>}catch (IllegalStateException e) {</a:t>
            </a:r>
          </a:p>
          <a:p>
            <a:r>
              <a:rPr lang="ko-KR" altLang="en-US"/>
              <a:t>    //업로드 크기 제한을 넘겼을 경우의 처리</a:t>
            </a:r>
          </a:p>
          <a:p>
            <a:r>
              <a:rPr lang="ko-KR" altLang="en-US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82972181"/>
      </p:ext>
    </p:extLst>
  </p:cSld>
  <p:clrMapOvr>
    <a:masterClrMapping/>
  </p:clrMapOvr>
</p:sld>
</file>

<file path=ppt/theme/theme1.xml><?xml version="1.0" encoding="utf-8"?>
<a:theme xmlns:a="http://schemas.openxmlformats.org/drawingml/2006/main" name="2020-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프레젠테이션1" id="{4B33F59B-B985-4B5E-9929-AC98C5552B69}" vid="{2F8BD205-57E0-424D-8191-B08051F6AA3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2020-1</Template>
  <TotalTime>9950</TotalTime>
  <Words>1225</Words>
  <Application>Microsoft Office PowerPoint</Application>
  <PresentationFormat>와이드스크린</PresentationFormat>
  <Paragraphs>214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맑은 고딕</vt:lpstr>
      <vt:lpstr>Arial</vt:lpstr>
      <vt:lpstr>Consolas</vt:lpstr>
      <vt:lpstr>Courier New</vt:lpstr>
      <vt:lpstr>2020-1</vt:lpstr>
      <vt:lpstr>7장 파일 업로드와 간의 웹하드 구현 (서블릿 활용)</vt:lpstr>
      <vt:lpstr>내용</vt:lpstr>
      <vt:lpstr>파일 업로드 실습 순서</vt:lpstr>
      <vt:lpstr>1. 준비 사항</vt:lpstr>
      <vt:lpstr>1. 준비 사항</vt:lpstr>
      <vt:lpstr>1. 준비 사항</vt:lpstr>
      <vt:lpstr>[참고]</vt:lpstr>
      <vt:lpstr>2. 업로드 폼 작성 </vt:lpstr>
      <vt:lpstr>2. 업로드 폼 작성 </vt:lpstr>
      <vt:lpstr>2. 업로드 폼 작성 </vt:lpstr>
      <vt:lpstr>3. 업로드 처리 서블릿 작성</vt:lpstr>
      <vt:lpstr>3. 업로드 처리 서블릿 작성</vt:lpstr>
      <vt:lpstr>3. 업로드 처리 서블릿 작성</vt:lpstr>
      <vt:lpstr>3. 업로드 처리 서블릿 작성</vt:lpstr>
      <vt:lpstr>3. 업로드 처리 서블릿 작성</vt:lpstr>
      <vt:lpstr>3. 업로드 처리 서블릿 작성</vt:lpstr>
      <vt:lpstr>3. 업로드 처리 서블릿 작성</vt:lpstr>
      <vt:lpstr>3. 업로드 처리 서블릿 작성</vt:lpstr>
      <vt:lpstr>3. 업로드 처리 서블릿 작성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suhFamily</dc:creator>
  <cp:lastModifiedBy>jinso</cp:lastModifiedBy>
  <cp:revision>177</cp:revision>
  <dcterms:created xsi:type="dcterms:W3CDTF">2013-05-30T12:58:16Z</dcterms:created>
  <dcterms:modified xsi:type="dcterms:W3CDTF">2025-05-21T04:15:12Z</dcterms:modified>
</cp:coreProperties>
</file>