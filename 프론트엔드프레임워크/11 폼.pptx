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16"/>
  </p:notesMasterIdLst>
  <p:sldIdLst>
    <p:sldId id="256" r:id="rId2"/>
    <p:sldId id="257" r:id="rId3"/>
    <p:sldId id="258" r:id="rId4"/>
    <p:sldId id="331" r:id="rId5"/>
    <p:sldId id="339" r:id="rId6"/>
    <p:sldId id="332" r:id="rId7"/>
    <p:sldId id="340" r:id="rId8"/>
    <p:sldId id="334" r:id="rId9"/>
    <p:sldId id="341" r:id="rId10"/>
    <p:sldId id="342" r:id="rId11"/>
    <p:sldId id="303" r:id="rId12"/>
    <p:sldId id="320" r:id="rId13"/>
    <p:sldId id="343" r:id="rId14"/>
    <p:sldId id="27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BD2B46-ED7A-4A63-A880-227889412B42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C26BC2-3A5E-41D2-812B-C8BAFBFC9F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7399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6293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7247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2653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46448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35017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7302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72804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68262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00613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09942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39177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85779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4897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>
            <a:off x="10948416" y="2788920"/>
            <a:ext cx="1243584" cy="1005840"/>
          </a:xfrm>
          <a:prstGeom prst="rect">
            <a:avLst/>
          </a:prstGeom>
          <a:solidFill>
            <a:schemeClr val="accent5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 bwMode="gray">
          <a:xfrm>
            <a:off x="0" y="2130552"/>
            <a:ext cx="11277600" cy="91440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 bwMode="gray">
          <a:xfrm>
            <a:off x="3328416" y="0"/>
            <a:ext cx="2279904" cy="2359152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/>
        </p:nvSpPr>
        <p:spPr bwMode="gray">
          <a:xfrm>
            <a:off x="0" y="0"/>
            <a:ext cx="3718560" cy="235915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0832" y="3118105"/>
            <a:ext cx="10375392" cy="1470025"/>
          </a:xfrm>
        </p:spPr>
        <p:txBody>
          <a:bodyPr vert="horz" lIns="91440" tIns="45720" rIns="91440" bIns="45720" rtlCol="0" anchor="t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lang="en-US" sz="4800" b="1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2359152"/>
            <a:ext cx="10948416" cy="6858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  <a:defRPr lang="en-US" sz="2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7043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756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1728" y="3044952"/>
            <a:ext cx="6254496" cy="740664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Rectangle 6"/>
          <p:cNvSpPr/>
          <p:nvPr/>
        </p:nvSpPr>
        <p:spPr bwMode="gray">
          <a:xfrm>
            <a:off x="10948416" y="2788920"/>
            <a:ext cx="1243584" cy="1005840"/>
          </a:xfrm>
          <a:prstGeom prst="rect">
            <a:avLst/>
          </a:prstGeom>
          <a:solidFill>
            <a:schemeClr val="accent5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 bwMode="gray">
          <a:xfrm>
            <a:off x="0" y="2130552"/>
            <a:ext cx="11277600" cy="91440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 bwMode="gray">
          <a:xfrm>
            <a:off x="3328416" y="0"/>
            <a:ext cx="2279904" cy="2359152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/>
        </p:nvSpPr>
        <p:spPr bwMode="gray">
          <a:xfrm>
            <a:off x="0" y="0"/>
            <a:ext cx="3718560" cy="267004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609600" y="3813048"/>
            <a:ext cx="10363200" cy="1143000"/>
          </a:xfr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lang="en-US" sz="4400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88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7802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802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7722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609600" y="1627632"/>
            <a:ext cx="5386917" cy="63976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400" b="1" kern="1200" cap="none" spc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286000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6193368" y="1627632"/>
            <a:ext cx="5389033" cy="63976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400" b="1" kern="1200" cap="none" spc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286000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3888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6501384"/>
            <a:ext cx="12192000" cy="356616"/>
          </a:xfrm>
          <a:prstGeom prst="rect">
            <a:avLst/>
          </a:prstGeom>
          <a:solidFill>
            <a:schemeClr val="accent6">
              <a:lumMod val="60000"/>
              <a:lumOff val="4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 6"/>
          <p:cNvSpPr/>
          <p:nvPr/>
        </p:nvSpPr>
        <p:spPr bwMode="gray">
          <a:xfrm>
            <a:off x="0" y="0"/>
            <a:ext cx="12192000" cy="301752"/>
          </a:xfrm>
          <a:prstGeom prst="rect">
            <a:avLst/>
          </a:prstGeom>
          <a:solidFill>
            <a:schemeClr val="accent5">
              <a:lumMod val="60000"/>
              <a:lumOff val="4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 bwMode="gray">
          <a:xfrm>
            <a:off x="0" y="0"/>
            <a:ext cx="3243072" cy="530352"/>
          </a:xfrm>
          <a:prstGeom prst="rect">
            <a:avLst/>
          </a:prstGeom>
          <a:solidFill>
            <a:schemeClr val="accent2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 bwMode="gray">
          <a:xfrm>
            <a:off x="1901952" y="0"/>
            <a:ext cx="2097024" cy="438912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4400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417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 bwMode="gray">
          <a:xfrm>
            <a:off x="0" y="6501384"/>
            <a:ext cx="12192000" cy="356616"/>
          </a:xfrm>
          <a:prstGeom prst="rect">
            <a:avLst/>
          </a:prstGeom>
          <a:solidFill>
            <a:schemeClr val="accent6">
              <a:lumMod val="60000"/>
              <a:lumOff val="4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Rectangle 11"/>
          <p:cNvSpPr/>
          <p:nvPr/>
        </p:nvSpPr>
        <p:spPr bwMode="gray">
          <a:xfrm>
            <a:off x="0" y="0"/>
            <a:ext cx="12192000" cy="301752"/>
          </a:xfrm>
          <a:prstGeom prst="rect">
            <a:avLst/>
          </a:prstGeom>
          <a:solidFill>
            <a:schemeClr val="accent5">
              <a:lumMod val="60000"/>
              <a:lumOff val="4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Rectangle 12"/>
          <p:cNvSpPr/>
          <p:nvPr/>
        </p:nvSpPr>
        <p:spPr bwMode="gray">
          <a:xfrm>
            <a:off x="0" y="0"/>
            <a:ext cx="402336" cy="6858000"/>
          </a:xfrm>
          <a:prstGeom prst="rect">
            <a:avLst/>
          </a:prstGeom>
          <a:solidFill>
            <a:srgbClr val="9BBB5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" name="Rectangle 13"/>
          <p:cNvSpPr/>
          <p:nvPr/>
        </p:nvSpPr>
        <p:spPr bwMode="gray">
          <a:xfrm>
            <a:off x="0" y="0"/>
            <a:ext cx="3243072" cy="530352"/>
          </a:xfrm>
          <a:prstGeom prst="rect">
            <a:avLst/>
          </a:prstGeom>
          <a:solidFill>
            <a:schemeClr val="accent2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/>
          <p:cNvSpPr/>
          <p:nvPr/>
        </p:nvSpPr>
        <p:spPr bwMode="gray">
          <a:xfrm>
            <a:off x="1901952" y="0"/>
            <a:ext cx="2097024" cy="438912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Rectangle 15"/>
          <p:cNvSpPr/>
          <p:nvPr/>
        </p:nvSpPr>
        <p:spPr bwMode="gray">
          <a:xfrm>
            <a:off x="11789664" y="0"/>
            <a:ext cx="402336" cy="6858000"/>
          </a:xfrm>
          <a:prstGeom prst="rect">
            <a:avLst/>
          </a:prstGeom>
          <a:solidFill>
            <a:srgbClr val="9BBB5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1159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548640"/>
            <a:ext cx="10265664" cy="932688"/>
          </a:xfr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3200" b="1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07936" y="1645920"/>
            <a:ext cx="3755136" cy="44805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645920"/>
            <a:ext cx="6400800" cy="44805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092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1824" y="658368"/>
            <a:ext cx="7315200" cy="822960"/>
          </a:xfr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2800" b="1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gray">
          <a:xfrm>
            <a:off x="2389632" y="1618488"/>
            <a:ext cx="7315200" cy="3639312"/>
          </a:xfrm>
          <a:solidFill>
            <a:srgbClr val="F8F8F8"/>
          </a:solidFill>
          <a:ln w="76200" cmpd="sng">
            <a:solidFill>
              <a:srgbClr val="FFFFFF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  <a:defRPr lang="en-US" sz="3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32" y="5413248"/>
            <a:ext cx="7315200" cy="98755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5161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257432" cy="452596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514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 rot="5400000">
            <a:off x="7182612" y="2048256"/>
            <a:ext cx="6519672" cy="2414016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 bwMode="gray">
          <a:xfrm>
            <a:off x="8737600" y="6135624"/>
            <a:ext cx="1316736" cy="722376"/>
          </a:xfrm>
          <a:prstGeom prst="rect">
            <a:avLst/>
          </a:prstGeom>
          <a:solidFill>
            <a:schemeClr val="accent5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 bwMode="gray">
          <a:xfrm>
            <a:off x="11474908" y="1379355"/>
            <a:ext cx="719328" cy="1463040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/>
        </p:nvSpPr>
        <p:spPr bwMode="gray">
          <a:xfrm>
            <a:off x="11472672" y="0"/>
            <a:ext cx="719328" cy="182880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41536" y="274637"/>
            <a:ext cx="2231136" cy="585216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436864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628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>
            <a:off x="0" y="402336"/>
            <a:ext cx="11582400" cy="109728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 bwMode="gray">
          <a:xfrm>
            <a:off x="10887456" y="996696"/>
            <a:ext cx="1304544" cy="896112"/>
          </a:xfrm>
          <a:prstGeom prst="rect">
            <a:avLst/>
          </a:prstGeom>
          <a:solidFill>
            <a:schemeClr val="accent5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 bwMode="gray">
          <a:xfrm>
            <a:off x="2377440" y="0"/>
            <a:ext cx="2596896" cy="539496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/>
        </p:nvSpPr>
        <p:spPr bwMode="gray">
          <a:xfrm>
            <a:off x="0" y="0"/>
            <a:ext cx="3243072" cy="53949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9496"/>
            <a:ext cx="10972800" cy="96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537960"/>
            <a:ext cx="2844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19F864-164D-4ED0-9F9C-B5C7D0A4A0B2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827264" y="6537960"/>
            <a:ext cx="3860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69536" y="6537960"/>
            <a:ext cx="2844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6779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2"/>
          </a:solidFill>
          <a:latin typeface="Aharoni" panose="02010803020104030203" pitchFamily="2" charset="-79"/>
          <a:ea typeface="+mj-ea"/>
          <a:cs typeface="Aharoni" panose="02010803020104030203" pitchFamily="2" charset="-79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Clr>
          <a:schemeClr val="accent1"/>
        </a:buClr>
        <a:buSzPct val="90000"/>
        <a:buFont typeface="Wingdings 3" pitchFamily="18" charset="2"/>
        <a:buChar char=""/>
        <a:defRPr sz="3200" kern="1200">
          <a:solidFill>
            <a:schemeClr val="tx1"/>
          </a:solidFill>
          <a:latin typeface="Book Antiqua" panose="02040602050305030304" pitchFamily="18" charset="0"/>
          <a:ea typeface="+mn-ea"/>
          <a:cs typeface="Aharoni" panose="02010803020104030203" pitchFamily="2" charset="-79"/>
        </a:defRPr>
      </a:lvl1pPr>
      <a:lvl2pPr marL="742950" indent="-285750" algn="l" defTabSz="914400" rtl="0" eaLnBrk="1" latinLnBrk="1" hangingPunct="1">
        <a:spcBef>
          <a:spcPct val="20000"/>
        </a:spcBef>
        <a:buClr>
          <a:schemeClr val="accent2"/>
        </a:buClr>
        <a:buSzPct val="90000"/>
        <a:buFont typeface="Wingdings 3" pitchFamily="18" charset="2"/>
        <a:buChar char=""/>
        <a:defRPr sz="2800" kern="1200">
          <a:solidFill>
            <a:schemeClr val="tx1"/>
          </a:solidFill>
          <a:latin typeface="Book Antiqua" panose="02040602050305030304" pitchFamily="18" charset="0"/>
          <a:ea typeface="+mn-ea"/>
          <a:cs typeface="Aharoni" panose="02010803020104030203" pitchFamily="2" charset="-79"/>
        </a:defRPr>
      </a:lvl2pPr>
      <a:lvl3pPr marL="1143000" indent="-228600" algn="l" defTabSz="914400" rtl="0" eaLnBrk="1" latinLnBrk="1" hangingPunct="1">
        <a:spcBef>
          <a:spcPct val="20000"/>
        </a:spcBef>
        <a:buClr>
          <a:schemeClr val="accent3"/>
        </a:buClr>
        <a:buSzPct val="90000"/>
        <a:buFont typeface="Wingdings 3" pitchFamily="18" charset="2"/>
        <a:buChar char=""/>
        <a:defRPr sz="2400" kern="1200">
          <a:solidFill>
            <a:schemeClr val="tx1"/>
          </a:solidFill>
          <a:latin typeface="Book Antiqua" panose="02040602050305030304" pitchFamily="18" charset="0"/>
          <a:ea typeface="+mn-ea"/>
          <a:cs typeface="Aharoni" panose="02010803020104030203" pitchFamily="2" charset="-79"/>
        </a:defRPr>
      </a:lvl3pPr>
      <a:lvl4pPr marL="1600200" indent="-228600" algn="l" defTabSz="914400" rtl="0" eaLnBrk="1" latinLnBrk="1" hangingPunct="1">
        <a:spcBef>
          <a:spcPct val="20000"/>
        </a:spcBef>
        <a:buClr>
          <a:schemeClr val="accent4"/>
        </a:buClr>
        <a:buSzPct val="90000"/>
        <a:buFont typeface="Wingdings 3" pitchFamily="18" charset="2"/>
        <a:buChar char=""/>
        <a:defRPr sz="2000" kern="1200">
          <a:solidFill>
            <a:schemeClr val="tx1"/>
          </a:solidFill>
          <a:latin typeface="Book Antiqua" panose="02040602050305030304" pitchFamily="18" charset="0"/>
          <a:ea typeface="+mn-ea"/>
          <a:cs typeface="Aharoni" panose="02010803020104030203" pitchFamily="2" charset="-79"/>
        </a:defRPr>
      </a:lvl4pPr>
      <a:lvl5pPr marL="2057400" indent="-228600" algn="l" defTabSz="914400" rtl="0" eaLnBrk="1" latinLnBrk="1" hangingPunct="1">
        <a:spcBef>
          <a:spcPct val="20000"/>
        </a:spcBef>
        <a:buClr>
          <a:schemeClr val="accent5"/>
        </a:buClr>
        <a:buSzPct val="90000"/>
        <a:buFont typeface="Wingdings 3" pitchFamily="18" charset="2"/>
        <a:buChar char=""/>
        <a:defRPr sz="2000" kern="1200">
          <a:solidFill>
            <a:schemeClr val="tx1"/>
          </a:solidFill>
          <a:latin typeface="Book Antiqua" panose="02040602050305030304" pitchFamily="18" charset="0"/>
          <a:ea typeface="+mn-ea"/>
          <a:cs typeface="Aharoni" panose="02010803020104030203" pitchFamily="2" charset="-79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6FFF2C-5BE4-4A02-EE82-5DE96A69A9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/>
              <a:t>소플의</a:t>
            </a:r>
            <a:r>
              <a:rPr lang="ko-KR" altLang="en-US" dirty="0"/>
              <a:t> 처음 만난 </a:t>
            </a:r>
            <a:r>
              <a:rPr lang="ko-KR" altLang="en-US" dirty="0" err="1"/>
              <a:t>리액트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7FA9B2-251D-830E-5283-181B2218F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1" y="5135883"/>
            <a:ext cx="10572000" cy="1028513"/>
          </a:xfrm>
        </p:spPr>
        <p:txBody>
          <a:bodyPr>
            <a:noAutofit/>
          </a:bodyPr>
          <a:lstStyle/>
          <a:p>
            <a:r>
              <a:rPr lang="ko-KR" altLang="en-US" sz="2000" dirty="0" err="1"/>
              <a:t>한빛미디어</a:t>
            </a:r>
            <a:endParaRPr lang="en-US" altLang="ko-KR" sz="2000" dirty="0"/>
          </a:p>
          <a:p>
            <a:r>
              <a:rPr lang="ko-KR" altLang="en-US" sz="2000" dirty="0"/>
              <a:t>김 경 민</a:t>
            </a:r>
          </a:p>
        </p:txBody>
      </p:sp>
    </p:spTree>
    <p:extLst>
      <p:ext uri="{BB962C8B-B14F-4D97-AF65-F5344CB8AC3E}">
        <p14:creationId xmlns:p14="http://schemas.microsoft.com/office/powerpoint/2010/main" val="373856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76E483-88F2-1E3C-A900-7D71AFB4C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132" y="539496"/>
            <a:ext cx="10309782" cy="960120"/>
          </a:xfrm>
        </p:spPr>
        <p:txBody>
          <a:bodyPr/>
          <a:lstStyle/>
          <a:p>
            <a:pPr algn="l"/>
            <a:r>
              <a:rPr lang="en-US" altLang="ko-KR" b="1" dirty="0">
                <a:latin typeface="Britannic Bold" panose="020B0903060703020204" pitchFamily="34" charset="0"/>
              </a:rPr>
              <a:t>11</a:t>
            </a:r>
            <a:r>
              <a:rPr lang="ko-KR" altLang="en-US" b="1" dirty="0">
                <a:latin typeface="Britannic Bold" panose="020B0903060703020204" pitchFamily="34" charset="0"/>
              </a:rPr>
              <a:t>장 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B25FF57-0133-BAA9-9E8B-77EB8153B7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6789" y="1495"/>
            <a:ext cx="5921170" cy="685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583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11.1 </a:t>
            </a:r>
            <a:r>
              <a:rPr lang="ko-KR" altLang="en-US" sz="3600" dirty="0">
                <a:latin typeface="Britannic Bold" panose="020B0903060703020204" pitchFamily="34" charset="0"/>
              </a:rPr>
              <a:t>폼이란 무엇인가</a:t>
            </a:r>
            <a:r>
              <a:rPr lang="en-US" altLang="ko-KR" sz="3600" dirty="0">
                <a:latin typeface="Britannic Bold" panose="020B0903060703020204" pitchFamily="34" charset="0"/>
              </a:rPr>
              <a:t>?</a:t>
            </a:r>
            <a:endParaRPr lang="ko-KR" altLang="en-US" sz="3600" dirty="0">
              <a:latin typeface="Britannic Bold" panose="020B0903060703020204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1231880" cy="5026842"/>
          </a:xfrm>
        </p:spPr>
        <p:txBody>
          <a:bodyPr>
            <a:normAutofit/>
          </a:bodyPr>
          <a:lstStyle/>
          <a:p>
            <a:r>
              <a:rPr lang="ko-KR" altLang="en-US" sz="2800" dirty="0"/>
              <a:t>사용자로부터 입력을 받기 위해 사용하는 양식 </a:t>
            </a:r>
            <a:endParaRPr lang="en-US" altLang="ko-KR" sz="28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B8B32FF-EA13-598C-4A27-5F8BDF4BD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144" y="2527993"/>
            <a:ext cx="3566475" cy="297037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E500C6A-58A7-39FD-5815-65E09C73C9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3934" y="2366575"/>
            <a:ext cx="6248466" cy="313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506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11.2 </a:t>
            </a:r>
            <a:r>
              <a:rPr lang="ko-KR" altLang="en-US" sz="3600" dirty="0">
                <a:latin typeface="Britannic Bold" panose="020B0903060703020204" pitchFamily="34" charset="0"/>
              </a:rPr>
              <a:t>제어 컴포넌트</a:t>
            </a:r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1F782008-57F6-2741-D716-F0381CA0A0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1231880" cy="5026842"/>
          </a:xfrm>
        </p:spPr>
        <p:txBody>
          <a:bodyPr>
            <a:normAutofit/>
          </a:bodyPr>
          <a:lstStyle/>
          <a:p>
            <a:r>
              <a:rPr lang="ko-KR" altLang="en-US" sz="2800" dirty="0"/>
              <a:t>사용자가 입력한 값에 접근하고 제어할 수 있게 해주는 컴포넌트</a:t>
            </a:r>
            <a:endParaRPr lang="en-US" altLang="ko-KR" sz="2800" dirty="0"/>
          </a:p>
          <a:p>
            <a:r>
              <a:rPr lang="ko-KR" altLang="en-US" sz="2800" dirty="0"/>
              <a:t>값이 </a:t>
            </a:r>
            <a:r>
              <a:rPr lang="ko-KR" altLang="en-US" sz="2800" dirty="0" err="1"/>
              <a:t>리액트의</a:t>
            </a:r>
            <a:r>
              <a:rPr lang="ko-KR" altLang="en-US" sz="2800" dirty="0"/>
              <a:t> 통제를 받는 입력 폼 </a:t>
            </a:r>
            <a:r>
              <a:rPr lang="ko-KR" altLang="en-US" sz="2800" dirty="0" err="1"/>
              <a:t>엘리먼트</a:t>
            </a:r>
            <a:endParaRPr lang="en-US" altLang="ko-KR" sz="28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D436CA4-35F5-2CEB-1373-FC06895BA7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0458" y="2769215"/>
            <a:ext cx="7013542" cy="3745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293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49" y="127261"/>
            <a:ext cx="4430598" cy="960120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11.2 </a:t>
            </a:r>
            <a:r>
              <a:rPr lang="ko-KR" altLang="en-US" sz="3600" dirty="0">
                <a:latin typeface="Britannic Bold" panose="020B0903060703020204" pitchFamily="34" charset="0"/>
              </a:rPr>
              <a:t>제어 컴포넌트</a:t>
            </a:r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1F782008-57F6-2741-D716-F0381CA0A0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35" y="1087381"/>
            <a:ext cx="4430598" cy="5026842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사용자의 이름을 입력 받는 </a:t>
            </a:r>
            <a:r>
              <a:rPr lang="en-US" altLang="ko-KR" sz="2400" dirty="0"/>
              <a:t>HTML </a:t>
            </a:r>
            <a:r>
              <a:rPr lang="ko-KR" altLang="en-US" sz="2400" dirty="0"/>
              <a:t>폼을 </a:t>
            </a:r>
            <a:r>
              <a:rPr lang="ko-KR" altLang="en-US" sz="2400" dirty="0" err="1"/>
              <a:t>리액트의</a:t>
            </a:r>
            <a:r>
              <a:rPr lang="ko-KR" altLang="en-US" sz="2400" dirty="0"/>
              <a:t> 제어 컴포넌트로 만든 것</a:t>
            </a:r>
            <a:endParaRPr lang="en-US" altLang="ko-KR" sz="24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D0D3688-58EA-32D7-439D-85159957C1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43188"/>
            <a:ext cx="4731790" cy="237162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38D4E51-0516-3860-F2D1-BE1EF9A9FE5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168" b="3023"/>
          <a:stretch/>
        </p:blipFill>
        <p:spPr>
          <a:xfrm>
            <a:off x="4482447" y="-1"/>
            <a:ext cx="7657704" cy="690892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AABB8F4-56C4-3EBA-126A-ED534AD835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614811"/>
            <a:ext cx="4971190" cy="123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070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A0771DC5-7DFE-E68A-635A-38BDFD993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70" y="5358385"/>
            <a:ext cx="5907397" cy="96011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ko-KR" sz="3600" dirty="0">
                <a:latin typeface="Britannic Bold" panose="020B0903060703020204" pitchFamily="34" charset="0"/>
              </a:rPr>
              <a:t>11.3 </a:t>
            </a:r>
            <a:r>
              <a:rPr lang="en-US" altLang="ko-KR" sz="3600" dirty="0" err="1">
                <a:latin typeface="Britannic Bold" panose="020B0903060703020204" pitchFamily="34" charset="0"/>
              </a:rPr>
              <a:t>textarea</a:t>
            </a:r>
            <a:r>
              <a:rPr lang="en-US" altLang="ko-KR" sz="3600" dirty="0">
                <a:latin typeface="Britannic Bold" panose="020B0903060703020204" pitchFamily="34" charset="0"/>
              </a:rPr>
              <a:t> </a:t>
            </a:r>
            <a:r>
              <a:rPr lang="ko-KR" altLang="en-US" sz="3600" dirty="0">
                <a:latin typeface="Britannic Bold" panose="020B0903060703020204" pitchFamily="34" charset="0"/>
              </a:rPr>
              <a:t>태그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270" y="1600201"/>
            <a:ext cx="5184742" cy="5026842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&lt;input type=“text”&gt; </a:t>
            </a:r>
            <a:r>
              <a:rPr lang="ko-KR" altLang="en-US" sz="2400" dirty="0"/>
              <a:t>태그</a:t>
            </a:r>
            <a:endParaRPr lang="en-US" altLang="ko-KR" sz="2400" dirty="0"/>
          </a:p>
          <a:p>
            <a:pPr lvl="1"/>
            <a:r>
              <a:rPr lang="ko-KR" altLang="en-US" sz="2000" dirty="0"/>
              <a:t>한 줄로 텍스트를 </a:t>
            </a:r>
            <a:r>
              <a:rPr lang="ko-KR" altLang="en-US" sz="2000" dirty="0" err="1"/>
              <a:t>입력받기</a:t>
            </a:r>
            <a:r>
              <a:rPr lang="ko-KR" altLang="en-US" sz="2000" dirty="0"/>
              <a:t> 위한 </a:t>
            </a:r>
            <a:r>
              <a:rPr lang="en-US" altLang="ko-KR" sz="2000" dirty="0"/>
              <a:t>HTML </a:t>
            </a:r>
            <a:r>
              <a:rPr lang="ko-KR" altLang="en-US" sz="2000" dirty="0"/>
              <a:t>태그</a:t>
            </a:r>
            <a:endParaRPr lang="en-US" altLang="ko-KR" sz="2000" dirty="0"/>
          </a:p>
          <a:p>
            <a:pPr lvl="1"/>
            <a:r>
              <a:rPr lang="ko-KR" altLang="en-US" sz="2000" dirty="0" err="1"/>
              <a:t>리액트에서는</a:t>
            </a:r>
            <a:r>
              <a:rPr lang="ko-KR" altLang="en-US" sz="2000" dirty="0"/>
              <a:t> </a:t>
            </a:r>
            <a:r>
              <a:rPr lang="en-US" altLang="ko-KR" sz="2000" dirty="0"/>
              <a:t>value</a:t>
            </a:r>
            <a:r>
              <a:rPr lang="ko-KR" altLang="en-US" sz="2000" dirty="0"/>
              <a:t>라는 </a:t>
            </a:r>
            <a:r>
              <a:rPr lang="en-US" altLang="ko-KR" sz="2000" dirty="0"/>
              <a:t>attribute</a:t>
            </a:r>
            <a:r>
              <a:rPr lang="ko-KR" altLang="en-US" sz="2000" dirty="0"/>
              <a:t>로 입력된 값을 관리</a:t>
            </a:r>
            <a:endParaRPr lang="en-US" altLang="ko-KR" sz="2000" dirty="0"/>
          </a:p>
          <a:p>
            <a:r>
              <a:rPr lang="en-US" altLang="ko-KR" sz="2400" dirty="0"/>
              <a:t>&lt;</a:t>
            </a:r>
            <a:r>
              <a:rPr lang="en-US" altLang="ko-KR" sz="2400" dirty="0" err="1"/>
              <a:t>textarea</a:t>
            </a:r>
            <a:r>
              <a:rPr lang="en-US" altLang="ko-KR" sz="2400" dirty="0"/>
              <a:t>&gt; </a:t>
            </a:r>
            <a:r>
              <a:rPr lang="ko-KR" altLang="en-US" sz="2400" dirty="0"/>
              <a:t>태그</a:t>
            </a:r>
            <a:endParaRPr lang="en-US" altLang="ko-KR" sz="2400" dirty="0"/>
          </a:p>
          <a:p>
            <a:pPr lvl="1"/>
            <a:r>
              <a:rPr lang="ko-KR" altLang="en-US" sz="2000" dirty="0"/>
              <a:t>여러 줄에 걸쳐서 텍스트를 </a:t>
            </a:r>
            <a:r>
              <a:rPr lang="ko-KR" altLang="en-US" sz="2000" dirty="0" err="1"/>
              <a:t>입력받기</a:t>
            </a:r>
            <a:r>
              <a:rPr lang="ko-KR" altLang="en-US" sz="2000" dirty="0"/>
              <a:t> 위한 </a:t>
            </a:r>
            <a:r>
              <a:rPr lang="en-US" altLang="ko-KR" sz="2000" dirty="0"/>
              <a:t>HTML </a:t>
            </a:r>
            <a:r>
              <a:rPr lang="ko-KR" altLang="en-US" sz="2000" dirty="0"/>
              <a:t>태그</a:t>
            </a:r>
            <a:endParaRPr lang="en-US" altLang="ko-KR" sz="2000" dirty="0"/>
          </a:p>
          <a:p>
            <a:pPr lvl="1"/>
            <a:r>
              <a:rPr lang="ko-KR" altLang="en-US" sz="2000" dirty="0" err="1"/>
              <a:t>리액트에서는</a:t>
            </a:r>
            <a:r>
              <a:rPr lang="ko-KR" altLang="en-US" sz="2000" dirty="0"/>
              <a:t> </a:t>
            </a:r>
            <a:r>
              <a:rPr lang="en-US" altLang="ko-KR" sz="2000" dirty="0"/>
              <a:t>value</a:t>
            </a:r>
            <a:r>
              <a:rPr lang="ko-KR" altLang="en-US" sz="2000" dirty="0"/>
              <a:t>라는 </a:t>
            </a:r>
            <a:r>
              <a:rPr lang="en-US" altLang="ko-KR" sz="2000" dirty="0"/>
              <a:t>attribute</a:t>
            </a:r>
            <a:r>
              <a:rPr lang="ko-KR" altLang="en-US" sz="2000" dirty="0"/>
              <a:t>로 입력된 값을 관리</a:t>
            </a:r>
            <a:endParaRPr lang="en-US" altLang="ko-KR" sz="2000" dirty="0"/>
          </a:p>
          <a:p>
            <a:endParaRPr lang="en-US" altLang="ko-KR" sz="2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B3A2859-012B-30E3-4465-85853357B6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6668" y="-9428"/>
            <a:ext cx="6736204" cy="419492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67659DB-DFA4-27D8-CAB0-7F8EA94B0B3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5678"/>
          <a:stretch/>
        </p:blipFill>
        <p:spPr>
          <a:xfrm>
            <a:off x="5396095" y="4192287"/>
            <a:ext cx="6736204" cy="270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319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ko-KR" sz="3600" dirty="0">
                <a:latin typeface="Britannic Bold" panose="020B0903060703020204" pitchFamily="34" charset="0"/>
              </a:rPr>
              <a:t>11.4 select </a:t>
            </a:r>
            <a:r>
              <a:rPr lang="ko-KR" altLang="en-US" sz="3600" dirty="0">
                <a:latin typeface="Britannic Bold" panose="020B0903060703020204" pitchFamily="34" charset="0"/>
              </a:rPr>
              <a:t>태그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843" y="1600201"/>
            <a:ext cx="5156462" cy="5026842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&lt;select&gt; </a:t>
            </a:r>
            <a:r>
              <a:rPr lang="ko-KR" altLang="en-US" sz="2400" dirty="0"/>
              <a:t>태그</a:t>
            </a:r>
            <a:endParaRPr lang="en-US" altLang="ko-KR" sz="2400" dirty="0"/>
          </a:p>
          <a:p>
            <a:pPr lvl="1"/>
            <a:r>
              <a:rPr lang="ko-KR" altLang="en-US" sz="2000" dirty="0"/>
              <a:t>드롭다운 목록을 보여 주기 위한 </a:t>
            </a:r>
            <a:r>
              <a:rPr lang="en-US" altLang="ko-KR" sz="2000" dirty="0"/>
              <a:t>HTML </a:t>
            </a:r>
            <a:r>
              <a:rPr lang="ko-KR" altLang="en-US" sz="2000" dirty="0"/>
              <a:t>태그</a:t>
            </a:r>
            <a:endParaRPr lang="en-US" altLang="ko-KR" sz="2000" dirty="0"/>
          </a:p>
          <a:p>
            <a:pPr lvl="1"/>
            <a:r>
              <a:rPr lang="ko-KR" altLang="en-US" sz="2000" dirty="0"/>
              <a:t>여러 가지 옵션 중에서 하나 또는 여러 개를 선택할 수 있는 기능을 제공</a:t>
            </a:r>
            <a:endParaRPr lang="en-US" altLang="ko-KR" sz="2000" dirty="0"/>
          </a:p>
          <a:p>
            <a:pPr lvl="1"/>
            <a:r>
              <a:rPr lang="ko-KR" altLang="en-US" sz="2000" dirty="0" err="1"/>
              <a:t>리액트에서는</a:t>
            </a:r>
            <a:r>
              <a:rPr lang="ko-KR" altLang="en-US" sz="2000" dirty="0"/>
              <a:t> </a:t>
            </a:r>
            <a:r>
              <a:rPr lang="en-US" altLang="ko-KR" sz="2000" dirty="0"/>
              <a:t>value</a:t>
            </a:r>
            <a:r>
              <a:rPr lang="ko-KR" altLang="en-US" sz="2000" dirty="0"/>
              <a:t>라는 </a:t>
            </a:r>
            <a:r>
              <a:rPr lang="en-US" altLang="ko-KR" sz="2000" dirty="0"/>
              <a:t>attribute</a:t>
            </a:r>
            <a:r>
              <a:rPr lang="ko-KR" altLang="en-US" sz="2000" dirty="0"/>
              <a:t>로 선택된 옵션의 값을 관리</a:t>
            </a:r>
            <a:endParaRPr lang="en-US" altLang="ko-KR" sz="2000" dirty="0"/>
          </a:p>
          <a:p>
            <a:endParaRPr lang="en-US" altLang="ko-KR" sz="2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E2880ED-1247-8958-FB23-67C727A98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928" y="4104014"/>
            <a:ext cx="4992178" cy="185460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11EC1EE-14E4-08DC-66CC-1264E649045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785"/>
          <a:stretch/>
        </p:blipFill>
        <p:spPr>
          <a:xfrm>
            <a:off x="5619230" y="-18100"/>
            <a:ext cx="5953304" cy="214931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EB0B966-37B4-8BB8-3EE4-BC2B179E482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10444"/>
          <a:stretch/>
        </p:blipFill>
        <p:spPr>
          <a:xfrm>
            <a:off x="5628657" y="1914390"/>
            <a:ext cx="6425938" cy="5456433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76D214C-BA05-CD3F-86C5-98681FA12C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928" y="6021093"/>
            <a:ext cx="4992178" cy="71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19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11.5 File input </a:t>
            </a:r>
            <a:r>
              <a:rPr lang="ko-KR" altLang="en-US" sz="3600" dirty="0">
                <a:latin typeface="Britannic Bold" panose="020B0903060703020204" pitchFamily="34" charset="0"/>
              </a:rPr>
              <a:t>태그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205" y="1600201"/>
            <a:ext cx="11415861" cy="5026842"/>
          </a:xfrm>
        </p:spPr>
        <p:txBody>
          <a:bodyPr>
            <a:normAutofit/>
          </a:bodyPr>
          <a:lstStyle/>
          <a:p>
            <a:r>
              <a:rPr lang="en-US" altLang="ko-KR" sz="2800" dirty="0"/>
              <a:t>&lt;input type=“file”&gt; </a:t>
            </a:r>
            <a:r>
              <a:rPr lang="ko-KR" altLang="en-US" sz="2800" dirty="0"/>
              <a:t>태그</a:t>
            </a:r>
            <a:endParaRPr lang="en-US" altLang="ko-KR" sz="2800" dirty="0"/>
          </a:p>
          <a:p>
            <a:pPr lvl="1"/>
            <a:r>
              <a:rPr lang="ko-KR" altLang="en-US" sz="2400" dirty="0"/>
              <a:t>디바이스의 저장 장치로부터 사용자가 하나 또는 여러 개의 파일을 선택할 수 있게 해주는 </a:t>
            </a:r>
            <a:r>
              <a:rPr lang="en-US" altLang="ko-KR" sz="2400" dirty="0"/>
              <a:t>HTML </a:t>
            </a:r>
            <a:r>
              <a:rPr lang="ko-KR" altLang="en-US" sz="2400" dirty="0"/>
              <a:t>태그</a:t>
            </a:r>
            <a:endParaRPr lang="en-US" altLang="ko-KR" sz="2400" dirty="0"/>
          </a:p>
          <a:p>
            <a:pPr lvl="1"/>
            <a:r>
              <a:rPr lang="ko-KR" altLang="en-US" sz="2400" dirty="0"/>
              <a:t>서버로 파일을 업로드하거나 자바스크립트의 </a:t>
            </a:r>
            <a:r>
              <a:rPr lang="en-US" altLang="ko-KR" sz="2400" dirty="0"/>
              <a:t>File API</a:t>
            </a:r>
            <a:r>
              <a:rPr lang="ko-KR" altLang="en-US" sz="2400" dirty="0"/>
              <a:t>를 사용해서 파일을 다룰 때 사용</a:t>
            </a:r>
            <a:endParaRPr lang="en-US" altLang="ko-KR" sz="2400" dirty="0"/>
          </a:p>
          <a:p>
            <a:pPr lvl="1"/>
            <a:r>
              <a:rPr lang="ko-KR" altLang="en-US" sz="2400" dirty="0"/>
              <a:t>읽기 전용이기 때문에 </a:t>
            </a:r>
            <a:r>
              <a:rPr lang="ko-KR" altLang="en-US" sz="2400" dirty="0" err="1"/>
              <a:t>리액트에서는</a:t>
            </a:r>
            <a:r>
              <a:rPr lang="ko-KR" altLang="en-US" sz="2400" dirty="0"/>
              <a:t> </a:t>
            </a:r>
            <a:r>
              <a:rPr lang="ko-KR" altLang="en-US" sz="2400" dirty="0" err="1"/>
              <a:t>비제어</a:t>
            </a:r>
            <a:r>
              <a:rPr lang="ko-KR" altLang="en-US" sz="2400" dirty="0"/>
              <a:t> 컴포넌트가 됨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714266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4216AFDA-2EA9-9149-CBCF-A8501A7AAE6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7913" r="15469"/>
          <a:stretch/>
        </p:blipFill>
        <p:spPr>
          <a:xfrm>
            <a:off x="6183311" y="2462646"/>
            <a:ext cx="6008689" cy="77299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213"/>
            <a:ext cx="12192000" cy="1083690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11.6 </a:t>
            </a:r>
            <a:r>
              <a:rPr lang="ko-KR" altLang="en-US" sz="3600" dirty="0">
                <a:latin typeface="Britannic Bold" panose="020B0903060703020204" pitchFamily="34" charset="0"/>
              </a:rPr>
              <a:t>여러 개의 입력 다루기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843" y="987352"/>
            <a:ext cx="11899634" cy="890080"/>
          </a:xfrm>
        </p:spPr>
        <p:txBody>
          <a:bodyPr>
            <a:normAutofit/>
          </a:bodyPr>
          <a:lstStyle/>
          <a:p>
            <a:r>
              <a:rPr lang="ko-KR" altLang="en-US" sz="2800" dirty="0"/>
              <a:t>컴포넌트에 여러 개의 </a:t>
            </a:r>
            <a:r>
              <a:rPr lang="en-US" altLang="ko-KR" sz="2800" dirty="0"/>
              <a:t>state</a:t>
            </a:r>
            <a:r>
              <a:rPr lang="ko-KR" altLang="en-US" sz="2800" dirty="0"/>
              <a:t>를 선언하여 각각의 입력에 대해 사용하면 됨</a:t>
            </a:r>
            <a:endParaRPr lang="en-US" altLang="ko-KR" sz="28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BB27112-5923-4310-3D65-4CDAF1D5FA9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3414"/>
          <a:stretch/>
        </p:blipFill>
        <p:spPr>
          <a:xfrm>
            <a:off x="0" y="1551569"/>
            <a:ext cx="7108245" cy="553738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7545EB2-7010-FFF4-1889-64C4512985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3311" y="3234539"/>
            <a:ext cx="6008689" cy="3180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551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11.7 Input Null Value</a:t>
            </a:r>
            <a:endParaRPr lang="ko-KR" altLang="en-US" sz="3600" dirty="0">
              <a:latin typeface="Britannic Bold" panose="020B0903060703020204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205" y="1600201"/>
            <a:ext cx="11415861" cy="5026842"/>
          </a:xfrm>
        </p:spPr>
        <p:txBody>
          <a:bodyPr>
            <a:normAutofit/>
          </a:bodyPr>
          <a:lstStyle/>
          <a:p>
            <a:r>
              <a:rPr lang="en-US" altLang="ko-KR" sz="2800" dirty="0"/>
              <a:t>value prop</a:t>
            </a:r>
            <a:r>
              <a:rPr lang="ko-KR" altLang="en-US" sz="2800" dirty="0"/>
              <a:t>은 넣되 자유롭게 입력할 수 있게 만들고 싶을 경우</a:t>
            </a:r>
            <a:r>
              <a:rPr lang="en-US" altLang="ko-KR" sz="2800" dirty="0"/>
              <a:t>,</a:t>
            </a:r>
          </a:p>
          <a:p>
            <a:pPr marL="0" indent="0">
              <a:buNone/>
            </a:pPr>
            <a:r>
              <a:rPr lang="en-US" altLang="ko-KR" sz="2800" dirty="0"/>
              <a:t>    </a:t>
            </a:r>
            <a:r>
              <a:rPr lang="ko-KR" altLang="en-US" sz="2800" dirty="0"/>
              <a:t>값에 </a:t>
            </a:r>
            <a:r>
              <a:rPr lang="en-US" altLang="ko-KR" sz="2800" dirty="0"/>
              <a:t>undefined </a:t>
            </a:r>
            <a:r>
              <a:rPr lang="ko-KR" altLang="en-US" sz="2800" dirty="0"/>
              <a:t>또는 </a:t>
            </a:r>
            <a:r>
              <a:rPr lang="en-US" altLang="ko-KR" sz="2800" dirty="0"/>
              <a:t>null</a:t>
            </a:r>
            <a:r>
              <a:rPr lang="ko-KR" altLang="en-US" sz="2800" dirty="0"/>
              <a:t>을 넣으면 됨</a:t>
            </a:r>
            <a:endParaRPr lang="en-US" altLang="ko-KR" sz="28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879B83D-1E23-58F7-6829-B183DFEE28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109" y="2778921"/>
            <a:ext cx="9338452" cy="2551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724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4392890" cy="1499616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11.8 </a:t>
            </a:r>
            <a:r>
              <a:rPr lang="ko-KR" altLang="en-US" sz="3600" dirty="0">
                <a:latin typeface="Britannic Bold" panose="020B0903060703020204" pitchFamily="34" charset="0"/>
              </a:rPr>
              <a:t>사용자 정보</a:t>
            </a:r>
            <a:br>
              <a:rPr lang="en-US" altLang="ko-KR" sz="3600" dirty="0">
                <a:latin typeface="Britannic Bold" panose="020B0903060703020204" pitchFamily="34" charset="0"/>
              </a:rPr>
            </a:br>
            <a:r>
              <a:rPr lang="en-US" altLang="ko-KR" sz="3600" dirty="0">
                <a:latin typeface="Britannic Bold" panose="020B0903060703020204" pitchFamily="34" charset="0"/>
              </a:rPr>
              <a:t>   </a:t>
            </a:r>
            <a:r>
              <a:rPr lang="ko-KR" altLang="en-US" sz="3600" dirty="0">
                <a:latin typeface="Britannic Bold" panose="020B0903060703020204" pitchFamily="34" charset="0"/>
              </a:rPr>
              <a:t> 입력 받기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52" y="1581347"/>
            <a:ext cx="4782533" cy="4838306"/>
          </a:xfrm>
        </p:spPr>
        <p:txBody>
          <a:bodyPr>
            <a:normAutofit/>
          </a:bodyPr>
          <a:lstStyle/>
          <a:p>
            <a:r>
              <a:rPr lang="ko-KR" altLang="en-US" sz="2800" dirty="0"/>
              <a:t>이름 입력 받기 </a:t>
            </a:r>
            <a:r>
              <a:rPr lang="en-US" altLang="ko-KR" sz="2800" dirty="0"/>
              <a:t>- </a:t>
            </a:r>
            <a:r>
              <a:rPr lang="en-US" altLang="ko-KR" sz="2800" dirty="0" err="1"/>
              <a:t>SignUp</a:t>
            </a:r>
            <a:r>
              <a:rPr lang="en-US" altLang="ko-KR" sz="2400" dirty="0" err="1"/>
              <a:t>.jsx</a:t>
            </a:r>
            <a:endParaRPr lang="en-US" altLang="ko-KR" sz="2400" dirty="0"/>
          </a:p>
          <a:p>
            <a:pPr lvl="1"/>
            <a:endParaRPr lang="en-US" altLang="ko-KR" sz="2400" dirty="0"/>
          </a:p>
          <a:p>
            <a:endParaRPr lang="en-US" altLang="ko-KR" sz="2800" dirty="0"/>
          </a:p>
          <a:p>
            <a:endParaRPr lang="en-US" altLang="ko-KR" sz="28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BC4A861-FF25-0E7C-CF22-C95917D319B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379" r="2287" b="9827"/>
          <a:stretch/>
        </p:blipFill>
        <p:spPr>
          <a:xfrm>
            <a:off x="4883085" y="0"/>
            <a:ext cx="7362334" cy="703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3003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086" y="1647335"/>
            <a:ext cx="4977352" cy="4838306"/>
          </a:xfrm>
        </p:spPr>
        <p:txBody>
          <a:bodyPr>
            <a:normAutofit/>
          </a:bodyPr>
          <a:lstStyle/>
          <a:p>
            <a:r>
              <a:rPr lang="ko-KR" altLang="en-US" sz="2800" dirty="0"/>
              <a:t>실행하기</a:t>
            </a:r>
            <a:endParaRPr lang="en-US" altLang="ko-KR" sz="2800" dirty="0"/>
          </a:p>
          <a:p>
            <a:r>
              <a:rPr lang="en-US" altLang="ko-KR" sz="2800" dirty="0"/>
              <a:t>index.js</a:t>
            </a:r>
          </a:p>
          <a:p>
            <a:pPr lvl="1"/>
            <a:r>
              <a:rPr lang="ko-KR" altLang="en-US" sz="2400" dirty="0"/>
              <a:t>실제로 화면에 렌더링</a:t>
            </a:r>
            <a:endParaRPr lang="en-US" altLang="ko-KR" sz="2400" dirty="0"/>
          </a:p>
          <a:p>
            <a:r>
              <a:rPr lang="ko-KR" altLang="en-US" sz="2800" dirty="0" err="1"/>
              <a:t>리액트</a:t>
            </a:r>
            <a:r>
              <a:rPr lang="ko-KR" altLang="en-US" sz="2800" dirty="0"/>
              <a:t> 애플리케이션 실행</a:t>
            </a:r>
            <a:endParaRPr lang="en-US" altLang="ko-KR" sz="2800" dirty="0"/>
          </a:p>
          <a:p>
            <a:pPr lvl="1"/>
            <a:r>
              <a:rPr lang="en-US" altLang="ko-KR" sz="2400" dirty="0"/>
              <a:t>Terminal &gt; New Terminal</a:t>
            </a:r>
          </a:p>
          <a:p>
            <a:pPr lvl="1"/>
            <a:r>
              <a:rPr lang="en-US" altLang="ko-KR" sz="2400" dirty="0" err="1"/>
              <a:t>npm</a:t>
            </a:r>
            <a:r>
              <a:rPr lang="en-US" altLang="ko-KR" sz="2400" dirty="0"/>
              <a:t> start</a:t>
            </a:r>
            <a:endParaRPr lang="ko-KR" altLang="en-US" sz="2400" dirty="0"/>
          </a:p>
          <a:p>
            <a:endParaRPr lang="en-US" altLang="ko-KR" sz="2800" dirty="0"/>
          </a:p>
          <a:p>
            <a:endParaRPr lang="en-US" altLang="ko-KR" sz="2800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5A506569-1A43-3C54-EE58-BC2CAFB9A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4392890" cy="1499616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11.8 </a:t>
            </a:r>
            <a:r>
              <a:rPr lang="ko-KR" altLang="en-US" sz="3600" dirty="0">
                <a:latin typeface="Britannic Bold" panose="020B0903060703020204" pitchFamily="34" charset="0"/>
              </a:rPr>
              <a:t>사용자 정보</a:t>
            </a:r>
            <a:br>
              <a:rPr lang="en-US" altLang="ko-KR" sz="3600" dirty="0">
                <a:latin typeface="Britannic Bold" panose="020B0903060703020204" pitchFamily="34" charset="0"/>
              </a:rPr>
            </a:br>
            <a:r>
              <a:rPr lang="en-US" altLang="ko-KR" sz="3600" dirty="0">
                <a:latin typeface="Britannic Bold" panose="020B0903060703020204" pitchFamily="34" charset="0"/>
              </a:rPr>
              <a:t>   </a:t>
            </a:r>
            <a:r>
              <a:rPr lang="ko-KR" altLang="en-US" sz="3600" dirty="0">
                <a:latin typeface="Britannic Bold" panose="020B0903060703020204" pitchFamily="34" charset="0"/>
              </a:rPr>
              <a:t> 입력 받기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8BDB971-DC02-E8EA-99B8-F479478987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5889" y="94788"/>
            <a:ext cx="6973684" cy="305863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D46DE03-9F43-30D5-A43C-54A68264D1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7035" y="3291713"/>
            <a:ext cx="4519769" cy="1025763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4E108F46-DD35-D59F-3149-138E5EBEAE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5889" y="4326903"/>
            <a:ext cx="6055316" cy="1025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5180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4392890" cy="1499616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11.8 </a:t>
            </a:r>
            <a:r>
              <a:rPr lang="ko-KR" altLang="en-US" sz="3600" dirty="0">
                <a:latin typeface="Britannic Bold" panose="020B0903060703020204" pitchFamily="34" charset="0"/>
              </a:rPr>
              <a:t>사용자 정보</a:t>
            </a:r>
            <a:br>
              <a:rPr lang="en-US" altLang="ko-KR" sz="3600" dirty="0">
                <a:latin typeface="Britannic Bold" panose="020B0903060703020204" pitchFamily="34" charset="0"/>
              </a:rPr>
            </a:br>
            <a:r>
              <a:rPr lang="en-US" altLang="ko-KR" sz="3600" dirty="0">
                <a:latin typeface="Britannic Bold" panose="020B0903060703020204" pitchFamily="34" charset="0"/>
              </a:rPr>
              <a:t>   </a:t>
            </a:r>
            <a:r>
              <a:rPr lang="ko-KR" altLang="en-US" sz="3600" dirty="0">
                <a:latin typeface="Britannic Bold" panose="020B0903060703020204" pitchFamily="34" charset="0"/>
              </a:rPr>
              <a:t> 입력 받기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52" y="1373954"/>
            <a:ext cx="4782533" cy="4838306"/>
          </a:xfrm>
        </p:spPr>
        <p:txBody>
          <a:bodyPr>
            <a:normAutofit/>
          </a:bodyPr>
          <a:lstStyle/>
          <a:p>
            <a:r>
              <a:rPr lang="ko-KR" altLang="en-US" sz="2800" dirty="0"/>
              <a:t>성별 입력 받기 </a:t>
            </a:r>
            <a:r>
              <a:rPr lang="en-US" altLang="ko-KR" sz="2800" dirty="0"/>
              <a:t>- </a:t>
            </a:r>
            <a:r>
              <a:rPr lang="en-US" altLang="ko-KR" sz="2800" dirty="0" err="1"/>
              <a:t>SignUp</a:t>
            </a:r>
            <a:r>
              <a:rPr lang="en-US" altLang="ko-KR" sz="2400" dirty="0" err="1"/>
              <a:t>.jsx</a:t>
            </a:r>
            <a:endParaRPr lang="en-US" altLang="ko-KR" sz="2400" dirty="0"/>
          </a:p>
          <a:p>
            <a:pPr lvl="1"/>
            <a:endParaRPr lang="en-US" altLang="ko-KR" sz="2400" dirty="0"/>
          </a:p>
          <a:p>
            <a:endParaRPr lang="en-US" altLang="ko-KR" sz="2800" dirty="0"/>
          </a:p>
          <a:p>
            <a:endParaRPr lang="en-US" altLang="ko-KR" sz="28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9710549-4376-EEC7-DA9C-268D5EB413D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444"/>
          <a:stretch/>
        </p:blipFill>
        <p:spPr>
          <a:xfrm>
            <a:off x="-1" y="1834115"/>
            <a:ext cx="5401559" cy="502388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1ED9958-20BC-7C68-F763-BDF43DBAC3E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501"/>
          <a:stretch/>
        </p:blipFill>
        <p:spPr>
          <a:xfrm>
            <a:off x="5363040" y="141404"/>
            <a:ext cx="6986073" cy="240383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22BC9A4-7460-D634-9669-23F1D10958E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379"/>
          <a:stretch/>
        </p:blipFill>
        <p:spPr>
          <a:xfrm>
            <a:off x="5354422" y="2525620"/>
            <a:ext cx="6994691" cy="333764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6978C0D-84FB-D3D1-0A64-765EBAA2F0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8907" y="5142400"/>
            <a:ext cx="3535552" cy="1255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239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2EBEBC-B662-60CC-A949-FDBF3BF2E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615" y="437745"/>
            <a:ext cx="9812602" cy="960120"/>
          </a:xfrm>
        </p:spPr>
        <p:txBody>
          <a:bodyPr/>
          <a:lstStyle/>
          <a:p>
            <a:pPr algn="r"/>
            <a:r>
              <a:rPr lang="ko-KR" altLang="en-US" dirty="0"/>
              <a:t>마치며 </a:t>
            </a:r>
            <a:r>
              <a:rPr lang="en-US" altLang="ko-KR" dirty="0"/>
              <a:t>- </a:t>
            </a:r>
            <a:r>
              <a:rPr lang="ko-KR" altLang="en-US" dirty="0"/>
              <a:t>요약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A44E799-C4BA-A226-7B49-69EA04BE7A7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9163" b="20851"/>
          <a:stretch/>
        </p:blipFill>
        <p:spPr>
          <a:xfrm>
            <a:off x="1" y="437745"/>
            <a:ext cx="5564398" cy="546694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AD0A153-2021-8673-5A42-B75BA8B6A6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3362" y="3332645"/>
            <a:ext cx="8054324" cy="180527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4B26098-C6B1-B342-891A-2709A44715D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9616"/>
          <a:stretch/>
        </p:blipFill>
        <p:spPr>
          <a:xfrm>
            <a:off x="4523362" y="1860114"/>
            <a:ext cx="7668638" cy="1374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516476"/>
      </p:ext>
    </p:extLst>
  </p:cSld>
  <p:clrMapOvr>
    <a:masterClrMapping/>
  </p:clrMapOvr>
</p:sld>
</file>

<file path=ppt/theme/theme1.xml><?xml version="1.0" encoding="utf-8"?>
<a:theme xmlns:a="http://schemas.openxmlformats.org/drawingml/2006/main" name="New_Simple01">
  <a:themeElements>
    <a:clrScheme name="따뜻한 파란색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New_Simple01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맑은 고딕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맑은 고딕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New_Simple01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hade val="100000"/>
                <a:satMod val="165000"/>
              </a:schemeClr>
            </a:gs>
            <a:gs pos="55000">
              <a:schemeClr val="phClr">
                <a:tint val="83000"/>
                <a:shade val="100000"/>
                <a:satMod val="155000"/>
              </a:schemeClr>
            </a:gs>
            <a:gs pos="100000">
              <a:schemeClr val="phClr">
                <a:shade val="85000"/>
                <a:satMod val="100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20040000"/>
            </a:lightRig>
          </a:scene3d>
          <a:sp3d contourW="12700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hueMod val="105000"/>
                <a:satMod val="250000"/>
              </a:schemeClr>
            </a:gs>
            <a:gs pos="100000">
              <a:schemeClr val="phClr">
                <a:tint val="95000"/>
                <a:shade val="100000"/>
                <a:satMod val="200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4000"/>
                <a:satMod val="200000"/>
              </a:schemeClr>
            </a:gs>
            <a:gs pos="100000">
              <a:schemeClr val="phClr">
                <a:shade val="70000"/>
                <a:satMod val="200000"/>
              </a:schemeClr>
            </a:gs>
          </a:gsLst>
          <a:path path="circle">
            <a:fillToRect l="40000" r="40000" b="6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심플 테마</Template>
  <TotalTime>1481</TotalTime>
  <Words>287</Words>
  <Application>Microsoft Office PowerPoint</Application>
  <PresentationFormat>와이드스크린</PresentationFormat>
  <Paragraphs>60</Paragraphs>
  <Slides>14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2" baseType="lpstr">
      <vt:lpstr>맑은 고딕</vt:lpstr>
      <vt:lpstr>Aharoni</vt:lpstr>
      <vt:lpstr>Arial</vt:lpstr>
      <vt:lpstr>Book Antiqua</vt:lpstr>
      <vt:lpstr>Britannic Bold</vt:lpstr>
      <vt:lpstr>Tw Cen MT</vt:lpstr>
      <vt:lpstr>Wingdings 3</vt:lpstr>
      <vt:lpstr>New_Simple01</vt:lpstr>
      <vt:lpstr>소플의 처음 만난 리액트</vt:lpstr>
      <vt:lpstr>11장 폼</vt:lpstr>
      <vt:lpstr>11.1 폼이란 무엇인가?</vt:lpstr>
      <vt:lpstr>11.2 제어 컴포넌트</vt:lpstr>
      <vt:lpstr>11.2 제어 컴포넌트</vt:lpstr>
      <vt:lpstr>11.3 textarea 태그</vt:lpstr>
      <vt:lpstr>11.4 select 태그</vt:lpstr>
      <vt:lpstr>11.5 File input 태그</vt:lpstr>
      <vt:lpstr>11.6 여러 개의 입력 다루기</vt:lpstr>
      <vt:lpstr>11.7 Input Null Value</vt:lpstr>
      <vt:lpstr>11.8 사용자 정보     입력 받기</vt:lpstr>
      <vt:lpstr>11.8 사용자 정보     입력 받기</vt:lpstr>
      <vt:lpstr>11.8 사용자 정보     입력 받기</vt:lpstr>
      <vt:lpstr>마치며 - 요약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소플의 처음 만난 리액트</dc:title>
  <dc:creator>김경민</dc:creator>
  <cp:lastModifiedBy>김경민</cp:lastModifiedBy>
  <cp:revision>50</cp:revision>
  <dcterms:created xsi:type="dcterms:W3CDTF">2024-03-11T14:49:31Z</dcterms:created>
  <dcterms:modified xsi:type="dcterms:W3CDTF">2025-05-21T12:29:42Z</dcterms:modified>
</cp:coreProperties>
</file>