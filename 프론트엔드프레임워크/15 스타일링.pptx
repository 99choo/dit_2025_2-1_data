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7"/>
  </p:notesMasterIdLst>
  <p:sldIdLst>
    <p:sldId id="256" r:id="rId2"/>
    <p:sldId id="257" r:id="rId3"/>
    <p:sldId id="258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4" r:id="rId12"/>
    <p:sldId id="363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52" r:id="rId23"/>
    <p:sldId id="320" r:id="rId24"/>
    <p:sldId id="374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D2B46-ED7A-4A63-A880-227889412B4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26BC2-3A5E-41D2-812B-C8BAFBFC9F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39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293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724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075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757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151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77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001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24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846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943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613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151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9789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922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391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4497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0249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001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8546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0962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2932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9177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057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89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3591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" y="3118105"/>
            <a:ext cx="10375392" cy="1470025"/>
          </a:xfr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59152"/>
            <a:ext cx="10948416" cy="685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4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5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1728" y="3044952"/>
            <a:ext cx="6254496" cy="74066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670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3813048"/>
            <a:ext cx="103632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72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27632"/>
            <a:ext cx="5386917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86000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8" y="1627632"/>
            <a:ext cx="5389033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86000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88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1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 bwMode="gray">
          <a:xfrm>
            <a:off x="0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/>
        </p:nvSpPr>
        <p:spPr bwMode="gray">
          <a:xfrm>
            <a:off x="11789664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15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48640"/>
            <a:ext cx="10265664" cy="93268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2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7936" y="1645920"/>
            <a:ext cx="3755136" cy="4480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45920"/>
            <a:ext cx="6400800" cy="44805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9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824" y="658368"/>
            <a:ext cx="7315200" cy="822960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2389632" y="1618488"/>
            <a:ext cx="7315200" cy="3639312"/>
          </a:xfrm>
          <a:solidFill>
            <a:srgbClr val="F8F8F8"/>
          </a:solidFill>
          <a:ln w="76200" cmpd="sng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32" y="5413248"/>
            <a:ext cx="7315200" cy="9875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16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257432" cy="45259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1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 rot="5400000">
            <a:off x="7182612" y="2048256"/>
            <a:ext cx="6519672" cy="2414016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8737600" y="6135624"/>
            <a:ext cx="1316736" cy="722376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74908" y="1379355"/>
            <a:ext cx="719328" cy="1463040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11472672" y="0"/>
            <a:ext cx="719328" cy="1828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1536" y="274637"/>
            <a:ext cx="2231136" cy="58521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436864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2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402336"/>
            <a:ext cx="11582400" cy="109728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10887456" y="996696"/>
            <a:ext cx="1304544" cy="896112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2377440" y="0"/>
            <a:ext cx="2596896" cy="539496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243072" cy="53949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9496"/>
            <a:ext cx="109728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27264" y="6537960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69536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77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2"/>
          </a:solidFill>
          <a:latin typeface="Aharoni" panose="02010803020104030203" pitchFamily="2" charset="-79"/>
          <a:ea typeface="+mj-ea"/>
          <a:cs typeface="Aharoni" panose="02010803020104030203" pitchFamily="2" charset="-79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Wingdings 3" pitchFamily="18" charset="2"/>
        <a:buChar char=""/>
        <a:defRPr sz="32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"/>
        <a:defRPr sz="28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"/>
        <a:defRPr sz="24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FFF2C-5BE4-4A02-EE82-5DE96A69A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소플의</a:t>
            </a:r>
            <a:r>
              <a:rPr lang="ko-KR" altLang="en-US" dirty="0"/>
              <a:t> 처음 만난 </a:t>
            </a:r>
            <a:r>
              <a:rPr lang="ko-KR" altLang="en-US" dirty="0" err="1"/>
              <a:t>리액트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7FA9B2-251D-830E-5283-181B2218F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135883"/>
            <a:ext cx="10572000" cy="1028513"/>
          </a:xfrm>
        </p:spPr>
        <p:txBody>
          <a:bodyPr>
            <a:noAutofit/>
          </a:bodyPr>
          <a:lstStyle/>
          <a:p>
            <a:r>
              <a:rPr lang="ko-KR" altLang="en-US" sz="2000" dirty="0" err="1"/>
              <a:t>한빛미디어</a:t>
            </a:r>
            <a:endParaRPr lang="en-US" altLang="ko-KR" sz="2000" dirty="0"/>
          </a:p>
          <a:p>
            <a:r>
              <a:rPr lang="ko-KR" altLang="en-US" sz="2000" dirty="0"/>
              <a:t>김 경 민</a:t>
            </a:r>
          </a:p>
        </p:txBody>
      </p:sp>
    </p:spTree>
    <p:extLst>
      <p:ext uri="{BB962C8B-B14F-4D97-AF65-F5344CB8AC3E}">
        <p14:creationId xmlns:p14="http://schemas.microsoft.com/office/powerpoint/2010/main" val="37385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6E483-88F2-1E3C-A900-7D71AFB4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17" y="539496"/>
            <a:ext cx="10501460" cy="960120"/>
          </a:xfrm>
        </p:spPr>
        <p:txBody>
          <a:bodyPr/>
          <a:lstStyle/>
          <a:p>
            <a:pPr algn="l"/>
            <a:r>
              <a:rPr lang="en-US" altLang="ko-KR" b="1" dirty="0">
                <a:latin typeface="Britannic Bold" panose="020B0903060703020204" pitchFamily="34" charset="0"/>
              </a:rPr>
              <a:t>15</a:t>
            </a:r>
            <a:r>
              <a:rPr lang="ko-KR" altLang="en-US" b="1" dirty="0">
                <a:latin typeface="Britannic Bold" panose="020B0903060703020204" pitchFamily="34" charset="0"/>
              </a:rPr>
              <a:t>장 스타일링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37D774-B710-57C0-45F3-4C8C60CF2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787" y="-41794"/>
            <a:ext cx="6932807" cy="689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8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15.1 CSS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891101" cy="5026842"/>
          </a:xfrm>
        </p:spPr>
        <p:txBody>
          <a:bodyPr>
            <a:normAutofit/>
          </a:bodyPr>
          <a:lstStyle/>
          <a:p>
            <a:pPr>
              <a:lnSpc>
                <a:spcPts val="2280"/>
              </a:lnSpc>
            </a:pPr>
            <a:r>
              <a:rPr lang="en-US" altLang="ko-KR" sz="2400" dirty="0"/>
              <a:t>CSS</a:t>
            </a:r>
            <a:r>
              <a:rPr lang="ko-KR" altLang="en-US" sz="2400" dirty="0"/>
              <a:t>란</a:t>
            </a:r>
            <a:r>
              <a:rPr lang="en-US" altLang="ko-KR" sz="2400" dirty="0"/>
              <a:t>?</a:t>
            </a:r>
          </a:p>
          <a:p>
            <a:pPr lvl="1">
              <a:lnSpc>
                <a:spcPts val="2280"/>
              </a:lnSpc>
            </a:pPr>
            <a:r>
              <a:rPr lang="en-US" altLang="ko-KR" sz="2000" dirty="0"/>
              <a:t>Cascading</a:t>
            </a:r>
            <a:r>
              <a:rPr lang="ko-KR" altLang="en-US" sz="2000" dirty="0"/>
              <a:t> </a:t>
            </a:r>
            <a:r>
              <a:rPr lang="en-US" altLang="ko-KR" sz="2000" dirty="0"/>
              <a:t>Style Sheets</a:t>
            </a:r>
            <a:r>
              <a:rPr lang="ko-KR" altLang="en-US" sz="2000" dirty="0"/>
              <a:t>의 약자로 스타일링을 위한 언어</a:t>
            </a:r>
            <a:endParaRPr lang="en-US" altLang="ko-KR" sz="2000" dirty="0"/>
          </a:p>
          <a:p>
            <a:pPr lvl="1">
              <a:lnSpc>
                <a:spcPts val="2280"/>
              </a:lnSpc>
            </a:pPr>
            <a:r>
              <a:rPr lang="ko-KR" altLang="en-US" sz="2000" dirty="0"/>
              <a:t>하나의 스타일이 여러 개의 </a:t>
            </a:r>
            <a:r>
              <a:rPr lang="ko-KR" altLang="en-US" sz="2000" dirty="0" err="1"/>
              <a:t>엘리먼트에</a:t>
            </a:r>
            <a:r>
              <a:rPr lang="ko-KR" altLang="en-US" sz="2000" dirty="0"/>
              <a:t> 적용될 수 있고</a:t>
            </a:r>
            <a:r>
              <a:rPr lang="en-US" altLang="ko-KR" sz="2000" dirty="0"/>
              <a:t>, </a:t>
            </a:r>
            <a:r>
              <a:rPr lang="ko-KR" altLang="en-US" sz="2000" dirty="0"/>
              <a:t>하나의 </a:t>
            </a:r>
            <a:r>
              <a:rPr lang="ko-KR" altLang="en-US" sz="2000" dirty="0" err="1"/>
              <a:t>엘리먼트에도</a:t>
            </a:r>
            <a:r>
              <a:rPr lang="ko-KR" altLang="en-US" sz="2000" dirty="0"/>
              <a:t> 여러 개의 스타일이 적용될 수 있음</a:t>
            </a:r>
            <a:endParaRPr lang="en-US" altLang="ko-KR" sz="2000" dirty="0"/>
          </a:p>
          <a:p>
            <a:pPr lvl="1">
              <a:lnSpc>
                <a:spcPts val="2280"/>
              </a:lnSpc>
            </a:pPr>
            <a:endParaRPr lang="en-US" altLang="ko-KR" sz="800" dirty="0"/>
          </a:p>
          <a:p>
            <a:pPr>
              <a:lnSpc>
                <a:spcPts val="2280"/>
              </a:lnSpc>
            </a:pPr>
            <a:r>
              <a:rPr lang="en-US" altLang="ko-KR" sz="2400" dirty="0"/>
              <a:t>CSS </a:t>
            </a:r>
            <a:r>
              <a:rPr lang="ko-KR" altLang="en-US" sz="2400" dirty="0"/>
              <a:t>문법과 </a:t>
            </a:r>
            <a:r>
              <a:rPr lang="ko-KR" altLang="en-US" sz="2400" dirty="0" err="1"/>
              <a:t>선택자</a:t>
            </a:r>
            <a:endParaRPr lang="en-US" altLang="ko-KR" sz="2400" dirty="0"/>
          </a:p>
          <a:p>
            <a:pPr lvl="1">
              <a:lnSpc>
                <a:spcPts val="2280"/>
              </a:lnSpc>
            </a:pPr>
            <a:r>
              <a:rPr lang="ko-KR" altLang="en-US" sz="2000" dirty="0"/>
              <a:t>선택자와 스타일로 구성</a:t>
            </a:r>
            <a:endParaRPr lang="en-US" altLang="ko-KR" sz="2000" dirty="0"/>
          </a:p>
          <a:p>
            <a:pPr lvl="1">
              <a:lnSpc>
                <a:spcPts val="2280"/>
              </a:lnSpc>
            </a:pPr>
            <a:endParaRPr lang="en-US" altLang="ko-KR" sz="2000" dirty="0"/>
          </a:p>
          <a:p>
            <a:pPr lvl="1">
              <a:lnSpc>
                <a:spcPts val="2280"/>
              </a:lnSpc>
            </a:pPr>
            <a:endParaRPr lang="en-US" altLang="ko-KR" sz="2000" dirty="0"/>
          </a:p>
          <a:p>
            <a:pPr lvl="1">
              <a:lnSpc>
                <a:spcPts val="2280"/>
              </a:lnSpc>
            </a:pPr>
            <a:endParaRPr lang="en-US" altLang="ko-KR" sz="2000" dirty="0"/>
          </a:p>
          <a:p>
            <a:pPr lvl="1">
              <a:lnSpc>
                <a:spcPts val="2280"/>
              </a:lnSpc>
            </a:pPr>
            <a:endParaRPr lang="en-US" altLang="ko-KR" sz="2000" dirty="0"/>
          </a:p>
          <a:p>
            <a:pPr>
              <a:lnSpc>
                <a:spcPts val="2280"/>
              </a:lnSpc>
            </a:pP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BF2567-827C-10F4-64B2-73DCE8F20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682" y="3050524"/>
            <a:ext cx="5767519" cy="277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0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15.1 CSS – </a:t>
            </a:r>
            <a:r>
              <a:rPr lang="ko-KR" altLang="en-US" sz="3600" dirty="0" err="1">
                <a:latin typeface="Britannic Bold" panose="020B0903060703020204" pitchFamily="34" charset="0"/>
              </a:rPr>
              <a:t>선택자</a:t>
            </a:r>
            <a:r>
              <a:rPr lang="ko-KR" altLang="en-US" sz="3600" dirty="0">
                <a:latin typeface="Britannic Bold" panose="020B0903060703020204" pitchFamily="34" charset="0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447282" cy="5026842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ko-KR" altLang="en-US" sz="2400" dirty="0" err="1"/>
              <a:t>선택자</a:t>
            </a:r>
            <a:r>
              <a:rPr lang="en-US" altLang="ko-KR" sz="2400" dirty="0"/>
              <a:t>(selector)</a:t>
            </a:r>
          </a:p>
          <a:p>
            <a:pPr lvl="1">
              <a:lnSpc>
                <a:spcPts val="2880"/>
              </a:lnSpc>
            </a:pPr>
            <a:r>
              <a:rPr lang="ko-KR" altLang="en-US" sz="2000" dirty="0"/>
              <a:t>스타일을 어떤 </a:t>
            </a:r>
            <a:r>
              <a:rPr lang="ko-KR" altLang="en-US" sz="2000" dirty="0" err="1"/>
              <a:t>엘리먼트에</a:t>
            </a:r>
            <a:r>
              <a:rPr lang="ko-KR" altLang="en-US" sz="2000" dirty="0"/>
              <a:t> 적용할지 선택하게 해 주는 것</a:t>
            </a:r>
            <a:endParaRPr lang="en-US" altLang="ko-KR" sz="2000" dirty="0"/>
          </a:p>
          <a:p>
            <a:pPr lvl="1">
              <a:lnSpc>
                <a:spcPts val="2880"/>
              </a:lnSpc>
            </a:pPr>
            <a:endParaRPr lang="en-US" altLang="ko-KR" sz="2000" dirty="0"/>
          </a:p>
          <a:p>
            <a:pPr>
              <a:lnSpc>
                <a:spcPts val="2880"/>
              </a:lnSpc>
            </a:pPr>
            <a:r>
              <a:rPr lang="ko-KR" altLang="en-US" sz="2400" dirty="0" err="1"/>
              <a:t>엘리먼트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선택자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 lvl="1">
              <a:lnSpc>
                <a:spcPts val="2880"/>
              </a:lnSpc>
            </a:pPr>
            <a:r>
              <a:rPr lang="en-US" altLang="ko-KR" sz="2000" dirty="0"/>
              <a:t>HTML </a:t>
            </a:r>
            <a:r>
              <a:rPr lang="ko-KR" altLang="en-US" sz="2000" dirty="0"/>
              <a:t>태그의 이름으로 </a:t>
            </a:r>
            <a:r>
              <a:rPr lang="ko-KR" altLang="en-US" sz="2000" dirty="0" err="1"/>
              <a:t>엘리먼트를</a:t>
            </a:r>
            <a:r>
              <a:rPr lang="ko-KR" altLang="en-US" sz="2000" dirty="0"/>
              <a:t> 선택</a:t>
            </a:r>
            <a:endParaRPr lang="en-US" altLang="ko-KR" sz="2000" dirty="0"/>
          </a:p>
          <a:p>
            <a:pPr lvl="1">
              <a:lnSpc>
                <a:spcPts val="2880"/>
              </a:lnSpc>
            </a:pPr>
            <a:endParaRPr lang="en-US" altLang="ko-KR" sz="2000" dirty="0"/>
          </a:p>
          <a:p>
            <a:pPr>
              <a:lnSpc>
                <a:spcPts val="2880"/>
              </a:lnSpc>
            </a:pPr>
            <a:r>
              <a:rPr lang="en-US" altLang="ko-KR" sz="2400" dirty="0"/>
              <a:t>id </a:t>
            </a:r>
            <a:r>
              <a:rPr lang="ko-KR" altLang="en-US" sz="2400" dirty="0" err="1"/>
              <a:t>선택자</a:t>
            </a:r>
            <a:endParaRPr lang="en-US" altLang="ko-KR" sz="2400" dirty="0"/>
          </a:p>
          <a:p>
            <a:pPr lvl="1">
              <a:lnSpc>
                <a:spcPts val="2880"/>
              </a:lnSpc>
            </a:pPr>
            <a:r>
              <a:rPr lang="ko-KR" altLang="en-US" sz="2000" dirty="0" err="1"/>
              <a:t>엘리먼트의</a:t>
            </a:r>
            <a:r>
              <a:rPr lang="ko-KR" altLang="en-US" sz="2000" dirty="0"/>
              <a:t> </a:t>
            </a:r>
            <a:r>
              <a:rPr lang="en-US" altLang="ko-KR" sz="2000" dirty="0"/>
              <a:t>id</a:t>
            </a:r>
            <a:r>
              <a:rPr lang="ko-KR" altLang="en-US" sz="2000" dirty="0"/>
              <a:t>속성으로 </a:t>
            </a:r>
            <a:r>
              <a:rPr lang="ko-KR" altLang="en-US" sz="2000" dirty="0" err="1"/>
              <a:t>엘리먼트를</a:t>
            </a:r>
            <a:r>
              <a:rPr lang="ko-KR" altLang="en-US" sz="2000" dirty="0"/>
              <a:t> 선택</a:t>
            </a:r>
            <a:endParaRPr lang="en-US" altLang="ko-KR" sz="2000" dirty="0"/>
          </a:p>
          <a:p>
            <a:pPr lvl="1">
              <a:lnSpc>
                <a:spcPts val="2880"/>
              </a:lnSpc>
            </a:pPr>
            <a:r>
              <a:rPr lang="ko-KR" altLang="en-US" sz="2000" dirty="0" err="1"/>
              <a:t>사프</a:t>
            </a:r>
            <a:r>
              <a:rPr lang="en-US" altLang="ko-KR" sz="2000" dirty="0"/>
              <a:t>(#) </a:t>
            </a:r>
            <a:r>
              <a:rPr lang="ko-KR" altLang="en-US" sz="2000" dirty="0"/>
              <a:t>뒤에</a:t>
            </a:r>
            <a:r>
              <a:rPr lang="en-US" altLang="ko-KR" sz="2000" dirty="0"/>
              <a:t> </a:t>
            </a:r>
            <a:r>
              <a:rPr lang="ko-KR" altLang="en-US" sz="2000" dirty="0"/>
              <a:t>아이디를 넣어 사용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385BAA-10F2-4D9A-E1B7-9319CF4A9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240" y="2578737"/>
            <a:ext cx="2606512" cy="14289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6E63707-106B-CA7E-EC86-806892895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4057981"/>
            <a:ext cx="3706305" cy="280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3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9496"/>
            <a:ext cx="7422037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15.1 CSS – </a:t>
            </a:r>
            <a:r>
              <a:rPr lang="ko-KR" altLang="en-US" sz="3600" dirty="0" err="1">
                <a:latin typeface="Britannic Bold" panose="020B0903060703020204" pitchFamily="34" charset="0"/>
              </a:rPr>
              <a:t>선택자</a:t>
            </a:r>
            <a:r>
              <a:rPr lang="ko-KR" altLang="en-US" sz="3600" dirty="0">
                <a:latin typeface="Britannic Bold" panose="020B0903060703020204" pitchFamily="34" charset="0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447282" cy="5026842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ko-KR" altLang="en-US" sz="2400" dirty="0"/>
              <a:t>클래스 </a:t>
            </a:r>
            <a:r>
              <a:rPr lang="ko-KR" altLang="en-US" sz="2400" dirty="0" err="1"/>
              <a:t>선택자</a:t>
            </a:r>
            <a:endParaRPr lang="en-US" altLang="ko-KR" sz="2400" dirty="0"/>
          </a:p>
          <a:p>
            <a:pPr lvl="1">
              <a:lnSpc>
                <a:spcPts val="2880"/>
              </a:lnSpc>
            </a:pPr>
            <a:r>
              <a:rPr lang="ko-KR" altLang="en-US" sz="2000" dirty="0" err="1"/>
              <a:t>엘리먼트의</a:t>
            </a:r>
            <a:r>
              <a:rPr lang="ko-KR" altLang="en-US" sz="2000" dirty="0"/>
              <a:t> 클래스 속성으로 </a:t>
            </a:r>
            <a:r>
              <a:rPr lang="ko-KR" altLang="en-US" sz="2000" dirty="0" err="1"/>
              <a:t>엘리먼트를</a:t>
            </a:r>
            <a:r>
              <a:rPr lang="ko-KR" altLang="en-US" sz="2000" dirty="0"/>
              <a:t> 선택</a:t>
            </a:r>
            <a:endParaRPr lang="en-US" altLang="ko-KR" sz="2000" dirty="0"/>
          </a:p>
          <a:p>
            <a:pPr lvl="1">
              <a:lnSpc>
                <a:spcPts val="2880"/>
              </a:lnSpc>
            </a:pPr>
            <a:r>
              <a:rPr lang="ko-KR" altLang="en-US" sz="2000" dirty="0"/>
              <a:t>점</a:t>
            </a:r>
            <a:r>
              <a:rPr lang="en-US" altLang="ko-KR" sz="2000" dirty="0"/>
              <a:t>(.) </a:t>
            </a:r>
            <a:r>
              <a:rPr lang="ko-KR" altLang="en-US" sz="2000" dirty="0"/>
              <a:t>뒤에 클래스명을 넣어서 사용</a:t>
            </a:r>
            <a:endParaRPr lang="en-US" altLang="ko-KR" sz="2000" dirty="0"/>
          </a:p>
          <a:p>
            <a:pPr lvl="1">
              <a:lnSpc>
                <a:spcPts val="2880"/>
              </a:lnSpc>
            </a:pPr>
            <a:endParaRPr lang="en-US" altLang="ko-KR" sz="2000" dirty="0"/>
          </a:p>
          <a:p>
            <a:pPr>
              <a:lnSpc>
                <a:spcPts val="2880"/>
              </a:lnSpc>
            </a:pPr>
            <a:r>
              <a:rPr lang="ko-KR" altLang="en-US" sz="2400" dirty="0"/>
              <a:t>전체 </a:t>
            </a:r>
            <a:r>
              <a:rPr lang="ko-KR" altLang="en-US" sz="2400" dirty="0" err="1"/>
              <a:t>선택자</a:t>
            </a:r>
            <a:endParaRPr lang="en-US" altLang="ko-KR" sz="2400" dirty="0"/>
          </a:p>
          <a:p>
            <a:pPr lvl="1">
              <a:lnSpc>
                <a:spcPts val="2880"/>
              </a:lnSpc>
            </a:pPr>
            <a:r>
              <a:rPr lang="ko-KR" altLang="en-US" sz="2000" dirty="0"/>
              <a:t>전체 </a:t>
            </a:r>
            <a:r>
              <a:rPr lang="ko-KR" altLang="en-US" sz="2000" dirty="0" err="1"/>
              <a:t>엘리먼트에</a:t>
            </a:r>
            <a:r>
              <a:rPr lang="ko-KR" altLang="en-US" sz="2000" dirty="0"/>
              <a:t> 적용하기 위한 </a:t>
            </a:r>
            <a:r>
              <a:rPr lang="ko-KR" altLang="en-US" sz="2000" dirty="0" err="1"/>
              <a:t>선택자</a:t>
            </a:r>
            <a:endParaRPr lang="en-US" altLang="ko-KR" sz="2000" dirty="0"/>
          </a:p>
          <a:p>
            <a:pPr lvl="1">
              <a:lnSpc>
                <a:spcPts val="2880"/>
              </a:lnSpc>
            </a:pPr>
            <a:r>
              <a:rPr lang="en-US" altLang="ko-KR" sz="2000" dirty="0"/>
              <a:t>Asterisk(*) </a:t>
            </a:r>
            <a:r>
              <a:rPr lang="ko-KR" altLang="en-US" sz="2000" dirty="0"/>
              <a:t>사용</a:t>
            </a:r>
            <a:endParaRPr lang="en-US" altLang="ko-KR" sz="2000" dirty="0"/>
          </a:p>
          <a:p>
            <a:pPr>
              <a:lnSpc>
                <a:spcPts val="2880"/>
              </a:lnSpc>
            </a:pPr>
            <a:endParaRPr lang="en-US" altLang="ko-KR" sz="2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787BE6-5D4F-A515-E1E6-560D6318E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628" y="47258"/>
            <a:ext cx="3341075" cy="41927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7577D6C-F033-DF12-DCCA-42EE0ADBB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346" y="4230553"/>
            <a:ext cx="2918261" cy="11992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888EDE7-ECB5-3332-7270-5050AC985B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89" y="4353102"/>
            <a:ext cx="2918261" cy="172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62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15.1 CSS – </a:t>
            </a:r>
            <a:r>
              <a:rPr lang="ko-KR" altLang="en-US" sz="3600" dirty="0" err="1">
                <a:latin typeface="Britannic Bold" panose="020B0903060703020204" pitchFamily="34" charset="0"/>
              </a:rPr>
              <a:t>선택자</a:t>
            </a:r>
            <a:r>
              <a:rPr lang="ko-KR" altLang="en-US" sz="3600" dirty="0">
                <a:latin typeface="Britannic Bold" panose="020B0903060703020204" pitchFamily="34" charset="0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6724454" cy="5026842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ko-KR" altLang="en-US" sz="2400" dirty="0"/>
              <a:t>그룹 </a:t>
            </a:r>
            <a:r>
              <a:rPr lang="ko-KR" altLang="en-US" sz="2400" dirty="0" err="1"/>
              <a:t>선택자</a:t>
            </a:r>
            <a:endParaRPr lang="en-US" altLang="ko-KR" sz="2400" dirty="0"/>
          </a:p>
          <a:p>
            <a:pPr lvl="1">
              <a:lnSpc>
                <a:spcPts val="2880"/>
              </a:lnSpc>
            </a:pPr>
            <a:r>
              <a:rPr lang="ko-KR" altLang="en-US" sz="2000" dirty="0"/>
              <a:t>여러 가지 선택자를 그룹으로 묶어 하나의 스타일을 적용하기 위해 사용하는 </a:t>
            </a:r>
            <a:r>
              <a:rPr lang="ko-KR" altLang="en-US" sz="2000" dirty="0" err="1"/>
              <a:t>선택자</a:t>
            </a:r>
            <a:endParaRPr lang="en-US" altLang="ko-KR" sz="2000" dirty="0"/>
          </a:p>
          <a:p>
            <a:pPr lvl="1">
              <a:lnSpc>
                <a:spcPts val="2880"/>
              </a:lnSpc>
            </a:pPr>
            <a:r>
              <a:rPr lang="ko-KR" altLang="en-US" sz="2000" dirty="0"/>
              <a:t>각 선택자를 콤마</a:t>
            </a:r>
            <a:r>
              <a:rPr lang="en-US" altLang="ko-KR" sz="2000" dirty="0"/>
              <a:t>(,)</a:t>
            </a:r>
            <a:r>
              <a:rPr lang="ko-KR" altLang="en-US" sz="2000" dirty="0"/>
              <a:t>로</a:t>
            </a:r>
            <a:r>
              <a:rPr lang="en-US" altLang="ko-KR" sz="2000" dirty="0"/>
              <a:t> </a:t>
            </a:r>
            <a:r>
              <a:rPr lang="ko-KR" altLang="en-US" sz="2000" dirty="0"/>
              <a:t>구분하여 적용</a:t>
            </a:r>
            <a:endParaRPr lang="en-US" altLang="ko-KR" sz="2000" dirty="0"/>
          </a:p>
          <a:p>
            <a:pPr lvl="1">
              <a:lnSpc>
                <a:spcPts val="2880"/>
              </a:lnSpc>
            </a:pP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C21693-E53E-525A-D042-A7C60725D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434" y="1266802"/>
            <a:ext cx="3347511" cy="34447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0555E9-D9B5-2884-3A2F-66E6726A4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6434" y="4636128"/>
            <a:ext cx="3347511" cy="204570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9210DF9-0760-421C-3E2E-2394643AD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701" y="3376801"/>
            <a:ext cx="3474823" cy="188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27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15.1 CSS – </a:t>
            </a:r>
            <a:r>
              <a:rPr lang="ko-KR" altLang="en-US" sz="3600" dirty="0" err="1">
                <a:latin typeface="Britannic Bold" panose="020B0903060703020204" pitchFamily="34" charset="0"/>
              </a:rPr>
              <a:t>선택자</a:t>
            </a:r>
            <a:r>
              <a:rPr lang="ko-KR" altLang="en-US" sz="3600" dirty="0">
                <a:latin typeface="Britannic Bold" panose="020B0903060703020204" pitchFamily="34" charset="0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447282" cy="5026842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ko-KR" altLang="en-US" sz="2400" dirty="0" err="1"/>
              <a:t>엘리먼트의</a:t>
            </a:r>
            <a:r>
              <a:rPr lang="ko-KR" altLang="en-US" sz="2400" dirty="0"/>
              <a:t> 상태와 관련된 </a:t>
            </a:r>
            <a:r>
              <a:rPr lang="ko-KR" altLang="en-US" sz="2400" dirty="0" err="1"/>
              <a:t>선택자</a:t>
            </a:r>
            <a:endParaRPr lang="en-US" altLang="ko-KR" sz="2400" dirty="0"/>
          </a:p>
          <a:p>
            <a:pPr lvl="1">
              <a:lnSpc>
                <a:spcPts val="2880"/>
              </a:lnSpc>
            </a:pPr>
            <a:r>
              <a:rPr lang="ko-KR" altLang="en-US" sz="2000" dirty="0" err="1"/>
              <a:t>엘리먼트의</a:t>
            </a:r>
            <a:r>
              <a:rPr lang="ko-KR" altLang="en-US" sz="2000" dirty="0"/>
              <a:t> 다양한 상태에 따라 스타일을 적용하기 위한 </a:t>
            </a:r>
            <a:r>
              <a:rPr lang="ko-KR" altLang="en-US" sz="2000" dirty="0" err="1"/>
              <a:t>선택자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C7487B-0C56-D756-7C97-4C6315B3E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40192"/>
            <a:ext cx="10514029" cy="354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09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15.1 CSS – </a:t>
            </a:r>
            <a:r>
              <a:rPr lang="ko-KR" altLang="en-US" sz="3600" dirty="0">
                <a:latin typeface="Britannic Bold" panose="020B0903060703020204" pitchFamily="34" charset="0"/>
              </a:rPr>
              <a:t>레이아웃과 관련된 속성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82" y="1600201"/>
            <a:ext cx="2630078" cy="5026842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ko-KR" altLang="en-US" sz="2000" dirty="0"/>
              <a:t>레이아웃은 화면에 </a:t>
            </a:r>
            <a:r>
              <a:rPr lang="ko-KR" altLang="en-US" sz="2000" dirty="0" err="1"/>
              <a:t>엘리먼트를</a:t>
            </a:r>
            <a:r>
              <a:rPr lang="ko-KR" altLang="en-US" sz="2000" dirty="0"/>
              <a:t> 어떻게 배치할 것인가를 의미</a:t>
            </a:r>
            <a:endParaRPr lang="en-US" altLang="ko-KR" sz="2000" dirty="0"/>
          </a:p>
          <a:p>
            <a:pPr>
              <a:lnSpc>
                <a:spcPts val="2880"/>
              </a:lnSpc>
            </a:pPr>
            <a:r>
              <a:rPr lang="en-US" altLang="ko-KR" sz="2000" dirty="0"/>
              <a:t>display : </a:t>
            </a:r>
            <a:r>
              <a:rPr lang="ko-KR" altLang="en-US" sz="2000" dirty="0" err="1"/>
              <a:t>엘리먼트를</a:t>
            </a:r>
            <a:r>
              <a:rPr lang="ko-KR" altLang="en-US" sz="2000" dirty="0"/>
              <a:t> 어떻게 표시할지 그 방법에 관한 속성</a:t>
            </a:r>
            <a:r>
              <a:rPr lang="en-US" altLang="ko-KR" sz="2000" dirty="0"/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D6988-BDB6-586A-1FCC-C0351F849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468" y="1455027"/>
            <a:ext cx="9354532" cy="512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17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15.1 CSS – </a:t>
            </a:r>
            <a:r>
              <a:rPr lang="ko-KR" altLang="en-US" sz="3600" dirty="0">
                <a:latin typeface="Britannic Bold" panose="020B0903060703020204" pitchFamily="34" charset="0"/>
              </a:rPr>
              <a:t>레이아웃과 관련된 속성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82" y="1600201"/>
            <a:ext cx="2630078" cy="5026842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en-US" altLang="ko-KR" sz="2000" dirty="0"/>
              <a:t>visibility : </a:t>
            </a:r>
            <a:r>
              <a:rPr lang="ko-KR" altLang="en-US" sz="2000" dirty="0" err="1"/>
              <a:t>엘리먼트를</a:t>
            </a:r>
            <a:r>
              <a:rPr lang="ko-KR" altLang="en-US" sz="2000" dirty="0"/>
              <a:t> 화면에 보여주거나 감추기 위한 속성</a:t>
            </a:r>
            <a:r>
              <a:rPr lang="en-US" altLang="ko-KR" sz="2000" dirty="0"/>
              <a:t> </a:t>
            </a:r>
          </a:p>
          <a:p>
            <a:pPr>
              <a:lnSpc>
                <a:spcPts val="2880"/>
              </a:lnSpc>
            </a:pPr>
            <a:r>
              <a:rPr lang="en-US" altLang="ko-KR" sz="2000" dirty="0"/>
              <a:t>position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엘리먼트를</a:t>
            </a:r>
            <a:r>
              <a:rPr lang="ko-KR" altLang="en-US" sz="2000" dirty="0"/>
              <a:t> 어떻게 위치시킬 것인지 정의하기 위한 속성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DBD573-BB16-6BF8-B66C-D936C8293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350" y="1546751"/>
            <a:ext cx="9336189" cy="129071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C78BE52-C32E-720F-AF85-561E9C6FE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1856" y="3157187"/>
            <a:ext cx="9336190" cy="226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83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15.1 CSS – </a:t>
            </a:r>
            <a:r>
              <a:rPr lang="ko-KR" altLang="en-US" sz="3600" dirty="0" err="1">
                <a:latin typeface="Britannic Bold" panose="020B0903060703020204" pitchFamily="34" charset="0"/>
              </a:rPr>
              <a:t>플렉스박스</a:t>
            </a:r>
            <a:r>
              <a:rPr lang="ko-KR" altLang="en-US" sz="3600" dirty="0">
                <a:latin typeface="Britannic Bold" panose="020B0903060703020204" pitchFamily="34" charset="0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29" y="1600201"/>
            <a:ext cx="11906053" cy="5026842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ko-KR" altLang="en-US" sz="2400" dirty="0"/>
              <a:t>기존 </a:t>
            </a:r>
            <a:r>
              <a:rPr lang="en-US" altLang="ko-KR" sz="2400" dirty="0"/>
              <a:t>CSS</a:t>
            </a:r>
            <a:r>
              <a:rPr lang="ko-KR" altLang="en-US" sz="2400" dirty="0"/>
              <a:t>의 레이아웃 사용의 불편한 부분을 개선하기 위해 등장</a:t>
            </a:r>
            <a:endParaRPr lang="en-US" altLang="ko-KR" sz="2400" dirty="0"/>
          </a:p>
          <a:p>
            <a:pPr>
              <a:lnSpc>
                <a:spcPts val="2880"/>
              </a:lnSpc>
            </a:pPr>
            <a:r>
              <a:rPr lang="ko-KR" altLang="en-US" sz="2400" dirty="0" err="1"/>
              <a:t>플렉스</a:t>
            </a:r>
            <a:r>
              <a:rPr lang="ko-KR" altLang="en-US" sz="2400" dirty="0"/>
              <a:t> 컨테이너와 </a:t>
            </a:r>
            <a:r>
              <a:rPr lang="ko-KR" altLang="en-US" sz="2400" dirty="0" err="1"/>
              <a:t>플렉스</a:t>
            </a:r>
            <a:r>
              <a:rPr lang="ko-KR" altLang="en-US" sz="2400" dirty="0"/>
              <a:t> 아이템으로 구성</a:t>
            </a:r>
            <a:endParaRPr lang="en-US" altLang="ko-KR" sz="2400" dirty="0"/>
          </a:p>
          <a:p>
            <a:pPr>
              <a:lnSpc>
                <a:spcPts val="2880"/>
              </a:lnSpc>
            </a:pPr>
            <a:r>
              <a:rPr lang="ko-KR" altLang="en-US" sz="2400" dirty="0"/>
              <a:t>컨테이너는 여러 개의 아이템을 포함</a:t>
            </a:r>
            <a:endParaRPr lang="en-US" altLang="ko-KR" sz="2400" dirty="0"/>
          </a:p>
          <a:p>
            <a:pPr>
              <a:lnSpc>
                <a:spcPts val="2880"/>
              </a:lnSpc>
            </a:pPr>
            <a:r>
              <a:rPr lang="ko-KR" altLang="en-US" sz="2400" dirty="0"/>
              <a:t>컨테이너의 </a:t>
            </a:r>
            <a:r>
              <a:rPr lang="ko-KR" altLang="en-US" sz="2400" dirty="0" err="1"/>
              <a:t>플렉스와</a:t>
            </a:r>
            <a:r>
              <a:rPr lang="ko-KR" altLang="en-US" sz="2400" dirty="0"/>
              <a:t> 관련된 </a:t>
            </a:r>
            <a:r>
              <a:rPr lang="en-US" altLang="ko-KR" sz="2400" dirty="0"/>
              <a:t>CSS </a:t>
            </a:r>
            <a:r>
              <a:rPr lang="ko-KR" altLang="en-US" sz="2400" dirty="0"/>
              <a:t>속성은 </a:t>
            </a:r>
            <a:endParaRPr lang="en-US" altLang="ko-KR" sz="2400" dirty="0"/>
          </a:p>
          <a:p>
            <a:pPr marL="0" indent="0">
              <a:lnSpc>
                <a:spcPts val="2880"/>
              </a:lnSpc>
              <a:buNone/>
            </a:pPr>
            <a:r>
              <a:rPr lang="en-US" altLang="ko-KR" sz="2400" dirty="0"/>
              <a:t>    </a:t>
            </a:r>
            <a:r>
              <a:rPr lang="ko-KR" altLang="en-US" sz="2400" dirty="0"/>
              <a:t>아이템들을 어떤 방향과 순서로 배치할 것인지를 정의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55BC915-CF21-CD82-721A-7439650B9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75" y="3930763"/>
            <a:ext cx="9864557" cy="26540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BB0CF2-C040-53E3-AAFD-BE0867390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747" y="2062185"/>
            <a:ext cx="4566623" cy="211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11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9496"/>
            <a:ext cx="6499319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15.1 CSS – </a:t>
            </a:r>
            <a:r>
              <a:rPr lang="ko-KR" altLang="en-US" sz="3600" dirty="0" err="1">
                <a:latin typeface="Britannic Bold" panose="020B0903060703020204" pitchFamily="34" charset="0"/>
              </a:rPr>
              <a:t>플렉스박스</a:t>
            </a:r>
            <a:r>
              <a:rPr lang="ko-KR" altLang="en-US" sz="3600" dirty="0">
                <a:latin typeface="Britannic Bold" panose="020B0903060703020204" pitchFamily="34" charset="0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2" y="1600201"/>
            <a:ext cx="11824198" cy="5026842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en-US" altLang="ko-KR" sz="2400" dirty="0"/>
              <a:t>flex-direction : </a:t>
            </a:r>
            <a:r>
              <a:rPr lang="ko-KR" altLang="en-US" sz="2400" dirty="0"/>
              <a:t>아이템들이 어떤 방향으로 </a:t>
            </a:r>
            <a:endParaRPr lang="en-US" altLang="ko-KR" sz="2400" dirty="0"/>
          </a:p>
          <a:p>
            <a:pPr marL="0" indent="0">
              <a:lnSpc>
                <a:spcPts val="2880"/>
              </a:lnSpc>
              <a:buNone/>
            </a:pPr>
            <a:r>
              <a:rPr lang="en-US" altLang="ko-KR" sz="2400" dirty="0"/>
              <a:t>    </a:t>
            </a:r>
            <a:r>
              <a:rPr lang="ko-KR" altLang="en-US" sz="2400" dirty="0"/>
              <a:t>배치될 것인지를 지정하기 위한 속성</a:t>
            </a:r>
            <a:endParaRPr lang="en-US" altLang="ko-KR" sz="2400" dirty="0"/>
          </a:p>
          <a:p>
            <a:pPr marL="0" indent="0">
              <a:lnSpc>
                <a:spcPts val="2880"/>
              </a:lnSpc>
              <a:buNone/>
            </a:pPr>
            <a:r>
              <a:rPr lang="en-US" altLang="ko-KR" sz="2400" dirty="0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1BA3D7-3617-AA47-4020-23130B858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0" y="2686526"/>
            <a:ext cx="7211014" cy="23297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C95A6EE-9DAB-4B44-3BAE-587A17AB6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245" y="0"/>
            <a:ext cx="4810755" cy="312753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EC46D27-1AE1-F571-25FD-477C2AA54C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258" y="3163968"/>
            <a:ext cx="4954732" cy="312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0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15.1 CSS – </a:t>
            </a:r>
            <a:r>
              <a:rPr lang="ko-KR" altLang="en-US" sz="3600" dirty="0" err="1">
                <a:latin typeface="Britannic Bold" panose="020B0903060703020204" pitchFamily="34" charset="0"/>
              </a:rPr>
              <a:t>플렉스박스</a:t>
            </a:r>
            <a:r>
              <a:rPr lang="ko-KR" altLang="en-US" sz="3600" dirty="0">
                <a:latin typeface="Britannic Bold" panose="020B0903060703020204" pitchFamily="34" charset="0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11" y="1600201"/>
            <a:ext cx="11736371" cy="5026842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en-US" altLang="ko-KR" sz="2400" dirty="0"/>
              <a:t>align-items : </a:t>
            </a:r>
            <a:r>
              <a:rPr lang="ko-KR" altLang="en-US" sz="2400" dirty="0"/>
              <a:t>컨테이너 내에서 아이템을 어떻게 정렬할 것인지를 결정하기 위한 속성</a:t>
            </a:r>
            <a:endParaRPr lang="en-US" altLang="ko-KR" sz="2400" dirty="0"/>
          </a:p>
          <a:p>
            <a:pPr>
              <a:lnSpc>
                <a:spcPts val="2880"/>
              </a:lnSpc>
            </a:pPr>
            <a:r>
              <a:rPr lang="en-US" altLang="ko-KR" sz="2400" dirty="0"/>
              <a:t>cross axis(</a:t>
            </a:r>
            <a:r>
              <a:rPr lang="ko-KR" altLang="en-US" sz="2400" dirty="0"/>
              <a:t>축</a:t>
            </a:r>
            <a:r>
              <a:rPr lang="en-US" altLang="ko-KR" sz="2400" dirty="0"/>
              <a:t>)</a:t>
            </a:r>
            <a:r>
              <a:rPr lang="ko-KR" altLang="en-US" sz="2400" dirty="0"/>
              <a:t>를 기준으로 함</a:t>
            </a:r>
            <a:r>
              <a:rPr lang="en-US" altLang="ko-KR" sz="2400" dirty="0"/>
              <a:t>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BDD655F-D707-59EB-3AAE-D135FFC4B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55629"/>
            <a:ext cx="6430640" cy="239599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CADAAF0-322D-7D83-6B8A-49150EB51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151" y="2184925"/>
            <a:ext cx="5440887" cy="368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658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15.1 CSS – </a:t>
            </a:r>
            <a:r>
              <a:rPr lang="ko-KR" altLang="en-US" sz="3600" dirty="0" err="1">
                <a:latin typeface="Britannic Bold" panose="020B0903060703020204" pitchFamily="34" charset="0"/>
              </a:rPr>
              <a:t>플렉스박스</a:t>
            </a:r>
            <a:r>
              <a:rPr lang="ko-KR" altLang="en-US" sz="3600" dirty="0">
                <a:latin typeface="Britannic Bold" panose="020B0903060703020204" pitchFamily="34" charset="0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11" y="1600201"/>
            <a:ext cx="11871489" cy="5026842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en-US" altLang="ko-KR" sz="2400" dirty="0"/>
              <a:t>justify-content : </a:t>
            </a:r>
            <a:r>
              <a:rPr lang="ko-KR" altLang="en-US" sz="2400" dirty="0"/>
              <a:t>컨테이너 내에서 아이템들을 어떻게 나란히 맞출 것인지를 결정하기 위한 속성</a:t>
            </a:r>
            <a:endParaRPr lang="en-US" altLang="ko-KR" sz="2400" dirty="0"/>
          </a:p>
          <a:p>
            <a:pPr>
              <a:lnSpc>
                <a:spcPts val="2880"/>
              </a:lnSpc>
            </a:pPr>
            <a:r>
              <a:rPr lang="en-US" altLang="ko-KR" sz="2400" dirty="0"/>
              <a:t>main axis(</a:t>
            </a:r>
            <a:r>
              <a:rPr lang="ko-KR" altLang="en-US" sz="2400" dirty="0"/>
              <a:t>축</a:t>
            </a:r>
            <a:r>
              <a:rPr lang="en-US" altLang="ko-KR" sz="2400" dirty="0"/>
              <a:t>)</a:t>
            </a:r>
            <a:r>
              <a:rPr lang="ko-KR" altLang="en-US" sz="2400" dirty="0"/>
              <a:t>를 기준으로 함</a:t>
            </a:r>
            <a:r>
              <a:rPr lang="en-US" altLang="ko-KR" sz="2400" dirty="0"/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22CA47-E2C1-7D59-19BA-739B66E12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" y="4421357"/>
            <a:ext cx="6935673" cy="119173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18232B6-99DC-50DB-6839-4C355F41CA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68"/>
          <a:stretch/>
        </p:blipFill>
        <p:spPr>
          <a:xfrm>
            <a:off x="6542" y="3063712"/>
            <a:ext cx="7308658" cy="135764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C172013-5BA0-F97B-516B-6AEE30588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504" y="2327057"/>
            <a:ext cx="5229496" cy="378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97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15.1 CSS – </a:t>
            </a:r>
            <a:r>
              <a:rPr lang="ko-KR" altLang="en-US" sz="3600" dirty="0">
                <a:latin typeface="Britannic Bold" panose="020B0903060703020204" pitchFamily="34" charset="0"/>
              </a:rPr>
              <a:t>폰트와 관련된 속성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600201"/>
            <a:ext cx="12192000" cy="5026842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en-US" altLang="ko-KR" sz="2400" dirty="0"/>
              <a:t>font-family : </a:t>
            </a:r>
            <a:r>
              <a:rPr lang="ko-KR" altLang="en-US" sz="2400" dirty="0"/>
              <a:t>어떤 글꼴을 사용할 것인지를 결정하는 속성</a:t>
            </a:r>
            <a:r>
              <a:rPr lang="en-US" altLang="ko-KR" sz="2400" dirty="0"/>
              <a:t>,</a:t>
            </a:r>
          </a:p>
          <a:p>
            <a:pPr marL="0" indent="0">
              <a:lnSpc>
                <a:spcPts val="2880"/>
              </a:lnSpc>
              <a:buNone/>
            </a:pPr>
            <a:r>
              <a:rPr lang="en-US" altLang="ko-KR" sz="2400" dirty="0"/>
              <a:t>		    </a:t>
            </a:r>
            <a:r>
              <a:rPr lang="ko-KR" altLang="en-US" sz="2400" dirty="0"/>
              <a:t>지정한 글꼴을 찾지 못했을 경우를 대비해서 사용할 글꼴을 순서대로 지정</a:t>
            </a:r>
            <a:endParaRPr lang="en-US" altLang="ko-KR" sz="2400" dirty="0"/>
          </a:p>
          <a:p>
            <a:pPr>
              <a:lnSpc>
                <a:spcPts val="2880"/>
              </a:lnSpc>
            </a:pPr>
            <a:endParaRPr lang="en-US" altLang="ko-KR" sz="2400" dirty="0"/>
          </a:p>
          <a:p>
            <a:pPr>
              <a:lnSpc>
                <a:spcPts val="2880"/>
              </a:lnSpc>
            </a:pPr>
            <a:endParaRPr lang="en-US" altLang="ko-KR" sz="2400" dirty="0"/>
          </a:p>
          <a:p>
            <a:pPr>
              <a:lnSpc>
                <a:spcPts val="2880"/>
              </a:lnSpc>
            </a:pPr>
            <a:endParaRPr lang="en-US" altLang="ko-KR" sz="2400" dirty="0"/>
          </a:p>
          <a:p>
            <a:pPr>
              <a:lnSpc>
                <a:spcPts val="2880"/>
              </a:lnSpc>
            </a:pPr>
            <a:r>
              <a:rPr lang="en-US" altLang="ko-KR" sz="2400" dirty="0"/>
              <a:t>font-size : </a:t>
            </a:r>
            <a:r>
              <a:rPr lang="ko-KR" altLang="en-US" sz="2400" dirty="0"/>
              <a:t>글꼴의 크기와 관련된 속성</a:t>
            </a:r>
            <a:endParaRPr lang="en-US" altLang="ko-KR" sz="800" dirty="0"/>
          </a:p>
          <a:p>
            <a:pPr>
              <a:lnSpc>
                <a:spcPts val="2880"/>
              </a:lnSpc>
            </a:pPr>
            <a:r>
              <a:rPr lang="en-US" altLang="ko-KR" sz="2400" dirty="0"/>
              <a:t>font-weight : </a:t>
            </a:r>
            <a:r>
              <a:rPr lang="ko-KR" altLang="en-US" sz="2400" dirty="0"/>
              <a:t>글꼴의 두께와 관련된 속성</a:t>
            </a:r>
            <a:endParaRPr lang="en-US" altLang="ko-KR" sz="800" dirty="0"/>
          </a:p>
          <a:p>
            <a:pPr>
              <a:lnSpc>
                <a:spcPts val="2880"/>
              </a:lnSpc>
            </a:pPr>
            <a:r>
              <a:rPr lang="en-US" altLang="ko-KR" sz="2400" dirty="0"/>
              <a:t>font-style : </a:t>
            </a:r>
            <a:r>
              <a:rPr lang="ko-KR" altLang="en-US" sz="2400" dirty="0"/>
              <a:t>글꼴의 스타일을 지정하기 위한 속성</a:t>
            </a:r>
            <a:endParaRPr lang="en-US" altLang="ko-KR" sz="2400" dirty="0"/>
          </a:p>
          <a:p>
            <a:pPr>
              <a:lnSpc>
                <a:spcPts val="2880"/>
              </a:lnSpc>
            </a:pP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5D5FB4-F370-602B-098A-A2DD298CE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79" y="2482864"/>
            <a:ext cx="6437791" cy="114645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6CCDB52-7AF8-0ED3-1CCB-9AC83F7B7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090" y="3629320"/>
            <a:ext cx="2386561" cy="57398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07F66E0-7B1B-97F1-269B-863285FD93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5791" y="3620944"/>
            <a:ext cx="3161430" cy="252638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A938266-6747-714A-C13A-D04C226623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79" y="5146095"/>
            <a:ext cx="3869199" cy="160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21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15.1 CSS – </a:t>
            </a:r>
            <a:r>
              <a:rPr lang="ko-KR" altLang="en-US" sz="3600" dirty="0">
                <a:latin typeface="Britannic Bold" panose="020B0903060703020204" pitchFamily="34" charset="0"/>
              </a:rPr>
              <a:t>많이 사용하는 기타 속성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600201"/>
            <a:ext cx="12192000" cy="5026842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en-US" altLang="ko-KR" sz="2400" dirty="0"/>
              <a:t>background-color : </a:t>
            </a:r>
            <a:r>
              <a:rPr lang="ko-KR" altLang="en-US" sz="2400" dirty="0" err="1"/>
              <a:t>엘리먼트의</a:t>
            </a:r>
            <a:r>
              <a:rPr lang="ko-KR" altLang="en-US" sz="2400" dirty="0"/>
              <a:t> 배경색을 지정하기 위한 속성</a:t>
            </a:r>
            <a:endParaRPr lang="en-US" altLang="ko-KR" sz="2400" dirty="0"/>
          </a:p>
          <a:p>
            <a:pPr>
              <a:lnSpc>
                <a:spcPts val="2880"/>
              </a:lnSpc>
            </a:pPr>
            <a:r>
              <a:rPr lang="en-US" altLang="ko-KR" sz="2400" dirty="0"/>
              <a:t>border : </a:t>
            </a:r>
            <a:r>
              <a:rPr lang="ko-KR" altLang="en-US" sz="2400" dirty="0" err="1"/>
              <a:t>엘리먼트의</a:t>
            </a:r>
            <a:r>
              <a:rPr lang="ko-KR" altLang="en-US" sz="2400" dirty="0"/>
              <a:t> 테두리를 넣기 위한 속성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4997A4-5419-81E1-45D3-A8D9EB730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46" y="3970329"/>
            <a:ext cx="3684270" cy="28876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B746E61-7214-05BF-D1E6-30ECB6792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32" y="2561751"/>
            <a:ext cx="5944459" cy="140857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DD7C2CE-F603-0633-6CCF-22FCA9AD0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1423" y="2561751"/>
            <a:ext cx="3751430" cy="239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4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9496"/>
            <a:ext cx="6306532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15.2 styled-components</a:t>
            </a:r>
            <a:r>
              <a:rPr lang="ko-KR" altLang="en-US" sz="3600" dirty="0">
                <a:latin typeface="Britannic Bold" panose="020B0903060703020204" pitchFamily="34" charset="0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23" y="1600201"/>
            <a:ext cx="5401557" cy="5026842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en-US" altLang="ko-KR" sz="2400" dirty="0"/>
              <a:t>CSS </a:t>
            </a:r>
            <a:r>
              <a:rPr lang="ko-KR" altLang="en-US" sz="2400" dirty="0"/>
              <a:t>문법을 그대로 사용하면서 결과물을 </a:t>
            </a:r>
            <a:r>
              <a:rPr lang="ko-KR" altLang="en-US" sz="2400" b="1" u="sng" dirty="0" err="1">
                <a:solidFill>
                  <a:schemeClr val="accent3"/>
                </a:solidFill>
              </a:rPr>
              <a:t>스타일링된</a:t>
            </a:r>
            <a:r>
              <a:rPr lang="ko-KR" altLang="en-US" sz="2400" b="1" u="sng" dirty="0">
                <a:solidFill>
                  <a:schemeClr val="accent3"/>
                </a:solidFill>
              </a:rPr>
              <a:t> 컴포넌트 형태</a:t>
            </a:r>
            <a:r>
              <a:rPr lang="ko-KR" altLang="en-US" sz="2400" dirty="0"/>
              <a:t>로 만들어 주는 오픈소스 라이브러리</a:t>
            </a:r>
            <a:endParaRPr lang="en-US" altLang="ko-KR" sz="2400" dirty="0"/>
          </a:p>
          <a:p>
            <a:pPr>
              <a:lnSpc>
                <a:spcPts val="2880"/>
              </a:lnSpc>
            </a:pPr>
            <a:r>
              <a:rPr lang="ko-KR" altLang="en-US" sz="2400" dirty="0"/>
              <a:t>컴포넌트 개념을 사용하기 때문에 </a:t>
            </a:r>
            <a:r>
              <a:rPr lang="ko-KR" altLang="en-US" sz="2400" dirty="0" err="1"/>
              <a:t>리액트와</a:t>
            </a:r>
            <a:r>
              <a:rPr lang="ko-KR" altLang="en-US" sz="2400" dirty="0"/>
              <a:t> 궁합이 잘 맞음</a:t>
            </a:r>
            <a:endParaRPr lang="en-US" altLang="ko-KR" sz="2400" dirty="0"/>
          </a:p>
          <a:p>
            <a:pPr>
              <a:lnSpc>
                <a:spcPts val="2880"/>
              </a:lnSpc>
            </a:pPr>
            <a:r>
              <a:rPr lang="ko-KR" altLang="en-US" sz="2400" dirty="0" err="1"/>
              <a:t>태그드</a:t>
            </a:r>
            <a:r>
              <a:rPr lang="ko-KR" altLang="en-US" sz="2400" dirty="0"/>
              <a:t> 템플릿 </a:t>
            </a:r>
            <a:r>
              <a:rPr lang="ko-KR" altLang="en-US" sz="2400" dirty="0" err="1"/>
              <a:t>리터럴을</a:t>
            </a:r>
            <a:r>
              <a:rPr lang="ko-KR" altLang="en-US" sz="2400" dirty="0"/>
              <a:t> 사용하여 구성 요소의 스타일을 지정</a:t>
            </a:r>
            <a:endParaRPr lang="en-US" altLang="ko-KR" sz="2400" dirty="0"/>
          </a:p>
          <a:p>
            <a:pPr>
              <a:lnSpc>
                <a:spcPts val="2880"/>
              </a:lnSpc>
            </a:pPr>
            <a:r>
              <a:rPr lang="en-US" altLang="ko-KR" sz="2400" dirty="0"/>
              <a:t>styled-components </a:t>
            </a:r>
            <a:r>
              <a:rPr lang="ko-KR" altLang="en-US" sz="2400" dirty="0"/>
              <a:t>설치하기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52AD4C-9E81-0E49-210D-C58279F97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40" y="4909487"/>
            <a:ext cx="4511684" cy="18181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DFD69D-EC3B-6DCD-8E42-3D8D55C7A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921" y="28818"/>
            <a:ext cx="4586371" cy="132864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9734E49-4AC2-6987-F97E-CDC5D720B9F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7564"/>
          <a:stretch/>
        </p:blipFill>
        <p:spPr>
          <a:xfrm>
            <a:off x="5697542" y="1348033"/>
            <a:ext cx="3540965" cy="286574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26551DF-DFFB-4C60-D3B6-6589F35B0B8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7439"/>
          <a:stretch/>
        </p:blipFill>
        <p:spPr>
          <a:xfrm>
            <a:off x="8666657" y="2961014"/>
            <a:ext cx="3393365" cy="340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508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306532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15.2 styled-components</a:t>
            </a:r>
            <a:r>
              <a:rPr lang="ko-KR" altLang="en-US" sz="3600" dirty="0">
                <a:latin typeface="Britannic Bold" panose="020B0903060703020204" pitchFamily="34" charset="0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23" y="848412"/>
            <a:ext cx="9125145" cy="5778631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en-US" altLang="ko-KR" sz="2400" dirty="0"/>
              <a:t>styled-components </a:t>
            </a:r>
            <a:r>
              <a:rPr lang="ko-KR" altLang="en-US" sz="2400" dirty="0"/>
              <a:t>기본 사용법 </a:t>
            </a:r>
            <a:endParaRPr lang="en-US" altLang="ko-KR" sz="2400" dirty="0"/>
          </a:p>
          <a:p>
            <a:pPr marL="0" indent="0">
              <a:lnSpc>
                <a:spcPts val="2880"/>
              </a:lnSpc>
              <a:buNone/>
            </a:pPr>
            <a:r>
              <a:rPr lang="en-US" altLang="ko-KR" sz="2400" dirty="0"/>
              <a:t>     : </a:t>
            </a:r>
            <a:r>
              <a:rPr lang="ko-KR" altLang="en-US" sz="2400" dirty="0" err="1"/>
              <a:t>태그드</a:t>
            </a:r>
            <a:r>
              <a:rPr lang="ko-KR" altLang="en-US" sz="2400" dirty="0"/>
              <a:t> 템플릿 </a:t>
            </a:r>
            <a:r>
              <a:rPr lang="ko-KR" altLang="en-US" sz="2400" dirty="0" err="1"/>
              <a:t>리터럴</a:t>
            </a:r>
            <a:r>
              <a:rPr lang="en-US" altLang="ko-KR" sz="2400" dirty="0"/>
              <a:t>(</a:t>
            </a:r>
            <a:r>
              <a:rPr lang="ko-KR" altLang="en-US" sz="2400" dirty="0"/>
              <a:t>고정된 값</a:t>
            </a:r>
            <a:r>
              <a:rPr lang="en-US" altLang="ko-KR" sz="2400" dirty="0"/>
              <a:t>)</a:t>
            </a:r>
            <a:r>
              <a:rPr lang="ko-KR" altLang="en-US" sz="2400" dirty="0"/>
              <a:t>을 사용</a:t>
            </a:r>
            <a:endParaRPr lang="en-US" altLang="ko-KR" sz="2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4C42B17-74CE-AA18-A742-1A82021F1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502" y="2107603"/>
            <a:ext cx="4023699" cy="345408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D907E06-E8E9-8AF1-4FE4-CCF79F49F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22604"/>
            <a:ext cx="7708379" cy="502879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41455A4-C274-6238-DEDC-3BECB8C9FC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566" y="-10570"/>
            <a:ext cx="3829584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765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24" y="1461155"/>
            <a:ext cx="4108284" cy="5165888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en-US" altLang="ko-KR" sz="2400" dirty="0"/>
              <a:t>styled-components </a:t>
            </a:r>
            <a:r>
              <a:rPr lang="ko-KR" altLang="en-US" sz="2400" dirty="0"/>
              <a:t>기본 사용법 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태그드</a:t>
            </a:r>
            <a:r>
              <a:rPr lang="ko-KR" altLang="en-US" sz="2400" dirty="0"/>
              <a:t> 템플릿 </a:t>
            </a:r>
            <a:r>
              <a:rPr lang="ko-KR" altLang="en-US" sz="2400" dirty="0" err="1"/>
              <a:t>리터럴을</a:t>
            </a:r>
            <a:r>
              <a:rPr lang="ko-KR" altLang="en-US" sz="2400" dirty="0"/>
              <a:t> 사용</a:t>
            </a:r>
            <a:endParaRPr lang="en-US" altLang="ko-KR" sz="2400" dirty="0"/>
          </a:p>
          <a:p>
            <a:pPr>
              <a:lnSpc>
                <a:spcPts val="2880"/>
              </a:lnSpc>
            </a:pPr>
            <a:r>
              <a:rPr lang="ko-KR" altLang="en-US" sz="2400" dirty="0" err="1"/>
              <a:t>언태그드</a:t>
            </a:r>
            <a:r>
              <a:rPr lang="ko-KR" altLang="en-US" sz="2400" dirty="0"/>
              <a:t> 템플릿 </a:t>
            </a:r>
            <a:r>
              <a:rPr lang="ko-KR" altLang="en-US" sz="2400" dirty="0" err="1"/>
              <a:t>리터럴</a:t>
            </a:r>
            <a:endParaRPr lang="en-US" altLang="ko-KR" sz="2400" dirty="0"/>
          </a:p>
          <a:p>
            <a:pPr lvl="1">
              <a:lnSpc>
                <a:spcPts val="2880"/>
              </a:lnSpc>
            </a:pPr>
            <a:r>
              <a:rPr lang="ko-KR" altLang="en-US" sz="2000" dirty="0"/>
              <a:t>문자열을 여러 줄에 걸쳐서 작성하거나 </a:t>
            </a:r>
            <a:r>
              <a:rPr lang="ko-KR" altLang="en-US" sz="2000" dirty="0" err="1"/>
              <a:t>포매팅을</a:t>
            </a:r>
            <a:r>
              <a:rPr lang="ko-KR" altLang="en-US" sz="2000" dirty="0"/>
              <a:t> 위해</a:t>
            </a:r>
            <a:endParaRPr lang="en-US" altLang="ko-KR" sz="2000" dirty="0"/>
          </a:p>
          <a:p>
            <a:pPr>
              <a:lnSpc>
                <a:spcPts val="2880"/>
              </a:lnSpc>
            </a:pPr>
            <a:r>
              <a:rPr lang="ko-KR" altLang="en-US" sz="2400" dirty="0" err="1"/>
              <a:t>태그드</a:t>
            </a:r>
            <a:r>
              <a:rPr lang="ko-KR" altLang="en-US" sz="2400" dirty="0"/>
              <a:t> 템플릿 </a:t>
            </a:r>
            <a:r>
              <a:rPr lang="ko-KR" altLang="en-US" sz="2400" dirty="0" err="1"/>
              <a:t>리터럴</a:t>
            </a:r>
            <a:endParaRPr lang="en-US" altLang="ko-KR" sz="2400" dirty="0"/>
          </a:p>
          <a:p>
            <a:pPr lvl="1">
              <a:lnSpc>
                <a:spcPts val="2880"/>
              </a:lnSpc>
            </a:pPr>
            <a:r>
              <a:rPr lang="ko-KR" altLang="en-US" sz="2000" dirty="0"/>
              <a:t>태그 함수를 호출하여 결과를 리턴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9909B8-2F6C-59E3-ECE7-4ACE333EE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81" y="1461155"/>
            <a:ext cx="5821836" cy="21461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D88741B-937B-50DE-48FA-DD86D282E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407" y="3597912"/>
            <a:ext cx="7970593" cy="3212953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804AE095-382D-CEC6-1D7B-EBFA6B4444A1}"/>
              </a:ext>
            </a:extLst>
          </p:cNvPr>
          <p:cNvSpPr txBox="1">
            <a:spLocks/>
          </p:cNvSpPr>
          <p:nvPr/>
        </p:nvSpPr>
        <p:spPr>
          <a:xfrm>
            <a:off x="609600" y="539496"/>
            <a:ext cx="109728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3600" dirty="0">
                <a:latin typeface="Britannic Bold" panose="020B0903060703020204" pitchFamily="34" charset="0"/>
              </a:rPr>
              <a:t>15.2 styled-components</a:t>
            </a:r>
            <a:r>
              <a:rPr lang="ko-KR" altLang="en-US" sz="3600" dirty="0">
                <a:latin typeface="Britannic Bold" panose="020B09030607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9697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61155"/>
            <a:ext cx="12047456" cy="5165888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en-US" altLang="ko-KR" sz="2400" dirty="0"/>
              <a:t>styled-components</a:t>
            </a:r>
            <a:r>
              <a:rPr lang="ko-KR" altLang="en-US" sz="2400" dirty="0"/>
              <a:t>의</a:t>
            </a:r>
            <a:r>
              <a:rPr lang="en-US" altLang="ko-KR" sz="2400" dirty="0"/>
              <a:t> Props</a:t>
            </a:r>
            <a:r>
              <a:rPr lang="ko-KR" altLang="en-US" sz="2400" dirty="0"/>
              <a:t> 사용하기</a:t>
            </a:r>
            <a:endParaRPr lang="en-US" altLang="ko-KR" sz="2400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804AE095-382D-CEC6-1D7B-EBFA6B4444A1}"/>
              </a:ext>
            </a:extLst>
          </p:cNvPr>
          <p:cNvSpPr txBox="1">
            <a:spLocks/>
          </p:cNvSpPr>
          <p:nvPr/>
        </p:nvSpPr>
        <p:spPr>
          <a:xfrm>
            <a:off x="113124" y="539496"/>
            <a:ext cx="11469276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15.2 styled-components</a:t>
            </a:r>
            <a:r>
              <a:rPr lang="ko-KR" altLang="en-US" sz="3600" dirty="0">
                <a:latin typeface="Britannic Bold" panose="020B0903060703020204" pitchFamily="34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FACB39-CFC4-F0EA-C6E4-D523D2290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468" y="367645"/>
            <a:ext cx="6593112" cy="620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29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61155"/>
            <a:ext cx="12047456" cy="5165888"/>
          </a:xfrm>
        </p:spPr>
        <p:txBody>
          <a:bodyPr>
            <a:normAutofit/>
          </a:bodyPr>
          <a:lstStyle/>
          <a:p>
            <a:pPr>
              <a:lnSpc>
                <a:spcPts val="2880"/>
              </a:lnSpc>
            </a:pPr>
            <a:r>
              <a:rPr lang="en-US" altLang="ko-KR" sz="2400" dirty="0"/>
              <a:t>styled-components</a:t>
            </a:r>
            <a:r>
              <a:rPr lang="ko-KR" altLang="en-US" sz="2400" dirty="0"/>
              <a:t>의</a:t>
            </a:r>
            <a:r>
              <a:rPr lang="en-US" altLang="ko-KR" sz="2400" dirty="0"/>
              <a:t> </a:t>
            </a:r>
            <a:r>
              <a:rPr lang="ko-KR" altLang="en-US" sz="2400" dirty="0"/>
              <a:t>스타일 확장하기</a:t>
            </a:r>
            <a:endParaRPr lang="en-US" altLang="ko-KR" sz="2400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804AE095-382D-CEC6-1D7B-EBFA6B4444A1}"/>
              </a:ext>
            </a:extLst>
          </p:cNvPr>
          <p:cNvSpPr txBox="1">
            <a:spLocks/>
          </p:cNvSpPr>
          <p:nvPr/>
        </p:nvSpPr>
        <p:spPr>
          <a:xfrm>
            <a:off x="113124" y="539496"/>
            <a:ext cx="11469276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15.2 styled-components</a:t>
            </a:r>
            <a:r>
              <a:rPr lang="ko-KR" altLang="en-US" sz="3600" dirty="0">
                <a:latin typeface="Britannic Bold" panose="020B0903060703020204" pitchFamily="34" charset="0"/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A45CD6-EFC7-FA9A-BE0B-0EB43CDEA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583" y="0"/>
            <a:ext cx="5539817" cy="764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50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22829" cy="1499616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15.3 styled-components</a:t>
            </a:r>
            <a:r>
              <a:rPr lang="ko-KR" altLang="en-US" sz="3600" dirty="0">
                <a:latin typeface="Britannic Bold" panose="020B0903060703020204" pitchFamily="34" charset="0"/>
              </a:rPr>
              <a:t>를 사용하여 스타일링해 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697" y="1600200"/>
            <a:ext cx="8917757" cy="4838306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Blocks.jsx</a:t>
            </a:r>
            <a:r>
              <a:rPr lang="en-US" altLang="ko-KR" sz="2800" dirty="0"/>
              <a:t> </a:t>
            </a:r>
          </a:p>
          <a:p>
            <a:r>
              <a:rPr lang="en-US" altLang="ko-KR" sz="2800" dirty="0"/>
              <a:t>styled-components </a:t>
            </a:r>
            <a:r>
              <a:rPr lang="ko-KR" altLang="en-US" sz="2800" dirty="0"/>
              <a:t>패키지 설치</a:t>
            </a:r>
            <a:endParaRPr lang="en-US" altLang="ko-KR" sz="2800" dirty="0"/>
          </a:p>
          <a:p>
            <a:pPr lvl="1"/>
            <a:r>
              <a:rPr lang="en-US" altLang="ko-KR" sz="2400" dirty="0"/>
              <a:t>Terminal</a:t>
            </a:r>
            <a:r>
              <a:rPr lang="ko-KR" altLang="en-US" sz="2400" dirty="0"/>
              <a:t> </a:t>
            </a:r>
            <a:r>
              <a:rPr lang="en-US" altLang="ko-KR" sz="2400" dirty="0"/>
              <a:t>&gt; New Terminal</a:t>
            </a:r>
          </a:p>
          <a:p>
            <a:pPr lvl="1"/>
            <a:endParaRPr lang="en-US" altLang="ko-KR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9D780-DFDD-A073-287B-F6FF28B8C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36464"/>
            <a:ext cx="4830589" cy="5850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CE8F080-4E17-4FC4-9B96-14BE2593F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529" y="153116"/>
            <a:ext cx="4103085" cy="20684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A36AF20-81E0-4543-9E30-7418E4BF6C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7529" y="2177223"/>
            <a:ext cx="5604030" cy="426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12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268"/>
            <a:ext cx="5275782" cy="5797484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Blocks.jsx</a:t>
            </a:r>
            <a:r>
              <a:rPr lang="en-US" altLang="ko-KR" sz="2800" dirty="0"/>
              <a:t> </a:t>
            </a:r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D99DCE-98D5-80F1-F0FB-8897F38A2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72" y="633758"/>
            <a:ext cx="3963110" cy="503864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44863E-04F3-BC49-5641-49DE35B36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351" y="633758"/>
            <a:ext cx="6496009" cy="518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423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85" y="84841"/>
            <a:ext cx="11794337" cy="6400800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실행하기</a:t>
            </a:r>
            <a:endParaRPr lang="en-US" altLang="ko-KR" sz="2800" dirty="0"/>
          </a:p>
          <a:p>
            <a:r>
              <a:rPr lang="en-US" altLang="ko-KR" sz="2800" dirty="0"/>
              <a:t>index.js</a:t>
            </a:r>
          </a:p>
          <a:p>
            <a:pPr lvl="1"/>
            <a:r>
              <a:rPr lang="ko-KR" altLang="en-US" sz="2400" dirty="0"/>
              <a:t>실제로 화면에 렌더링</a:t>
            </a:r>
            <a:endParaRPr lang="en-US" altLang="ko-KR" sz="2400" dirty="0"/>
          </a:p>
          <a:p>
            <a:r>
              <a:rPr lang="ko-KR" altLang="en-US" sz="2800" dirty="0" err="1"/>
              <a:t>리액트</a:t>
            </a:r>
            <a:r>
              <a:rPr lang="ko-KR" altLang="en-US" sz="2800" dirty="0"/>
              <a:t> 애플리케이션 실행</a:t>
            </a:r>
            <a:endParaRPr lang="en-US" altLang="ko-KR" sz="2800" dirty="0"/>
          </a:p>
          <a:p>
            <a:pPr lvl="1"/>
            <a:r>
              <a:rPr lang="en-US" altLang="ko-KR" sz="2400" dirty="0"/>
              <a:t>Terminal &gt; New Terminal</a:t>
            </a:r>
          </a:p>
          <a:p>
            <a:pPr lvl="1"/>
            <a:r>
              <a:rPr lang="en-US" altLang="ko-KR" sz="2400" dirty="0" err="1"/>
              <a:t>npm</a:t>
            </a:r>
            <a:r>
              <a:rPr lang="en-US" altLang="ko-KR" sz="2400" dirty="0"/>
              <a:t> start</a:t>
            </a:r>
          </a:p>
          <a:p>
            <a:pPr lvl="1"/>
            <a:endParaRPr lang="en-US" altLang="ko-KR" sz="800" dirty="0"/>
          </a:p>
          <a:p>
            <a:pPr marL="0" indent="0">
              <a:buNone/>
            </a:pPr>
            <a:r>
              <a:rPr lang="en-US" altLang="ko-KR" sz="2400" dirty="0"/>
              <a:t>   &lt; flex-direction </a:t>
            </a:r>
            <a:r>
              <a:rPr lang="ko-KR" altLang="en-US" sz="2400" dirty="0"/>
              <a:t>속성이 </a:t>
            </a:r>
            <a:r>
              <a:rPr lang="en-US" altLang="ko-KR" sz="2400" dirty="0"/>
              <a:t>row &gt;			&lt; align-items </a:t>
            </a:r>
            <a:r>
              <a:rPr lang="ko-KR" altLang="en-US" sz="2400" dirty="0"/>
              <a:t>속성이 </a:t>
            </a:r>
            <a:r>
              <a:rPr lang="en-US" altLang="ko-KR" sz="2400" dirty="0"/>
              <a:t>baseline &gt;</a:t>
            </a:r>
          </a:p>
          <a:p>
            <a:pPr marL="0" indent="0">
              <a:buNone/>
            </a:pPr>
            <a:endParaRPr lang="en-US" altLang="ko-KR" sz="2400" dirty="0"/>
          </a:p>
          <a:p>
            <a:endParaRPr lang="en-US" altLang="ko-KR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C83553-F1D2-AB04-7C2D-EB3E2616C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553" y="215910"/>
            <a:ext cx="5449060" cy="242921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6EE7400-6D05-2A1C-C59A-1E6399E1C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7" y="3633187"/>
            <a:ext cx="3353268" cy="22482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7E333F6-E0A7-37D1-F5E2-C70F26502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8300" y="3523785"/>
            <a:ext cx="5858693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18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36" y="1002649"/>
            <a:ext cx="12016279" cy="5580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	&lt; align-items </a:t>
            </a:r>
            <a:r>
              <a:rPr lang="ko-KR" altLang="en-US" sz="2400" dirty="0"/>
              <a:t>속성이 </a:t>
            </a:r>
            <a:r>
              <a:rPr lang="en-US" altLang="ko-KR" sz="2400" dirty="0"/>
              <a:t>stretch &gt;		    &lt; flex-direction </a:t>
            </a:r>
            <a:r>
              <a:rPr lang="ko-KR" altLang="en-US" sz="2400" dirty="0"/>
              <a:t>속성이 </a:t>
            </a:r>
            <a:r>
              <a:rPr lang="en-US" altLang="ko-KR" sz="2400" dirty="0"/>
              <a:t>column &gt;</a:t>
            </a:r>
          </a:p>
          <a:p>
            <a:pPr marL="0" indent="0">
              <a:buNone/>
            </a:pPr>
            <a:endParaRPr lang="en-US" altLang="ko-KR" sz="2400" dirty="0"/>
          </a:p>
          <a:p>
            <a:endParaRPr lang="en-US" altLang="ko-KR" sz="28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C34B08F-0E44-39A1-AE5A-1FB2277714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" t="54171" r="169"/>
          <a:stretch/>
        </p:blipFill>
        <p:spPr>
          <a:xfrm>
            <a:off x="97385" y="5076576"/>
            <a:ext cx="5801536" cy="150619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BDBC5F4-1C2A-8EB0-0D22-B97509013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75" y="1494423"/>
            <a:ext cx="5801535" cy="413442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48E8875-BD2D-3780-BD1E-0240CF9CD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6" y="1494423"/>
            <a:ext cx="5811061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42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EBEBC-B662-60CC-A949-FDBF3BF2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37" y="539496"/>
            <a:ext cx="10972800" cy="960120"/>
          </a:xfrm>
        </p:spPr>
        <p:txBody>
          <a:bodyPr/>
          <a:lstStyle/>
          <a:p>
            <a:pPr algn="l"/>
            <a:r>
              <a:rPr lang="ko-KR" altLang="en-US" dirty="0"/>
              <a:t>마치며 </a:t>
            </a:r>
            <a:r>
              <a:rPr lang="en-US" altLang="ko-KR" dirty="0"/>
              <a:t>- </a:t>
            </a:r>
            <a:r>
              <a:rPr lang="ko-KR" altLang="en-US" dirty="0"/>
              <a:t>요약</a:t>
            </a:r>
          </a:p>
        </p:txBody>
      </p:sp>
    </p:spTree>
    <p:extLst>
      <p:ext uri="{BB962C8B-B14F-4D97-AF65-F5344CB8AC3E}">
        <p14:creationId xmlns:p14="http://schemas.microsoft.com/office/powerpoint/2010/main" val="2141516476"/>
      </p:ext>
    </p:extLst>
  </p:cSld>
  <p:clrMapOvr>
    <a:masterClrMapping/>
  </p:clrMapOvr>
</p:sld>
</file>

<file path=ppt/theme/theme1.xml><?xml version="1.0" encoding="utf-8"?>
<a:theme xmlns:a="http://schemas.openxmlformats.org/drawingml/2006/main" name="New_Simple01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ew_Simple01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ew_Simple01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hade val="100000"/>
                <a:satMod val="165000"/>
              </a:schemeClr>
            </a:gs>
            <a:gs pos="55000">
              <a:schemeClr val="phClr">
                <a:tint val="83000"/>
                <a:shade val="100000"/>
                <a:satMod val="155000"/>
              </a:schemeClr>
            </a:gs>
            <a:gs pos="100000">
              <a:schemeClr val="phClr">
                <a:shade val="85000"/>
                <a:satMod val="100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20040000"/>
            </a:lightRig>
          </a:scene3d>
          <a:sp3d contourW="12700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hueMod val="105000"/>
                <a:satMod val="250000"/>
              </a:schemeClr>
            </a:gs>
            <a:gs pos="100000">
              <a:schemeClr val="phClr">
                <a:tint val="95000"/>
                <a:shade val="100000"/>
                <a:satMod val="200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4000"/>
                <a:satMod val="200000"/>
              </a:schemeClr>
            </a:gs>
            <a:gs pos="100000">
              <a:schemeClr val="phClr">
                <a:shade val="70000"/>
                <a:satMod val="200000"/>
              </a:schemeClr>
            </a:gs>
          </a:gsLst>
          <a:path path="circle">
            <a:fillToRect l="40000" r="40000" b="6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심플 테마</Template>
  <TotalTime>2279</TotalTime>
  <Words>541</Words>
  <Application>Microsoft Office PowerPoint</Application>
  <PresentationFormat>와이드스크린</PresentationFormat>
  <Paragraphs>131</Paragraphs>
  <Slides>25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맑은 고딕</vt:lpstr>
      <vt:lpstr>Aharoni</vt:lpstr>
      <vt:lpstr>Arial</vt:lpstr>
      <vt:lpstr>Book Antiqua</vt:lpstr>
      <vt:lpstr>Britannic Bold</vt:lpstr>
      <vt:lpstr>Tw Cen MT</vt:lpstr>
      <vt:lpstr>Wingdings 3</vt:lpstr>
      <vt:lpstr>New_Simple01</vt:lpstr>
      <vt:lpstr>소플의 처음 만난 리액트</vt:lpstr>
      <vt:lpstr>15장 스타일링</vt:lpstr>
      <vt:lpstr>15.1 CSS</vt:lpstr>
      <vt:lpstr>15.1 CSS – 선택자 </vt:lpstr>
      <vt:lpstr>15.1 CSS – 선택자 </vt:lpstr>
      <vt:lpstr>15.1 CSS – 선택자 </vt:lpstr>
      <vt:lpstr>15.1 CSS – 선택자 </vt:lpstr>
      <vt:lpstr>15.1 CSS – 레이아웃과 관련된 속성</vt:lpstr>
      <vt:lpstr>15.1 CSS – 레이아웃과 관련된 속성</vt:lpstr>
      <vt:lpstr>15.1 CSS – 플렉스박스 </vt:lpstr>
      <vt:lpstr>15.1 CSS – 플렉스박스 </vt:lpstr>
      <vt:lpstr>15.1 CSS – 플렉스박스 </vt:lpstr>
      <vt:lpstr>15.1 CSS – 플렉스박스 </vt:lpstr>
      <vt:lpstr>15.1 CSS – 폰트와 관련된 속성 </vt:lpstr>
      <vt:lpstr>15.1 CSS – 많이 사용하는 기타 속성 </vt:lpstr>
      <vt:lpstr>15.2 styled-components </vt:lpstr>
      <vt:lpstr>15.2 styled-components </vt:lpstr>
      <vt:lpstr>PowerPoint 프레젠테이션</vt:lpstr>
      <vt:lpstr>PowerPoint 프레젠테이션</vt:lpstr>
      <vt:lpstr>PowerPoint 프레젠테이션</vt:lpstr>
      <vt:lpstr>15.3 styled-components를 사용하여 스타일링해 보기</vt:lpstr>
      <vt:lpstr>PowerPoint 프레젠테이션</vt:lpstr>
      <vt:lpstr>PowerPoint 프레젠테이션</vt:lpstr>
      <vt:lpstr>PowerPoint 프레젠테이션</vt:lpstr>
      <vt:lpstr>마치며 - 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소플의 처음 만난 리액트</dc:title>
  <dc:creator>김경민</dc:creator>
  <cp:lastModifiedBy>pebble</cp:lastModifiedBy>
  <cp:revision>72</cp:revision>
  <dcterms:created xsi:type="dcterms:W3CDTF">2024-03-11T14:49:31Z</dcterms:created>
  <dcterms:modified xsi:type="dcterms:W3CDTF">2025-06-04T13:03:52Z</dcterms:modified>
</cp:coreProperties>
</file>