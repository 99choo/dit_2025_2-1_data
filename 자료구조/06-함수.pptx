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75" r:id="rId3"/>
    <p:sldId id="274" r:id="rId4"/>
    <p:sldId id="270" r:id="rId5"/>
    <p:sldId id="276" r:id="rId6"/>
    <p:sldId id="277" r:id="rId7"/>
    <p:sldId id="278" r:id="rId8"/>
    <p:sldId id="279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52" autoAdjust="0"/>
    <p:restoredTop sz="96408" autoAdjust="0"/>
  </p:normalViewPr>
  <p:slideViewPr>
    <p:cSldViewPr snapToGrid="0">
      <p:cViewPr varScale="1">
        <p:scale>
          <a:sx n="107" d="100"/>
          <a:sy n="107" d="100"/>
        </p:scale>
        <p:origin x="3252" y="96"/>
      </p:cViewPr>
      <p:guideLst/>
    </p:cSldViewPr>
  </p:slideViewPr>
  <p:outlineViewPr>
    <p:cViewPr>
      <p:scale>
        <a:sx n="33" d="100"/>
        <a:sy n="33" d="100"/>
      </p:scale>
      <p:origin x="0" y="-240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BEA9EB-2ACC-43E1-8277-21A2D28EB570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84E2E5-CF2D-430B-B258-C445DE80D9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716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50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8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922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648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965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51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266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4762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403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248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5EB80-115C-4A5E-991D-A1C2DE50CCC5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7886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A5EB80-115C-4A5E-991D-A1C2DE50CCC5}" type="datetimeFigureOut">
              <a:rPr lang="ko-KR" altLang="en-US" smtClean="0"/>
              <a:t>2024-03-22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8BE60D-8012-43FE-B697-2D1DFE6111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463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027496" y="2200392"/>
            <a:ext cx="7384983" cy="1129949"/>
          </a:xfrm>
        </p:spPr>
        <p:txBody>
          <a:bodyPr/>
          <a:lstStyle/>
          <a:p>
            <a:r>
              <a:rPr lang="en-US" altLang="ko-KR" dirty="0"/>
              <a:t>Python-</a:t>
            </a:r>
            <a:r>
              <a:rPr lang="ko-KR" altLang="en-US" dirty="0"/>
              <a:t>함수</a:t>
            </a:r>
            <a:r>
              <a:rPr lang="en-US" altLang="ko-KR" dirty="0"/>
              <a:t>(function)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4566314"/>
            <a:ext cx="6858000" cy="371446"/>
          </a:xfrm>
        </p:spPr>
        <p:txBody>
          <a:bodyPr/>
          <a:lstStyle/>
          <a:p>
            <a:r>
              <a:rPr lang="ko-KR" altLang="en-US" dirty="0"/>
              <a:t>동의과학대학교 컴퓨터소프트웨어과</a:t>
            </a:r>
          </a:p>
        </p:txBody>
      </p:sp>
    </p:spTree>
    <p:extLst>
      <p:ext uri="{BB962C8B-B14F-4D97-AF65-F5344CB8AC3E}">
        <p14:creationId xmlns:p14="http://schemas.microsoft.com/office/powerpoint/2010/main" val="3217324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함수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(function)</a:t>
            </a:r>
            <a:endParaRPr lang="ko-KR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628650" y="1605148"/>
            <a:ext cx="7886700" cy="4564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dirty="0">
                <a:latin typeface="Source Code Pro Medium" panose="020B0509030403020204" pitchFamily="49" charset="0"/>
              </a:rPr>
              <a:t>호출에 의해 실행되는 일련의 코드 블록</a:t>
            </a:r>
            <a:endParaRPr lang="en-US" altLang="ko-KR" dirty="0">
              <a:latin typeface="Source Code Pro Medium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Source Code Pro Medium" panose="020B0509030403020204" pitchFamily="49" charset="0"/>
              </a:rPr>
              <a:t>호출 시 데이터를 전달 가능 </a:t>
            </a:r>
            <a:r>
              <a:rPr lang="en-US" altLang="ko-KR" dirty="0">
                <a:latin typeface="Source Code Pro Medium" panose="020B0509030403020204" pitchFamily="49" charset="0"/>
              </a:rPr>
              <a:t>: </a:t>
            </a:r>
            <a:r>
              <a:rPr lang="ko-KR" altLang="en-US" dirty="0" err="1">
                <a:latin typeface="Source Code Pro Medium" panose="020B0509030403020204" pitchFamily="49" charset="0"/>
              </a:rPr>
              <a:t>파라메터</a:t>
            </a:r>
            <a:r>
              <a:rPr lang="en-US" altLang="ko-KR" dirty="0">
                <a:latin typeface="Source Code Pro Medium" panose="020B0509030403020204" pitchFamily="49" charset="0"/>
              </a:rPr>
              <a:t>(</a:t>
            </a:r>
            <a:r>
              <a:rPr lang="ko-KR" altLang="en-US" dirty="0">
                <a:latin typeface="Source Code Pro Medium" panose="020B0509030403020204" pitchFamily="49" charset="0"/>
              </a:rPr>
              <a:t>인수</a:t>
            </a:r>
            <a:r>
              <a:rPr lang="en-US" altLang="ko-KR" dirty="0">
                <a:latin typeface="Source Code Pro Medium" panose="020B0509030403020204" pitchFamily="49" charset="0"/>
              </a:rPr>
              <a:t>, </a:t>
            </a:r>
            <a:r>
              <a:rPr lang="ko-KR" altLang="en-US" dirty="0">
                <a:latin typeface="Source Code Pro Medium" panose="020B0509030403020204" pitchFamily="49" charset="0"/>
              </a:rPr>
              <a:t>매개변수</a:t>
            </a:r>
            <a:r>
              <a:rPr lang="en-US" altLang="ko-KR" dirty="0">
                <a:latin typeface="Source Code Pro Medium" panose="020B050903040302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100" dirty="0">
                <a:latin typeface="Source Code Pro Medium" panose="020B0509030403020204" pitchFamily="49" charset="0"/>
              </a:rPr>
              <a:t>함수 처리 결과로 값을 반환 가능</a:t>
            </a:r>
            <a:endParaRPr lang="en-US" altLang="ko-KR" sz="2100" dirty="0">
              <a:latin typeface="Source Code Pro Medium" panose="020B0509030403020204" pitchFamily="49" charset="0"/>
            </a:endParaRPr>
          </a:p>
          <a:p>
            <a:pPr>
              <a:lnSpc>
                <a:spcPct val="150000"/>
              </a:lnSpc>
            </a:pPr>
            <a:endParaRPr lang="en-US" altLang="ko-KR" b="1" dirty="0">
              <a:latin typeface="Source Code Pro Medium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ko-KR" altLang="en-US" b="1" dirty="0">
                <a:latin typeface="Source Code Pro Medium" panose="020B0509030403020204" pitchFamily="49" charset="0"/>
              </a:rPr>
              <a:t>함수 정의 방법</a:t>
            </a:r>
            <a:endParaRPr lang="en-US" altLang="ko-KR" b="1" dirty="0">
              <a:latin typeface="Source Code Pro Medium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100" b="1" dirty="0" err="1">
                <a:solidFill>
                  <a:srgbClr val="0070C0"/>
                </a:solidFill>
                <a:latin typeface="Source Code Pro Medium" panose="020B0509030403020204" pitchFamily="49" charset="0"/>
              </a:rPr>
              <a:t>def</a:t>
            </a:r>
            <a:r>
              <a:rPr lang="en-US" altLang="ko-KR" sz="2100" b="1" dirty="0">
                <a:latin typeface="Source Code Pro Medium" panose="020B0509030403020204" pitchFamily="49" charset="0"/>
              </a:rPr>
              <a:t> </a:t>
            </a:r>
            <a:r>
              <a:rPr lang="ko-KR" altLang="en-US" sz="2100" dirty="0" err="1">
                <a:latin typeface="Source Code Pro Medium" panose="020B0509030403020204" pitchFamily="49" charset="0"/>
              </a:rPr>
              <a:t>함수명</a:t>
            </a:r>
            <a:r>
              <a:rPr lang="en-US" altLang="ko-KR" sz="2100" dirty="0">
                <a:latin typeface="Source Code Pro Medium" panose="020B0509030403020204" pitchFamily="49" charset="0"/>
              </a:rPr>
              <a:t>(</a:t>
            </a:r>
            <a:r>
              <a:rPr lang="ko-KR" altLang="en-US" sz="2100" dirty="0">
                <a:latin typeface="Source Code Pro Medium" panose="020B0509030403020204" pitchFamily="49" charset="0"/>
              </a:rPr>
              <a:t>매개변수</a:t>
            </a:r>
            <a:r>
              <a:rPr lang="en-US" altLang="ko-KR" dirty="0">
                <a:latin typeface="Source Code Pro Medium" panose="020B0509030403020204" pitchFamily="49" charset="0"/>
              </a:rPr>
              <a:t>, …)</a:t>
            </a:r>
            <a:r>
              <a:rPr lang="en-US" altLang="ko-KR" b="1" dirty="0">
                <a:solidFill>
                  <a:srgbClr val="0070C0"/>
                </a:solidFill>
                <a:latin typeface="Source Code Pro Medium" panose="020B050903040302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Source Code Pro Medium" panose="020B0509030403020204" pitchFamily="49" charset="0"/>
              </a:rPr>
              <a:t>함수 코드 블록</a:t>
            </a:r>
            <a:endParaRPr lang="en-US" altLang="ko-KR" sz="2000" dirty="0">
              <a:latin typeface="Source Code Pro Medium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193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uiExpand="1" build="p" bldLvl="5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함수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정의와 호출 예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628650" y="1605148"/>
            <a:ext cx="7886700" cy="4564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b="1" dirty="0">
                <a:latin typeface="Source Code Pro Medium" panose="020B0509030403020204" pitchFamily="49" charset="0"/>
              </a:rPr>
              <a:t>함수 정의</a:t>
            </a:r>
            <a:endParaRPr lang="en-US" altLang="ko-KR" b="1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r>
              <a:rPr lang="en-US" altLang="ko-KR" b="1" dirty="0" err="1">
                <a:latin typeface="Source Code Pro Medium" panose="020B0509030403020204" pitchFamily="49" charset="0"/>
              </a:rPr>
              <a:t>def</a:t>
            </a:r>
            <a:r>
              <a:rPr lang="en-US" altLang="ko-KR" b="1" dirty="0">
                <a:latin typeface="Source Code Pro Medium" panose="020B0509030403020204" pitchFamily="49" charset="0"/>
              </a:rPr>
              <a:t> </a:t>
            </a:r>
            <a:r>
              <a:rPr lang="en-US" altLang="ko-KR" b="1" dirty="0" err="1">
                <a:latin typeface="Source Code Pro Medium" panose="020B0509030403020204" pitchFamily="49" charset="0"/>
              </a:rPr>
              <a:t>printHello</a:t>
            </a:r>
            <a:r>
              <a:rPr lang="en-US" altLang="ko-KR" b="1" dirty="0">
                <a:latin typeface="Source Code Pro Medium" panose="020B0509030403020204" pitchFamily="49" charset="0"/>
              </a:rPr>
              <a:t>()</a:t>
            </a:r>
            <a:r>
              <a:rPr lang="en-US" altLang="ko-KR" sz="3200" b="1" dirty="0">
                <a:solidFill>
                  <a:srgbClr val="FF0000"/>
                </a:solidFill>
                <a:latin typeface="Source Code Pro Medium" panose="020B0509030403020204" pitchFamily="49" charset="0"/>
              </a:rPr>
              <a:t>:</a:t>
            </a:r>
            <a:endParaRPr lang="en-US" altLang="ko-KR" dirty="0">
              <a:latin typeface="Source Code Pro Medium" panose="020B0509030403020204" pitchFamily="49" charset="0"/>
            </a:endParaRPr>
          </a:p>
          <a:p>
            <a:pPr marL="342900" lvl="1" indent="0">
              <a:lnSpc>
                <a:spcPct val="100000"/>
              </a:lnSpc>
              <a:buNone/>
            </a:pPr>
            <a:r>
              <a:rPr lang="ko-KR" altLang="en-US" sz="2100" dirty="0">
                <a:latin typeface="Source Code Pro Medium" panose="020B0509030403020204" pitchFamily="49" charset="0"/>
              </a:rPr>
              <a:t>  </a:t>
            </a:r>
            <a:r>
              <a:rPr lang="en-US" altLang="ko-KR" sz="2100" dirty="0">
                <a:latin typeface="Source Code Pro Medium" panose="020B0509030403020204" pitchFamily="49" charset="0"/>
              </a:rPr>
              <a:t>print(“Hello Python!”)</a:t>
            </a:r>
          </a:p>
          <a:p>
            <a:pPr marL="342900" lvl="1" indent="0">
              <a:lnSpc>
                <a:spcPct val="100000"/>
              </a:lnSpc>
              <a:buNone/>
            </a:pPr>
            <a:endParaRPr lang="en-US" altLang="ko-KR" sz="2100" dirty="0">
              <a:latin typeface="Source Code Pro Medium" panose="020B0509030403020204" pitchFamily="49" charset="0"/>
            </a:endParaRPr>
          </a:p>
          <a:p>
            <a:pPr marL="342900" lvl="1" indent="0">
              <a:lnSpc>
                <a:spcPct val="100000"/>
              </a:lnSpc>
              <a:buNone/>
            </a:pPr>
            <a:endParaRPr lang="en-US" altLang="ko-KR" sz="2100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r>
              <a:rPr lang="ko-KR" altLang="en-US" b="1" dirty="0">
                <a:latin typeface="Source Code Pro Medium" panose="020B0509030403020204" pitchFamily="49" charset="0"/>
              </a:rPr>
              <a:t>함수 호출</a:t>
            </a:r>
            <a:endParaRPr lang="en-US" altLang="ko-KR" b="1" dirty="0">
              <a:latin typeface="Source Code Pro Medium" panose="020B0509030403020204" pitchFamily="49" charset="0"/>
            </a:endParaRPr>
          </a:p>
          <a:p>
            <a:pPr>
              <a:lnSpc>
                <a:spcPct val="100000"/>
              </a:lnSpc>
            </a:pPr>
            <a:r>
              <a:rPr lang="en-US" altLang="ko-KR" b="1" dirty="0" err="1">
                <a:latin typeface="Source Code Pro Medium" panose="020B0509030403020204" pitchFamily="49" charset="0"/>
              </a:rPr>
              <a:t>printHello</a:t>
            </a:r>
            <a:r>
              <a:rPr lang="en-US" altLang="ko-KR" b="1" dirty="0">
                <a:latin typeface="Source Code Pro Medium" panose="020B0509030403020204" pitchFamily="49" charset="0"/>
              </a:rPr>
              <a:t>()</a:t>
            </a:r>
            <a:endParaRPr lang="en-US" altLang="ko-KR" dirty="0">
              <a:latin typeface="Source Code Pro Medium" panose="020B0509030403020204" pitchFamily="49" charset="0"/>
            </a:endParaRPr>
          </a:p>
          <a:p>
            <a:pPr marL="342900" lvl="1" indent="0">
              <a:lnSpc>
                <a:spcPct val="100000"/>
              </a:lnSpc>
              <a:buNone/>
            </a:pPr>
            <a:endParaRPr lang="en-US" altLang="ko-KR" sz="2100" dirty="0">
              <a:latin typeface="Source Code Pro Medium" panose="020B0509030403020204" pitchFamily="49" charset="0"/>
            </a:endParaRPr>
          </a:p>
          <a:p>
            <a:pPr marL="342900" lvl="1" indent="0">
              <a:lnSpc>
                <a:spcPct val="100000"/>
              </a:lnSpc>
              <a:buNone/>
            </a:pPr>
            <a:endParaRPr lang="en-US" altLang="ko-KR" sz="2100" dirty="0">
              <a:latin typeface="Source Code Pro Medium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597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uiExpand="1" build="p" bldLvl="5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함수의 매개변수 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</a:t>
            </a:r>
            <a:endParaRPr lang="ko-KR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628650" y="1605148"/>
            <a:ext cx="7886700" cy="4564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dirty="0">
                <a:latin typeface="Source Code Pro Medium" panose="020B0509030403020204" pitchFamily="49" charset="0"/>
              </a:rPr>
              <a:t>호출 시 데이터를 전달 가능 </a:t>
            </a:r>
            <a:r>
              <a:rPr lang="en-US" altLang="ko-KR" dirty="0">
                <a:latin typeface="Source Code Pro Medium" panose="020B0509030403020204" pitchFamily="49" charset="0"/>
              </a:rPr>
              <a:t>: </a:t>
            </a:r>
            <a:r>
              <a:rPr lang="ko-KR" altLang="en-US" dirty="0" err="1">
                <a:latin typeface="Source Code Pro Medium" panose="020B0509030403020204" pitchFamily="49" charset="0"/>
              </a:rPr>
              <a:t>파라메터</a:t>
            </a:r>
            <a:r>
              <a:rPr lang="en-US" altLang="ko-KR" dirty="0">
                <a:latin typeface="Source Code Pro Medium" panose="020B0509030403020204" pitchFamily="49" charset="0"/>
              </a:rPr>
              <a:t>(</a:t>
            </a:r>
            <a:r>
              <a:rPr lang="ko-KR" altLang="en-US" dirty="0">
                <a:latin typeface="Source Code Pro Medium" panose="020B0509030403020204" pitchFamily="49" charset="0"/>
              </a:rPr>
              <a:t>인수</a:t>
            </a:r>
            <a:r>
              <a:rPr lang="en-US" altLang="ko-KR" dirty="0">
                <a:latin typeface="Source Code Pro Medium" panose="020B0509030403020204" pitchFamily="49" charset="0"/>
              </a:rPr>
              <a:t>, </a:t>
            </a:r>
            <a:r>
              <a:rPr lang="ko-KR" altLang="en-US" dirty="0">
                <a:latin typeface="Source Code Pro Medium" panose="020B0509030403020204" pitchFamily="49" charset="0"/>
              </a:rPr>
              <a:t>매개변수</a:t>
            </a:r>
            <a:r>
              <a:rPr lang="en-US" altLang="ko-KR" dirty="0">
                <a:latin typeface="Source Code Pro Medium" panose="020B050903040302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2100" dirty="0" err="1">
                <a:latin typeface="Source Code Pro Medium" panose="020B0509030403020204" pitchFamily="49" charset="0"/>
              </a:rPr>
              <a:t>def</a:t>
            </a:r>
            <a:r>
              <a:rPr lang="en-US" altLang="ko-KR" sz="2100" b="1" dirty="0">
                <a:latin typeface="Source Code Pro Medium" panose="020B0509030403020204" pitchFamily="49" charset="0"/>
              </a:rPr>
              <a:t> </a:t>
            </a:r>
            <a:r>
              <a:rPr lang="en-US" altLang="ko-KR" dirty="0" err="1">
                <a:latin typeface="Source Code Pro Medium" panose="020B0509030403020204" pitchFamily="49" charset="0"/>
              </a:rPr>
              <a:t>sayHello</a:t>
            </a:r>
            <a:r>
              <a:rPr lang="en-US" altLang="ko-KR" dirty="0">
                <a:latin typeface="Source Code Pro Medium" panose="020B0509030403020204" pitchFamily="49" charset="0"/>
              </a:rPr>
              <a:t>(</a:t>
            </a:r>
            <a:r>
              <a:rPr lang="en-US" altLang="ko-KR" dirty="0">
                <a:solidFill>
                  <a:srgbClr val="00B0F0"/>
                </a:solidFill>
                <a:latin typeface="Source Code Pro Medium" panose="020B0509030403020204" pitchFamily="49" charset="0"/>
              </a:rPr>
              <a:t>name</a:t>
            </a:r>
            <a:r>
              <a:rPr lang="en-US" altLang="ko-KR" dirty="0">
                <a:latin typeface="Source Code Pro Medium" panose="020B0509030403020204" pitchFamily="49" charset="0"/>
              </a:rPr>
              <a:t>)</a:t>
            </a:r>
            <a:r>
              <a:rPr lang="en-US" altLang="ko-KR" b="1" dirty="0">
                <a:latin typeface="Source Code Pro Medium" panose="020B050903040302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Source Code Pro Medium" panose="020B0509030403020204" pitchFamily="49" charset="0"/>
              </a:rPr>
              <a:t>print(“</a:t>
            </a:r>
            <a:r>
              <a:rPr lang="ko-KR" altLang="en-US" sz="2000" dirty="0">
                <a:latin typeface="Source Code Pro Medium" panose="020B0509030403020204" pitchFamily="49" charset="0"/>
              </a:rPr>
              <a:t>안녕하세요</a:t>
            </a:r>
            <a:r>
              <a:rPr lang="en-US" altLang="ko-KR" sz="2000" dirty="0">
                <a:latin typeface="Source Code Pro Medium" panose="020B0509030403020204" pitchFamily="49" charset="0"/>
              </a:rPr>
              <a:t>, {}</a:t>
            </a:r>
            <a:r>
              <a:rPr lang="ko-KR" altLang="en-US" sz="2000" dirty="0">
                <a:latin typeface="Source Code Pro Medium" panose="020B0509030403020204" pitchFamily="49" charset="0"/>
              </a:rPr>
              <a:t>씨</a:t>
            </a:r>
            <a:r>
              <a:rPr lang="en-US" altLang="ko-KR" sz="2000" dirty="0">
                <a:latin typeface="Source Code Pro Medium" panose="020B0509030403020204" pitchFamily="49" charset="0"/>
              </a:rPr>
              <a:t>~!”.format(</a:t>
            </a:r>
            <a:r>
              <a:rPr lang="en-US" altLang="ko-KR" sz="2000" dirty="0">
                <a:solidFill>
                  <a:srgbClr val="00B0F0"/>
                </a:solidFill>
                <a:latin typeface="Source Code Pro Medium" panose="020B0509030403020204" pitchFamily="49" charset="0"/>
              </a:rPr>
              <a:t>name</a:t>
            </a:r>
            <a:r>
              <a:rPr lang="en-US" altLang="ko-KR" sz="2000" dirty="0">
                <a:latin typeface="Source Code Pro Medium" panose="020B0509030403020204" pitchFamily="49" charset="0"/>
              </a:rPr>
              <a:t>))</a:t>
            </a:r>
          </a:p>
          <a:p>
            <a:pPr>
              <a:lnSpc>
                <a:spcPct val="150000"/>
              </a:lnSpc>
            </a:pPr>
            <a:r>
              <a:rPr lang="en-US" altLang="ko-KR" sz="2300" dirty="0" err="1">
                <a:latin typeface="Source Code Pro Medium" panose="020B0509030403020204" pitchFamily="49" charset="0"/>
              </a:rPr>
              <a:t>sayHello</a:t>
            </a:r>
            <a:r>
              <a:rPr lang="en-US" altLang="ko-KR" sz="2300" dirty="0">
                <a:latin typeface="Source Code Pro Medium" panose="020B0509030403020204" pitchFamily="49" charset="0"/>
              </a:rPr>
              <a:t>(“</a:t>
            </a:r>
            <a:r>
              <a:rPr lang="ko-KR" altLang="en-US" sz="2300" dirty="0">
                <a:latin typeface="Source Code Pro Medium" panose="020B0509030403020204" pitchFamily="49" charset="0"/>
              </a:rPr>
              <a:t>홍길동</a:t>
            </a:r>
            <a:r>
              <a:rPr lang="en-US" altLang="ko-KR" sz="2300" dirty="0">
                <a:latin typeface="Source Code Pro Medium" panose="020B0509030403020204" pitchFamily="49" charset="0"/>
              </a:rPr>
              <a:t>”)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Source Code Pro Medium" panose="020B0509030403020204" pitchFamily="49" charset="0"/>
              </a:rPr>
              <a:t>=&gt; </a:t>
            </a:r>
            <a:r>
              <a:rPr lang="ko-KR" altLang="en-US" sz="2000" dirty="0">
                <a:latin typeface="Source Code Pro Medium" panose="020B0509030403020204" pitchFamily="49" charset="0"/>
              </a:rPr>
              <a:t>안녕하세요 </a:t>
            </a:r>
            <a:r>
              <a:rPr lang="ko-KR" altLang="en-US" sz="2000" dirty="0" err="1">
                <a:latin typeface="Source Code Pro Medium" panose="020B0509030403020204" pitchFamily="49" charset="0"/>
              </a:rPr>
              <a:t>홍길동씨</a:t>
            </a:r>
            <a:r>
              <a:rPr lang="en-US" altLang="ko-KR" sz="2000" dirty="0">
                <a:latin typeface="Source Code Pro Medium" panose="020B0509030403020204" pitchFamily="49" charset="0"/>
              </a:rPr>
              <a:t>~!</a:t>
            </a:r>
          </a:p>
          <a:p>
            <a:pPr lvl="1">
              <a:lnSpc>
                <a:spcPct val="150000"/>
              </a:lnSpc>
            </a:pPr>
            <a:endParaRPr lang="en-US" altLang="ko-KR" sz="2000" dirty="0">
              <a:latin typeface="Source Code Pro Medium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2300" dirty="0" err="1">
                <a:latin typeface="Source Code Pro Medium" panose="020B0509030403020204" pitchFamily="49" charset="0"/>
              </a:rPr>
              <a:t>파라메터</a:t>
            </a:r>
            <a:r>
              <a:rPr lang="en-US" altLang="ko-KR" sz="2300" dirty="0">
                <a:latin typeface="Source Code Pro Medium" panose="020B0509030403020204" pitchFamily="49" charset="0"/>
              </a:rPr>
              <a:t>(</a:t>
            </a:r>
            <a:r>
              <a:rPr lang="ko-KR" altLang="en-US" sz="2300" dirty="0">
                <a:latin typeface="Source Code Pro Medium" panose="020B0509030403020204" pitchFamily="49" charset="0"/>
              </a:rPr>
              <a:t>매개변수 </a:t>
            </a:r>
            <a:r>
              <a:rPr lang="en-US" altLang="ko-KR" sz="2300" dirty="0">
                <a:latin typeface="Source Code Pro Medium" panose="020B0509030403020204" pitchFamily="49" charset="0"/>
              </a:rPr>
              <a:t>parameter)</a:t>
            </a:r>
            <a:r>
              <a:rPr lang="ko-KR" altLang="en-US" sz="2300" dirty="0">
                <a:latin typeface="Source Code Pro Medium" panose="020B0509030403020204" pitchFamily="49" charset="0"/>
              </a:rPr>
              <a:t> </a:t>
            </a:r>
            <a:r>
              <a:rPr lang="en-US" altLang="ko-KR" sz="2300" dirty="0">
                <a:latin typeface="Source Code Pro Medium" panose="020B0509030403020204" pitchFamily="49" charset="0"/>
              </a:rPr>
              <a:t>vs </a:t>
            </a:r>
            <a:r>
              <a:rPr lang="ko-KR" altLang="en-US" sz="2300" dirty="0">
                <a:latin typeface="Source Code Pro Medium" panose="020B0509030403020204" pitchFamily="49" charset="0"/>
              </a:rPr>
              <a:t>인수</a:t>
            </a:r>
            <a:r>
              <a:rPr lang="en-US" altLang="ko-KR" sz="2300" dirty="0">
                <a:latin typeface="Source Code Pro Medium" panose="020B0509030403020204" pitchFamily="49" charset="0"/>
              </a:rPr>
              <a:t>(argument)</a:t>
            </a:r>
          </a:p>
        </p:txBody>
      </p:sp>
    </p:spTree>
    <p:extLst>
      <p:ext uri="{BB962C8B-B14F-4D97-AF65-F5344CB8AC3E}">
        <p14:creationId xmlns:p14="http://schemas.microsoft.com/office/powerpoint/2010/main" val="2181876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uiExpand="1" build="p" bldLvl="5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함수의 매개변수 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</a:t>
            </a:r>
            <a:endParaRPr lang="ko-KR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628650" y="1605148"/>
            <a:ext cx="7886700" cy="4564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dirty="0" err="1">
                <a:latin typeface="Source Code Pro Medium" panose="020B0509030403020204" pitchFamily="49" charset="0"/>
              </a:rPr>
              <a:t>파라메터는</a:t>
            </a:r>
            <a:r>
              <a:rPr lang="ko-KR" altLang="en-US" dirty="0">
                <a:latin typeface="Source Code Pro Medium" panose="020B0509030403020204" pitchFamily="49" charset="0"/>
              </a:rPr>
              <a:t> 여러 개 가능 </a:t>
            </a:r>
            <a:endParaRPr lang="en-US" altLang="ko-KR" dirty="0">
              <a:latin typeface="Source Code Pro Medium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100" dirty="0" err="1">
                <a:latin typeface="Source Code Pro Medium" panose="020B0509030403020204" pitchFamily="49" charset="0"/>
              </a:rPr>
              <a:t>def</a:t>
            </a:r>
            <a:r>
              <a:rPr lang="en-US" altLang="ko-KR" sz="2100" b="1" dirty="0">
                <a:latin typeface="Source Code Pro Medium" panose="020B0509030403020204" pitchFamily="49" charset="0"/>
              </a:rPr>
              <a:t> intro</a:t>
            </a:r>
            <a:r>
              <a:rPr lang="en-US" altLang="ko-KR" dirty="0">
                <a:latin typeface="Source Code Pro Medium" panose="020B0509030403020204" pitchFamily="49" charset="0"/>
              </a:rPr>
              <a:t>(</a:t>
            </a:r>
            <a:r>
              <a:rPr lang="en-US" altLang="ko-KR" dirty="0">
                <a:solidFill>
                  <a:srgbClr val="00B0F0"/>
                </a:solidFill>
                <a:latin typeface="Source Code Pro Medium" panose="020B0509030403020204" pitchFamily="49" charset="0"/>
              </a:rPr>
              <a:t>name, age</a:t>
            </a:r>
            <a:r>
              <a:rPr lang="en-US" altLang="ko-KR" dirty="0">
                <a:latin typeface="Source Code Pro Medium" panose="020B0509030403020204" pitchFamily="49" charset="0"/>
              </a:rPr>
              <a:t>)</a:t>
            </a:r>
            <a:r>
              <a:rPr lang="en-US" altLang="ko-KR" b="1" dirty="0">
                <a:latin typeface="Source Code Pro Medium" panose="020B050903040302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Source Code Pro Medium" panose="020B0509030403020204" pitchFamily="49" charset="0"/>
              </a:rPr>
              <a:t>print(“</a:t>
            </a:r>
            <a:r>
              <a:rPr lang="ko-KR" altLang="en-US" sz="2000" dirty="0">
                <a:latin typeface="Source Code Pro Medium" panose="020B0509030403020204" pitchFamily="49" charset="0"/>
              </a:rPr>
              <a:t>저는 </a:t>
            </a:r>
            <a:r>
              <a:rPr lang="en-US" altLang="ko-KR" sz="2000" dirty="0">
                <a:latin typeface="Source Code Pro Medium" panose="020B0509030403020204" pitchFamily="49" charset="0"/>
              </a:rPr>
              <a:t>{}</a:t>
            </a:r>
            <a:r>
              <a:rPr lang="ko-KR" altLang="en-US" sz="2000" dirty="0">
                <a:latin typeface="Source Code Pro Medium" panose="020B0509030403020204" pitchFamily="49" charset="0"/>
              </a:rPr>
              <a:t>세</a:t>
            </a:r>
            <a:r>
              <a:rPr lang="en-US" altLang="ko-KR" sz="2000" dirty="0">
                <a:latin typeface="Source Code Pro Medium" panose="020B0509030403020204" pitchFamily="49" charset="0"/>
              </a:rPr>
              <a:t>, {}</a:t>
            </a:r>
            <a:r>
              <a:rPr lang="ko-KR" altLang="en-US" sz="2000" dirty="0">
                <a:latin typeface="Source Code Pro Medium" panose="020B0509030403020204" pitchFamily="49" charset="0"/>
              </a:rPr>
              <a:t>입니다</a:t>
            </a:r>
            <a:r>
              <a:rPr lang="en-US" altLang="ko-KR" sz="2000" dirty="0">
                <a:latin typeface="Source Code Pro Medium" panose="020B0509030403020204" pitchFamily="49" charset="0"/>
              </a:rPr>
              <a:t>!”.format(</a:t>
            </a:r>
            <a:r>
              <a:rPr lang="en-US" altLang="ko-KR" sz="2000" dirty="0">
                <a:solidFill>
                  <a:srgbClr val="00B0F0"/>
                </a:solidFill>
                <a:latin typeface="Source Code Pro Medium" panose="020B0509030403020204" pitchFamily="49" charset="0"/>
              </a:rPr>
              <a:t>age</a:t>
            </a:r>
            <a:r>
              <a:rPr lang="en-US" altLang="ko-KR" sz="2000" dirty="0">
                <a:latin typeface="Source Code Pro Medium" panose="020B0509030403020204" pitchFamily="49" charset="0"/>
              </a:rPr>
              <a:t>, </a:t>
            </a:r>
            <a:r>
              <a:rPr lang="en-US" altLang="ko-KR" sz="2000" dirty="0">
                <a:solidFill>
                  <a:srgbClr val="00B0F0"/>
                </a:solidFill>
                <a:latin typeface="Source Code Pro Medium" panose="020B0509030403020204" pitchFamily="49" charset="0"/>
              </a:rPr>
              <a:t>name</a:t>
            </a:r>
            <a:r>
              <a:rPr lang="en-US" altLang="ko-KR" sz="2000" dirty="0">
                <a:latin typeface="Source Code Pro Medium" panose="020B0509030403020204" pitchFamily="49" charset="0"/>
              </a:rPr>
              <a:t>))</a:t>
            </a:r>
          </a:p>
          <a:p>
            <a:pPr>
              <a:lnSpc>
                <a:spcPct val="150000"/>
              </a:lnSpc>
            </a:pPr>
            <a:r>
              <a:rPr lang="en-US" altLang="ko-KR" sz="2300" dirty="0" err="1">
                <a:latin typeface="Source Code Pro Medium" panose="020B0509030403020204" pitchFamily="49" charset="0"/>
              </a:rPr>
              <a:t>sayHello</a:t>
            </a:r>
            <a:r>
              <a:rPr lang="en-US" altLang="ko-KR" sz="2300" dirty="0">
                <a:latin typeface="Source Code Pro Medium" panose="020B0509030403020204" pitchFamily="49" charset="0"/>
              </a:rPr>
              <a:t>(“</a:t>
            </a:r>
            <a:r>
              <a:rPr lang="ko-KR" altLang="en-US" sz="2300" dirty="0">
                <a:latin typeface="Source Code Pro Medium" panose="020B0509030403020204" pitchFamily="49" charset="0"/>
              </a:rPr>
              <a:t>홍길동</a:t>
            </a:r>
            <a:r>
              <a:rPr lang="en-US" altLang="ko-KR" sz="2300" dirty="0">
                <a:latin typeface="Source Code Pro Medium" panose="020B0509030403020204" pitchFamily="49" charset="0"/>
              </a:rPr>
              <a:t>”, 20)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Source Code Pro Medium" panose="020B0509030403020204" pitchFamily="49" charset="0"/>
              </a:rPr>
              <a:t>=&gt; </a:t>
            </a:r>
            <a:r>
              <a:rPr lang="ko-KR" altLang="en-US" sz="2000" dirty="0">
                <a:latin typeface="Source Code Pro Medium" panose="020B0509030403020204" pitchFamily="49" charset="0"/>
              </a:rPr>
              <a:t>저는 </a:t>
            </a:r>
            <a:r>
              <a:rPr lang="en-US" altLang="ko-KR" sz="2000" dirty="0">
                <a:latin typeface="Source Code Pro Medium" panose="020B0509030403020204" pitchFamily="49" charset="0"/>
              </a:rPr>
              <a:t>20</a:t>
            </a:r>
            <a:r>
              <a:rPr lang="ko-KR" altLang="en-US" sz="2000" dirty="0">
                <a:latin typeface="Source Code Pro Medium" panose="020B0509030403020204" pitchFamily="49" charset="0"/>
              </a:rPr>
              <a:t>세 홍길동입니다</a:t>
            </a:r>
            <a:r>
              <a:rPr lang="en-US" altLang="ko-KR" sz="2000" dirty="0">
                <a:latin typeface="Source Code Pro Medium" panose="020B0509030403020204" pitchFamily="49" charset="0"/>
              </a:rPr>
              <a:t>!</a:t>
            </a:r>
          </a:p>
          <a:p>
            <a:pPr>
              <a:lnSpc>
                <a:spcPct val="150000"/>
              </a:lnSpc>
            </a:pPr>
            <a:r>
              <a:rPr lang="en-US" altLang="ko-KR" sz="2300" dirty="0">
                <a:latin typeface="Source Code Pro Medium" panose="020B0509030403020204" pitchFamily="49" charset="0"/>
              </a:rPr>
              <a:t>Keyword </a:t>
            </a:r>
            <a:r>
              <a:rPr lang="ko-KR" altLang="en-US" sz="2300" dirty="0">
                <a:latin typeface="Source Code Pro Medium" panose="020B0509030403020204" pitchFamily="49" charset="0"/>
              </a:rPr>
              <a:t>인수 전달</a:t>
            </a:r>
            <a:endParaRPr lang="en-US" altLang="ko-KR" sz="2000" dirty="0">
              <a:latin typeface="Source Code Pro Medium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 err="1">
                <a:latin typeface="Source Code Pro Medium" panose="020B0509030403020204" pitchFamily="49" charset="0"/>
              </a:rPr>
              <a:t>sayHello</a:t>
            </a:r>
            <a:r>
              <a:rPr lang="en-US" altLang="ko-KR" sz="2000" dirty="0">
                <a:latin typeface="Source Code Pro Medium" panose="020B0509030403020204" pitchFamily="49" charset="0"/>
              </a:rPr>
              <a:t>(age=21, name=“</a:t>
            </a:r>
            <a:r>
              <a:rPr lang="ko-KR" altLang="en-US" sz="2000" dirty="0">
                <a:latin typeface="Source Code Pro Medium" panose="020B0509030403020204" pitchFamily="49" charset="0"/>
              </a:rPr>
              <a:t>이순신</a:t>
            </a:r>
            <a:r>
              <a:rPr lang="en-US" altLang="ko-KR" sz="2000" dirty="0">
                <a:latin typeface="Source Code Pro Medium" panose="020B0509030403020204" pitchFamily="49" charset="0"/>
              </a:rPr>
              <a:t>”) #!(</a:t>
            </a:r>
            <a:r>
              <a:rPr lang="ko-KR" altLang="en-US" sz="2000" dirty="0">
                <a:latin typeface="Source Code Pro Medium" panose="020B0509030403020204" pitchFamily="49" charset="0"/>
              </a:rPr>
              <a:t>인수 순서 무관</a:t>
            </a:r>
            <a:r>
              <a:rPr lang="en-US" altLang="ko-KR" sz="2000" dirty="0">
                <a:latin typeface="Source Code Pro Medium" panose="020B0509030403020204" pitchFamily="49" charset="0"/>
              </a:rPr>
              <a:t>)</a:t>
            </a:r>
            <a:endParaRPr lang="en-US" altLang="ko-KR" sz="2300" dirty="0">
              <a:latin typeface="Source Code Pro Medium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784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uiExpand="1" build="p" bldLvl="5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함수의 매개변수 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3</a:t>
            </a:r>
            <a:endParaRPr lang="ko-KR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628650" y="1605148"/>
            <a:ext cx="7886700" cy="4564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dirty="0" err="1">
                <a:latin typeface="Source Code Pro Medium" panose="020B0509030403020204" pitchFamily="49" charset="0"/>
              </a:rPr>
              <a:t>파라메터</a:t>
            </a:r>
            <a:r>
              <a:rPr lang="en-US" altLang="ko-KR" dirty="0">
                <a:latin typeface="Source Code Pro Medium" panose="020B0509030403020204" pitchFamily="49" charset="0"/>
              </a:rPr>
              <a:t> </a:t>
            </a:r>
            <a:r>
              <a:rPr lang="ko-KR" altLang="en-US" dirty="0">
                <a:latin typeface="Source Code Pro Medium" panose="020B0509030403020204" pitchFamily="49" charset="0"/>
              </a:rPr>
              <a:t>개수를 미리 알 수 없는 경우</a:t>
            </a:r>
            <a:endParaRPr lang="en-US" altLang="ko-KR" dirty="0">
              <a:latin typeface="Source Code Pro Medium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100" dirty="0" err="1">
                <a:latin typeface="Source Code Pro Medium" panose="020B0509030403020204" pitchFamily="49" charset="0"/>
              </a:rPr>
              <a:t>def</a:t>
            </a:r>
            <a:r>
              <a:rPr lang="en-US" altLang="ko-KR" sz="2100" b="1" dirty="0">
                <a:latin typeface="Source Code Pro Medium" panose="020B0509030403020204" pitchFamily="49" charset="0"/>
              </a:rPr>
              <a:t> </a:t>
            </a:r>
            <a:r>
              <a:rPr lang="en-US" altLang="ko-KR" sz="2100" b="1" dirty="0" err="1">
                <a:latin typeface="Source Code Pro Medium" panose="020B0509030403020204" pitchFamily="49" charset="0"/>
              </a:rPr>
              <a:t>myFruits</a:t>
            </a:r>
            <a:r>
              <a:rPr lang="en-US" altLang="ko-KR" dirty="0">
                <a:latin typeface="Source Code Pro Medium" panose="020B0509030403020204" pitchFamily="49" charset="0"/>
              </a:rPr>
              <a:t>(</a:t>
            </a:r>
            <a:r>
              <a:rPr lang="en-US" altLang="ko-KR" dirty="0">
                <a:solidFill>
                  <a:srgbClr val="00B0F0"/>
                </a:solidFill>
                <a:latin typeface="Source Code Pro Medium" panose="020B0509030403020204" pitchFamily="49" charset="0"/>
              </a:rPr>
              <a:t>*fruits</a:t>
            </a:r>
            <a:r>
              <a:rPr lang="en-US" altLang="ko-KR" dirty="0">
                <a:latin typeface="Source Code Pro Medium" panose="020B0509030403020204" pitchFamily="49" charset="0"/>
              </a:rPr>
              <a:t>)</a:t>
            </a:r>
            <a:r>
              <a:rPr lang="en-US" altLang="ko-KR" b="1" dirty="0">
                <a:latin typeface="Source Code Pro Medium" panose="020B050903040302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Source Code Pro Medium" panose="020B0509030403020204" pitchFamily="49" charset="0"/>
              </a:rPr>
              <a:t>for fruit in fruits:</a:t>
            </a:r>
          </a:p>
          <a:p>
            <a:pPr lvl="2">
              <a:lnSpc>
                <a:spcPct val="150000"/>
              </a:lnSpc>
            </a:pPr>
            <a:r>
              <a:rPr lang="en-US" altLang="ko-KR" sz="1700" dirty="0">
                <a:latin typeface="Source Code Pro Medium" panose="020B0509030403020204" pitchFamily="49" charset="0"/>
              </a:rPr>
              <a:t>print(“I like {}.”.format(fruit))</a:t>
            </a:r>
          </a:p>
          <a:p>
            <a:pPr>
              <a:lnSpc>
                <a:spcPct val="150000"/>
              </a:lnSpc>
            </a:pPr>
            <a:r>
              <a:rPr lang="en-US" altLang="ko-KR" sz="2300" dirty="0" err="1">
                <a:latin typeface="Source Code Pro Medium" panose="020B0509030403020204" pitchFamily="49" charset="0"/>
              </a:rPr>
              <a:t>myFruits</a:t>
            </a:r>
            <a:r>
              <a:rPr lang="en-US" altLang="ko-KR" sz="2300" dirty="0">
                <a:latin typeface="Source Code Pro Medium" panose="020B0509030403020204" pitchFamily="49" charset="0"/>
              </a:rPr>
              <a:t>(“apple”, “kiwi”, “mango”)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Source Code Pro Medium" panose="020B0509030403020204" pitchFamily="49" charset="0"/>
              </a:rPr>
              <a:t>I like apple.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Source Code Pro Medium" panose="020B0509030403020204" pitchFamily="49" charset="0"/>
              </a:rPr>
              <a:t>I like kiwi.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Source Code Pro Medium" panose="020B0509030403020204" pitchFamily="49" charset="0"/>
              </a:rPr>
              <a:t>I like mango</a:t>
            </a:r>
          </a:p>
        </p:txBody>
      </p:sp>
    </p:spTree>
    <p:extLst>
      <p:ext uri="{BB962C8B-B14F-4D97-AF65-F5344CB8AC3E}">
        <p14:creationId xmlns:p14="http://schemas.microsoft.com/office/powerpoint/2010/main" val="2841233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uiExpand="1" build="p" bldLvl="5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함수의 매개변수 </a:t>
            </a:r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4</a:t>
            </a:r>
            <a:endParaRPr lang="ko-KR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628650" y="1605148"/>
            <a:ext cx="7886700" cy="4564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dirty="0" err="1">
                <a:latin typeface="Source Code Pro Medium" panose="020B0509030403020204" pitchFamily="49" charset="0"/>
              </a:rPr>
              <a:t>파라메터</a:t>
            </a:r>
            <a:r>
              <a:rPr lang="en-US" altLang="ko-KR" dirty="0">
                <a:latin typeface="Source Code Pro Medium" panose="020B0509030403020204" pitchFamily="49" charset="0"/>
              </a:rPr>
              <a:t> default</a:t>
            </a:r>
            <a:r>
              <a:rPr lang="ko-KR" altLang="en-US" dirty="0">
                <a:latin typeface="Source Code Pro Medium" panose="020B0509030403020204" pitchFamily="49" charset="0"/>
              </a:rPr>
              <a:t>값 설정 </a:t>
            </a:r>
            <a:r>
              <a:rPr lang="en-US" altLang="ko-KR" dirty="0">
                <a:latin typeface="Source Code Pro Medium" panose="020B0509030403020204" pitchFamily="49" charset="0"/>
              </a:rPr>
              <a:t>(</a:t>
            </a:r>
            <a:r>
              <a:rPr lang="ko-KR" altLang="en-US" dirty="0" err="1">
                <a:latin typeface="Source Code Pro Medium" panose="020B0509030403020204" pitchFamily="49" charset="0"/>
              </a:rPr>
              <a:t>호출시</a:t>
            </a:r>
            <a:r>
              <a:rPr lang="ko-KR" altLang="en-US" dirty="0">
                <a:latin typeface="Source Code Pro Medium" panose="020B0509030403020204" pitchFamily="49" charset="0"/>
              </a:rPr>
              <a:t> 인수 생략 가능</a:t>
            </a:r>
            <a:r>
              <a:rPr lang="en-US" altLang="ko-KR" dirty="0">
                <a:latin typeface="Source Code Pro Medium" panose="020B050903040302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2100" dirty="0" err="1">
                <a:latin typeface="Source Code Pro Medium" panose="020B0509030403020204" pitchFamily="49" charset="0"/>
              </a:rPr>
              <a:t>def</a:t>
            </a:r>
            <a:r>
              <a:rPr lang="en-US" altLang="ko-KR" sz="2100" b="1">
                <a:latin typeface="Source Code Pro Medium" panose="020B0509030403020204" pitchFamily="49" charset="0"/>
              </a:rPr>
              <a:t> intro</a:t>
            </a:r>
            <a:r>
              <a:rPr lang="en-US" altLang="ko-KR">
                <a:latin typeface="Source Code Pro Medium" panose="020B0509030403020204" pitchFamily="49" charset="0"/>
              </a:rPr>
              <a:t>(</a:t>
            </a:r>
            <a:r>
              <a:rPr lang="en-US" altLang="ko-KR">
                <a:solidFill>
                  <a:srgbClr val="00B0F0"/>
                </a:solidFill>
                <a:latin typeface="Source Code Pro Medium" panose="020B0509030403020204" pitchFamily="49" charset="0"/>
              </a:rPr>
              <a:t>country </a:t>
            </a:r>
            <a:r>
              <a:rPr lang="en-US" altLang="ko-KR" dirty="0">
                <a:solidFill>
                  <a:srgbClr val="00B0F0"/>
                </a:solidFill>
                <a:latin typeface="Source Code Pro Medium" panose="020B0509030403020204" pitchFamily="49" charset="0"/>
              </a:rPr>
              <a:t>= “Korea”</a:t>
            </a:r>
            <a:r>
              <a:rPr lang="en-US" altLang="ko-KR" dirty="0">
                <a:latin typeface="Source Code Pro Medium" panose="020B0509030403020204" pitchFamily="49" charset="0"/>
              </a:rPr>
              <a:t>)</a:t>
            </a:r>
            <a:r>
              <a:rPr lang="en-US" altLang="ko-KR" b="1" dirty="0">
                <a:latin typeface="Source Code Pro Medium" panose="020B050903040302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Source Code Pro Medium" panose="020B0509030403020204" pitchFamily="49" charset="0"/>
              </a:rPr>
              <a:t>print(“I’m from {}.”.format(country))</a:t>
            </a:r>
          </a:p>
          <a:p>
            <a:pPr>
              <a:lnSpc>
                <a:spcPct val="150000"/>
              </a:lnSpc>
            </a:pPr>
            <a:r>
              <a:rPr lang="en-US" altLang="ko-KR" sz="2300" dirty="0">
                <a:latin typeface="Source Code Pro Medium" panose="020B0509030403020204" pitchFamily="49" charset="0"/>
              </a:rPr>
              <a:t>intro()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Source Code Pro Medium" panose="020B0509030403020204" pitchFamily="49" charset="0"/>
              </a:rPr>
              <a:t>I’m from </a:t>
            </a:r>
            <a:r>
              <a:rPr lang="en-US" altLang="ko-KR" sz="2000" dirty="0">
                <a:solidFill>
                  <a:srgbClr val="00B0F0"/>
                </a:solidFill>
                <a:latin typeface="Source Code Pro Medium" panose="020B0509030403020204" pitchFamily="49" charset="0"/>
              </a:rPr>
              <a:t>Korea</a:t>
            </a:r>
            <a:r>
              <a:rPr lang="en-US" altLang="ko-KR" sz="2000" dirty="0">
                <a:latin typeface="Source Code Pro Medium" panose="020B0509030403020204" pitchFamily="49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300" dirty="0">
                <a:latin typeface="Source Code Pro Medium" panose="020B0509030403020204" pitchFamily="49" charset="0"/>
              </a:rPr>
              <a:t>intro(‘</a:t>
            </a:r>
            <a:r>
              <a:rPr lang="en-US" altLang="ko-KR" sz="2300" dirty="0">
                <a:solidFill>
                  <a:srgbClr val="00B050"/>
                </a:solidFill>
                <a:latin typeface="Source Code Pro Medium" panose="020B0509030403020204" pitchFamily="49" charset="0"/>
              </a:rPr>
              <a:t>Japan</a:t>
            </a:r>
            <a:r>
              <a:rPr lang="en-US" altLang="ko-KR" sz="2300" dirty="0">
                <a:latin typeface="Source Code Pro Medium" panose="020B0509030403020204" pitchFamily="49" charset="0"/>
              </a:rPr>
              <a:t>’)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Source Code Pro Medium" panose="020B0509030403020204" pitchFamily="49" charset="0"/>
              </a:rPr>
              <a:t>I’m from </a:t>
            </a:r>
            <a:r>
              <a:rPr lang="en-US" altLang="ko-KR" sz="2000" dirty="0">
                <a:solidFill>
                  <a:srgbClr val="00B050"/>
                </a:solidFill>
                <a:latin typeface="Source Code Pro Medium" panose="020B0509030403020204" pitchFamily="49" charset="0"/>
              </a:rPr>
              <a:t>Japan</a:t>
            </a:r>
            <a:r>
              <a:rPr lang="en-US" altLang="ko-KR" sz="2000" dirty="0">
                <a:latin typeface="Source Code Pro Medium" panose="020B050903040302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7861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uiExpand="1" build="p" bldLvl="5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함수의 반환 값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628650" y="1605148"/>
            <a:ext cx="7886700" cy="4564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dirty="0">
                <a:latin typeface="Source Code Pro Medium" panose="020B0509030403020204" pitchFamily="49" charset="0"/>
              </a:rPr>
              <a:t>함수는 처리 결과로 값을 반환 가능</a:t>
            </a:r>
            <a:endParaRPr lang="en-US" altLang="ko-KR" dirty="0">
              <a:latin typeface="Source Code Pro Medium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100" dirty="0" err="1">
                <a:latin typeface="Source Code Pro Medium" panose="020B0509030403020204" pitchFamily="49" charset="0"/>
              </a:rPr>
              <a:t>def</a:t>
            </a:r>
            <a:r>
              <a:rPr lang="en-US" altLang="ko-KR" sz="2100" b="1" dirty="0">
                <a:latin typeface="Source Code Pro Medium" panose="020B0509030403020204" pitchFamily="49" charset="0"/>
              </a:rPr>
              <a:t> </a:t>
            </a:r>
            <a:r>
              <a:rPr lang="en-US" altLang="ko-KR" sz="2100" dirty="0" err="1">
                <a:latin typeface="Source Code Pro Medium" panose="020B0509030403020204" pitchFamily="49" charset="0"/>
              </a:rPr>
              <a:t>myFunc</a:t>
            </a:r>
            <a:r>
              <a:rPr lang="en-US" altLang="ko-KR" dirty="0">
                <a:latin typeface="Source Code Pro Medium" panose="020B0509030403020204" pitchFamily="49" charset="0"/>
              </a:rPr>
              <a:t>(a)</a:t>
            </a:r>
            <a:r>
              <a:rPr lang="en-US" altLang="ko-KR" b="1" dirty="0">
                <a:latin typeface="Source Code Pro Medium" panose="020B0509030403020204" pitchFamily="49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ource Code Pro Medium" panose="020B0509030403020204" pitchFamily="49" charset="0"/>
              </a:rPr>
              <a:t>return</a:t>
            </a:r>
            <a:r>
              <a:rPr lang="en-US" altLang="ko-KR" sz="2000" dirty="0">
                <a:latin typeface="Source Code Pro Medium" panose="020B0509030403020204" pitchFamily="49" charset="0"/>
              </a:rPr>
              <a:t> 5 * a</a:t>
            </a:r>
          </a:p>
          <a:p>
            <a:pPr>
              <a:lnSpc>
                <a:spcPct val="150000"/>
              </a:lnSpc>
            </a:pPr>
            <a:r>
              <a:rPr lang="en-US" altLang="ko-KR" sz="2300" dirty="0">
                <a:latin typeface="Source Code Pro Medium" panose="020B0509030403020204" pitchFamily="49" charset="0"/>
              </a:rPr>
              <a:t>print(</a:t>
            </a:r>
            <a:r>
              <a:rPr lang="en-US" altLang="ko-KR" sz="2300" dirty="0" err="1">
                <a:latin typeface="Source Code Pro Medium" panose="020B0509030403020204" pitchFamily="49" charset="0"/>
              </a:rPr>
              <a:t>myFunc</a:t>
            </a:r>
            <a:r>
              <a:rPr lang="en-US" altLang="ko-KR" sz="2300" dirty="0">
                <a:latin typeface="Source Code Pro Medium" panose="020B0509030403020204" pitchFamily="49" charset="0"/>
              </a:rPr>
              <a:t>(5))  # </a:t>
            </a:r>
            <a:r>
              <a:rPr lang="en-US" altLang="ko-KR" sz="2300">
                <a:latin typeface="Source Code Pro Medium" panose="020B0509030403020204" pitchFamily="49" charset="0"/>
                <a:sym typeface="Wingdings" panose="05000000000000000000" pitchFamily="2" charset="2"/>
              </a:rPr>
              <a:t> 25</a:t>
            </a:r>
          </a:p>
          <a:p>
            <a:pPr>
              <a:lnSpc>
                <a:spcPct val="150000"/>
              </a:lnSpc>
            </a:pPr>
            <a:endParaRPr lang="en-US" altLang="ko-KR" sz="2300">
              <a:latin typeface="Source Code Pro Medium" panose="020B0509030403020204" pitchFamily="49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ko-KR" altLang="en-US" sz="2300">
                <a:latin typeface="Source Code Pro Medium" panose="020B0509030403020204" pitchFamily="49" charset="0"/>
              </a:rPr>
              <a:t>반환값은 </a:t>
            </a:r>
            <a:r>
              <a:rPr lang="en-US" altLang="ko-KR" sz="2300">
                <a:latin typeface="Source Code Pro Medium" panose="020B0509030403020204" pitchFamily="49" charset="0"/>
              </a:rPr>
              <a:t>2</a:t>
            </a:r>
            <a:r>
              <a:rPr lang="ko-KR" altLang="en-US" sz="2300">
                <a:latin typeface="Source Code Pro Medium" panose="020B0509030403020204" pitchFamily="49" charset="0"/>
              </a:rPr>
              <a:t>개 이상 가능</a:t>
            </a:r>
            <a:endParaRPr lang="en-US" altLang="ko-KR" sz="2300">
              <a:latin typeface="Source Code Pro Medium" panose="020B0509030403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>
                <a:latin typeface="Source Code Pro Medium" panose="020B0509030403020204" pitchFamily="49" charset="0"/>
              </a:rPr>
              <a:t>반환값을 받을 변수의 개수와 순서를 맞춰야 함</a:t>
            </a:r>
            <a:endParaRPr lang="en-US" altLang="ko-KR" sz="2000">
              <a:latin typeface="Source Code Pro Medium" panose="020B050903040302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>
                <a:latin typeface="Source Code Pro Medium" panose="020B0509030403020204" pitchFamily="49" charset="0"/>
              </a:rPr>
              <a:t>반환값을 받을 변수가 부족하면 </a:t>
            </a:r>
            <a:r>
              <a:rPr lang="ko-KR" altLang="en-US" sz="2000" b="1">
                <a:latin typeface="Source Code Pro Medium" panose="020B0509030403020204" pitchFamily="49" charset="0"/>
              </a:rPr>
              <a:t>튜플</a:t>
            </a:r>
            <a:r>
              <a:rPr lang="ko-KR" altLang="en-US" sz="2000" baseline="30000">
                <a:solidFill>
                  <a:srgbClr val="FF0000"/>
                </a:solidFill>
                <a:latin typeface="Source Code Pro Medium" panose="020B0509030403020204" pitchFamily="49" charset="0"/>
              </a:rPr>
              <a:t>*</a:t>
            </a:r>
            <a:r>
              <a:rPr lang="ko-KR" altLang="en-US" sz="2000">
                <a:latin typeface="Source Code Pro Medium" panose="020B0509030403020204" pitchFamily="49" charset="0"/>
              </a:rPr>
              <a:t>에 담아 반환</a:t>
            </a:r>
            <a:endParaRPr lang="en-US" altLang="ko-KR" sz="2000" dirty="0">
              <a:latin typeface="Source Code Pro Medium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264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uiExpand="1" build="p" bldLvl="5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24331</TotalTime>
  <Words>316</Words>
  <Application>Microsoft Office PowerPoint</Application>
  <PresentationFormat>화면 슬라이드 쇼(4:3)</PresentationFormat>
  <Paragraphs>60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나눔고딕 ExtraBold</vt:lpstr>
      <vt:lpstr>맑은 고딕</vt:lpstr>
      <vt:lpstr>Arial</vt:lpstr>
      <vt:lpstr>Source Code Pro Medium</vt:lpstr>
      <vt:lpstr>Wingdings</vt:lpstr>
      <vt:lpstr>Office 테마</vt:lpstr>
      <vt:lpstr>Python-함수(function)</vt:lpstr>
      <vt:lpstr>함수(function)</vt:lpstr>
      <vt:lpstr>함수 정의와 호출 예</vt:lpstr>
      <vt:lpstr>함수의 매개변수 1</vt:lpstr>
      <vt:lpstr>함수의 매개변수 2</vt:lpstr>
      <vt:lpstr>함수의 매개변수 3</vt:lpstr>
      <vt:lpstr>함수의 매개변수 4</vt:lpstr>
      <vt:lpstr>함수의 반환 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D7801</dc:creator>
  <cp:lastModifiedBy> </cp:lastModifiedBy>
  <cp:revision>69</cp:revision>
  <dcterms:created xsi:type="dcterms:W3CDTF">2021-03-04T02:44:44Z</dcterms:created>
  <dcterms:modified xsi:type="dcterms:W3CDTF">2024-03-22T00:59:48Z</dcterms:modified>
</cp:coreProperties>
</file>