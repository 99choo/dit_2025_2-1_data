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0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52" autoAdjust="0"/>
    <p:restoredTop sz="96408" autoAdjust="0"/>
  </p:normalViewPr>
  <p:slideViewPr>
    <p:cSldViewPr snapToGrid="0">
      <p:cViewPr varScale="1">
        <p:scale>
          <a:sx n="105" d="100"/>
          <a:sy n="105" d="100"/>
        </p:scale>
        <p:origin x="1446" y="108"/>
      </p:cViewPr>
      <p:guideLst/>
    </p:cSldViewPr>
  </p:slideViewPr>
  <p:outlineViewPr>
    <p:cViewPr>
      <p:scale>
        <a:sx n="33" d="100"/>
        <a:sy n="33" d="100"/>
      </p:scale>
      <p:origin x="0" y="-240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EA9EB-2ACC-43E1-8277-21A2D28EB570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4E2E5-CF2D-430B-B258-C445DE80D9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71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2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6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6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26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76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0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4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88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5EB80-115C-4A5E-991D-A1C2DE50CCC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6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27496" y="2200392"/>
            <a:ext cx="7384983" cy="1129949"/>
          </a:xfrm>
        </p:spPr>
        <p:txBody>
          <a:bodyPr/>
          <a:lstStyle/>
          <a:p>
            <a:r>
              <a:rPr lang="en-US" altLang="ko-KR" dirty="0"/>
              <a:t>Python-</a:t>
            </a:r>
            <a:r>
              <a:rPr lang="ko-KR" altLang="en-US" dirty="0"/>
              <a:t>컬렉션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4566314"/>
            <a:ext cx="6858000" cy="371446"/>
          </a:xfrm>
        </p:spPr>
        <p:txBody>
          <a:bodyPr/>
          <a:lstStyle/>
          <a:p>
            <a:r>
              <a:rPr lang="ko-KR" altLang="en-US" dirty="0"/>
              <a:t>동의과학대학교 컴퓨터소프트웨어과</a:t>
            </a:r>
          </a:p>
        </p:txBody>
      </p:sp>
    </p:spTree>
    <p:extLst>
      <p:ext uri="{BB962C8B-B14F-4D97-AF65-F5344CB8AC3E}">
        <p14:creationId xmlns:p14="http://schemas.microsoft.com/office/powerpoint/2010/main" val="321732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1105259" cy="1325563"/>
          </a:xfrm>
        </p:spPr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List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49" y="1605148"/>
            <a:ext cx="8360075" cy="45646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변수 하나에 여러 개의 값을 저장하는 </a:t>
            </a:r>
            <a:r>
              <a:rPr lang="en-US" altLang="ko-KR" b="1" u="sng" dirty="0">
                <a:latin typeface="Source Code Pro Medium" panose="020B0509030403020204" pitchFamily="49" charset="0"/>
              </a:rPr>
              <a:t>4</a:t>
            </a:r>
            <a:r>
              <a:rPr lang="ko-KR" altLang="en-US" b="1" u="sng" dirty="0">
                <a:latin typeface="Source Code Pro Medium" panose="020B0509030403020204" pitchFamily="49" charset="0"/>
              </a:rPr>
              <a:t>개</a:t>
            </a:r>
            <a:r>
              <a:rPr lang="ko-KR" altLang="en-US" b="1" dirty="0">
                <a:latin typeface="Source Code Pro Medium" panose="020B0509030403020204" pitchFamily="49" charset="0"/>
              </a:rPr>
              <a:t> 유형 중 하나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Source Code Pro Medium" panose="020B0509030403020204" pitchFamily="49" charset="0"/>
              </a:rPr>
              <a:t>lst</a:t>
            </a:r>
            <a:r>
              <a:rPr lang="en-US" altLang="ko-KR" dirty="0">
                <a:latin typeface="Source Code Pro Medium" panose="020B0509030403020204" pitchFamily="49" charset="0"/>
              </a:rPr>
              <a:t> = 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[</a:t>
            </a:r>
            <a:r>
              <a:rPr lang="en-US" altLang="ko-KR" dirty="0">
                <a:latin typeface="Source Code Pro Medium" panose="020B0509030403020204" pitchFamily="49" charset="0"/>
              </a:rPr>
              <a:t>item1, item2, …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]</a:t>
            </a:r>
            <a:endParaRPr lang="en-US" altLang="ko-KR" b="1" dirty="0">
              <a:solidFill>
                <a:srgbClr val="FF0000"/>
              </a:solidFill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List</a:t>
            </a:r>
            <a:r>
              <a:rPr lang="ko-KR" altLang="en-US" dirty="0">
                <a:latin typeface="Source Code Pro Medium" panose="020B0509030403020204" pitchFamily="49" charset="0"/>
              </a:rPr>
              <a:t> 항목 조건</a:t>
            </a:r>
            <a:r>
              <a:rPr lang="en-US" altLang="ko-KR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순서 중요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항목 변경 가능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항목 중복 허용</a:t>
            </a:r>
            <a:endParaRPr lang="en-US" altLang="ko-KR" b="1" dirty="0">
              <a:solidFill>
                <a:srgbClr val="0070C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항목은 인덱스로 접근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en-US" altLang="ko-KR" dirty="0" err="1">
                <a:latin typeface="Source Code Pro Medium" panose="020B0509030403020204" pitchFamily="49" charset="0"/>
              </a:rPr>
              <a:t>lst</a:t>
            </a:r>
            <a:r>
              <a:rPr lang="en-US" altLang="ko-KR" dirty="0">
                <a:latin typeface="Source Code Pro Medium" panose="020B0509030403020204" pitchFamily="49" charset="0"/>
              </a:rPr>
              <a:t>[0], </a:t>
            </a:r>
            <a:r>
              <a:rPr lang="en-US" altLang="ko-KR" dirty="0" err="1">
                <a:latin typeface="Source Code Pro Medium" panose="020B0509030403020204" pitchFamily="49" charset="0"/>
              </a:rPr>
              <a:t>lst</a:t>
            </a:r>
            <a:r>
              <a:rPr lang="en-US" altLang="ko-KR" dirty="0">
                <a:latin typeface="Source Code Pro Medium" panose="020B0509030403020204" pitchFamily="49" charset="0"/>
              </a:rPr>
              <a:t>[1], …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Methods: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append() / clear() / copy() / count() / index()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insert() / extend() / pop() / remove() /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reverse() / sort()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428031" y="365125"/>
            <a:ext cx="49210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(,Tuple, Set, Dictionary)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187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1458942" cy="1325563"/>
          </a:xfrm>
        </p:spPr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Tuple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49" y="1605148"/>
            <a:ext cx="8360075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변수 하나에 여러 개의 값을 저장하는 </a:t>
            </a:r>
            <a:r>
              <a:rPr lang="en-US" altLang="ko-KR" b="1" u="sng" dirty="0">
                <a:latin typeface="Source Code Pro Medium" panose="020B0509030403020204" pitchFamily="49" charset="0"/>
              </a:rPr>
              <a:t>4</a:t>
            </a:r>
            <a:r>
              <a:rPr lang="ko-KR" altLang="en-US" b="1" u="sng" dirty="0">
                <a:latin typeface="Source Code Pro Medium" panose="020B0509030403020204" pitchFamily="49" charset="0"/>
              </a:rPr>
              <a:t>개</a:t>
            </a:r>
            <a:r>
              <a:rPr lang="ko-KR" altLang="en-US" b="1" dirty="0">
                <a:latin typeface="Source Code Pro Medium" panose="020B0509030403020204" pitchFamily="49" charset="0"/>
              </a:rPr>
              <a:t> 유형 중 하나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Source Code Pro Medium" panose="020B0509030403020204" pitchFamily="49" charset="0"/>
              </a:rPr>
              <a:t>tpl</a:t>
            </a:r>
            <a:r>
              <a:rPr lang="en-US" altLang="ko-KR" dirty="0">
                <a:latin typeface="Source Code Pro Medium" panose="020B0509030403020204" pitchFamily="49" charset="0"/>
              </a:rPr>
              <a:t> = 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(</a:t>
            </a:r>
            <a:r>
              <a:rPr lang="en-US" altLang="ko-KR" dirty="0">
                <a:latin typeface="Source Code Pro Medium" panose="020B0509030403020204" pitchFamily="49" charset="0"/>
              </a:rPr>
              <a:t>item1, item2, …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)</a:t>
            </a:r>
            <a:endParaRPr lang="en-US" altLang="ko-KR" b="1" dirty="0">
              <a:solidFill>
                <a:srgbClr val="FF0000"/>
              </a:solidFill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Tuple</a:t>
            </a:r>
            <a:r>
              <a:rPr lang="ko-KR" altLang="en-US" dirty="0">
                <a:latin typeface="Source Code Pro Medium" panose="020B0509030403020204" pitchFamily="49" charset="0"/>
              </a:rPr>
              <a:t> 항목 조건</a:t>
            </a:r>
            <a:r>
              <a:rPr lang="en-US" altLang="ko-KR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순서 중요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항목 변경 불가능</a:t>
            </a: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항목 중복 허용</a:t>
            </a:r>
            <a:endParaRPr lang="en-US" altLang="ko-KR" b="1" dirty="0">
              <a:solidFill>
                <a:srgbClr val="0070C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항목은 인덱스로 접근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en-US" altLang="ko-KR" dirty="0" err="1">
                <a:latin typeface="Source Code Pro Medium" panose="020B0509030403020204" pitchFamily="49" charset="0"/>
              </a:rPr>
              <a:t>lst</a:t>
            </a:r>
            <a:r>
              <a:rPr lang="en-US" altLang="ko-KR" dirty="0">
                <a:latin typeface="Source Code Pro Medium" panose="020B0509030403020204" pitchFamily="49" charset="0"/>
              </a:rPr>
              <a:t>[0], </a:t>
            </a:r>
            <a:r>
              <a:rPr lang="en-US" altLang="ko-KR" dirty="0" err="1">
                <a:latin typeface="Source Code Pro Medium" panose="020B0509030403020204" pitchFamily="49" charset="0"/>
              </a:rPr>
              <a:t>lst</a:t>
            </a:r>
            <a:r>
              <a:rPr lang="en-US" altLang="ko-KR" dirty="0">
                <a:latin typeface="Source Code Pro Medium" panose="020B0509030403020204" pitchFamily="49" charset="0"/>
              </a:rPr>
              <a:t>[1], …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Methods: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count() / index()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항목에 대한 변경 필요 시</a:t>
            </a:r>
            <a:r>
              <a:rPr lang="en-US" altLang="ko-KR" dirty="0">
                <a:latin typeface="Source Code Pro Medium" panose="020B0509030403020204" pitchFamily="49" charset="0"/>
              </a:rPr>
              <a:t>: tuple </a:t>
            </a:r>
            <a:r>
              <a:rPr lang="en-US" altLang="ko-KR" dirty="0">
                <a:latin typeface="Yoon 연꽃 L" panose="02000503000000020003" pitchFamily="2" charset="-127"/>
                <a:ea typeface="Yoon 연꽃 L" panose="02000503000000020003" pitchFamily="2" charset="-127"/>
              </a:rPr>
              <a:t>➜</a:t>
            </a:r>
            <a:r>
              <a:rPr lang="en-US" altLang="ko-KR" dirty="0">
                <a:latin typeface="Source Code Pro Medium" panose="020B0509030403020204" pitchFamily="49" charset="0"/>
              </a:rPr>
              <a:t> list </a:t>
            </a:r>
            <a:r>
              <a:rPr lang="en-US" altLang="ko-KR" dirty="0">
                <a:latin typeface="Yoon 연꽃 L" panose="02000503000000020003" pitchFamily="2" charset="-127"/>
                <a:ea typeface="Yoon 연꽃 L" panose="02000503000000020003" pitchFamily="2" charset="-127"/>
              </a:rPr>
              <a:t>➜</a:t>
            </a:r>
            <a:r>
              <a:rPr lang="en-US" altLang="ko-KR" dirty="0">
                <a:latin typeface="Source Code Pro Medium" panose="020B0509030403020204" pitchFamily="49" charset="0"/>
              </a:rPr>
              <a:t> tuple 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945616" y="365126"/>
            <a:ext cx="49210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(,List, Set, Dictionary)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252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1458942" cy="1325563"/>
          </a:xfrm>
        </p:spPr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Set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49" y="1605148"/>
            <a:ext cx="8360075" cy="5149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변수 하나에 여러 개의 값을 저장하는 </a:t>
            </a:r>
            <a:r>
              <a:rPr lang="en-US" altLang="ko-KR" b="1" u="sng" dirty="0">
                <a:latin typeface="Source Code Pro Medium" panose="020B0509030403020204" pitchFamily="49" charset="0"/>
              </a:rPr>
              <a:t>4</a:t>
            </a:r>
            <a:r>
              <a:rPr lang="ko-KR" altLang="en-US" b="1" u="sng" dirty="0">
                <a:latin typeface="Source Code Pro Medium" panose="020B0509030403020204" pitchFamily="49" charset="0"/>
              </a:rPr>
              <a:t>개</a:t>
            </a:r>
            <a:r>
              <a:rPr lang="ko-KR" altLang="en-US" b="1" dirty="0">
                <a:latin typeface="Source Code Pro Medium" panose="020B0509030403020204" pitchFamily="49" charset="0"/>
              </a:rPr>
              <a:t> 유형 중 하나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Source Code Pro Medium" panose="020B0509030403020204" pitchFamily="49" charset="0"/>
              </a:rPr>
              <a:t>st</a:t>
            </a:r>
            <a:r>
              <a:rPr lang="en-US" altLang="ko-KR" dirty="0">
                <a:latin typeface="Source Code Pro Medium" panose="020B0509030403020204" pitchFamily="49" charset="0"/>
              </a:rPr>
              <a:t> = 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{</a:t>
            </a:r>
            <a:r>
              <a:rPr lang="en-US" altLang="ko-KR" dirty="0">
                <a:latin typeface="Source Code Pro Medium" panose="020B0509030403020204" pitchFamily="49" charset="0"/>
              </a:rPr>
              <a:t>item1, item2, …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}</a:t>
            </a:r>
            <a:endParaRPr lang="en-US" altLang="ko-KR" b="1" dirty="0">
              <a:solidFill>
                <a:srgbClr val="FF0000"/>
              </a:solidFill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Set</a:t>
            </a:r>
            <a:r>
              <a:rPr lang="ko-KR" altLang="en-US" dirty="0">
                <a:latin typeface="Source Code Pro Medium" panose="020B0509030403020204" pitchFamily="49" charset="0"/>
              </a:rPr>
              <a:t> 항목 조건</a:t>
            </a:r>
            <a:r>
              <a:rPr lang="en-US" altLang="ko-KR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순서 없음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항목 변경 불가능</a:t>
            </a: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항목 중복 불가</a:t>
            </a:r>
            <a:endParaRPr lang="en-US" altLang="ko-KR" b="1" dirty="0">
              <a:solidFill>
                <a:srgbClr val="FF000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항목은 인덱스로 접근 불가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en-US" altLang="ko-KR" strike="sngStrike" dirty="0" err="1">
                <a:solidFill>
                  <a:srgbClr val="FF0000"/>
                </a:solidFill>
                <a:latin typeface="Source Code Pro Medium" panose="020B0509030403020204" pitchFamily="49" charset="0"/>
              </a:rPr>
              <a:t>lst</a:t>
            </a:r>
            <a:r>
              <a:rPr lang="en-US" altLang="ko-KR" strike="sngStrike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[0], </a:t>
            </a:r>
            <a:r>
              <a:rPr lang="en-US" altLang="ko-KR" strike="sngStrike" dirty="0" err="1">
                <a:solidFill>
                  <a:srgbClr val="FF0000"/>
                </a:solidFill>
                <a:latin typeface="Source Code Pro Medium" panose="020B0509030403020204" pitchFamily="49" charset="0"/>
              </a:rPr>
              <a:t>lst</a:t>
            </a:r>
            <a:r>
              <a:rPr lang="en-US" altLang="ko-KR" strike="sngStrike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[1], </a:t>
            </a:r>
            <a:r>
              <a:rPr lang="en-US" altLang="ko-KR" dirty="0">
                <a:latin typeface="Source Code Pro Medium" panose="020B0509030403020204" pitchFamily="49" charset="0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Methods: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add() / clear() / copy() / pop() / 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  <a:latin typeface="Source Code Pro Medium" panose="020B0509030403020204" pitchFamily="49" charset="0"/>
              </a:rPr>
              <a:t>remove()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Source Code Pro Medium" panose="020B0509030403020204" pitchFamily="49" charset="0"/>
              </a:rPr>
              <a:t>/ discard()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difference() / </a:t>
            </a:r>
            <a:r>
              <a:rPr lang="en-US" altLang="ko-KR" dirty="0" err="1">
                <a:latin typeface="Source Code Pro Medium" panose="020B0509030403020204" pitchFamily="49" charset="0"/>
              </a:rPr>
              <a:t>difference_update</a:t>
            </a:r>
            <a:r>
              <a:rPr lang="en-US" altLang="ko-KR" dirty="0">
                <a:latin typeface="Source Code Pro Medium" panose="020B0509030403020204" pitchFamily="49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intersection() / </a:t>
            </a:r>
            <a:r>
              <a:rPr lang="en-US" altLang="ko-KR" dirty="0" err="1">
                <a:latin typeface="Source Code Pro Medium" panose="020B0509030403020204" pitchFamily="49" charset="0"/>
              </a:rPr>
              <a:t>intersection_update</a:t>
            </a:r>
            <a:r>
              <a:rPr lang="en-US" altLang="ko-KR" dirty="0">
                <a:latin typeface="Source Code Pro Medium" panose="020B0509030403020204" pitchFamily="49" charset="0"/>
              </a:rPr>
              <a:t>() / </a:t>
            </a:r>
            <a:r>
              <a:rPr lang="en-US" altLang="ko-KR" dirty="0">
                <a:solidFill>
                  <a:srgbClr val="00B050"/>
                </a:solidFill>
                <a:latin typeface="Source Code Pro Medium" panose="020B0509030403020204" pitchFamily="49" charset="0"/>
              </a:rPr>
              <a:t>union() /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Source Code Pro Medium" panose="020B0509030403020204" pitchFamily="49" charset="0"/>
              </a:rPr>
              <a:t>update()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latin typeface="Source Code Pro Medium" panose="020B0509030403020204" pitchFamily="49" charset="0"/>
              </a:rPr>
              <a:t>issubset</a:t>
            </a:r>
            <a:r>
              <a:rPr lang="en-US" altLang="ko-KR" dirty="0">
                <a:latin typeface="Source Code Pro Medium" panose="020B0509030403020204" pitchFamily="49" charset="0"/>
              </a:rPr>
              <a:t>() / </a:t>
            </a:r>
            <a:r>
              <a:rPr lang="en-US" altLang="ko-KR" dirty="0" err="1">
                <a:latin typeface="Source Code Pro Medium" panose="020B0509030403020204" pitchFamily="49" charset="0"/>
              </a:rPr>
              <a:t>issuperset</a:t>
            </a:r>
            <a:r>
              <a:rPr lang="en-US" altLang="ko-KR" dirty="0">
                <a:latin typeface="Source Code Pro Medium" panose="020B050903040302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항목에 대한 변경 필요 시</a:t>
            </a:r>
            <a:r>
              <a:rPr lang="en-US" altLang="ko-KR" dirty="0">
                <a:latin typeface="Source Code Pro Medium" panose="020B0509030403020204" pitchFamily="49" charset="0"/>
              </a:rPr>
              <a:t>: tuple </a:t>
            </a:r>
            <a:r>
              <a:rPr lang="en-US" altLang="ko-KR" dirty="0">
                <a:latin typeface="Yoon 연꽃 L" panose="02000503000000020003" pitchFamily="2" charset="-127"/>
                <a:ea typeface="Yoon 연꽃 L" panose="02000503000000020003" pitchFamily="2" charset="-127"/>
              </a:rPr>
              <a:t>➜</a:t>
            </a:r>
            <a:r>
              <a:rPr lang="en-US" altLang="ko-KR" dirty="0">
                <a:latin typeface="Source Code Pro Medium" panose="020B0509030403020204" pitchFamily="49" charset="0"/>
              </a:rPr>
              <a:t> list </a:t>
            </a:r>
            <a:r>
              <a:rPr lang="en-US" altLang="ko-KR" dirty="0">
                <a:latin typeface="Yoon 연꽃 L" panose="02000503000000020003" pitchFamily="2" charset="-127"/>
                <a:ea typeface="Yoon 연꽃 L" panose="02000503000000020003" pitchFamily="2" charset="-127"/>
              </a:rPr>
              <a:t>➜</a:t>
            </a:r>
            <a:r>
              <a:rPr lang="en-US" altLang="ko-KR" dirty="0">
                <a:latin typeface="Source Code Pro Medium" panose="020B0509030403020204" pitchFamily="49" charset="0"/>
              </a:rPr>
              <a:t> tuple 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514295" y="365126"/>
            <a:ext cx="49210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(List, Tuple, Dictionary)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841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2606256" cy="1325563"/>
          </a:xfrm>
        </p:spPr>
        <p:txBody>
          <a:bodyPr>
            <a:normAutofit/>
          </a:bodyPr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Dictionary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49" y="1605148"/>
            <a:ext cx="8360075" cy="5149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변수 하나에 여러 개의 값을 저장하는 </a:t>
            </a:r>
            <a:r>
              <a:rPr lang="en-US" altLang="ko-KR" b="1" u="sng" dirty="0">
                <a:latin typeface="Source Code Pro Medium" panose="020B0509030403020204" pitchFamily="49" charset="0"/>
              </a:rPr>
              <a:t>4</a:t>
            </a:r>
            <a:r>
              <a:rPr lang="ko-KR" altLang="en-US" b="1" u="sng" dirty="0">
                <a:latin typeface="Source Code Pro Medium" panose="020B0509030403020204" pitchFamily="49" charset="0"/>
              </a:rPr>
              <a:t>개</a:t>
            </a:r>
            <a:r>
              <a:rPr lang="ko-KR" altLang="en-US" b="1" dirty="0">
                <a:latin typeface="Source Code Pro Medium" panose="020B0509030403020204" pitchFamily="49" charset="0"/>
              </a:rPr>
              <a:t> 유형 중 하나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d = 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{</a:t>
            </a:r>
            <a:r>
              <a:rPr lang="en-US" altLang="ko-KR" dirty="0" err="1">
                <a:solidFill>
                  <a:schemeClr val="accent6">
                    <a:lumMod val="50000"/>
                  </a:schemeClr>
                </a:solidFill>
                <a:latin typeface="Source Code Pro Medium" panose="020B0509030403020204" pitchFamily="49" charset="0"/>
              </a:rPr>
              <a:t>key</a:t>
            </a:r>
            <a:r>
              <a:rPr lang="en-US" altLang="ko-KR" sz="2600" dirty="0" err="1">
                <a:solidFill>
                  <a:srgbClr val="FF0000"/>
                </a:solidFill>
                <a:latin typeface="Source Code Pro Medium" panose="020B0509030403020204" pitchFamily="49" charset="0"/>
              </a:rPr>
              <a:t>:</a:t>
            </a:r>
            <a:r>
              <a:rPr lang="en-US" altLang="ko-KR" dirty="0" err="1">
                <a:solidFill>
                  <a:srgbClr val="00B050"/>
                </a:solidFill>
                <a:latin typeface="Source Code Pro Medium" panose="020B0509030403020204" pitchFamily="49" charset="0"/>
              </a:rPr>
              <a:t>value</a:t>
            </a:r>
            <a:r>
              <a:rPr lang="en-US" altLang="ko-KR" sz="2600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,</a:t>
            </a:r>
            <a:r>
              <a:rPr lang="en-US" altLang="ko-KR" dirty="0">
                <a:latin typeface="Source Code Pro Medium" panose="020B0509030403020204" pitchFamily="49" charset="0"/>
              </a:rPr>
              <a:t> </a:t>
            </a:r>
            <a:r>
              <a:rPr lang="en-US" altLang="ko-KR" dirty="0" err="1">
                <a:solidFill>
                  <a:schemeClr val="accent6">
                    <a:lumMod val="50000"/>
                  </a:schemeClr>
                </a:solidFill>
                <a:latin typeface="Source Code Pro Medium" panose="020B0509030403020204" pitchFamily="49" charset="0"/>
              </a:rPr>
              <a:t>key</a:t>
            </a:r>
            <a:r>
              <a:rPr lang="en-US" altLang="ko-KR" sz="2600" dirty="0" err="1">
                <a:solidFill>
                  <a:srgbClr val="FF0000"/>
                </a:solidFill>
                <a:latin typeface="Source Code Pro Medium" panose="020B0509030403020204" pitchFamily="49" charset="0"/>
              </a:rPr>
              <a:t>:</a:t>
            </a:r>
            <a:r>
              <a:rPr lang="en-US" altLang="ko-KR" dirty="0" err="1">
                <a:solidFill>
                  <a:srgbClr val="00B050"/>
                </a:solidFill>
                <a:latin typeface="Source Code Pro Medium" panose="020B0509030403020204" pitchFamily="49" charset="0"/>
              </a:rPr>
              <a:t>value</a:t>
            </a:r>
            <a:r>
              <a:rPr lang="en-US" altLang="ko-KR" sz="2600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,</a:t>
            </a:r>
            <a:r>
              <a:rPr lang="en-US" altLang="ko-KR" dirty="0">
                <a:latin typeface="Source Code Pro Medium" panose="020B0509030403020204" pitchFamily="49" charset="0"/>
              </a:rPr>
              <a:t> … </a:t>
            </a:r>
            <a:r>
              <a:rPr lang="en-US" altLang="ko-KR" sz="28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}</a:t>
            </a:r>
            <a:endParaRPr lang="en-US" altLang="ko-KR" b="1" dirty="0">
              <a:solidFill>
                <a:srgbClr val="FF0000"/>
              </a:solidFill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Dictionary</a:t>
            </a:r>
            <a:r>
              <a:rPr lang="ko-KR" altLang="en-US" dirty="0">
                <a:latin typeface="Source Code Pro Medium" panose="020B0509030403020204" pitchFamily="49" charset="0"/>
              </a:rPr>
              <a:t> 항목 조건</a:t>
            </a:r>
            <a:r>
              <a:rPr lang="en-US" altLang="ko-KR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0070C0"/>
                </a:solidFill>
                <a:latin typeface="+mj-lt"/>
              </a:rPr>
              <a:t>순서</a:t>
            </a:r>
            <a:r>
              <a:rPr lang="en-US" altLang="ko-KR" sz="1500" dirty="0">
                <a:solidFill>
                  <a:srgbClr val="00B0F0"/>
                </a:solidFill>
                <a:latin typeface="+mj-lt"/>
              </a:rPr>
              <a:t>(Python 3.7</a:t>
            </a:r>
            <a:r>
              <a:rPr lang="ko-KR" altLang="en-US" sz="1500" dirty="0">
                <a:solidFill>
                  <a:srgbClr val="00B0F0"/>
                </a:solidFill>
                <a:latin typeface="+mj-lt"/>
              </a:rPr>
              <a:t>부터는 있음</a:t>
            </a:r>
            <a:r>
              <a:rPr lang="en-US" altLang="ko-KR" sz="1500" dirty="0">
                <a:solidFill>
                  <a:srgbClr val="00B0F0"/>
                </a:solidFill>
                <a:latin typeface="+mj-lt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latin typeface="+mj-lt"/>
              </a:rPr>
              <a:t>항목 변경 가능 </a:t>
            </a:r>
            <a:r>
              <a:rPr lang="en-US" altLang="ko-KR" b="1" dirty="0">
                <a:solidFill>
                  <a:srgbClr val="0070C0"/>
                </a:solidFill>
                <a:latin typeface="+mj-lt"/>
              </a:rPr>
              <a:t>/ 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항목 중복 불가</a:t>
            </a:r>
            <a:endParaRPr lang="en-US" altLang="ko-KR" b="1" dirty="0">
              <a:solidFill>
                <a:srgbClr val="FF000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항목은 </a:t>
            </a:r>
            <a:r>
              <a:rPr lang="en-US" altLang="ko-KR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key</a:t>
            </a:r>
            <a:r>
              <a:rPr lang="ko-KR" altLang="en-US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로 접근</a:t>
            </a:r>
            <a:r>
              <a:rPr lang="en-US" altLang="ko-KR" dirty="0">
                <a:latin typeface="Source Code Pro Medium" panose="020B0509030403020204" pitchFamily="49" charset="0"/>
              </a:rPr>
              <a:t>: d[key], …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새 항목 추가</a:t>
            </a:r>
            <a:r>
              <a:rPr lang="en-US" altLang="ko-KR" dirty="0">
                <a:latin typeface="Source Code Pro Medium" panose="020B0509030403020204" pitchFamily="49" charset="0"/>
              </a:rPr>
              <a:t>: d[</a:t>
            </a:r>
            <a:r>
              <a:rPr lang="en-US" altLang="ko-KR" dirty="0" err="1">
                <a:latin typeface="Source Code Pro Medium" panose="020B0509030403020204" pitchFamily="49" charset="0"/>
              </a:rPr>
              <a:t>new_key</a:t>
            </a:r>
            <a:r>
              <a:rPr lang="en-US" altLang="ko-KR" dirty="0">
                <a:latin typeface="Source Code Pro Medium" panose="020B0509030403020204" pitchFamily="49" charset="0"/>
              </a:rPr>
              <a:t>] = value;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Methods: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clear() / copy() / pop() / </a:t>
            </a:r>
            <a:r>
              <a:rPr lang="en-US" altLang="ko-KR" dirty="0" err="1">
                <a:latin typeface="Source Code Pro Medium" panose="020B0509030403020204" pitchFamily="49" charset="0"/>
              </a:rPr>
              <a:t>popitem</a:t>
            </a:r>
            <a:r>
              <a:rPr lang="en-US" altLang="ko-KR" dirty="0">
                <a:latin typeface="Source Code Pro Medium" panose="020B0509030403020204" pitchFamily="49" charset="0"/>
              </a:rPr>
              <a:t>() / keys() / values()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713367" y="365126"/>
            <a:ext cx="49210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(List, Tuple, Set)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788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  <p:bldP spid="4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24504</TotalTime>
  <Words>367</Words>
  <Application>Microsoft Office PowerPoint</Application>
  <PresentationFormat>화면 슬라이드 쇼(4:3)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Yoon 연꽃 L</vt:lpstr>
      <vt:lpstr>나눔고딕 ExtraBold</vt:lpstr>
      <vt:lpstr>맑은 고딕</vt:lpstr>
      <vt:lpstr>Arial</vt:lpstr>
      <vt:lpstr>Source Code Pro Medium</vt:lpstr>
      <vt:lpstr>Office 테마</vt:lpstr>
      <vt:lpstr>Python-컬렉션 자료형</vt:lpstr>
      <vt:lpstr>List</vt:lpstr>
      <vt:lpstr>Tuple</vt:lpstr>
      <vt:lpstr>Set</vt:lpstr>
      <vt:lpstr>Dictionary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D7801</dc:creator>
  <cp:lastModifiedBy>user</cp:lastModifiedBy>
  <cp:revision>77</cp:revision>
  <dcterms:created xsi:type="dcterms:W3CDTF">2021-03-04T02:44:44Z</dcterms:created>
  <dcterms:modified xsi:type="dcterms:W3CDTF">2025-03-31T04:59:46Z</dcterms:modified>
</cp:coreProperties>
</file>