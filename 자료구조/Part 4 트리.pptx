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2"/>
  </p:notesMasterIdLst>
  <p:sldIdLst>
    <p:sldId id="483" r:id="rId2"/>
    <p:sldId id="485" r:id="rId3"/>
    <p:sldId id="272" r:id="rId4"/>
    <p:sldId id="484" r:id="rId5"/>
    <p:sldId id="486" r:id="rId6"/>
    <p:sldId id="487" r:id="rId7"/>
    <p:sldId id="521" r:id="rId8"/>
    <p:sldId id="522" r:id="rId9"/>
    <p:sldId id="523" r:id="rId10"/>
    <p:sldId id="294" r:id="rId11"/>
    <p:sldId id="489" r:id="rId12"/>
    <p:sldId id="490" r:id="rId13"/>
    <p:sldId id="491" r:id="rId14"/>
    <p:sldId id="492" r:id="rId15"/>
    <p:sldId id="493" r:id="rId16"/>
    <p:sldId id="494" r:id="rId17"/>
    <p:sldId id="496" r:id="rId18"/>
    <p:sldId id="498" r:id="rId19"/>
    <p:sldId id="499" r:id="rId20"/>
    <p:sldId id="500" r:id="rId21"/>
    <p:sldId id="501" r:id="rId22"/>
    <p:sldId id="304" r:id="rId23"/>
    <p:sldId id="502" r:id="rId24"/>
    <p:sldId id="503" r:id="rId25"/>
    <p:sldId id="504" r:id="rId26"/>
    <p:sldId id="309" r:id="rId27"/>
    <p:sldId id="370" r:id="rId28"/>
    <p:sldId id="418" r:id="rId29"/>
    <p:sldId id="419" r:id="rId30"/>
    <p:sldId id="420" r:id="rId31"/>
    <p:sldId id="505" r:id="rId32"/>
    <p:sldId id="506" r:id="rId33"/>
    <p:sldId id="507" r:id="rId34"/>
    <p:sldId id="508" r:id="rId35"/>
    <p:sldId id="509" r:id="rId36"/>
    <p:sldId id="313" r:id="rId37"/>
    <p:sldId id="378" r:id="rId38"/>
    <p:sldId id="315" r:id="rId39"/>
    <p:sldId id="380" r:id="rId40"/>
    <p:sldId id="317" r:id="rId41"/>
    <p:sldId id="381" r:id="rId42"/>
    <p:sldId id="422" r:id="rId43"/>
    <p:sldId id="510" r:id="rId44"/>
    <p:sldId id="386" r:id="rId45"/>
    <p:sldId id="390" r:id="rId46"/>
    <p:sldId id="424" r:id="rId47"/>
    <p:sldId id="511" r:id="rId48"/>
    <p:sldId id="482" r:id="rId49"/>
    <p:sldId id="512" r:id="rId50"/>
    <p:sldId id="513" r:id="rId51"/>
    <p:sldId id="514" r:id="rId52"/>
    <p:sldId id="515" r:id="rId53"/>
    <p:sldId id="516" r:id="rId54"/>
    <p:sldId id="517" r:id="rId55"/>
    <p:sldId id="426" r:id="rId56"/>
    <p:sldId id="474" r:id="rId57"/>
    <p:sldId id="408" r:id="rId58"/>
    <p:sldId id="428" r:id="rId59"/>
    <p:sldId id="429" r:id="rId60"/>
    <p:sldId id="430" r:id="rId61"/>
    <p:sldId id="293" r:id="rId62"/>
    <p:sldId id="412" r:id="rId63"/>
    <p:sldId id="413" r:id="rId64"/>
    <p:sldId id="414" r:id="rId65"/>
    <p:sldId id="435" r:id="rId66"/>
    <p:sldId id="436" r:id="rId67"/>
    <p:sldId id="437" r:id="rId68"/>
    <p:sldId id="438" r:id="rId69"/>
    <p:sldId id="518" r:id="rId70"/>
    <p:sldId id="440" r:id="rId71"/>
    <p:sldId id="441" r:id="rId72"/>
    <p:sldId id="442" r:id="rId73"/>
    <p:sldId id="475" r:id="rId74"/>
    <p:sldId id="519" r:id="rId75"/>
    <p:sldId id="445" r:id="rId76"/>
    <p:sldId id="476" r:id="rId77"/>
    <p:sldId id="477" r:id="rId78"/>
    <p:sldId id="478" r:id="rId79"/>
    <p:sldId id="480" r:id="rId80"/>
    <p:sldId id="479" r:id="rId81"/>
    <p:sldId id="446" r:id="rId82"/>
    <p:sldId id="447" r:id="rId83"/>
    <p:sldId id="448" r:id="rId84"/>
    <p:sldId id="449" r:id="rId85"/>
    <p:sldId id="481" r:id="rId86"/>
    <p:sldId id="450" r:id="rId87"/>
    <p:sldId id="291" r:id="rId88"/>
    <p:sldId id="415" r:id="rId89"/>
    <p:sldId id="473" r:id="rId90"/>
    <p:sldId id="520" r:id="rId9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66FFFF"/>
    <a:srgbClr val="007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-40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56F2F-C64E-4679-8987-733298EAF023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8EA37-74BB-4CE1-83FE-83D77F3E3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80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Calibri" panose="020F0502020204030204" pitchFamily="34" charset="0"/>
                <a:ea typeface="+mn-ea"/>
                <a:sym typeface="Wingdings 2" panose="05020102010507070707" pitchFamily="18" charset="2"/>
              </a:rPr>
              <a:t>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E39B86-15D4-49E7-84C1-0E4E3468CC7C}" type="slidenum">
              <a:rPr kumimoji="1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en-US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480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Calibri" panose="020F0502020204030204" pitchFamily="34" charset="0"/>
                <a:ea typeface="+mn-ea"/>
                <a:sym typeface="Wingdings 2" panose="05020102010507070707" pitchFamily="18" charset="2"/>
              </a:rPr>
              <a:t>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E39B86-15D4-49E7-84C1-0E4E3468CC7C}" type="slidenum">
              <a:rPr kumimoji="1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72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Calibri" panose="020F0502020204030204" pitchFamily="34" charset="0"/>
                <a:ea typeface="+mn-ea"/>
                <a:sym typeface="Wingdings 2" panose="05020102010507070707" pitchFamily="18" charset="2"/>
              </a:rPr>
              <a:t>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E39B86-15D4-49E7-84C1-0E4E3468CC7C}" type="slidenum">
              <a:rPr kumimoji="1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en-US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159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33938C-3A8B-4656-B7A0-E6F26A21CEA7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6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9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2181"/>
            <a:ext cx="7886700" cy="503554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C00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4105"/>
            <a:ext cx="7886700" cy="4937760"/>
          </a:xfr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600"/>
            </a:lvl1pPr>
            <a:lvl2pPr>
              <a:lnSpc>
                <a:spcPct val="120000"/>
              </a:lnSpc>
              <a:spcAft>
                <a:spcPts val="1800"/>
              </a:spcAft>
              <a:defRPr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4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4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300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37912"/>
            <a:ext cx="7886700" cy="5226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en-US" altLang="ko-KR" dirty="0"/>
              <a:t>- </a:t>
            </a:r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425433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C00000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2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2D42877-9D99-47F4-90A1-280F685FDAD6}"/>
              </a:ext>
            </a:extLst>
          </p:cNvPr>
          <p:cNvSpPr/>
          <p:nvPr/>
        </p:nvSpPr>
        <p:spPr>
          <a:xfrm>
            <a:off x="3466361" y="2613392"/>
            <a:ext cx="187743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0"/>
              </a:spcAft>
            </a:pPr>
            <a:r>
              <a:rPr lang="en-US" altLang="ko-KR" sz="4000" b="1">
                <a:solidFill>
                  <a:srgbClr val="C00000"/>
                </a:solidFill>
                <a:latin typeface="Consolas" panose="020B0609020204030204" pitchFamily="49" charset="0"/>
                <a:ea typeface="함초롬바탕" panose="02030604000101010101" pitchFamily="18" charset="-127"/>
                <a:cs typeface="함초롬바탕" panose="02030604000101010101" pitchFamily="18" charset="-127"/>
              </a:rPr>
              <a:t>Part 4</a:t>
            </a:r>
          </a:p>
          <a:p>
            <a:pPr algn="ctr"/>
            <a:r>
              <a:rPr lang="ko-KR" altLang="en-US" sz="4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endParaRPr lang="en-US" altLang="ko-KR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60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0092D-7730-4E7B-8CB8-E69BDC60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42" y="784958"/>
            <a:ext cx="7886700" cy="503554"/>
          </a:xfrm>
        </p:spPr>
        <p:txBody>
          <a:bodyPr/>
          <a:lstStyle/>
          <a:p>
            <a:r>
              <a:rPr lang="ko-KR" altLang="en-US"/>
              <a:t>목차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E09EE-855F-4D0D-92D5-81E3D762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649" y="2141951"/>
            <a:ext cx="5837129" cy="258036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4.1 </a:t>
            </a:r>
            <a:r>
              <a:rPr lang="ko-KR" altLang="en-US"/>
              <a:t>트리</a:t>
            </a:r>
            <a:endParaRPr lang="en-US"/>
          </a:p>
          <a:p>
            <a:pPr marL="0" indent="0">
              <a:buNone/>
            </a:pPr>
            <a:r>
              <a:rPr lang="en-US"/>
              <a:t>4.2 </a:t>
            </a:r>
            <a:r>
              <a:rPr lang="ko-KR" altLang="en-US"/>
              <a:t>이진 트리</a:t>
            </a:r>
            <a:endParaRPr lang="en-US"/>
          </a:p>
          <a:p>
            <a:pPr marL="0" indent="0">
              <a:buNone/>
            </a:pPr>
            <a:r>
              <a:rPr lang="en-US"/>
              <a:t>4.3 </a:t>
            </a:r>
            <a:r>
              <a:rPr lang="ko-KR" altLang="en-US"/>
              <a:t>이진 트리의 연산</a:t>
            </a:r>
            <a:endParaRPr lang="en-US" altLang="ko-KR"/>
          </a:p>
          <a:p>
            <a:pPr marL="0" indent="0">
              <a:buNone/>
            </a:pPr>
            <a:r>
              <a:rPr lang="en-US"/>
              <a:t>4.4 </a:t>
            </a:r>
            <a:r>
              <a:rPr lang="ko-KR" altLang="en-US"/>
              <a:t>이진</a:t>
            </a:r>
            <a:r>
              <a:rPr lang="en-US"/>
              <a:t> </a:t>
            </a:r>
            <a:r>
              <a:rPr lang="ko-KR" altLang="en-US"/>
              <a:t>힙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601101"/>
            <a:ext cx="7886700" cy="65595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트리</a:t>
            </a:r>
            <a:endParaRPr 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77961"/>
            <a:ext cx="7886700" cy="439732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ko-KR" altLang="en-US" sz="2400" dirty="0"/>
              <a:t>파이썬 리스트</a:t>
            </a:r>
            <a:r>
              <a:rPr lang="ko-KR" altLang="ko-KR" sz="2400" dirty="0"/>
              <a:t>나 연결리스트</a:t>
            </a:r>
            <a:r>
              <a:rPr lang="en-US" altLang="ko-KR" sz="2400" dirty="0"/>
              <a:t>:</a:t>
            </a:r>
            <a:r>
              <a:rPr lang="ko-KR" altLang="ko-KR" sz="2400" dirty="0"/>
              <a:t> 데이터를 </a:t>
            </a:r>
            <a:r>
              <a:rPr lang="ko-KR" altLang="ko-KR" sz="2400" u="sng" dirty="0"/>
              <a:t>일렬로 저장</a:t>
            </a:r>
            <a:r>
              <a:rPr lang="ko-KR" altLang="ko-KR" sz="2400" dirty="0"/>
              <a:t>하기 </a:t>
            </a:r>
            <a:r>
              <a:rPr lang="ko-KR" altLang="ko-KR" sz="2400"/>
              <a:t>때문에 탐색</a:t>
            </a:r>
            <a:r>
              <a:rPr lang="ko-KR" altLang="en-US" sz="2400"/>
              <a:t>을</a:t>
            </a:r>
            <a:r>
              <a:rPr lang="ko-KR" altLang="ko-KR" sz="2400"/>
              <a:t> 순차적으로 수행</a:t>
            </a:r>
            <a:endParaRPr lang="en-US" altLang="ko-KR" sz="24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ko-KR" altLang="ko-KR" sz="2400"/>
              <a:t>정렬</a:t>
            </a:r>
            <a:r>
              <a:rPr lang="ko-KR" altLang="en-US" sz="2400"/>
              <a:t>된 배열에서는</a:t>
            </a:r>
            <a:r>
              <a:rPr lang="ko-KR" altLang="ko-KR" sz="2400"/>
              <a:t> 이진</a:t>
            </a:r>
            <a:r>
              <a:rPr lang="en-US" altLang="ko-KR" sz="2400"/>
              <a:t> </a:t>
            </a:r>
            <a:r>
              <a:rPr lang="ko-KR" altLang="ko-KR" sz="2400"/>
              <a:t>탐색을 </a:t>
            </a:r>
            <a:r>
              <a:rPr lang="ko-KR" altLang="ko-KR" sz="2400" dirty="0"/>
              <a:t>통해 효율적인 탐색이 가능하지만</a:t>
            </a:r>
            <a:r>
              <a:rPr lang="en-US" altLang="ko-KR" sz="2400" dirty="0"/>
              <a:t>, </a:t>
            </a:r>
            <a:r>
              <a:rPr lang="ko-KR" altLang="ko-KR" sz="2400" dirty="0"/>
              <a:t>삽입이나 </a:t>
            </a:r>
            <a:r>
              <a:rPr lang="ko-KR" altLang="ko-KR" sz="2400"/>
              <a:t>삭제 후 </a:t>
            </a:r>
            <a:r>
              <a:rPr lang="ko-KR" altLang="ko-KR" sz="2400" dirty="0"/>
              <a:t>정렬 상태를 유지해야 </a:t>
            </a:r>
            <a:r>
              <a:rPr lang="ko-KR" altLang="ko-KR" sz="2400"/>
              <a:t>하므로 </a:t>
            </a:r>
            <a:r>
              <a:rPr lang="en-US" altLang="ko-KR" sz="2400">
                <a:solidFill>
                  <a:srgbClr val="00B0F0"/>
                </a:solidFill>
              </a:rPr>
              <a:t>O(n) </a:t>
            </a:r>
            <a:r>
              <a:rPr lang="ko-KR" altLang="ko-KR" sz="2400">
                <a:solidFill>
                  <a:srgbClr val="00B0F0"/>
                </a:solidFill>
              </a:rPr>
              <a:t>시간</a:t>
            </a:r>
            <a:endParaRPr lang="en-US" altLang="ko-KR" sz="2400" dirty="0">
              <a:solidFill>
                <a:srgbClr val="00B0F0"/>
              </a:solidFill>
            </a:endParaRPr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428588" y="261890"/>
            <a:ext cx="1276350" cy="107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585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695196"/>
            <a:ext cx="7886700" cy="503554"/>
          </a:xfrm>
        </p:spPr>
        <p:txBody>
          <a:bodyPr/>
          <a:lstStyle/>
          <a:p>
            <a:r>
              <a:rPr lang="ko-KR" altLang="en-US" dirty="0"/>
              <a:t>응용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124363"/>
            <a:ext cx="7886700" cy="4038441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 dirty="0"/>
              <a:t>조직이나 기관의 계층구조</a:t>
            </a:r>
            <a:endParaRPr lang="en-US" altLang="ko-KR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 dirty="0"/>
              <a:t>컴퓨터 운영체제의 파일 시스템</a:t>
            </a:r>
            <a:endParaRPr lang="en-US" altLang="ko-KR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 dirty="0"/>
              <a:t>자바 </a:t>
            </a:r>
            <a:r>
              <a:rPr lang="ko-KR" altLang="ko-KR"/>
              <a:t>클래스 계층구조</a:t>
            </a:r>
            <a:endParaRPr lang="en-US" altLang="ko-KR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다양한 탐색</a:t>
            </a:r>
            <a:r>
              <a:rPr lang="en-US" altLang="ko-KR"/>
              <a:t> </a:t>
            </a:r>
            <a:r>
              <a:rPr lang="ko-KR" altLang="ko-KR"/>
              <a:t>트리</a:t>
            </a:r>
            <a:r>
              <a:rPr lang="en-US" altLang="ko-KR" dirty="0"/>
              <a:t>(Search </a:t>
            </a:r>
            <a:r>
              <a:rPr lang="en-US" altLang="ko-KR"/>
              <a:t>Tree)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힙</a:t>
            </a:r>
            <a:r>
              <a:rPr lang="en-US" altLang="ko-KR" dirty="0"/>
              <a:t>(Heap</a:t>
            </a:r>
            <a:r>
              <a:rPr lang="en-US" altLang="ko-KR"/>
              <a:t>) </a:t>
            </a:r>
            <a:r>
              <a:rPr lang="ko-KR" altLang="ko-KR"/>
              <a:t>자료구조</a:t>
            </a:r>
            <a:endParaRPr lang="en-US" altLang="ko-KR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컴파일러의 </a:t>
            </a:r>
            <a:r>
              <a:rPr lang="ko-KR" altLang="ko-KR" dirty="0"/>
              <a:t>수식을 </a:t>
            </a:r>
            <a:r>
              <a:rPr lang="ko-KR" altLang="ko-KR"/>
              <a:t>위한 구문</a:t>
            </a:r>
            <a:r>
              <a:rPr lang="en-US" altLang="ko-KR"/>
              <a:t> </a:t>
            </a:r>
            <a:r>
              <a:rPr lang="ko-KR" altLang="ko-KR"/>
              <a:t>트리</a:t>
            </a:r>
            <a:r>
              <a:rPr lang="en-US" altLang="ko-KR" dirty="0"/>
              <a:t>(Syntax Tree</a:t>
            </a:r>
            <a:r>
              <a:rPr lang="en-US" altLang="ko-KR"/>
              <a:t>) </a:t>
            </a:r>
            <a:r>
              <a:rPr lang="ko-KR" altLang="ko-KR"/>
              <a:t>등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BBA69D-B37B-4460-953B-2988FDA3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4" y="165591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7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40124" y="4769343"/>
            <a:ext cx="7886700" cy="14945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549863"/>
            <a:ext cx="7886700" cy="503554"/>
          </a:xfrm>
        </p:spPr>
        <p:txBody>
          <a:bodyPr/>
          <a:lstStyle/>
          <a:p>
            <a:pPr algn="l"/>
            <a:r>
              <a:rPr lang="en-US" altLang="ko-KR" sz="3600" dirty="0"/>
              <a:t>4.1 </a:t>
            </a:r>
            <a:r>
              <a:rPr lang="ko-KR" altLang="en-US" sz="3600" dirty="0"/>
              <a:t>트리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29364"/>
            <a:ext cx="7886700" cy="4937760"/>
          </a:xfrm>
        </p:spPr>
        <p:txBody>
          <a:bodyPr>
            <a:normAutofit/>
          </a:bodyPr>
          <a:lstStyle/>
          <a:p>
            <a:r>
              <a:rPr lang="ko-KR" altLang="ko-KR" dirty="0"/>
              <a:t>일반적인 트리</a:t>
            </a:r>
            <a:r>
              <a:rPr lang="en-US" altLang="ko-KR" dirty="0"/>
              <a:t>(General Tree)</a:t>
            </a:r>
            <a:r>
              <a:rPr lang="ko-KR" altLang="ko-KR"/>
              <a:t>는 트리를 거꾸로 세워놓은 </a:t>
            </a:r>
            <a:r>
              <a:rPr lang="ko-KR" altLang="ko-KR" dirty="0"/>
              <a:t>형태의 자료구조</a:t>
            </a:r>
            <a:endParaRPr lang="en-US" altLang="ko-KR" dirty="0"/>
          </a:p>
          <a:p>
            <a:r>
              <a:rPr lang="en-US" altLang="ko-KR" sz="2400" dirty="0"/>
              <a:t>HTML</a:t>
            </a:r>
            <a:r>
              <a:rPr lang="ko-KR" altLang="ko-KR" sz="2400"/>
              <a:t>과</a:t>
            </a:r>
            <a:r>
              <a:rPr lang="en-US" altLang="ko-KR" sz="2400"/>
              <a:t> XML</a:t>
            </a:r>
            <a:r>
              <a:rPr lang="ko-KR" altLang="ko-KR" sz="2400"/>
              <a:t>의 </a:t>
            </a:r>
            <a:r>
              <a:rPr lang="ko-KR" altLang="ko-KR" sz="2400" dirty="0"/>
              <a:t>문서 트리</a:t>
            </a:r>
            <a:r>
              <a:rPr lang="en-US" altLang="ko-KR" sz="2400" dirty="0"/>
              <a:t>, </a:t>
            </a:r>
            <a:r>
              <a:rPr lang="ko-KR" altLang="ko-KR" sz="2400" dirty="0"/>
              <a:t>자바 클래스 계층구조</a:t>
            </a:r>
            <a:r>
              <a:rPr lang="en-US" altLang="ko-KR" sz="2400" dirty="0"/>
              <a:t>, </a:t>
            </a:r>
            <a:r>
              <a:rPr lang="ko-KR" altLang="ko-KR" sz="2400" dirty="0"/>
              <a:t>운영체제의 파일시스템</a:t>
            </a:r>
            <a:r>
              <a:rPr lang="en-US" altLang="ko-KR" sz="2400"/>
              <a:t>,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r>
              <a:rPr lang="en-US" altLang="ko-KR" sz="2400" dirty="0"/>
              <a:t>, </a:t>
            </a:r>
            <a:r>
              <a:rPr lang="ko-KR" altLang="ko-KR" sz="2400" dirty="0"/>
              <a:t>이항</a:t>
            </a:r>
            <a:r>
              <a:rPr lang="en-US" altLang="ko-KR" sz="2400" dirty="0"/>
              <a:t>(</a:t>
            </a:r>
            <a:r>
              <a:rPr lang="en-US" altLang="ko-KR" sz="2400"/>
              <a:t>Binomial) </a:t>
            </a:r>
            <a:r>
              <a:rPr lang="ko-KR" altLang="ko-KR" sz="2400"/>
              <a:t>힙</a:t>
            </a:r>
            <a:r>
              <a:rPr lang="en-US" altLang="ko-KR" sz="2400" dirty="0"/>
              <a:t>, </a:t>
            </a:r>
            <a:r>
              <a:rPr lang="ko-KR" altLang="ko-KR" sz="2400" dirty="0"/>
              <a:t>피보나치</a:t>
            </a:r>
            <a:r>
              <a:rPr lang="en-US" altLang="ko-KR" sz="2400" dirty="0"/>
              <a:t>(</a:t>
            </a:r>
            <a:r>
              <a:rPr lang="en-US" altLang="ko-KR" sz="2400"/>
              <a:t>Fibonacci) </a:t>
            </a:r>
            <a:r>
              <a:rPr lang="ko-KR" altLang="ko-KR" sz="2400"/>
              <a:t>힙</a:t>
            </a:r>
            <a:endParaRPr lang="en-US" altLang="ko-KR" sz="2400"/>
          </a:p>
          <a:p>
            <a:endParaRPr lang="en-US" altLang="ko-KR" sz="2400" dirty="0"/>
          </a:p>
          <a:p>
            <a:pPr marL="265113" indent="0">
              <a:buNone/>
            </a:pPr>
            <a:r>
              <a:rPr lang="ko-KR" altLang="ko-KR" sz="2400">
                <a:solidFill>
                  <a:srgbClr val="007635"/>
                </a:solidFill>
              </a:rPr>
              <a:t>트리는</a:t>
            </a:r>
            <a:r>
              <a:rPr lang="en-US" altLang="ko-KR" sz="2400">
                <a:solidFill>
                  <a:srgbClr val="007635"/>
                </a:solidFill>
              </a:rPr>
              <a:t> </a:t>
            </a:r>
            <a:r>
              <a:rPr lang="en-US" altLang="ko-KR" sz="2400" dirty="0">
                <a:solidFill>
                  <a:srgbClr val="007635"/>
                </a:solidFill>
              </a:rPr>
              <a:t>empty</a:t>
            </a:r>
            <a:r>
              <a:rPr lang="ko-KR" altLang="ko-KR" sz="2400" dirty="0">
                <a:solidFill>
                  <a:srgbClr val="007635"/>
                </a:solidFill>
              </a:rPr>
              <a:t>이거나</a:t>
            </a:r>
            <a:r>
              <a:rPr lang="en-US" altLang="ko-KR" sz="2400" dirty="0">
                <a:solidFill>
                  <a:srgbClr val="007635"/>
                </a:solidFill>
              </a:rPr>
              <a:t>, empty</a:t>
            </a:r>
            <a:r>
              <a:rPr lang="ko-KR" altLang="ko-KR" sz="2400" dirty="0">
                <a:solidFill>
                  <a:srgbClr val="007635"/>
                </a:solidFill>
              </a:rPr>
              <a:t>가 </a:t>
            </a:r>
            <a:r>
              <a:rPr lang="ko-KR" altLang="ko-KR" sz="2400">
                <a:solidFill>
                  <a:srgbClr val="007635"/>
                </a:solidFill>
              </a:rPr>
              <a:t>아니면 루트 </a:t>
            </a:r>
            <a:r>
              <a:rPr lang="en-US" altLang="ko-KR" sz="2400" dirty="0">
                <a:solidFill>
                  <a:srgbClr val="007635"/>
                </a:solidFill>
              </a:rPr>
              <a:t>R</a:t>
            </a:r>
            <a:r>
              <a:rPr lang="ko-KR" altLang="ko-KR" sz="2400" dirty="0">
                <a:solidFill>
                  <a:srgbClr val="007635"/>
                </a:solidFill>
              </a:rPr>
              <a:t>과 트리의 집합으로 구성되는데 각 </a:t>
            </a:r>
            <a:r>
              <a:rPr lang="ko-KR" altLang="ko-KR" sz="2400">
                <a:solidFill>
                  <a:srgbClr val="007635"/>
                </a:solidFill>
              </a:rPr>
              <a:t>트리의 루트는 </a:t>
            </a:r>
            <a:r>
              <a:rPr lang="en-US" altLang="ko-KR" sz="2400" dirty="0">
                <a:solidFill>
                  <a:srgbClr val="007635"/>
                </a:solidFill>
              </a:rPr>
              <a:t>R</a:t>
            </a:r>
            <a:r>
              <a:rPr lang="ko-KR" altLang="ko-KR" sz="2400">
                <a:solidFill>
                  <a:srgbClr val="007635"/>
                </a:solidFill>
              </a:rPr>
              <a:t>의 자식</a:t>
            </a:r>
            <a:r>
              <a:rPr lang="en-US" altLang="ko-KR" sz="2400">
                <a:solidFill>
                  <a:srgbClr val="007635"/>
                </a:solidFill>
              </a:rPr>
              <a:t> </a:t>
            </a:r>
            <a:r>
              <a:rPr lang="ko-KR" altLang="ko-KR" sz="2400">
                <a:solidFill>
                  <a:srgbClr val="007635"/>
                </a:solidFill>
              </a:rPr>
              <a:t>노드이다</a:t>
            </a:r>
            <a:r>
              <a:rPr lang="en-US" altLang="ko-KR" sz="2400" dirty="0">
                <a:solidFill>
                  <a:srgbClr val="007635"/>
                </a:solidFill>
              </a:rPr>
              <a:t>. </a:t>
            </a:r>
            <a:r>
              <a:rPr lang="ko-KR" altLang="ko-KR" sz="2400" dirty="0">
                <a:solidFill>
                  <a:srgbClr val="007635"/>
                </a:solidFill>
              </a:rPr>
              <a:t>단</a:t>
            </a:r>
            <a:r>
              <a:rPr lang="en-US" altLang="ko-KR" sz="2400" dirty="0">
                <a:solidFill>
                  <a:srgbClr val="007635"/>
                </a:solidFill>
              </a:rPr>
              <a:t>, </a:t>
            </a:r>
            <a:r>
              <a:rPr lang="ko-KR" altLang="ko-KR" sz="2400" dirty="0">
                <a:solidFill>
                  <a:srgbClr val="007635"/>
                </a:solidFill>
              </a:rPr>
              <a:t>트리의 집합은 공집합일 수도 있다</a:t>
            </a:r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428588" y="261890"/>
            <a:ext cx="12763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483797-D146-42CA-B48F-B3D350F0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32" y="4681661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1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189972"/>
            <a:ext cx="6607419" cy="3276520"/>
          </a:xfrm>
        </p:spPr>
        <p:txBody>
          <a:bodyPr>
            <a:normAutofit fontScale="55000" lnSpcReduction="20000"/>
          </a:bodyPr>
          <a:lstStyle/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en-US" sz="2400" dirty="0"/>
              <a:t>루</a:t>
            </a:r>
            <a:r>
              <a:rPr lang="ko-KR" altLang="ko-KR" sz="2400" dirty="0"/>
              <a:t>트</a:t>
            </a:r>
            <a:r>
              <a:rPr lang="en-US" altLang="ko-KR" sz="2400" dirty="0"/>
              <a:t>(Root)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트리의 최상위에 있는 노드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자식</a:t>
            </a:r>
            <a:r>
              <a:rPr lang="en-US" altLang="ko-KR" sz="2400" dirty="0"/>
              <a:t>(Child)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노드 하위에 연결된 노드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차수</a:t>
            </a:r>
            <a:r>
              <a:rPr lang="en-US" altLang="ko-KR" sz="2400" dirty="0"/>
              <a:t>(Degree)  – </a:t>
            </a:r>
            <a:r>
              <a:rPr lang="ko-KR" altLang="ko-KR" sz="2400" dirty="0"/>
              <a:t>자식 수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부모</a:t>
            </a:r>
            <a:r>
              <a:rPr lang="en-US" altLang="ko-KR" sz="2400" dirty="0"/>
              <a:t>(Parent)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노드의 상위에 연결된 노드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이파리</a:t>
            </a:r>
            <a:r>
              <a:rPr lang="en-US" altLang="ko-KR" sz="2400" dirty="0"/>
              <a:t>(Leaf)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자식이 없는 노드</a:t>
            </a:r>
            <a:endParaRPr lang="en-US" altLang="ko-KR" sz="2400" dirty="0"/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형제</a:t>
            </a:r>
            <a:r>
              <a:rPr lang="en-US" altLang="ko-KR" sz="2400" dirty="0"/>
              <a:t>(Sibling)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동일한 부모를 가지는 노드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조상</a:t>
            </a:r>
            <a:r>
              <a:rPr lang="en-US" altLang="ko-KR" sz="2400" dirty="0"/>
              <a:t>(Ancestor)</a:t>
            </a:r>
            <a:r>
              <a:rPr lang="ko-KR" altLang="ko-KR" sz="2400" dirty="0"/>
              <a:t> </a:t>
            </a:r>
            <a:r>
              <a:rPr lang="en-US" altLang="ko-KR" sz="2400" dirty="0"/>
              <a:t>– </a:t>
            </a:r>
            <a:r>
              <a:rPr lang="ko-KR" altLang="ko-KR" sz="2400" dirty="0"/>
              <a:t>루트까지의 경로상에 있는 모든 노드</a:t>
            </a:r>
          </a:p>
          <a:p>
            <a:pPr lvl="0"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후손</a:t>
            </a:r>
            <a:r>
              <a:rPr lang="en-US" altLang="ko-KR" sz="2400" dirty="0"/>
              <a:t>(Descendant)</a:t>
            </a:r>
            <a:r>
              <a:rPr lang="ko-KR" altLang="ko-KR" sz="2400" dirty="0"/>
              <a:t> </a:t>
            </a:r>
            <a:r>
              <a:rPr lang="en-US" altLang="ko-KR" sz="2400" dirty="0"/>
              <a:t>–</a:t>
            </a:r>
            <a:r>
              <a:rPr lang="ko-KR" altLang="ko-KR" sz="2400" dirty="0"/>
              <a:t>노드 아래로 매달린 모든 노드들의 집합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 err="1"/>
              <a:t>서브트리</a:t>
            </a:r>
            <a:r>
              <a:rPr lang="en-US" altLang="ko-KR" sz="2400" dirty="0"/>
              <a:t>(Subtree) – </a:t>
            </a:r>
            <a:r>
              <a:rPr lang="ko-KR" altLang="ko-KR" sz="2400" dirty="0"/>
              <a:t>노드 자신과 후손</a:t>
            </a:r>
            <a:r>
              <a:rPr lang="ko-KR" altLang="en-US" sz="2400" dirty="0"/>
              <a:t>으</a:t>
            </a:r>
            <a:r>
              <a:rPr lang="ko-KR" altLang="ko-KR" sz="2400" dirty="0"/>
              <a:t>로 구성된 트리 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65108" y="309866"/>
            <a:ext cx="4826977" cy="2595149"/>
            <a:chOff x="1156341" y="692696"/>
            <a:chExt cx="5359875" cy="2880320"/>
          </a:xfrm>
        </p:grpSpPr>
        <p:sp>
          <p:nvSpPr>
            <p:cNvPr id="5" name="Line 701"/>
            <p:cNvSpPr>
              <a:spLocks noChangeShapeType="1"/>
            </p:cNvSpPr>
            <p:nvPr/>
          </p:nvSpPr>
          <p:spPr bwMode="auto">
            <a:xfrm flipH="1">
              <a:off x="5716376" y="2693867"/>
              <a:ext cx="223776" cy="577393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6" name="Line 701"/>
            <p:cNvSpPr>
              <a:spLocks noChangeShapeType="1"/>
            </p:cNvSpPr>
            <p:nvPr/>
          </p:nvSpPr>
          <p:spPr bwMode="auto">
            <a:xfrm>
              <a:off x="6060522" y="2693867"/>
              <a:ext cx="231428" cy="46278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7" name="Line 694"/>
            <p:cNvSpPr>
              <a:spLocks noChangeShapeType="1"/>
            </p:cNvSpPr>
            <p:nvPr/>
          </p:nvSpPr>
          <p:spPr bwMode="auto">
            <a:xfrm>
              <a:off x="1878561" y="2637323"/>
              <a:ext cx="281597" cy="606884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8" name="Line 700"/>
            <p:cNvSpPr>
              <a:spLocks noChangeShapeType="1"/>
            </p:cNvSpPr>
            <p:nvPr/>
          </p:nvSpPr>
          <p:spPr bwMode="auto">
            <a:xfrm flipH="1">
              <a:off x="1424453" y="2531781"/>
              <a:ext cx="459601" cy="671903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9" name="Line 701"/>
            <p:cNvSpPr>
              <a:spLocks noChangeShapeType="1"/>
            </p:cNvSpPr>
            <p:nvPr/>
          </p:nvSpPr>
          <p:spPr bwMode="auto">
            <a:xfrm>
              <a:off x="3268104" y="2693867"/>
              <a:ext cx="0" cy="48601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0" name="Line 701"/>
            <p:cNvSpPr>
              <a:spLocks noChangeShapeType="1"/>
            </p:cNvSpPr>
            <p:nvPr/>
          </p:nvSpPr>
          <p:spPr bwMode="auto">
            <a:xfrm>
              <a:off x="4041430" y="2707827"/>
              <a:ext cx="0" cy="48601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1" name="Line 694"/>
            <p:cNvSpPr>
              <a:spLocks noChangeShapeType="1"/>
            </p:cNvSpPr>
            <p:nvPr/>
          </p:nvSpPr>
          <p:spPr bwMode="auto">
            <a:xfrm>
              <a:off x="4458488" y="1772816"/>
              <a:ext cx="309443" cy="63878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2" name="Line 700"/>
            <p:cNvSpPr>
              <a:spLocks noChangeShapeType="1"/>
            </p:cNvSpPr>
            <p:nvPr/>
          </p:nvSpPr>
          <p:spPr bwMode="auto">
            <a:xfrm flipH="1">
              <a:off x="4062215" y="1841106"/>
              <a:ext cx="275139" cy="57049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3" name="Line 694"/>
            <p:cNvSpPr>
              <a:spLocks noChangeShapeType="1"/>
            </p:cNvSpPr>
            <p:nvPr/>
          </p:nvSpPr>
          <p:spPr bwMode="auto">
            <a:xfrm>
              <a:off x="4355976" y="908719"/>
              <a:ext cx="1697597" cy="815599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4" name="Line 694"/>
            <p:cNvSpPr>
              <a:spLocks noChangeShapeType="1"/>
            </p:cNvSpPr>
            <p:nvPr/>
          </p:nvSpPr>
          <p:spPr bwMode="auto">
            <a:xfrm>
              <a:off x="2615644" y="1754529"/>
              <a:ext cx="612668" cy="664598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5" name="Line 700"/>
            <p:cNvSpPr>
              <a:spLocks noChangeShapeType="1"/>
            </p:cNvSpPr>
            <p:nvPr/>
          </p:nvSpPr>
          <p:spPr bwMode="auto">
            <a:xfrm flipH="1">
              <a:off x="1884054" y="1778474"/>
              <a:ext cx="611871" cy="619102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6" name="타원 15"/>
            <p:cNvSpPr/>
            <p:nvPr/>
          </p:nvSpPr>
          <p:spPr bwMode="auto">
            <a:xfrm>
              <a:off x="4152880" y="692696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7" name="TextBox 221"/>
            <p:cNvSpPr txBox="1"/>
            <p:nvPr/>
          </p:nvSpPr>
          <p:spPr>
            <a:xfrm>
              <a:off x="4127006" y="724030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A</a:t>
              </a:r>
            </a:p>
          </p:txBody>
        </p:sp>
        <p:sp>
          <p:nvSpPr>
            <p:cNvPr id="18" name="Line 823"/>
            <p:cNvSpPr>
              <a:spLocks noChangeShapeType="1"/>
            </p:cNvSpPr>
            <p:nvPr/>
          </p:nvSpPr>
          <p:spPr bwMode="auto">
            <a:xfrm flipH="1">
              <a:off x="2734929" y="1031081"/>
              <a:ext cx="1445590" cy="5385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19" name="타원 18"/>
            <p:cNvSpPr/>
            <p:nvPr/>
          </p:nvSpPr>
          <p:spPr bwMode="auto">
            <a:xfrm>
              <a:off x="2329566" y="148732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0" name="TextBox 215"/>
            <p:cNvSpPr txBox="1"/>
            <p:nvPr/>
          </p:nvSpPr>
          <p:spPr>
            <a:xfrm>
              <a:off x="2301567" y="151866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B</a:t>
              </a:r>
            </a:p>
          </p:txBody>
        </p:sp>
        <p:sp>
          <p:nvSpPr>
            <p:cNvPr id="21" name="타원 20"/>
            <p:cNvSpPr/>
            <p:nvPr/>
          </p:nvSpPr>
          <p:spPr bwMode="auto">
            <a:xfrm>
              <a:off x="1640477" y="2347954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2" name="TextBox 213"/>
            <p:cNvSpPr txBox="1"/>
            <p:nvPr/>
          </p:nvSpPr>
          <p:spPr>
            <a:xfrm>
              <a:off x="1619672" y="237303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E</a:t>
              </a:r>
            </a:p>
          </p:txBody>
        </p:sp>
        <p:sp>
          <p:nvSpPr>
            <p:cNvPr id="23" name="타원 22"/>
            <p:cNvSpPr/>
            <p:nvPr/>
          </p:nvSpPr>
          <p:spPr bwMode="auto">
            <a:xfrm>
              <a:off x="3041201" y="2340422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4" name="TextBox 209"/>
            <p:cNvSpPr txBox="1"/>
            <p:nvPr/>
          </p:nvSpPr>
          <p:spPr>
            <a:xfrm>
              <a:off x="3017188" y="2379288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G</a:t>
              </a:r>
            </a:p>
          </p:txBody>
        </p:sp>
        <p:sp>
          <p:nvSpPr>
            <p:cNvPr id="25" name="타원 24"/>
            <p:cNvSpPr/>
            <p:nvPr/>
          </p:nvSpPr>
          <p:spPr bwMode="auto">
            <a:xfrm>
              <a:off x="5778511" y="1513347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6" name="TextBox 205"/>
            <p:cNvSpPr txBox="1"/>
            <p:nvPr/>
          </p:nvSpPr>
          <p:spPr>
            <a:xfrm>
              <a:off x="5752637" y="1544681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D</a:t>
              </a:r>
            </a:p>
          </p:txBody>
        </p:sp>
        <p:sp>
          <p:nvSpPr>
            <p:cNvPr id="27" name="타원 26"/>
            <p:cNvSpPr/>
            <p:nvPr/>
          </p:nvSpPr>
          <p:spPr bwMode="auto">
            <a:xfrm>
              <a:off x="5789957" y="2330791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8" name="TextBox 203"/>
            <p:cNvSpPr txBox="1"/>
            <p:nvPr/>
          </p:nvSpPr>
          <p:spPr>
            <a:xfrm>
              <a:off x="5745460" y="2362125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J</a:t>
              </a:r>
            </a:p>
          </p:txBody>
        </p:sp>
        <p:sp>
          <p:nvSpPr>
            <p:cNvPr id="29" name="타원 28"/>
            <p:cNvSpPr/>
            <p:nvPr/>
          </p:nvSpPr>
          <p:spPr bwMode="auto">
            <a:xfrm>
              <a:off x="4165826" y="1484784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0" name="TextBox 205"/>
            <p:cNvSpPr txBox="1"/>
            <p:nvPr/>
          </p:nvSpPr>
          <p:spPr>
            <a:xfrm>
              <a:off x="4139952" y="1516118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C</a:t>
              </a:r>
            </a:p>
          </p:txBody>
        </p:sp>
        <p:sp>
          <p:nvSpPr>
            <p:cNvPr id="31" name="Line 701"/>
            <p:cNvSpPr>
              <a:spLocks noChangeShapeType="1"/>
            </p:cNvSpPr>
            <p:nvPr/>
          </p:nvSpPr>
          <p:spPr bwMode="auto">
            <a:xfrm flipH="1">
              <a:off x="4383616" y="1126108"/>
              <a:ext cx="0" cy="327342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2" name="타원 31"/>
            <p:cNvSpPr/>
            <p:nvPr/>
          </p:nvSpPr>
          <p:spPr bwMode="auto">
            <a:xfrm>
              <a:off x="3830081" y="2366242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3" name="TextBox 213"/>
            <p:cNvSpPr txBox="1"/>
            <p:nvPr/>
          </p:nvSpPr>
          <p:spPr>
            <a:xfrm>
              <a:off x="3809276" y="2391320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H</a:t>
              </a:r>
            </a:p>
          </p:txBody>
        </p:sp>
        <p:sp>
          <p:nvSpPr>
            <p:cNvPr id="34" name="타원 33"/>
            <p:cNvSpPr/>
            <p:nvPr/>
          </p:nvSpPr>
          <p:spPr bwMode="auto">
            <a:xfrm>
              <a:off x="4596013" y="2358710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5" name="TextBox 209"/>
            <p:cNvSpPr txBox="1"/>
            <p:nvPr/>
          </p:nvSpPr>
          <p:spPr>
            <a:xfrm>
              <a:off x="4572000" y="2397576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I</a:t>
              </a:r>
            </a:p>
          </p:txBody>
        </p:sp>
        <p:sp>
          <p:nvSpPr>
            <p:cNvPr id="36" name="Line 701"/>
            <p:cNvSpPr>
              <a:spLocks noChangeShapeType="1"/>
            </p:cNvSpPr>
            <p:nvPr/>
          </p:nvSpPr>
          <p:spPr bwMode="auto">
            <a:xfrm flipH="1">
              <a:off x="6003918" y="1945347"/>
              <a:ext cx="0" cy="39600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7" name="타원 36"/>
            <p:cNvSpPr/>
            <p:nvPr/>
          </p:nvSpPr>
          <p:spPr bwMode="auto">
            <a:xfrm>
              <a:off x="3833289" y="3141016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8" name="TextBox 209"/>
            <p:cNvSpPr txBox="1"/>
            <p:nvPr/>
          </p:nvSpPr>
          <p:spPr>
            <a:xfrm>
              <a:off x="3809276" y="317988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N</a:t>
              </a:r>
            </a:p>
          </p:txBody>
        </p:sp>
        <p:sp>
          <p:nvSpPr>
            <p:cNvPr id="39" name="타원 38"/>
            <p:cNvSpPr/>
            <p:nvPr/>
          </p:nvSpPr>
          <p:spPr bwMode="auto">
            <a:xfrm>
              <a:off x="6065537" y="3141016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0" name="TextBox 209"/>
            <p:cNvSpPr txBox="1"/>
            <p:nvPr/>
          </p:nvSpPr>
          <p:spPr>
            <a:xfrm>
              <a:off x="6041524" y="317988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P</a:t>
              </a:r>
            </a:p>
          </p:txBody>
        </p:sp>
        <p:sp>
          <p:nvSpPr>
            <p:cNvPr id="41" name="Line 701"/>
            <p:cNvSpPr>
              <a:spLocks noChangeShapeType="1"/>
            </p:cNvSpPr>
            <p:nvPr/>
          </p:nvSpPr>
          <p:spPr bwMode="auto">
            <a:xfrm flipH="1">
              <a:off x="2548024" y="1911798"/>
              <a:ext cx="0" cy="507329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42" name="타원 41"/>
            <p:cNvSpPr/>
            <p:nvPr/>
          </p:nvSpPr>
          <p:spPr bwMode="auto">
            <a:xfrm>
              <a:off x="2335890" y="2348928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3" name="TextBox 209"/>
            <p:cNvSpPr txBox="1"/>
            <p:nvPr/>
          </p:nvSpPr>
          <p:spPr>
            <a:xfrm>
              <a:off x="2311877" y="238779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F</a:t>
              </a:r>
            </a:p>
          </p:txBody>
        </p:sp>
        <p:sp>
          <p:nvSpPr>
            <p:cNvPr id="53" name="타원 52"/>
            <p:cNvSpPr/>
            <p:nvPr/>
          </p:nvSpPr>
          <p:spPr bwMode="auto">
            <a:xfrm>
              <a:off x="3041201" y="3117214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54" name="TextBox 209"/>
            <p:cNvSpPr txBox="1"/>
            <p:nvPr/>
          </p:nvSpPr>
          <p:spPr>
            <a:xfrm>
              <a:off x="3017188" y="3156080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M</a:t>
              </a:r>
            </a:p>
          </p:txBody>
        </p:sp>
        <p:sp>
          <p:nvSpPr>
            <p:cNvPr id="55" name="타원 54"/>
            <p:cNvSpPr/>
            <p:nvPr/>
          </p:nvSpPr>
          <p:spPr bwMode="auto">
            <a:xfrm>
              <a:off x="5489473" y="314096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56" name="TextBox 209"/>
            <p:cNvSpPr txBox="1"/>
            <p:nvPr/>
          </p:nvSpPr>
          <p:spPr>
            <a:xfrm>
              <a:off x="5465460" y="317983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O</a:t>
              </a:r>
            </a:p>
          </p:txBody>
        </p:sp>
        <p:sp>
          <p:nvSpPr>
            <p:cNvPr id="57" name="타원 56"/>
            <p:cNvSpPr/>
            <p:nvPr/>
          </p:nvSpPr>
          <p:spPr bwMode="auto">
            <a:xfrm>
              <a:off x="1177146" y="3111849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58" name="TextBox 213"/>
            <p:cNvSpPr txBox="1"/>
            <p:nvPr/>
          </p:nvSpPr>
          <p:spPr>
            <a:xfrm>
              <a:off x="1156341" y="3136927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K</a:t>
              </a:r>
            </a:p>
          </p:txBody>
        </p:sp>
        <p:sp>
          <p:nvSpPr>
            <p:cNvPr id="59" name="타원 58"/>
            <p:cNvSpPr/>
            <p:nvPr/>
          </p:nvSpPr>
          <p:spPr bwMode="auto">
            <a:xfrm>
              <a:off x="1934262" y="314096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60" name="TextBox 209"/>
            <p:cNvSpPr txBox="1"/>
            <p:nvPr/>
          </p:nvSpPr>
          <p:spPr>
            <a:xfrm>
              <a:off x="1910249" y="317983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L</a:t>
              </a:r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623094" y="4314708"/>
            <a:ext cx="7689537" cy="1404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레벨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(Level) – 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</a:t>
            </a:r>
            <a:r>
              <a:rPr lang="ko-KR" altLang="en-US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레벨 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1, 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아래 층으로 내려가며 레벨 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씩 증가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lvl="1" algn="just">
              <a:lnSpc>
                <a:spcPct val="107000"/>
              </a:lnSpc>
              <a:spcAft>
                <a:spcPts val="1800"/>
              </a:spcAft>
            </a:pP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레벨은 깊이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(Depth)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ko-KR" altLang="en-US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ko-KR" altLang="ko-KR" sz="1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800"/>
              </a:spcAft>
              <a:buFont typeface="Symbol" panose="05050102010706020507" pitchFamily="18" charset="2"/>
              <a:buChar char=""/>
            </a:pP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높이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(Height) – 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최대 레벨</a:t>
            </a:r>
          </a:p>
          <a:p>
            <a:pPr marL="342900" lvl="0" indent="-342900" algn="just">
              <a:lnSpc>
                <a:spcPct val="107000"/>
              </a:lnSpc>
              <a:spcAft>
                <a:spcPts val="1800"/>
              </a:spcAft>
              <a:buFont typeface="Symbol" panose="05050102010706020507" pitchFamily="18" charset="2"/>
              <a:buChar char=""/>
            </a:pP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en-US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(Key) – </a:t>
            </a:r>
            <a:r>
              <a:rPr lang="ko-KR" altLang="ko-KR" sz="1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탐색에 사용되는 노드에 저장된 정보</a:t>
            </a:r>
          </a:p>
        </p:txBody>
      </p:sp>
    </p:spTree>
    <p:extLst>
      <p:ext uri="{BB962C8B-B14F-4D97-AF65-F5344CB8AC3E}">
        <p14:creationId xmlns:p14="http://schemas.microsoft.com/office/powerpoint/2010/main" val="3394197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4044461" y="1266093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A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타원 2"/>
          <p:cNvSpPr/>
          <p:nvPr/>
        </p:nvSpPr>
        <p:spPr>
          <a:xfrm>
            <a:off x="2677670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B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>
            <a:stCxn id="2" idx="4"/>
            <a:endCxn id="3" idx="0"/>
          </p:cNvCxnSpPr>
          <p:nvPr/>
        </p:nvCxnSpPr>
        <p:spPr>
          <a:xfrm flipH="1">
            <a:off x="2972213" y="1846386"/>
            <a:ext cx="136679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378412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C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>
            <a:stCxn id="2" idx="4"/>
            <a:endCxn id="11" idx="0"/>
          </p:cNvCxnSpPr>
          <p:nvPr/>
        </p:nvCxnSpPr>
        <p:spPr>
          <a:xfrm>
            <a:off x="4339004" y="1846386"/>
            <a:ext cx="133395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3268953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D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>
            <a:stCxn id="3" idx="4"/>
            <a:endCxn id="16" idx="0"/>
          </p:cNvCxnSpPr>
          <p:nvPr/>
        </p:nvCxnSpPr>
        <p:spPr>
          <a:xfrm>
            <a:off x="2972213" y="2866294"/>
            <a:ext cx="591283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4557092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E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>
            <a:stCxn id="11" idx="4"/>
            <a:endCxn id="18" idx="0"/>
          </p:cNvCxnSpPr>
          <p:nvPr/>
        </p:nvCxnSpPr>
        <p:spPr>
          <a:xfrm flipH="1">
            <a:off x="4851635" y="2866294"/>
            <a:ext cx="821320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6077467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F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>
            <a:stCxn id="11" idx="4"/>
            <a:endCxn id="20" idx="0"/>
          </p:cNvCxnSpPr>
          <p:nvPr/>
        </p:nvCxnSpPr>
        <p:spPr>
          <a:xfrm>
            <a:off x="5672955" y="2866294"/>
            <a:ext cx="699055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/>
          <p:cNvSpPr/>
          <p:nvPr/>
        </p:nvSpPr>
        <p:spPr>
          <a:xfrm>
            <a:off x="7505324" y="5301767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C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23" name="직선 연결선 22"/>
          <p:cNvCxnSpPr>
            <a:endCxn id="22" idx="0"/>
          </p:cNvCxnSpPr>
          <p:nvPr/>
        </p:nvCxnSpPr>
        <p:spPr>
          <a:xfrm>
            <a:off x="7168474" y="4862152"/>
            <a:ext cx="631393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4019108" y="4607176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G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>
            <a:stCxn id="18" idx="4"/>
            <a:endCxn id="24" idx="0"/>
          </p:cNvCxnSpPr>
          <p:nvPr/>
        </p:nvCxnSpPr>
        <p:spPr>
          <a:xfrm flipH="1">
            <a:off x="4313651" y="4035672"/>
            <a:ext cx="537984" cy="5715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8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4044461" y="1266093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A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타원 2"/>
          <p:cNvSpPr/>
          <p:nvPr/>
        </p:nvSpPr>
        <p:spPr>
          <a:xfrm>
            <a:off x="2677670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B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>
            <a:stCxn id="2" idx="4"/>
            <a:endCxn id="3" idx="0"/>
          </p:cNvCxnSpPr>
          <p:nvPr/>
        </p:nvCxnSpPr>
        <p:spPr>
          <a:xfrm flipH="1">
            <a:off x="2972213" y="1846386"/>
            <a:ext cx="136679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378412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C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>
            <a:stCxn id="2" idx="4"/>
            <a:endCxn id="11" idx="0"/>
          </p:cNvCxnSpPr>
          <p:nvPr/>
        </p:nvCxnSpPr>
        <p:spPr>
          <a:xfrm>
            <a:off x="4339004" y="1846386"/>
            <a:ext cx="133395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3268953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D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>
            <a:stCxn id="3" idx="4"/>
            <a:endCxn id="16" idx="0"/>
          </p:cNvCxnSpPr>
          <p:nvPr/>
        </p:nvCxnSpPr>
        <p:spPr>
          <a:xfrm>
            <a:off x="2972213" y="2866294"/>
            <a:ext cx="591283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4557092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E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>
            <a:stCxn id="11" idx="4"/>
            <a:endCxn id="18" idx="0"/>
          </p:cNvCxnSpPr>
          <p:nvPr/>
        </p:nvCxnSpPr>
        <p:spPr>
          <a:xfrm flipH="1">
            <a:off x="4851635" y="2866294"/>
            <a:ext cx="821320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6077467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F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>
            <a:stCxn id="11" idx="4"/>
            <a:endCxn id="20" idx="0"/>
          </p:cNvCxnSpPr>
          <p:nvPr/>
        </p:nvCxnSpPr>
        <p:spPr>
          <a:xfrm>
            <a:off x="5672955" y="2866294"/>
            <a:ext cx="699055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4019108" y="4607176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G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>
            <a:stCxn id="18" idx="4"/>
            <a:endCxn id="24" idx="0"/>
          </p:cNvCxnSpPr>
          <p:nvPr/>
        </p:nvCxnSpPr>
        <p:spPr>
          <a:xfrm flipH="1">
            <a:off x="4313651" y="4035672"/>
            <a:ext cx="537984" cy="5715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48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4044461" y="1266093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6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타원 2"/>
          <p:cNvSpPr/>
          <p:nvPr/>
        </p:nvSpPr>
        <p:spPr>
          <a:xfrm>
            <a:off x="2677670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3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>
            <a:stCxn id="2" idx="4"/>
            <a:endCxn id="3" idx="0"/>
          </p:cNvCxnSpPr>
          <p:nvPr/>
        </p:nvCxnSpPr>
        <p:spPr>
          <a:xfrm flipH="1">
            <a:off x="2972213" y="1846386"/>
            <a:ext cx="136679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378412" y="2286001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9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>
            <a:stCxn id="2" idx="4"/>
            <a:endCxn id="11" idx="0"/>
          </p:cNvCxnSpPr>
          <p:nvPr/>
        </p:nvCxnSpPr>
        <p:spPr>
          <a:xfrm>
            <a:off x="4339004" y="1846386"/>
            <a:ext cx="1333951" cy="4396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3268953" y="3455379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4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>
            <a:stCxn id="3" idx="4"/>
            <a:endCxn id="16" idx="0"/>
          </p:cNvCxnSpPr>
          <p:nvPr/>
        </p:nvCxnSpPr>
        <p:spPr>
          <a:xfrm>
            <a:off x="2972213" y="2866294"/>
            <a:ext cx="591283" cy="589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4881614" y="3455377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8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>
            <a:stCxn id="11" idx="4"/>
            <a:endCxn id="18" idx="0"/>
          </p:cNvCxnSpPr>
          <p:nvPr/>
        </p:nvCxnSpPr>
        <p:spPr>
          <a:xfrm flipH="1">
            <a:off x="5176157" y="2866294"/>
            <a:ext cx="496798" cy="5890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5969479" y="3455377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>
            <a:stCxn id="11" idx="4"/>
            <a:endCxn id="20" idx="0"/>
          </p:cNvCxnSpPr>
          <p:nvPr/>
        </p:nvCxnSpPr>
        <p:spPr>
          <a:xfrm>
            <a:off x="5672955" y="2866294"/>
            <a:ext cx="591067" cy="5890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4416894" y="4756645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7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>
            <a:stCxn id="18" idx="4"/>
            <a:endCxn id="24" idx="0"/>
          </p:cNvCxnSpPr>
          <p:nvPr/>
        </p:nvCxnSpPr>
        <p:spPr>
          <a:xfrm flipH="1">
            <a:off x="4711437" y="4035670"/>
            <a:ext cx="464720" cy="7209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2097676" y="3455378"/>
            <a:ext cx="589085" cy="5802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2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/>
          <p:cNvCxnSpPr>
            <a:stCxn id="3" idx="4"/>
            <a:endCxn id="15" idx="0"/>
          </p:cNvCxnSpPr>
          <p:nvPr/>
        </p:nvCxnSpPr>
        <p:spPr>
          <a:xfrm flipH="1">
            <a:off x="2392219" y="2866294"/>
            <a:ext cx="579994" cy="5890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1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70688" y="1427150"/>
            <a:ext cx="7710325" cy="3349669"/>
            <a:chOff x="174043" y="306272"/>
            <a:chExt cx="7710325" cy="3349669"/>
          </a:xfrm>
        </p:grpSpPr>
        <p:sp>
          <p:nvSpPr>
            <p:cNvPr id="53" name="Line 701"/>
            <p:cNvSpPr>
              <a:spLocks noChangeShapeType="1"/>
            </p:cNvSpPr>
            <p:nvPr/>
          </p:nvSpPr>
          <p:spPr bwMode="auto">
            <a:xfrm flipH="1">
              <a:off x="5716376" y="2693867"/>
              <a:ext cx="223776" cy="577393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3" name="Line 701"/>
            <p:cNvSpPr>
              <a:spLocks noChangeShapeType="1"/>
            </p:cNvSpPr>
            <p:nvPr/>
          </p:nvSpPr>
          <p:spPr bwMode="auto">
            <a:xfrm>
              <a:off x="6060522" y="2693867"/>
              <a:ext cx="231428" cy="46278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56" name="Line 694"/>
            <p:cNvSpPr>
              <a:spLocks noChangeShapeType="1"/>
            </p:cNvSpPr>
            <p:nvPr/>
          </p:nvSpPr>
          <p:spPr bwMode="auto">
            <a:xfrm>
              <a:off x="1878561" y="2637323"/>
              <a:ext cx="281597" cy="606884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57" name="Line 700"/>
            <p:cNvSpPr>
              <a:spLocks noChangeShapeType="1"/>
            </p:cNvSpPr>
            <p:nvPr/>
          </p:nvSpPr>
          <p:spPr bwMode="auto">
            <a:xfrm flipH="1">
              <a:off x="1424453" y="2531781"/>
              <a:ext cx="459601" cy="671903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50" name="Line 701"/>
            <p:cNvSpPr>
              <a:spLocks noChangeShapeType="1"/>
            </p:cNvSpPr>
            <p:nvPr/>
          </p:nvSpPr>
          <p:spPr bwMode="auto">
            <a:xfrm>
              <a:off x="3268104" y="2693867"/>
              <a:ext cx="0" cy="48601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2" name="Line 701"/>
            <p:cNvSpPr>
              <a:spLocks noChangeShapeType="1"/>
            </p:cNvSpPr>
            <p:nvPr/>
          </p:nvSpPr>
          <p:spPr bwMode="auto">
            <a:xfrm>
              <a:off x="4041430" y="2707827"/>
              <a:ext cx="0" cy="486015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23" name="Line 694"/>
            <p:cNvSpPr>
              <a:spLocks noChangeShapeType="1"/>
            </p:cNvSpPr>
            <p:nvPr/>
          </p:nvSpPr>
          <p:spPr bwMode="auto">
            <a:xfrm>
              <a:off x="4458488" y="1772816"/>
              <a:ext cx="309443" cy="63878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24" name="Line 700"/>
            <p:cNvSpPr>
              <a:spLocks noChangeShapeType="1"/>
            </p:cNvSpPr>
            <p:nvPr/>
          </p:nvSpPr>
          <p:spPr bwMode="auto">
            <a:xfrm flipH="1">
              <a:off x="4062215" y="1841106"/>
              <a:ext cx="275139" cy="57049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2" name="Line 694"/>
            <p:cNvSpPr>
              <a:spLocks noChangeShapeType="1"/>
            </p:cNvSpPr>
            <p:nvPr/>
          </p:nvSpPr>
          <p:spPr bwMode="auto">
            <a:xfrm>
              <a:off x="4355976" y="908719"/>
              <a:ext cx="1697597" cy="815599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4" name="Line 694"/>
            <p:cNvSpPr>
              <a:spLocks noChangeShapeType="1"/>
            </p:cNvSpPr>
            <p:nvPr/>
          </p:nvSpPr>
          <p:spPr bwMode="auto">
            <a:xfrm>
              <a:off x="2615644" y="1754529"/>
              <a:ext cx="612668" cy="664598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5" name="Line 700"/>
            <p:cNvSpPr>
              <a:spLocks noChangeShapeType="1"/>
            </p:cNvSpPr>
            <p:nvPr/>
          </p:nvSpPr>
          <p:spPr bwMode="auto">
            <a:xfrm flipH="1">
              <a:off x="1884054" y="1778474"/>
              <a:ext cx="611871" cy="619102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6" name="타원 5"/>
            <p:cNvSpPr/>
            <p:nvPr/>
          </p:nvSpPr>
          <p:spPr bwMode="auto">
            <a:xfrm>
              <a:off x="4152880" y="692696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7" name="TextBox 221"/>
            <p:cNvSpPr txBox="1"/>
            <p:nvPr/>
          </p:nvSpPr>
          <p:spPr>
            <a:xfrm>
              <a:off x="4127006" y="724030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A</a:t>
              </a:r>
            </a:p>
          </p:txBody>
        </p:sp>
        <p:sp>
          <p:nvSpPr>
            <p:cNvPr id="8" name="Line 823"/>
            <p:cNvSpPr>
              <a:spLocks noChangeShapeType="1"/>
            </p:cNvSpPr>
            <p:nvPr/>
          </p:nvSpPr>
          <p:spPr bwMode="auto">
            <a:xfrm flipH="1">
              <a:off x="2734929" y="1031081"/>
              <a:ext cx="1445590" cy="5385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9" name="타원 8"/>
            <p:cNvSpPr/>
            <p:nvPr/>
          </p:nvSpPr>
          <p:spPr bwMode="auto">
            <a:xfrm>
              <a:off x="2329566" y="148732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0" name="TextBox 215"/>
            <p:cNvSpPr txBox="1"/>
            <p:nvPr/>
          </p:nvSpPr>
          <p:spPr>
            <a:xfrm>
              <a:off x="2301567" y="151866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B</a:t>
              </a:r>
            </a:p>
          </p:txBody>
        </p:sp>
        <p:sp>
          <p:nvSpPr>
            <p:cNvPr id="11" name="타원 10"/>
            <p:cNvSpPr/>
            <p:nvPr/>
          </p:nvSpPr>
          <p:spPr bwMode="auto">
            <a:xfrm>
              <a:off x="1640477" y="2347954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2" name="TextBox 213"/>
            <p:cNvSpPr txBox="1"/>
            <p:nvPr/>
          </p:nvSpPr>
          <p:spPr>
            <a:xfrm>
              <a:off x="1619672" y="237303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E</a:t>
              </a:r>
            </a:p>
          </p:txBody>
        </p:sp>
        <p:sp>
          <p:nvSpPr>
            <p:cNvPr id="13" name="타원 12"/>
            <p:cNvSpPr/>
            <p:nvPr/>
          </p:nvSpPr>
          <p:spPr bwMode="auto">
            <a:xfrm>
              <a:off x="3041201" y="2340422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4" name="TextBox 209"/>
            <p:cNvSpPr txBox="1"/>
            <p:nvPr/>
          </p:nvSpPr>
          <p:spPr>
            <a:xfrm>
              <a:off x="3017188" y="2379288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G</a:t>
              </a:r>
            </a:p>
          </p:txBody>
        </p:sp>
        <p:sp>
          <p:nvSpPr>
            <p:cNvPr id="15" name="타원 14"/>
            <p:cNvSpPr/>
            <p:nvPr/>
          </p:nvSpPr>
          <p:spPr bwMode="auto">
            <a:xfrm>
              <a:off x="5778511" y="1513347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6" name="TextBox 205"/>
            <p:cNvSpPr txBox="1"/>
            <p:nvPr/>
          </p:nvSpPr>
          <p:spPr>
            <a:xfrm>
              <a:off x="5752637" y="1544681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D</a:t>
              </a:r>
            </a:p>
          </p:txBody>
        </p:sp>
        <p:sp>
          <p:nvSpPr>
            <p:cNvPr id="17" name="타원 16"/>
            <p:cNvSpPr/>
            <p:nvPr/>
          </p:nvSpPr>
          <p:spPr bwMode="auto">
            <a:xfrm>
              <a:off x="5789957" y="2330791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8" name="TextBox 203"/>
            <p:cNvSpPr txBox="1"/>
            <p:nvPr/>
          </p:nvSpPr>
          <p:spPr>
            <a:xfrm>
              <a:off x="5745460" y="2362125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J</a:t>
              </a:r>
            </a:p>
          </p:txBody>
        </p:sp>
        <p:sp>
          <p:nvSpPr>
            <p:cNvPr id="20" name="타원 19"/>
            <p:cNvSpPr/>
            <p:nvPr/>
          </p:nvSpPr>
          <p:spPr bwMode="auto">
            <a:xfrm>
              <a:off x="4165826" y="1484784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1" name="TextBox 205"/>
            <p:cNvSpPr txBox="1"/>
            <p:nvPr/>
          </p:nvSpPr>
          <p:spPr>
            <a:xfrm>
              <a:off x="4139952" y="1516118"/>
              <a:ext cx="48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C</a:t>
              </a:r>
            </a:p>
          </p:txBody>
        </p:sp>
        <p:sp>
          <p:nvSpPr>
            <p:cNvPr id="22" name="Line 701"/>
            <p:cNvSpPr>
              <a:spLocks noChangeShapeType="1"/>
            </p:cNvSpPr>
            <p:nvPr/>
          </p:nvSpPr>
          <p:spPr bwMode="auto">
            <a:xfrm flipH="1">
              <a:off x="4383616" y="1126108"/>
              <a:ext cx="0" cy="327342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 bwMode="auto">
            <a:xfrm>
              <a:off x="3830081" y="2366242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6" name="TextBox 213"/>
            <p:cNvSpPr txBox="1"/>
            <p:nvPr/>
          </p:nvSpPr>
          <p:spPr>
            <a:xfrm>
              <a:off x="3809276" y="2391320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H</a:t>
              </a:r>
            </a:p>
          </p:txBody>
        </p:sp>
        <p:sp>
          <p:nvSpPr>
            <p:cNvPr id="27" name="타원 26"/>
            <p:cNvSpPr/>
            <p:nvPr/>
          </p:nvSpPr>
          <p:spPr bwMode="auto">
            <a:xfrm>
              <a:off x="4596013" y="2358710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8" name="TextBox 209"/>
            <p:cNvSpPr txBox="1"/>
            <p:nvPr/>
          </p:nvSpPr>
          <p:spPr>
            <a:xfrm>
              <a:off x="4572000" y="2397576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I</a:t>
              </a:r>
            </a:p>
          </p:txBody>
        </p:sp>
        <p:sp>
          <p:nvSpPr>
            <p:cNvPr id="29" name="Line 701"/>
            <p:cNvSpPr>
              <a:spLocks noChangeShapeType="1"/>
            </p:cNvSpPr>
            <p:nvPr/>
          </p:nvSpPr>
          <p:spPr bwMode="auto">
            <a:xfrm flipH="1">
              <a:off x="6003918" y="1945347"/>
              <a:ext cx="0" cy="396000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0" name="타원 29"/>
            <p:cNvSpPr/>
            <p:nvPr/>
          </p:nvSpPr>
          <p:spPr bwMode="auto">
            <a:xfrm>
              <a:off x="3833289" y="3141016"/>
              <a:ext cx="432000" cy="432000"/>
            </a:xfrm>
            <a:prstGeom prst="ellipse">
              <a:avLst/>
            </a:prstGeom>
            <a:solidFill>
              <a:srgbClr val="CCFF99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1" name="TextBox 209"/>
            <p:cNvSpPr txBox="1"/>
            <p:nvPr/>
          </p:nvSpPr>
          <p:spPr>
            <a:xfrm>
              <a:off x="3809276" y="317988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N</a:t>
              </a:r>
            </a:p>
          </p:txBody>
        </p:sp>
        <p:sp>
          <p:nvSpPr>
            <p:cNvPr id="34" name="타원 33"/>
            <p:cNvSpPr/>
            <p:nvPr/>
          </p:nvSpPr>
          <p:spPr bwMode="auto">
            <a:xfrm>
              <a:off x="6065537" y="3141016"/>
              <a:ext cx="432000" cy="4320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5" name="TextBox 209"/>
            <p:cNvSpPr txBox="1"/>
            <p:nvPr/>
          </p:nvSpPr>
          <p:spPr>
            <a:xfrm>
              <a:off x="6041524" y="3179882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P</a:t>
              </a:r>
            </a:p>
          </p:txBody>
        </p:sp>
        <p:sp>
          <p:nvSpPr>
            <p:cNvPr id="36" name="Line 701"/>
            <p:cNvSpPr>
              <a:spLocks noChangeShapeType="1"/>
            </p:cNvSpPr>
            <p:nvPr/>
          </p:nvSpPr>
          <p:spPr bwMode="auto">
            <a:xfrm flipH="1">
              <a:off x="2548024" y="1911798"/>
              <a:ext cx="0" cy="507329"/>
            </a:xfrm>
            <a:prstGeom prst="line">
              <a:avLst/>
            </a:prstGeom>
            <a:noFill/>
            <a:ln w="19050">
              <a:solidFill>
                <a:srgbClr val="0505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ahoma" pitchFamily="34" charset="0"/>
                <a:ea typeface="굴림"/>
                <a:cs typeface="+mn-cs"/>
              </a:endParaRPr>
            </a:p>
          </p:txBody>
        </p:sp>
        <p:sp>
          <p:nvSpPr>
            <p:cNvPr id="37" name="타원 36"/>
            <p:cNvSpPr/>
            <p:nvPr/>
          </p:nvSpPr>
          <p:spPr bwMode="auto">
            <a:xfrm>
              <a:off x="2335890" y="2348928"/>
              <a:ext cx="432000" cy="432000"/>
            </a:xfrm>
            <a:prstGeom prst="ellipse">
              <a:avLst/>
            </a:prstGeom>
            <a:solidFill>
              <a:srgbClr val="FFCCFF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8" name="TextBox 209"/>
            <p:cNvSpPr txBox="1"/>
            <p:nvPr/>
          </p:nvSpPr>
          <p:spPr>
            <a:xfrm>
              <a:off x="2311877" y="238779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F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32240" y="683404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레벨 </a:t>
              </a:r>
              <a:r>
                <a:rPr kumimoji="1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32240" y="1547500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레벨 </a:t>
              </a:r>
              <a:r>
                <a:rPr kumimoji="1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22526" y="2411596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레벨 </a:t>
              </a:r>
              <a:r>
                <a:rPr kumimoji="1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22526" y="3203684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레벨 </a:t>
              </a:r>
              <a:r>
                <a:rPr kumimoji="1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4" name="직선 연결선 43"/>
            <p:cNvCxnSpPr/>
            <p:nvPr/>
          </p:nvCxnSpPr>
          <p:spPr>
            <a:xfrm flipV="1">
              <a:off x="1043608" y="836712"/>
              <a:ext cx="0" cy="2808312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>
              <a:off x="827584" y="836712"/>
              <a:ext cx="43204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>
              <a:off x="827584" y="3655941"/>
              <a:ext cx="43204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74043" y="188545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높이</a:t>
              </a:r>
              <a:endPara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779912" y="306272"/>
              <a:ext cx="1356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루트 노드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타원 50"/>
            <p:cNvSpPr/>
            <p:nvPr/>
          </p:nvSpPr>
          <p:spPr bwMode="auto">
            <a:xfrm>
              <a:off x="3041201" y="3117214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52" name="TextBox 209"/>
            <p:cNvSpPr txBox="1"/>
            <p:nvPr/>
          </p:nvSpPr>
          <p:spPr>
            <a:xfrm>
              <a:off x="3017188" y="3156080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M</a:t>
              </a:r>
            </a:p>
          </p:txBody>
        </p:sp>
        <p:sp>
          <p:nvSpPr>
            <p:cNvPr id="54" name="타원 53"/>
            <p:cNvSpPr/>
            <p:nvPr/>
          </p:nvSpPr>
          <p:spPr bwMode="auto">
            <a:xfrm>
              <a:off x="5489473" y="314096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55" name="TextBox 209"/>
            <p:cNvSpPr txBox="1"/>
            <p:nvPr/>
          </p:nvSpPr>
          <p:spPr>
            <a:xfrm>
              <a:off x="5465460" y="317983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O</a:t>
              </a: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1177146" y="3111849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61" name="TextBox 213"/>
            <p:cNvSpPr txBox="1"/>
            <p:nvPr/>
          </p:nvSpPr>
          <p:spPr>
            <a:xfrm>
              <a:off x="1156341" y="3136927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K</a:t>
              </a:r>
            </a:p>
          </p:txBody>
        </p:sp>
        <p:sp>
          <p:nvSpPr>
            <p:cNvPr id="62" name="타원 61"/>
            <p:cNvSpPr/>
            <p:nvPr/>
          </p:nvSpPr>
          <p:spPr bwMode="auto">
            <a:xfrm>
              <a:off x="1934262" y="3140968"/>
              <a:ext cx="432000" cy="4320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4050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63" name="TextBox 209"/>
            <p:cNvSpPr txBox="1"/>
            <p:nvPr/>
          </p:nvSpPr>
          <p:spPr>
            <a:xfrm>
              <a:off x="1910249" y="3179834"/>
              <a:ext cx="474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050C"/>
                  </a:solidFill>
                  <a:effectLst/>
                  <a:uLnTx/>
                  <a:uFillTx/>
                  <a:latin typeface="Tahoma"/>
                  <a:ea typeface="굴림" panose="020B0600000101010101" pitchFamily="50" charset="-127"/>
                  <a:cs typeface="+mn-cs"/>
                </a:rPr>
                <a:t>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66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49717" y="805936"/>
            <a:ext cx="853878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A: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루트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B, C, D: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각각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자식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차수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B, C, D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K, L, F, M, N, I, O, P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이파리들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E, F, G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모두 같으므로 이들은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서로 형제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{B, C, D}, {H, I}, {K, L}, {O, P}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도 각각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서로 형제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자손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{H, I, N}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루트로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하는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서브트리는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C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자손들로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구성된 트리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조상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{J, D, A}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높이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4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1662B3-55A0-4EC8-B6C7-A27106BFD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92" y="358198"/>
            <a:ext cx="4377191" cy="20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44595"/>
            <a:ext cx="8229600" cy="5553489"/>
          </a:xfrm>
        </p:spPr>
        <p:txBody>
          <a:bodyPr>
            <a:normAutofit/>
          </a:bodyPr>
          <a:lstStyle/>
          <a:p>
            <a:r>
              <a:rPr lang="ko-KR" altLang="ko-KR" sz="2400"/>
              <a:t>이파리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단말</a:t>
            </a:r>
            <a:r>
              <a:rPr lang="en-US" altLang="ko-KR" sz="2400" dirty="0"/>
              <a:t>(</a:t>
            </a:r>
            <a:r>
              <a:rPr lang="en-US" altLang="ko-KR" sz="2400"/>
              <a:t>Terminal) </a:t>
            </a:r>
            <a:r>
              <a:rPr lang="ko-KR" altLang="ko-KR" sz="2400"/>
              <a:t>노드 </a:t>
            </a:r>
            <a:r>
              <a:rPr lang="ko-KR" altLang="ko-KR" sz="2400" dirty="0"/>
              <a:t>또는 </a:t>
            </a:r>
            <a:r>
              <a:rPr lang="ko-KR" altLang="ko-KR" sz="2400" dirty="0">
                <a:solidFill>
                  <a:srgbClr val="00B0F0"/>
                </a:solidFill>
              </a:rPr>
              <a:t>외부</a:t>
            </a:r>
            <a:r>
              <a:rPr lang="en-US" altLang="ko-KR" sz="2400" dirty="0">
                <a:solidFill>
                  <a:srgbClr val="00B0F0"/>
                </a:solidFill>
              </a:rPr>
              <a:t>(</a:t>
            </a:r>
            <a:r>
              <a:rPr lang="en-US" altLang="ko-KR" sz="2400">
                <a:solidFill>
                  <a:srgbClr val="00B0F0"/>
                </a:solidFill>
              </a:rPr>
              <a:t>External) </a:t>
            </a:r>
            <a:r>
              <a:rPr lang="ko-KR" altLang="ko-KR" sz="2400">
                <a:solidFill>
                  <a:srgbClr val="00B0F0"/>
                </a:solidFill>
              </a:rPr>
              <a:t>노드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내부</a:t>
            </a:r>
            <a:r>
              <a:rPr lang="en-US" altLang="ko-KR" sz="2400" dirty="0">
                <a:solidFill>
                  <a:srgbClr val="00B0F0"/>
                </a:solidFill>
              </a:rPr>
              <a:t>(</a:t>
            </a:r>
            <a:r>
              <a:rPr lang="en-US" altLang="ko-KR" sz="2400">
                <a:solidFill>
                  <a:srgbClr val="00B0F0"/>
                </a:solidFill>
              </a:rPr>
              <a:t>Internal) </a:t>
            </a:r>
            <a:r>
              <a:rPr lang="ko-KR" altLang="ko-KR" sz="2400">
                <a:solidFill>
                  <a:srgbClr val="00B0F0"/>
                </a:solidFill>
              </a:rPr>
              <a:t>노드</a:t>
            </a:r>
            <a:r>
              <a:rPr lang="ko-KR" altLang="ko-KR" sz="2400"/>
              <a:t> </a:t>
            </a:r>
            <a:r>
              <a:rPr lang="ko-KR" altLang="ko-KR" sz="2400" dirty="0"/>
              <a:t>또는 비 단말</a:t>
            </a:r>
            <a:r>
              <a:rPr lang="en-US" altLang="ko-KR" sz="2400" dirty="0"/>
              <a:t>(</a:t>
            </a:r>
            <a:r>
              <a:rPr lang="en-US" altLang="ko-KR" sz="2400"/>
              <a:t>Non-Terminal) </a:t>
            </a:r>
            <a:r>
              <a:rPr lang="ko-KR" altLang="ko-KR" sz="2400"/>
              <a:t>노드</a:t>
            </a:r>
            <a:r>
              <a:rPr lang="en-US" altLang="ko-KR" sz="2400" dirty="0"/>
              <a:t>: </a:t>
            </a:r>
            <a:r>
              <a:rPr lang="ko-KR" altLang="ko-KR" sz="2400" dirty="0"/>
              <a:t>이파리가 아닌 노드 </a:t>
            </a:r>
          </a:p>
          <a:p>
            <a:r>
              <a:rPr lang="ko-KR" altLang="ko-KR" sz="2400" dirty="0"/>
              <a:t>일반적인 트리를 메모리에 저장하려면 각 노드에 키와 자식 수만큼의 레퍼런스 저장</a:t>
            </a:r>
            <a:r>
              <a:rPr lang="en-US" altLang="ko-KR" sz="2400" dirty="0"/>
              <a:t> </a:t>
            </a:r>
            <a:r>
              <a:rPr lang="ko-KR" altLang="en-US" sz="2400" dirty="0"/>
              <a:t>필요</a:t>
            </a:r>
            <a:r>
              <a:rPr lang="ko-KR" altLang="ko-KR" sz="2400" dirty="0"/>
              <a:t> </a:t>
            </a:r>
            <a:endParaRPr lang="en-US" altLang="ko-KR" sz="2400" dirty="0"/>
          </a:p>
          <a:p>
            <a:pPr lvl="1"/>
            <a:r>
              <a:rPr lang="ko-KR" altLang="ko-KR" sz="2200" dirty="0"/>
              <a:t>노드의 최대 차수가</a:t>
            </a:r>
            <a:r>
              <a:rPr lang="en-US" altLang="ko-KR" sz="2200" dirty="0"/>
              <a:t> k</a:t>
            </a:r>
            <a:r>
              <a:rPr lang="ko-KR" altLang="ko-KR" sz="2200" dirty="0"/>
              <a:t>라면</a:t>
            </a:r>
            <a:r>
              <a:rPr lang="en-US" altLang="ko-KR" sz="2200" dirty="0"/>
              <a:t>, k</a:t>
            </a:r>
            <a:r>
              <a:rPr lang="ko-KR" altLang="ko-KR" sz="2200" dirty="0"/>
              <a:t>개의 </a:t>
            </a:r>
            <a:r>
              <a:rPr lang="ko-KR" altLang="ko-KR" sz="2200"/>
              <a:t>레퍼런스 필드</a:t>
            </a:r>
            <a:r>
              <a:rPr lang="en-US" altLang="ko-KR" sz="2200"/>
              <a:t> </a:t>
            </a:r>
            <a:r>
              <a:rPr lang="ko-KR" altLang="en-US" sz="2200"/>
              <a:t>필요</a:t>
            </a:r>
            <a:endParaRPr lang="ko-KR" altLang="en-US" sz="2200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207" y="4881175"/>
            <a:ext cx="3531439" cy="90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19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6467" y="865777"/>
            <a:ext cx="8229600" cy="512314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ko-KR"/>
              <a:t> </a:t>
            </a:r>
            <a:r>
              <a:rPr lang="en-US" altLang="ko-KR"/>
              <a:t>n</a:t>
            </a:r>
            <a:r>
              <a:rPr lang="ko-KR" altLang="ko-KR"/>
              <a:t>개의 </a:t>
            </a:r>
            <a:r>
              <a:rPr lang="ko-KR" altLang="ko-KR" dirty="0"/>
              <a:t>노드가 있</a:t>
            </a:r>
            <a:r>
              <a:rPr lang="ko-KR" altLang="en-US" dirty="0"/>
              <a:t>는 </a:t>
            </a:r>
            <a:r>
              <a:rPr lang="ko-KR" altLang="ko-KR" dirty="0"/>
              <a:t>최대 차수가 </a:t>
            </a:r>
            <a:r>
              <a:rPr lang="en-US" altLang="ko-KR" dirty="0"/>
              <a:t>k</a:t>
            </a:r>
            <a:r>
              <a:rPr lang="ko-KR" altLang="ko-KR" dirty="0"/>
              <a:t>인 트리</a:t>
            </a:r>
            <a:r>
              <a:rPr lang="en-US" altLang="ko-KR" dirty="0"/>
              <a:t> </a:t>
            </a:r>
          </a:p>
          <a:p>
            <a:pPr marL="0" lvl="1" algn="ctr"/>
            <a:r>
              <a:rPr lang="en-US" altLang="ko-KR" dirty="0"/>
              <a:t>null </a:t>
            </a:r>
            <a:r>
              <a:rPr lang="ko-KR" altLang="ko-KR" dirty="0"/>
              <a:t>레퍼런스 수</a:t>
            </a:r>
            <a:r>
              <a:rPr lang="en-US" altLang="ko-KR" dirty="0"/>
              <a:t> </a:t>
            </a:r>
            <a:r>
              <a:rPr lang="en-US" altLang="ko-KR"/>
              <a:t>= </a:t>
            </a:r>
            <a:r>
              <a:rPr lang="en-US" altLang="ko-KR">
                <a:solidFill>
                  <a:srgbClr val="00B0F0"/>
                </a:solidFill>
              </a:rPr>
              <a:t>nk – (n-1</a:t>
            </a:r>
            <a:r>
              <a:rPr lang="en-US" altLang="ko-KR" dirty="0">
                <a:solidFill>
                  <a:srgbClr val="00B0F0"/>
                </a:solidFill>
              </a:rPr>
              <a:t>) </a:t>
            </a:r>
            <a:r>
              <a:rPr lang="en-US" altLang="ko-KR">
                <a:solidFill>
                  <a:srgbClr val="00B0F0"/>
                </a:solidFill>
              </a:rPr>
              <a:t>= n(</a:t>
            </a:r>
            <a:r>
              <a:rPr lang="en-US" altLang="ko-KR" dirty="0">
                <a:solidFill>
                  <a:srgbClr val="00B0F0"/>
                </a:solidFill>
              </a:rPr>
              <a:t>k-1) + 1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ko-KR"/>
              <a:t>nk </a:t>
            </a:r>
            <a:r>
              <a:rPr lang="en-US" altLang="ko-KR" dirty="0"/>
              <a:t>=</a:t>
            </a:r>
            <a:r>
              <a:rPr lang="ko-KR" altLang="ko-KR" dirty="0"/>
              <a:t> 총 레퍼런스의 수</a:t>
            </a:r>
            <a:endParaRPr lang="en-US" altLang="ko-KR" dirty="0"/>
          </a:p>
          <a:p>
            <a:pPr lvl="1"/>
            <a:r>
              <a:rPr lang="en-US" altLang="ko-KR"/>
              <a:t>(n-1</a:t>
            </a:r>
            <a:r>
              <a:rPr lang="en-US" altLang="ko-KR" dirty="0"/>
              <a:t>) =</a:t>
            </a:r>
            <a:r>
              <a:rPr lang="ko-KR" altLang="ko-KR" dirty="0"/>
              <a:t> </a:t>
            </a:r>
            <a:r>
              <a:rPr lang="ko-KR" altLang="ko-KR"/>
              <a:t>트리에서 부모</a:t>
            </a:r>
            <a:r>
              <a:rPr lang="en-US" altLang="ko-KR"/>
              <a:t>→</a:t>
            </a:r>
            <a:r>
              <a:rPr lang="ko-KR" altLang="ko-KR"/>
              <a:t>자식을 </a:t>
            </a:r>
            <a:r>
              <a:rPr lang="ko-KR" altLang="ko-KR" dirty="0"/>
              <a:t>연결하는 레퍼런스 수</a:t>
            </a:r>
            <a:endParaRPr lang="en-US" altLang="ko-KR" dirty="0"/>
          </a:p>
          <a:p>
            <a:r>
              <a:rPr lang="en-US" altLang="ko-KR" dirty="0"/>
              <a:t>k</a:t>
            </a:r>
            <a:r>
              <a:rPr lang="ko-KR" altLang="ko-KR" dirty="0"/>
              <a:t>가 클수록 </a:t>
            </a:r>
            <a:r>
              <a:rPr lang="ko-KR" altLang="ko-KR" dirty="0">
                <a:solidFill>
                  <a:srgbClr val="00B0F0"/>
                </a:solidFill>
              </a:rPr>
              <a:t>메모리의 </a:t>
            </a:r>
            <a:r>
              <a:rPr lang="ko-KR" altLang="ko-KR">
                <a:solidFill>
                  <a:srgbClr val="00B0F0"/>
                </a:solidFill>
              </a:rPr>
              <a:t>낭비</a:t>
            </a:r>
            <a:r>
              <a:rPr lang="ko-KR" altLang="ko-KR"/>
              <a:t>가 심해지</a:t>
            </a:r>
            <a:r>
              <a:rPr lang="ko-KR" altLang="en-US"/>
              <a:t>고</a:t>
            </a:r>
            <a:r>
              <a:rPr lang="ko-KR" altLang="ko-KR"/>
              <a:t> </a:t>
            </a:r>
            <a:r>
              <a:rPr lang="ko-KR" altLang="ko-KR" dirty="0"/>
              <a:t>트리를 탐색하는 과정에서 </a:t>
            </a:r>
            <a:r>
              <a:rPr lang="en-US" altLang="ko-KR" dirty="0"/>
              <a:t>null </a:t>
            </a:r>
            <a:r>
              <a:rPr lang="ko-KR" altLang="ko-KR" dirty="0"/>
              <a:t>레퍼런스를 확인해야 </a:t>
            </a:r>
            <a:r>
              <a:rPr lang="ko-KR" altLang="ko-KR"/>
              <a:t>하므로 </a:t>
            </a:r>
            <a:r>
              <a:rPr lang="ko-KR" altLang="ko-KR">
                <a:solidFill>
                  <a:srgbClr val="00B0F0"/>
                </a:solidFill>
              </a:rPr>
              <a:t>매우 </a:t>
            </a:r>
            <a:r>
              <a:rPr lang="ko-KR" altLang="ko-KR" dirty="0">
                <a:solidFill>
                  <a:srgbClr val="00B0F0"/>
                </a:solidFill>
              </a:rPr>
              <a:t>비효율적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13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8313" y="819086"/>
            <a:ext cx="8537901" cy="654050"/>
          </a:xfrm>
        </p:spPr>
        <p:txBody>
          <a:bodyPr/>
          <a:lstStyle/>
          <a:p>
            <a:r>
              <a:rPr lang="ko-KR" altLang="ko-KR" sz="2400"/>
              <a:t>왼쪽</a:t>
            </a:r>
            <a:r>
              <a:rPr lang="en-US" altLang="ko-KR" sz="2400"/>
              <a:t> </a:t>
            </a:r>
            <a:r>
              <a:rPr lang="ko-KR" altLang="ko-KR" sz="2400"/>
              <a:t>자식</a:t>
            </a:r>
            <a:r>
              <a:rPr lang="en-US" altLang="ko-KR" sz="2400"/>
              <a:t>–</a:t>
            </a:r>
            <a:r>
              <a:rPr lang="ko-KR" altLang="ko-KR" sz="2400"/>
              <a:t>오른쪽</a:t>
            </a:r>
            <a:r>
              <a:rPr lang="en-US" altLang="ko-KR" sz="2400"/>
              <a:t> </a:t>
            </a:r>
            <a:r>
              <a:rPr lang="ko-KR" altLang="ko-KR" sz="2400"/>
              <a:t>형제</a:t>
            </a:r>
            <a:r>
              <a:rPr lang="en-US" altLang="ko-KR" sz="2400" dirty="0"/>
              <a:t>(Left Child-Right Sibling) </a:t>
            </a:r>
            <a:r>
              <a:rPr lang="ko-KR" altLang="ko-KR" sz="2400" dirty="0"/>
              <a:t>표현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199" y="2269393"/>
            <a:ext cx="8229600" cy="145207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ko-KR" altLang="ko-KR" sz="2400" dirty="0"/>
              <a:t>노드의 왼쪽 자식과 왼쪽 자식의 </a:t>
            </a:r>
            <a:r>
              <a:rPr lang="ko-KR" altLang="ko-KR" sz="2400"/>
              <a:t>오른쪽 형제를 </a:t>
            </a:r>
            <a:r>
              <a:rPr lang="ko-KR" altLang="ko-KR" sz="2400" dirty="0"/>
              <a:t>가리키는 </a:t>
            </a:r>
            <a:r>
              <a:rPr lang="en-US" altLang="ko-KR" sz="2400" dirty="0"/>
              <a:t>2</a:t>
            </a:r>
            <a:r>
              <a:rPr lang="ko-KR" altLang="ko-KR" sz="2400"/>
              <a:t>개의 레퍼런스만 </a:t>
            </a:r>
            <a:r>
              <a:rPr lang="ko-KR" altLang="ko-KR" sz="2400" dirty="0"/>
              <a:t>사용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429" y="3961613"/>
            <a:ext cx="2477139" cy="924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267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24504"/>
            <a:ext cx="8229600" cy="190431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ko-KR" sz="2400" dirty="0"/>
              <a:t>[</a:t>
            </a:r>
            <a:r>
              <a:rPr lang="ko-KR" altLang="ko-KR" sz="2400"/>
              <a:t>예제</a:t>
            </a:r>
            <a:r>
              <a:rPr lang="en-US" altLang="ko-KR" sz="2400"/>
              <a:t>] </a:t>
            </a:r>
            <a:r>
              <a:rPr lang="en-US" altLang="ko-KR" sz="2400" dirty="0"/>
              <a:t>(</a:t>
            </a:r>
            <a:r>
              <a:rPr lang="en-US" altLang="ko-KR" sz="2400"/>
              <a:t>b)</a:t>
            </a:r>
            <a:r>
              <a:rPr lang="ko-KR" altLang="ko-KR" sz="2400"/>
              <a:t> 왼쪽</a:t>
            </a:r>
            <a:r>
              <a:rPr lang="en-US" altLang="ko-KR" sz="2400"/>
              <a:t> </a:t>
            </a:r>
            <a:r>
              <a:rPr lang="ko-KR" altLang="ko-KR" sz="2400"/>
              <a:t>자식</a:t>
            </a:r>
            <a:r>
              <a:rPr lang="en-US" altLang="ko-KR" sz="2400"/>
              <a:t>-</a:t>
            </a:r>
            <a:r>
              <a:rPr lang="ko-KR" altLang="ko-KR" sz="2400"/>
              <a:t>오른쪽</a:t>
            </a:r>
            <a:r>
              <a:rPr lang="en-US" altLang="ko-KR" sz="2400"/>
              <a:t> </a:t>
            </a:r>
            <a:r>
              <a:rPr lang="ko-KR" altLang="ko-KR" sz="2400"/>
              <a:t>형제 표현</a:t>
            </a:r>
            <a:r>
              <a:rPr lang="en-US" altLang="ko-KR" sz="2400"/>
              <a:t>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ko-KR" sz="2400"/>
              <a:t>            (</a:t>
            </a:r>
            <a:r>
              <a:rPr lang="en-US" altLang="ko-KR" sz="2400" dirty="0"/>
              <a:t>c)</a:t>
            </a:r>
            <a:r>
              <a:rPr lang="ko-KR" altLang="ko-KR" sz="2400" dirty="0"/>
              <a:t>는 </a:t>
            </a:r>
            <a:r>
              <a:rPr lang="en-US" altLang="ko-KR" sz="2400" dirty="0"/>
              <a:t>(</a:t>
            </a:r>
            <a:r>
              <a:rPr lang="en-US" altLang="ko-KR" sz="2400"/>
              <a:t>b)</a:t>
            </a:r>
            <a:r>
              <a:rPr lang="ko-KR" altLang="en-US" sz="2400"/>
              <a:t> </a:t>
            </a:r>
            <a:r>
              <a:rPr lang="ko-KR" altLang="ko-KR" sz="2400"/>
              <a:t>를 </a:t>
            </a:r>
            <a:r>
              <a:rPr lang="en-US" altLang="ko-KR" sz="2400" dirty="0"/>
              <a:t>45</a:t>
            </a:r>
            <a:r>
              <a:rPr lang="en-US" altLang="ko-KR" sz="2400" dirty="0">
                <a:sym typeface="Symbol" panose="05050102010706020507" pitchFamily="18" charset="2"/>
              </a:rPr>
              <a:t></a:t>
            </a:r>
            <a:r>
              <a:rPr lang="en-US" altLang="ko-KR" sz="2400" dirty="0"/>
              <a:t> </a:t>
            </a:r>
            <a:r>
              <a:rPr lang="ko-KR" altLang="ko-KR" sz="2400" dirty="0"/>
              <a:t>시계 </a:t>
            </a:r>
            <a:r>
              <a:rPr lang="ko-KR" altLang="ko-KR" sz="2400"/>
              <a:t>방향으로 회전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4" y="3440609"/>
            <a:ext cx="2693095" cy="1941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009" y="3303178"/>
            <a:ext cx="2729139" cy="20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911" y="3303178"/>
            <a:ext cx="2263279" cy="24174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/>
          <p:cNvSpPr/>
          <p:nvPr/>
        </p:nvSpPr>
        <p:spPr>
          <a:xfrm>
            <a:off x="1283789" y="5626586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(a)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573877" y="562658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870377" y="5664164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(c)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6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4.2 </a:t>
            </a:r>
            <a:r>
              <a:rPr lang="ko-KR" altLang="en-US"/>
              <a:t>이진 트리 </a:t>
            </a:r>
            <a:r>
              <a:rPr lang="en-US" altLang="ko-KR" sz="2800"/>
              <a:t>(Binary</a:t>
            </a:r>
            <a:r>
              <a:rPr lang="ko-KR" altLang="en-US" sz="2800"/>
              <a:t> </a:t>
            </a:r>
            <a:r>
              <a:rPr lang="en-US" altLang="ko-KR" sz="2800"/>
              <a:t>Tree)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ko-KR" altLang="ko-KR"/>
              <a:t>각 </a:t>
            </a:r>
            <a:r>
              <a:rPr lang="ko-KR" altLang="ko-KR" dirty="0"/>
              <a:t>노드의 자식 수가 </a:t>
            </a:r>
            <a:r>
              <a:rPr lang="en-US" altLang="ko-KR" dirty="0"/>
              <a:t>2 </a:t>
            </a:r>
            <a:r>
              <a:rPr lang="ko-KR" altLang="ko-KR" dirty="0"/>
              <a:t>이하인 트리</a:t>
            </a:r>
            <a:endParaRPr lang="en-US" altLang="ko-KR" dirty="0"/>
          </a:p>
          <a:p>
            <a:pPr>
              <a:spcAft>
                <a:spcPts val="1200"/>
              </a:spcAft>
            </a:pPr>
            <a:r>
              <a:rPr lang="ko-KR" altLang="ko-KR" dirty="0"/>
              <a:t>컴퓨터 분야에서 널리 활용되는 기본적인 자료구조</a:t>
            </a:r>
            <a:endParaRPr lang="en-US" altLang="ko-KR" dirty="0"/>
          </a:p>
          <a:p>
            <a:pPr>
              <a:spcAft>
                <a:spcPts val="1200"/>
              </a:spcAft>
            </a:pPr>
            <a:r>
              <a:rPr lang="ko-KR" altLang="ko-KR"/>
              <a:t>데이터의 </a:t>
            </a:r>
            <a:r>
              <a:rPr lang="ko-KR" altLang="ko-KR" dirty="0"/>
              <a:t>구조적인 관계를 </a:t>
            </a:r>
            <a:r>
              <a:rPr lang="ko-KR" altLang="ko-KR"/>
              <a:t>잘 반영</a:t>
            </a:r>
            <a:endParaRPr lang="en-US" altLang="ko-KR"/>
          </a:p>
          <a:p>
            <a:pPr>
              <a:spcAft>
                <a:spcPts val="1200"/>
              </a:spcAft>
            </a:pPr>
            <a:r>
              <a:rPr lang="ko-KR" altLang="ko-KR"/>
              <a:t>효율적인 삽입과 탐색 가능</a:t>
            </a:r>
            <a:endParaRPr lang="en-US" altLang="ko-KR"/>
          </a:p>
          <a:p>
            <a:pPr>
              <a:spcAft>
                <a:spcPts val="1200"/>
              </a:spcAft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 err="1"/>
              <a:t>서브트리를</a:t>
            </a:r>
            <a:r>
              <a:rPr lang="ko-KR" altLang="ko-KR" dirty="0"/>
              <a:t> </a:t>
            </a:r>
            <a:r>
              <a:rPr lang="ko-KR" altLang="ko-KR"/>
              <a:t>다른 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 err="1"/>
              <a:t>서브트리와</a:t>
            </a:r>
            <a:r>
              <a:rPr lang="ko-KR" altLang="ko-KR" dirty="0"/>
              <a:t> 교환하는 </a:t>
            </a:r>
            <a:r>
              <a:rPr lang="ko-KR" altLang="ko-KR"/>
              <a:t>것이 쉽</a:t>
            </a:r>
            <a:r>
              <a:rPr lang="ko-KR" altLang="en-US"/>
              <a:t>다</a:t>
            </a:r>
            <a:r>
              <a:rPr lang="en-US" altLang="ko-KR"/>
              <a:t>.</a:t>
            </a:r>
            <a:endParaRPr lang="en-US" altLang="ko-KR" dirty="0"/>
          </a:p>
          <a:p>
            <a:pPr>
              <a:spcAft>
                <a:spcPts val="1200"/>
              </a:spcAft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트리에 </a:t>
            </a:r>
            <a:r>
              <a:rPr lang="ko-KR" altLang="ko-KR" dirty="0"/>
              <a:t>대한 용어는 일반적인 트리에 대한 용어와 동일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2771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18628" y="487680"/>
            <a:ext cx="8269772" cy="10745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7307" y="538878"/>
            <a:ext cx="8229600" cy="5749446"/>
          </a:xfrm>
        </p:spPr>
        <p:txBody>
          <a:bodyPr/>
          <a:lstStyle/>
          <a:p>
            <a:pPr marL="268288" indent="0">
              <a:spcAft>
                <a:spcPts val="600"/>
              </a:spcAft>
              <a:buNone/>
            </a:pPr>
            <a:r>
              <a:rPr lang="ko-KR" altLang="ko-KR" sz="2400">
                <a:solidFill>
                  <a:srgbClr val="007635"/>
                </a:solidFill>
              </a:rPr>
              <a:t>이진</a:t>
            </a:r>
            <a:r>
              <a:rPr lang="en-US" altLang="ko-KR" sz="2400">
                <a:solidFill>
                  <a:srgbClr val="007635"/>
                </a:solidFill>
              </a:rPr>
              <a:t> </a:t>
            </a:r>
            <a:r>
              <a:rPr lang="ko-KR" altLang="ko-KR" sz="2400">
                <a:solidFill>
                  <a:srgbClr val="007635"/>
                </a:solidFill>
              </a:rPr>
              <a:t>트리는</a:t>
            </a:r>
            <a:r>
              <a:rPr lang="en-US" altLang="ko-KR" sz="2400" dirty="0">
                <a:solidFill>
                  <a:srgbClr val="007635"/>
                </a:solidFill>
              </a:rPr>
              <a:t>empty</a:t>
            </a:r>
            <a:r>
              <a:rPr lang="ko-KR" altLang="ko-KR" sz="2400" dirty="0">
                <a:solidFill>
                  <a:srgbClr val="007635"/>
                </a:solidFill>
              </a:rPr>
              <a:t>이거나</a:t>
            </a:r>
            <a:r>
              <a:rPr lang="en-US" altLang="ko-KR" sz="2400" dirty="0">
                <a:solidFill>
                  <a:srgbClr val="007635"/>
                </a:solidFill>
              </a:rPr>
              <a:t>, empty</a:t>
            </a:r>
            <a:r>
              <a:rPr lang="ko-KR" altLang="ko-KR" sz="2400" dirty="0">
                <a:solidFill>
                  <a:srgbClr val="007635"/>
                </a:solidFill>
              </a:rPr>
              <a:t>가 아니면</a:t>
            </a:r>
            <a:r>
              <a:rPr lang="en-US" altLang="ko-KR" sz="2400">
                <a:solidFill>
                  <a:srgbClr val="007635"/>
                </a:solidFill>
              </a:rPr>
              <a:t>, </a:t>
            </a:r>
            <a:r>
              <a:rPr lang="ko-KR" altLang="ko-KR" sz="2400">
                <a:solidFill>
                  <a:srgbClr val="007635"/>
                </a:solidFill>
              </a:rPr>
              <a:t>루트와 </a:t>
            </a:r>
            <a:r>
              <a:rPr lang="en-US" altLang="ko-KR" sz="2400" dirty="0">
                <a:solidFill>
                  <a:srgbClr val="007635"/>
                </a:solidFill>
              </a:rPr>
              <a:t>2</a:t>
            </a:r>
            <a:r>
              <a:rPr lang="ko-KR" altLang="ko-KR" sz="2400">
                <a:solidFill>
                  <a:srgbClr val="007635"/>
                </a:solidFill>
              </a:rPr>
              <a:t>개의 이진</a:t>
            </a:r>
            <a:r>
              <a:rPr lang="en-US" altLang="ko-KR" sz="2400">
                <a:solidFill>
                  <a:srgbClr val="007635"/>
                </a:solidFill>
              </a:rPr>
              <a:t> </a:t>
            </a:r>
            <a:r>
              <a:rPr lang="ko-KR" altLang="ko-KR" sz="2400">
                <a:solidFill>
                  <a:srgbClr val="007635"/>
                </a:solidFill>
              </a:rPr>
              <a:t>트리인 </a:t>
            </a:r>
            <a:r>
              <a:rPr lang="ko-KR" altLang="ko-KR" sz="2400" dirty="0">
                <a:solidFill>
                  <a:srgbClr val="007635"/>
                </a:solidFill>
              </a:rPr>
              <a:t>왼쪽 </a:t>
            </a:r>
            <a:r>
              <a:rPr lang="ko-KR" altLang="ko-KR" sz="2400" dirty="0" err="1">
                <a:solidFill>
                  <a:srgbClr val="007635"/>
                </a:solidFill>
              </a:rPr>
              <a:t>서브트리와</a:t>
            </a:r>
            <a:r>
              <a:rPr lang="ko-KR" altLang="ko-KR" sz="2400" dirty="0">
                <a:solidFill>
                  <a:srgbClr val="007635"/>
                </a:solidFill>
              </a:rPr>
              <a:t> 오른쪽 </a:t>
            </a:r>
            <a:r>
              <a:rPr lang="ko-KR" altLang="ko-KR" sz="2400" dirty="0" err="1">
                <a:solidFill>
                  <a:srgbClr val="007635"/>
                </a:solidFill>
              </a:rPr>
              <a:t>서브트리로</a:t>
            </a:r>
            <a:r>
              <a:rPr lang="ko-KR" altLang="ko-KR" sz="2400" dirty="0">
                <a:solidFill>
                  <a:srgbClr val="007635"/>
                </a:solidFill>
              </a:rPr>
              <a:t> 구성된다</a:t>
            </a:r>
            <a:r>
              <a:rPr lang="en-US" altLang="ko-KR" sz="2400" dirty="0">
                <a:solidFill>
                  <a:srgbClr val="007635"/>
                </a:solidFill>
              </a:rPr>
              <a:t>. 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altLang="ko-KR" sz="2000" dirty="0"/>
              <a:t>(a)</a:t>
            </a:r>
            <a:r>
              <a:rPr lang="ko-KR" altLang="ko-KR" sz="2000" dirty="0"/>
              <a:t> </a:t>
            </a:r>
            <a:r>
              <a:rPr lang="en-US" altLang="ko-KR" sz="2000" dirty="0"/>
              <a:t>empty </a:t>
            </a:r>
            <a:r>
              <a:rPr lang="ko-KR" altLang="ko-KR" sz="2000" dirty="0"/>
              <a:t>트리</a:t>
            </a:r>
            <a:r>
              <a:rPr lang="en-US" altLang="ko-KR" sz="200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2000" dirty="0"/>
              <a:t>(b</a:t>
            </a:r>
            <a:r>
              <a:rPr lang="en-US" altLang="ko-KR" sz="2000"/>
              <a:t>)</a:t>
            </a:r>
            <a:r>
              <a:rPr lang="ko-KR" altLang="ko-KR" sz="2000"/>
              <a:t> 루트만 있는 이진</a:t>
            </a:r>
            <a:r>
              <a:rPr lang="en-US" altLang="ko-KR" sz="2000"/>
              <a:t> </a:t>
            </a:r>
            <a:r>
              <a:rPr lang="ko-KR" altLang="ko-KR" sz="2000"/>
              <a:t>트리</a:t>
            </a:r>
            <a:r>
              <a:rPr lang="en-US" altLang="ko-KR" sz="2000"/>
              <a:t> </a:t>
            </a:r>
            <a:endParaRPr lang="en-US" altLang="ko-KR" sz="20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2000" dirty="0"/>
              <a:t>(c</a:t>
            </a:r>
            <a:r>
              <a:rPr lang="en-US" altLang="ko-KR" sz="2000"/>
              <a:t>)</a:t>
            </a:r>
            <a:r>
              <a:rPr lang="ko-KR" altLang="ko-KR" sz="2000"/>
              <a:t> 루트의 </a:t>
            </a:r>
            <a:r>
              <a:rPr lang="ko-KR" altLang="ko-KR" sz="2000" dirty="0"/>
              <a:t>오른쪽 </a:t>
            </a:r>
            <a:r>
              <a:rPr lang="ko-KR" altLang="ko-KR" sz="2000" dirty="0" err="1"/>
              <a:t>서브트리가</a:t>
            </a:r>
            <a:r>
              <a:rPr lang="ko-KR" altLang="ko-KR" sz="2000" dirty="0"/>
              <a:t> 없는</a:t>
            </a:r>
            <a:r>
              <a:rPr lang="en-US" altLang="ko-KR" sz="2000" dirty="0"/>
              <a:t>(empty</a:t>
            </a:r>
            <a:r>
              <a:rPr lang="en-US" altLang="ko-KR" sz="2000"/>
              <a:t>) </a:t>
            </a:r>
            <a:r>
              <a:rPr lang="ko-KR" altLang="ko-KR" sz="2000"/>
              <a:t>이진</a:t>
            </a:r>
            <a:r>
              <a:rPr lang="en-US" altLang="ko-KR" sz="2000"/>
              <a:t> </a:t>
            </a:r>
            <a:r>
              <a:rPr lang="ko-KR" altLang="ko-KR" sz="2000"/>
              <a:t>트리</a:t>
            </a:r>
            <a:r>
              <a:rPr lang="en-US" altLang="ko-KR" sz="2000"/>
              <a:t> </a:t>
            </a:r>
            <a:endParaRPr lang="en-US" altLang="ko-KR" sz="20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2000" dirty="0"/>
              <a:t>(d</a:t>
            </a:r>
            <a:r>
              <a:rPr lang="en-US" altLang="ko-KR" sz="2000"/>
              <a:t>)</a:t>
            </a:r>
            <a:r>
              <a:rPr lang="ko-KR" altLang="ko-KR" sz="2000"/>
              <a:t> 루트의 </a:t>
            </a:r>
            <a:r>
              <a:rPr lang="ko-KR" altLang="ko-KR" sz="2000" dirty="0"/>
              <a:t>왼쪽 </a:t>
            </a:r>
            <a:r>
              <a:rPr lang="ko-KR" altLang="ko-KR" sz="2000" dirty="0" err="1"/>
              <a:t>서브트리가</a:t>
            </a:r>
            <a:r>
              <a:rPr lang="ko-KR" altLang="ko-KR" sz="2000" dirty="0"/>
              <a:t> </a:t>
            </a:r>
            <a:r>
              <a:rPr lang="ko-KR" altLang="ko-KR" sz="2000"/>
              <a:t>없는 이진</a:t>
            </a:r>
            <a:r>
              <a:rPr lang="en-US" altLang="ko-KR" sz="2000"/>
              <a:t> </a:t>
            </a:r>
            <a:r>
              <a:rPr lang="ko-KR" altLang="ko-KR" sz="2000"/>
              <a:t>트리</a:t>
            </a:r>
            <a:endParaRPr lang="ko-KR" altLang="ko-KR" sz="2000" dirty="0"/>
          </a:p>
          <a:p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19692" y="5751943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(a)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507740" y="5772168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781568" y="5839255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(c)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985780" y="5924997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(d)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9352054-AE06-4EB0-89DF-9F1A53C8D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97" y="569676"/>
            <a:ext cx="432414" cy="4363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9854B8-B4E3-4AB6-87A4-4B023C82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11" y="4084395"/>
            <a:ext cx="6939421" cy="150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0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676405"/>
            <a:ext cx="8229600" cy="5912285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ko-KR" sz="2800" dirty="0">
                <a:solidFill>
                  <a:srgbClr val="C00000"/>
                </a:solidFill>
              </a:rPr>
              <a:t>특별한 </a:t>
            </a:r>
            <a:r>
              <a:rPr lang="ko-KR" altLang="ko-KR" sz="2800">
                <a:solidFill>
                  <a:srgbClr val="C00000"/>
                </a:solidFill>
              </a:rPr>
              <a:t>형태</a:t>
            </a:r>
            <a:r>
              <a:rPr lang="ko-KR" altLang="en-US" sz="2800">
                <a:solidFill>
                  <a:srgbClr val="C00000"/>
                </a:solidFill>
              </a:rPr>
              <a:t>의</a:t>
            </a:r>
            <a:r>
              <a:rPr lang="en-US" altLang="ko-KR" sz="2800">
                <a:solidFill>
                  <a:srgbClr val="C00000"/>
                </a:solidFill>
              </a:rPr>
              <a:t> </a:t>
            </a:r>
            <a:r>
              <a:rPr lang="ko-KR" altLang="en-US" sz="2800">
                <a:solidFill>
                  <a:srgbClr val="C00000"/>
                </a:solidFill>
              </a:rPr>
              <a:t>이진 </a:t>
            </a:r>
            <a:r>
              <a:rPr lang="ko-KR" altLang="ko-KR" sz="2800">
                <a:solidFill>
                  <a:srgbClr val="C00000"/>
                </a:solidFill>
              </a:rPr>
              <a:t>트리</a:t>
            </a:r>
            <a:endParaRPr lang="en-US" altLang="ko-KR" sz="2800" dirty="0">
              <a:solidFill>
                <a:srgbClr val="C00000"/>
              </a:solidFill>
            </a:endParaRPr>
          </a:p>
          <a:p>
            <a:pPr marL="3429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>
                <a:solidFill>
                  <a:srgbClr val="00B0F0"/>
                </a:solidFill>
              </a:rPr>
              <a:t>포화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이진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트리</a:t>
            </a:r>
            <a:r>
              <a:rPr lang="en-US" altLang="ko-KR">
                <a:solidFill>
                  <a:srgbClr val="00B0F0"/>
                </a:solidFill>
              </a:rPr>
              <a:t>(Perfect </a:t>
            </a:r>
            <a:r>
              <a:rPr lang="en-US" altLang="ko-KR" dirty="0">
                <a:solidFill>
                  <a:srgbClr val="00B0F0"/>
                </a:solidFill>
              </a:rPr>
              <a:t>Binary Tree)</a:t>
            </a:r>
            <a:r>
              <a:rPr lang="en-US" altLang="ko-KR" dirty="0"/>
              <a:t>:</a:t>
            </a:r>
            <a:r>
              <a:rPr lang="ko-KR" altLang="ko-KR" dirty="0"/>
              <a:t> </a:t>
            </a:r>
            <a:r>
              <a:rPr lang="ko-KR" altLang="ko-KR"/>
              <a:t>각 내부</a:t>
            </a:r>
            <a:r>
              <a:rPr lang="en-US" altLang="ko-KR"/>
              <a:t> </a:t>
            </a:r>
            <a:r>
              <a:rPr lang="ko-KR" altLang="ko-KR"/>
              <a:t>노드가 </a:t>
            </a:r>
            <a:r>
              <a:rPr lang="en-US" altLang="ko-KR" dirty="0"/>
              <a:t>2</a:t>
            </a:r>
            <a:r>
              <a:rPr lang="ko-KR" altLang="ko-KR"/>
              <a:t>개의 자식</a:t>
            </a:r>
            <a:r>
              <a:rPr lang="ko-KR" altLang="en-US"/>
              <a:t>을</a:t>
            </a:r>
            <a:r>
              <a:rPr lang="ko-KR" altLang="ko-KR"/>
              <a:t> 가지</a:t>
            </a:r>
            <a:r>
              <a:rPr lang="ko-KR" altLang="en-US"/>
              <a:t>고 모든 이파리가 같은 층에 있</a:t>
            </a:r>
            <a:r>
              <a:rPr lang="ko-KR" altLang="ko-KR"/>
              <a:t>는 </a:t>
            </a:r>
            <a:r>
              <a:rPr lang="ko-KR" altLang="ko-KR" dirty="0"/>
              <a:t>트리</a:t>
            </a:r>
            <a:endParaRPr lang="en-US" altLang="ko-KR" dirty="0"/>
          </a:p>
          <a:p>
            <a:pPr marL="342900" lvl="1" indent="-3429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>
                <a:solidFill>
                  <a:srgbClr val="00B0F0"/>
                </a:solidFill>
              </a:rPr>
              <a:t>완전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이진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트리</a:t>
            </a:r>
            <a:r>
              <a:rPr lang="en-US" altLang="ko-KR" dirty="0">
                <a:solidFill>
                  <a:srgbClr val="00B0F0"/>
                </a:solidFill>
              </a:rPr>
              <a:t>(Complete Binary Tree)</a:t>
            </a:r>
            <a:r>
              <a:rPr lang="en-US" altLang="ko-KR" dirty="0">
                <a:solidFill>
                  <a:srgbClr val="3333FF"/>
                </a:solidFill>
              </a:rPr>
              <a:t>:</a:t>
            </a:r>
            <a:r>
              <a:rPr lang="ko-KR" altLang="ko-KR" dirty="0"/>
              <a:t> 마지막 레벨을 제외한 각 레벨이 노드들로 꽉 차있고</a:t>
            </a:r>
            <a:r>
              <a:rPr lang="en-US" altLang="ko-KR" dirty="0"/>
              <a:t>, </a:t>
            </a:r>
            <a:r>
              <a:rPr lang="ko-KR" altLang="ko-KR" dirty="0"/>
              <a:t>마지막 레벨에는 노드들이 왼쪽부터 빠짐없이 채워진 트리</a:t>
            </a:r>
            <a:r>
              <a:rPr lang="en-US" altLang="ko-KR" dirty="0"/>
              <a:t> </a:t>
            </a:r>
          </a:p>
          <a:p>
            <a:pPr marL="914400" lvl="2" indent="0">
              <a:buNone/>
            </a:pPr>
            <a:r>
              <a:rPr lang="en-US" altLang="ko-KR"/>
              <a:t>- </a:t>
            </a:r>
            <a:r>
              <a:rPr lang="ko-KR" altLang="ko-KR"/>
              <a:t>포화</a:t>
            </a:r>
            <a:r>
              <a:rPr lang="en-US" altLang="ko-KR"/>
              <a:t>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트리는 완전</a:t>
            </a:r>
            <a:r>
              <a:rPr lang="en-US" altLang="ko-KR"/>
              <a:t>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트리이다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4761285"/>
            <a:ext cx="8715375" cy="11239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8406" y="6052296"/>
            <a:ext cx="9176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(a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포화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이진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트리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(b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완전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이진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트리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(c)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불완전한</a:t>
            </a:r>
            <a:r>
              <a:rPr lang="ko-KR" altLang="ko-KR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이진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트리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d)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불완전한</a:t>
            </a:r>
            <a:r>
              <a:rPr lang="ko-KR" altLang="ko-KR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이진</a:t>
            </a:r>
            <a:r>
              <a:rPr lang="en-US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3730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/>
              <a:t>속성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1340285"/>
            <a:ext cx="8229600" cy="2317315"/>
          </a:xfrm>
        </p:spPr>
        <p:txBody>
          <a:bodyPr>
            <a:normAutofit/>
          </a:bodyPr>
          <a:lstStyle/>
          <a:p>
            <a:pPr lvl="0"/>
            <a:r>
              <a:rPr lang="ko-KR" altLang="ko-KR" dirty="0"/>
              <a:t>레벨 </a:t>
            </a:r>
            <a:r>
              <a:rPr lang="en-US" altLang="ko-KR" dirty="0"/>
              <a:t>k</a:t>
            </a:r>
            <a:r>
              <a:rPr lang="ko-KR" altLang="ko-KR" dirty="0"/>
              <a:t>에 있는 최대 노드 수</a:t>
            </a:r>
            <a:r>
              <a:rPr lang="en-US" altLang="ko-KR" dirty="0"/>
              <a:t> =</a:t>
            </a:r>
            <a:r>
              <a:rPr lang="ko-KR" altLang="ko-KR" dirty="0">
                <a:solidFill>
                  <a:srgbClr val="00B0F0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2</a:t>
            </a:r>
            <a:r>
              <a:rPr lang="en-US" altLang="ko-KR" baseline="30000" dirty="0">
                <a:solidFill>
                  <a:srgbClr val="00B0F0"/>
                </a:solidFill>
              </a:rPr>
              <a:t>k-1</a:t>
            </a:r>
            <a:r>
              <a:rPr lang="en-US" altLang="ko-KR" dirty="0">
                <a:solidFill>
                  <a:srgbClr val="3333FF"/>
                </a:solidFill>
              </a:rPr>
              <a:t> </a:t>
            </a:r>
            <a:r>
              <a:rPr lang="en-US" altLang="ko-KR" dirty="0"/>
              <a:t>, k = 1, 2, 3, </a:t>
            </a:r>
            <a:r>
              <a:rPr lang="en-US" altLang="ko-KR" dirty="0">
                <a:sym typeface="MT Extra" panose="05050102010205020202" pitchFamily="18" charset="2"/>
              </a:rPr>
              <a:t></a:t>
            </a:r>
            <a:r>
              <a:rPr lang="en-US" altLang="ko-KR" dirty="0"/>
              <a:t> </a:t>
            </a:r>
            <a:endParaRPr lang="ko-KR" altLang="ko-KR" dirty="0"/>
          </a:p>
          <a:p>
            <a:pPr lvl="0"/>
            <a:r>
              <a:rPr lang="ko-KR" altLang="ko-KR" dirty="0"/>
              <a:t>높이가 </a:t>
            </a:r>
            <a:r>
              <a:rPr lang="en-US" altLang="ko-KR" dirty="0"/>
              <a:t>h</a:t>
            </a:r>
            <a:r>
              <a:rPr lang="ko-KR" altLang="ko-KR"/>
              <a:t>인 포화</a:t>
            </a:r>
            <a:r>
              <a:rPr lang="en-US" altLang="ko-KR"/>
              <a:t>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트리에 </a:t>
            </a:r>
            <a:r>
              <a:rPr lang="ko-KR" altLang="ko-KR" dirty="0"/>
              <a:t>있는 노드 수</a:t>
            </a:r>
            <a:r>
              <a:rPr lang="en-US" altLang="ko-KR" dirty="0"/>
              <a:t> = </a:t>
            </a:r>
            <a:r>
              <a:rPr lang="en-US" altLang="ko-KR" dirty="0">
                <a:solidFill>
                  <a:srgbClr val="00B0F0"/>
                </a:solidFill>
              </a:rPr>
              <a:t>2</a:t>
            </a:r>
            <a:r>
              <a:rPr lang="en-US" altLang="ko-KR" baseline="30000" dirty="0">
                <a:solidFill>
                  <a:srgbClr val="00B0F0"/>
                </a:solidFill>
              </a:rPr>
              <a:t>h</a:t>
            </a:r>
            <a:r>
              <a:rPr lang="en-US" altLang="ko-KR" dirty="0">
                <a:solidFill>
                  <a:srgbClr val="00B0F0"/>
                </a:solidFill>
              </a:rPr>
              <a:t> - 1</a:t>
            </a:r>
            <a:endParaRPr lang="ko-KR" altLang="ko-KR" dirty="0">
              <a:solidFill>
                <a:srgbClr val="00B0F0"/>
              </a:solidFill>
            </a:endParaRPr>
          </a:p>
          <a:p>
            <a:pPr lvl="0"/>
            <a:r>
              <a:rPr lang="en-US" altLang="ko-KR"/>
              <a:t>n</a:t>
            </a:r>
            <a:r>
              <a:rPr lang="ko-KR" altLang="ko-KR"/>
              <a:t>개의 </a:t>
            </a:r>
            <a:r>
              <a:rPr lang="ko-KR" altLang="ko-KR" dirty="0"/>
              <a:t>노드를 </a:t>
            </a:r>
            <a:r>
              <a:rPr lang="ko-KR" altLang="ko-KR"/>
              <a:t>가진 완전</a:t>
            </a:r>
            <a:r>
              <a:rPr lang="en-US" altLang="ko-KR"/>
              <a:t>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/>
              <a:t>높이</a:t>
            </a:r>
            <a:r>
              <a:rPr lang="en-US" altLang="ko-KR" dirty="0"/>
              <a:t> =</a:t>
            </a:r>
            <a:r>
              <a:rPr lang="ko-KR" altLang="ko-KR" dirty="0"/>
              <a:t> </a:t>
            </a:r>
            <a:r>
              <a:rPr lang="en-US" altLang="ko-KR" b="1" dirty="0">
                <a:solidFill>
                  <a:srgbClr val="00B0F0"/>
                </a:solidFill>
                <a:sym typeface="Symbol" panose="05050102010706020507" pitchFamily="18" charset="2"/>
              </a:rPr>
              <a:t></a:t>
            </a:r>
            <a:r>
              <a:rPr lang="en-US" altLang="ko-KR">
                <a:solidFill>
                  <a:srgbClr val="00B0F0"/>
                </a:solidFill>
              </a:rPr>
              <a:t>log</a:t>
            </a:r>
            <a:r>
              <a:rPr lang="en-US" altLang="ko-KR" baseline="-25000">
                <a:solidFill>
                  <a:srgbClr val="00B0F0"/>
                </a:solidFill>
              </a:rPr>
              <a:t>2</a:t>
            </a:r>
            <a:r>
              <a:rPr lang="en-US" altLang="ko-KR">
                <a:solidFill>
                  <a:srgbClr val="00B0F0"/>
                </a:solidFill>
              </a:rPr>
              <a:t>(n+</a:t>
            </a:r>
            <a:r>
              <a:rPr lang="en-US" altLang="ko-KR" dirty="0">
                <a:solidFill>
                  <a:srgbClr val="00B0F0"/>
                </a:solidFill>
              </a:rPr>
              <a:t>1)</a:t>
            </a:r>
            <a:r>
              <a:rPr lang="en-US" altLang="ko-KR" b="1" dirty="0">
                <a:solidFill>
                  <a:srgbClr val="00B0F0"/>
                </a:solidFill>
                <a:sym typeface="Symbol" panose="05050102010706020507" pitchFamily="18" charset="2"/>
              </a:rPr>
              <a:t></a:t>
            </a:r>
            <a:endParaRPr lang="ko-KR" altLang="ko-KR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232" y="3806573"/>
            <a:ext cx="5067761" cy="27266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33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1154544"/>
            <a:ext cx="8229600" cy="543414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레벨</a:t>
            </a:r>
            <a:r>
              <a:rPr lang="en-US" altLang="ko-KR" sz="2400" dirty="0"/>
              <a:t> 1</a:t>
            </a:r>
            <a:r>
              <a:rPr lang="ko-KR" altLang="ko-KR" sz="2400" dirty="0"/>
              <a:t>에 </a:t>
            </a:r>
            <a:r>
              <a:rPr lang="en-US" altLang="ko-KR" sz="2400" dirty="0"/>
              <a:t>2</a:t>
            </a:r>
            <a:r>
              <a:rPr lang="en-US" altLang="ko-KR" sz="2400" baseline="30000" dirty="0"/>
              <a:t>0</a:t>
            </a:r>
            <a:r>
              <a:rPr lang="en-US" altLang="ko-KR" sz="2400" dirty="0"/>
              <a:t> = 1</a:t>
            </a:r>
            <a:r>
              <a:rPr lang="ko-KR" altLang="ko-KR" sz="2400" dirty="0"/>
              <a:t>개</a:t>
            </a:r>
            <a:r>
              <a:rPr lang="en-US" altLang="ko-KR" sz="2400" dirty="0"/>
              <a:t>, </a:t>
            </a:r>
            <a:r>
              <a:rPr lang="ko-KR" altLang="ko-KR" sz="2400" dirty="0"/>
              <a:t>레벨</a:t>
            </a:r>
            <a:r>
              <a:rPr lang="en-US" altLang="ko-KR" sz="2400" dirty="0"/>
              <a:t> 2</a:t>
            </a:r>
            <a:r>
              <a:rPr lang="ko-KR" altLang="ko-KR" sz="2400" dirty="0"/>
              <a:t>에</a:t>
            </a:r>
            <a:r>
              <a:rPr lang="en-US" altLang="ko-KR" sz="2400" dirty="0"/>
              <a:t> 2</a:t>
            </a:r>
            <a:r>
              <a:rPr lang="en-US" altLang="ko-KR" sz="2400" baseline="30000" dirty="0"/>
              <a:t>1</a:t>
            </a:r>
            <a:r>
              <a:rPr lang="en-US" altLang="ko-KR" sz="2400" dirty="0"/>
              <a:t> = 2</a:t>
            </a:r>
            <a:r>
              <a:rPr lang="ko-KR" altLang="ko-KR" sz="2400" dirty="0"/>
              <a:t>개</a:t>
            </a:r>
            <a:r>
              <a:rPr lang="en-US" altLang="ko-KR" sz="2400" dirty="0"/>
              <a:t>,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altLang="ko-KR" sz="2400" dirty="0">
                <a:sym typeface="MT Extra" panose="05050102010205020202" pitchFamily="18" charset="2"/>
              </a:rPr>
              <a:t></a:t>
            </a:r>
            <a:r>
              <a:rPr lang="en-US" altLang="ko-KR" sz="2400" dirty="0"/>
              <a:t>, </a:t>
            </a:r>
            <a:r>
              <a:rPr lang="ko-KR" altLang="ko-KR" sz="2400" dirty="0"/>
              <a:t>레벨</a:t>
            </a:r>
            <a:r>
              <a:rPr lang="en-US" altLang="ko-KR" sz="2400" dirty="0"/>
              <a:t> k</a:t>
            </a:r>
            <a:r>
              <a:rPr lang="ko-KR" altLang="ko-KR" sz="2400" dirty="0"/>
              <a:t>에 </a:t>
            </a:r>
            <a:r>
              <a:rPr lang="ko-KR" altLang="ko-KR" sz="2400" dirty="0">
                <a:solidFill>
                  <a:srgbClr val="00B0F0"/>
                </a:solidFill>
              </a:rPr>
              <a:t>최대 </a:t>
            </a:r>
            <a:r>
              <a:rPr lang="en-US" altLang="ko-KR" sz="2400" dirty="0">
                <a:solidFill>
                  <a:srgbClr val="00B0F0"/>
                </a:solidFill>
              </a:rPr>
              <a:t>2</a:t>
            </a:r>
            <a:r>
              <a:rPr lang="en-US" altLang="ko-KR" sz="2400" baseline="30000" dirty="0">
                <a:solidFill>
                  <a:srgbClr val="00B0F0"/>
                </a:solidFill>
              </a:rPr>
              <a:t>k-1</a:t>
            </a:r>
            <a:r>
              <a:rPr lang="ko-KR" altLang="ko-KR" sz="2400" dirty="0">
                <a:solidFill>
                  <a:srgbClr val="00B0F0"/>
                </a:solidFill>
              </a:rPr>
              <a:t>개의 노드</a:t>
            </a:r>
            <a:r>
              <a:rPr lang="en-US" altLang="ko-KR" sz="2400" dirty="0"/>
              <a:t> </a:t>
            </a:r>
          </a:p>
          <a:p>
            <a:pPr>
              <a:spcAft>
                <a:spcPts val="0"/>
              </a:spcAft>
            </a:pPr>
            <a:r>
              <a:rPr lang="ko-KR" altLang="ko-KR" sz="2400" dirty="0"/>
              <a:t>즉</a:t>
            </a:r>
            <a:r>
              <a:rPr lang="en-US" altLang="ko-KR" sz="2400" dirty="0"/>
              <a:t>, </a:t>
            </a:r>
            <a:r>
              <a:rPr lang="ko-KR" altLang="ko-KR" sz="2400" dirty="0"/>
              <a:t>한 층에 존재할 수 있는 최대 노드 수는 이전 층에 있는 최대 노드 수의</a:t>
            </a:r>
            <a:r>
              <a:rPr lang="en-US" altLang="ko-KR" sz="2400" dirty="0"/>
              <a:t> 2</a:t>
            </a:r>
            <a:r>
              <a:rPr lang="ko-KR" altLang="ko-KR" sz="2400" dirty="0"/>
              <a:t>배</a:t>
            </a:r>
            <a:endParaRPr lang="en-US" altLang="ko-KR" sz="2400" dirty="0"/>
          </a:p>
          <a:p>
            <a:pPr lvl="1"/>
            <a:r>
              <a:rPr lang="en-US" altLang="ko-KR" sz="2000" dirty="0"/>
              <a:t>- </a:t>
            </a:r>
            <a:r>
              <a:rPr lang="ko-KR" altLang="ko-KR" sz="2000" dirty="0"/>
              <a:t>이전 층에 있는 각 노드가 최대 </a:t>
            </a:r>
            <a:r>
              <a:rPr lang="en-US" altLang="ko-KR" sz="2000" dirty="0"/>
              <a:t>2</a:t>
            </a:r>
            <a:r>
              <a:rPr lang="ko-KR" altLang="ko-KR" sz="2000"/>
              <a:t>개의 자식</a:t>
            </a:r>
            <a:r>
              <a:rPr lang="ko-KR" altLang="en-US" sz="2000"/>
              <a:t>을</a:t>
            </a:r>
            <a:r>
              <a:rPr lang="en-US" altLang="ko-KR" sz="2000"/>
              <a:t> </a:t>
            </a:r>
            <a:r>
              <a:rPr lang="ko-KR" altLang="en-US" sz="2000"/>
              <a:t>가지므로</a:t>
            </a:r>
            <a:endParaRPr lang="en-US" altLang="ko-KR" sz="2000" dirty="0"/>
          </a:p>
          <a:p>
            <a:pPr>
              <a:spcAft>
                <a:spcPts val="0"/>
              </a:spcAft>
            </a:pPr>
            <a:r>
              <a:rPr lang="ko-KR" altLang="ko-KR" sz="2400" dirty="0"/>
              <a:t>높이가 </a:t>
            </a:r>
            <a:r>
              <a:rPr lang="en-US" altLang="ko-KR" sz="2400" dirty="0"/>
              <a:t>h</a:t>
            </a:r>
            <a:r>
              <a:rPr lang="ko-KR" altLang="ko-KR" sz="2400"/>
              <a:t>인 포화</a:t>
            </a:r>
            <a:r>
              <a:rPr lang="en-US" altLang="ko-KR" sz="2400"/>
              <a:t> </a:t>
            </a:r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트리에 </a:t>
            </a:r>
            <a:r>
              <a:rPr lang="ko-KR" altLang="ko-KR" sz="2400" dirty="0"/>
              <a:t>있는 노드 수</a:t>
            </a:r>
            <a:endParaRPr lang="en-US" altLang="ko-KR" sz="2400" dirty="0"/>
          </a:p>
          <a:p>
            <a:pPr marL="0" indent="0" algn="ctr">
              <a:spcAft>
                <a:spcPts val="1800"/>
              </a:spcAft>
              <a:buNone/>
            </a:pPr>
            <a:r>
              <a:rPr lang="en-US" altLang="ko-KR" sz="2400" dirty="0"/>
              <a:t>2</a:t>
            </a:r>
            <a:r>
              <a:rPr lang="en-US" altLang="ko-KR" sz="2400" baseline="30000" dirty="0"/>
              <a:t>0</a:t>
            </a:r>
            <a:r>
              <a:rPr lang="en-US" altLang="ko-KR" sz="2400" dirty="0"/>
              <a:t> + 2</a:t>
            </a:r>
            <a:r>
              <a:rPr lang="en-US" altLang="ko-KR" sz="2400" baseline="30000" dirty="0"/>
              <a:t>1</a:t>
            </a:r>
            <a:r>
              <a:rPr lang="en-US" altLang="ko-KR" sz="2400" dirty="0"/>
              <a:t> + 2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 + </a:t>
            </a:r>
            <a:r>
              <a:rPr lang="en-US" altLang="ko-KR" sz="2400" dirty="0">
                <a:sym typeface="MT Extra" panose="05050102010205020202" pitchFamily="18" charset="2"/>
              </a:rPr>
              <a:t></a:t>
            </a:r>
            <a:r>
              <a:rPr lang="en-US" altLang="ko-KR" sz="2400" dirty="0"/>
              <a:t> + 2</a:t>
            </a:r>
            <a:r>
              <a:rPr lang="en-US" altLang="ko-KR" sz="2400" baseline="30000" dirty="0"/>
              <a:t>h-1</a:t>
            </a:r>
            <a:r>
              <a:rPr lang="en-US" altLang="ko-KR" sz="2400" dirty="0"/>
              <a:t> =</a:t>
            </a:r>
            <a:r>
              <a:rPr lang="en-US" altLang="ko-KR" sz="2400" dirty="0">
                <a:solidFill>
                  <a:srgbClr val="3333FF"/>
                </a:solidFill>
              </a:rPr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2</a:t>
            </a:r>
            <a:r>
              <a:rPr lang="en-US" altLang="ko-KR" sz="2400" baseline="30000" dirty="0">
                <a:solidFill>
                  <a:srgbClr val="00B0F0"/>
                </a:solidFill>
              </a:rPr>
              <a:t>h</a:t>
            </a:r>
            <a:r>
              <a:rPr lang="en-US" altLang="ko-KR" sz="2400" dirty="0">
                <a:solidFill>
                  <a:srgbClr val="00B0F0"/>
                </a:solidFill>
              </a:rPr>
              <a:t> - 1</a:t>
            </a:r>
          </a:p>
          <a:p>
            <a:pPr>
              <a:spcAft>
                <a:spcPts val="1800"/>
              </a:spcAft>
            </a:pPr>
            <a:r>
              <a:rPr lang="ko-KR" altLang="ko-KR" sz="2400" dirty="0"/>
              <a:t>노드 </a:t>
            </a:r>
            <a:r>
              <a:rPr lang="ko-KR" altLang="ko-KR" sz="2400"/>
              <a:t>수</a:t>
            </a:r>
            <a:r>
              <a:rPr lang="ko-KR" altLang="en-US" sz="2400"/>
              <a:t>가</a:t>
            </a:r>
            <a:r>
              <a:rPr lang="en-US" altLang="ko-KR" sz="2400"/>
              <a:t> n</a:t>
            </a:r>
            <a:r>
              <a:rPr lang="ko-KR" altLang="ko-KR" sz="2400"/>
              <a:t>이면</a:t>
            </a:r>
            <a:r>
              <a:rPr lang="en-US" altLang="ko-KR" sz="2400" dirty="0"/>
              <a:t>, </a:t>
            </a:r>
            <a:r>
              <a:rPr lang="en-US" altLang="ko-KR" sz="2400" dirty="0">
                <a:solidFill>
                  <a:srgbClr val="00B0F0"/>
                </a:solidFill>
              </a:rPr>
              <a:t>h = </a:t>
            </a:r>
            <a:r>
              <a:rPr lang="en-US" altLang="ko-KR" sz="2400">
                <a:solidFill>
                  <a:srgbClr val="00B0F0"/>
                </a:solidFill>
              </a:rPr>
              <a:t>log</a:t>
            </a:r>
            <a:r>
              <a:rPr lang="en-US" altLang="ko-KR" sz="2400" baseline="-25000">
                <a:solidFill>
                  <a:srgbClr val="00B0F0"/>
                </a:solidFill>
              </a:rPr>
              <a:t>2</a:t>
            </a:r>
            <a:r>
              <a:rPr lang="en-US" altLang="ko-KR" sz="2400">
                <a:solidFill>
                  <a:srgbClr val="00B0F0"/>
                </a:solidFill>
              </a:rPr>
              <a:t>(n+</a:t>
            </a:r>
            <a:r>
              <a:rPr lang="en-US" altLang="ko-KR" sz="2400" dirty="0">
                <a:solidFill>
                  <a:srgbClr val="00B0F0"/>
                </a:solidFill>
              </a:rPr>
              <a:t>1)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814" y="302714"/>
            <a:ext cx="3037871" cy="1703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5220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9152" y="924232"/>
            <a:ext cx="8229600" cy="53694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/>
              <a:t>n</a:t>
            </a:r>
            <a:r>
              <a:rPr lang="ko-KR" altLang="ko-KR" sz="2400"/>
              <a:t>개의 </a:t>
            </a:r>
            <a:r>
              <a:rPr lang="ko-KR" altLang="ko-KR" sz="2400" dirty="0"/>
              <a:t>노드를 </a:t>
            </a:r>
            <a:r>
              <a:rPr lang="ko-KR" altLang="ko-KR" sz="2400"/>
              <a:t>가진 완전</a:t>
            </a:r>
            <a:r>
              <a:rPr lang="en-US" altLang="ko-KR" sz="2400"/>
              <a:t> </a:t>
            </a:r>
            <a:r>
              <a:rPr lang="ko-KR" altLang="ko-KR" sz="2400"/>
              <a:t>이진트리에서 </a:t>
            </a:r>
            <a:r>
              <a:rPr lang="en-US" altLang="ko-KR" sz="2400"/>
              <a:t>n</a:t>
            </a:r>
            <a:r>
              <a:rPr lang="ko-KR" altLang="ko-KR" sz="2400"/>
              <a:t>이</a:t>
            </a:r>
            <a:r>
              <a:rPr lang="en-US" altLang="ko-KR" sz="2400"/>
              <a:t> </a:t>
            </a:r>
            <a:r>
              <a:rPr lang="en-US" altLang="ko-KR" sz="2400" dirty="0"/>
              <a:t>2</a:t>
            </a:r>
            <a:r>
              <a:rPr lang="en-US" altLang="ko-KR" sz="2400" baseline="30000" dirty="0"/>
              <a:t>h</a:t>
            </a:r>
            <a:r>
              <a:rPr lang="en-US" altLang="ko-KR" sz="2400" dirty="0"/>
              <a:t> – 1</a:t>
            </a:r>
            <a:r>
              <a:rPr lang="ko-KR" altLang="ko-KR" sz="2400" dirty="0"/>
              <a:t>보다 클 수 없으므로</a:t>
            </a:r>
            <a:r>
              <a:rPr lang="en-US" altLang="ko-KR" sz="2400" dirty="0"/>
              <a:t>,</a:t>
            </a:r>
            <a:r>
              <a:rPr lang="ko-KR" altLang="ko-KR" sz="2400" dirty="0"/>
              <a:t> </a:t>
            </a:r>
            <a:endParaRPr lang="en-US" altLang="ko-KR" sz="24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-KR" altLang="ko-KR" sz="2400" dirty="0">
                <a:solidFill>
                  <a:srgbClr val="00B0F0"/>
                </a:solidFill>
              </a:rPr>
              <a:t>높이 </a:t>
            </a:r>
            <a:r>
              <a:rPr lang="en-US" altLang="ko-KR" sz="2400" dirty="0">
                <a:solidFill>
                  <a:srgbClr val="00B0F0"/>
                </a:solidFill>
              </a:rPr>
              <a:t>h =</a:t>
            </a:r>
            <a:r>
              <a:rPr lang="ko-KR" altLang="ko-KR" sz="2400" dirty="0">
                <a:solidFill>
                  <a:srgbClr val="00B0F0"/>
                </a:solidFill>
              </a:rPr>
              <a:t> </a:t>
            </a:r>
            <a:r>
              <a:rPr lang="en-US" altLang="ko-KR" sz="2400" b="1" dirty="0">
                <a:solidFill>
                  <a:srgbClr val="00B0F0"/>
                </a:solidFill>
                <a:sym typeface="Symbol" panose="05050102010706020507" pitchFamily="18" charset="2"/>
              </a:rPr>
              <a:t></a:t>
            </a:r>
            <a:r>
              <a:rPr lang="en-US" altLang="ko-KR" sz="2400">
                <a:solidFill>
                  <a:srgbClr val="00B0F0"/>
                </a:solidFill>
              </a:rPr>
              <a:t>log</a:t>
            </a:r>
            <a:r>
              <a:rPr lang="en-US" altLang="ko-KR" sz="2400" baseline="-25000">
                <a:solidFill>
                  <a:srgbClr val="00B0F0"/>
                </a:solidFill>
              </a:rPr>
              <a:t>2</a:t>
            </a:r>
            <a:r>
              <a:rPr lang="en-US" altLang="ko-KR" sz="2400">
                <a:solidFill>
                  <a:srgbClr val="00B0F0"/>
                </a:solidFill>
              </a:rPr>
              <a:t>(n+</a:t>
            </a:r>
            <a:r>
              <a:rPr lang="en-US" altLang="ko-KR" sz="2400" dirty="0">
                <a:solidFill>
                  <a:srgbClr val="00B0F0"/>
                </a:solidFill>
              </a:rPr>
              <a:t>1)</a:t>
            </a:r>
            <a:r>
              <a:rPr lang="en-US" altLang="ko-KR" sz="2400" b="1" dirty="0">
                <a:solidFill>
                  <a:srgbClr val="00B0F0"/>
                </a:solidFill>
                <a:sym typeface="Symbol" panose="05050102010706020507" pitchFamily="18" charset="2"/>
              </a:rPr>
              <a:t></a:t>
            </a:r>
            <a:r>
              <a:rPr lang="en-US" altLang="ko-KR" sz="2400" dirty="0">
                <a:solidFill>
                  <a:srgbClr val="00B0F0"/>
                </a:solidFill>
              </a:rPr>
              <a:t> </a:t>
            </a:r>
          </a:p>
          <a:p>
            <a:pPr>
              <a:lnSpc>
                <a:spcPct val="100000"/>
              </a:lnSpc>
              <a:spcBef>
                <a:spcPts val="3600"/>
              </a:spcBef>
              <a:spcAft>
                <a:spcPts val="600"/>
              </a:spcAft>
            </a:pPr>
            <a:r>
              <a:rPr lang="ko-KR" altLang="ko-KR" sz="2400" dirty="0"/>
              <a:t>높이가 </a:t>
            </a:r>
            <a:r>
              <a:rPr lang="en-US" altLang="ko-KR" sz="2400" dirty="0"/>
              <a:t>h</a:t>
            </a:r>
            <a:r>
              <a:rPr lang="ko-KR" altLang="ko-KR" sz="2400"/>
              <a:t>인 완전</a:t>
            </a:r>
            <a:r>
              <a:rPr lang="en-US" altLang="ko-KR" sz="2400"/>
              <a:t> </a:t>
            </a:r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트리에 존재할 </a:t>
            </a:r>
            <a:r>
              <a:rPr lang="ko-KR" altLang="ko-KR" sz="2400" dirty="0"/>
              <a:t>수 있는 최대 노드 수 </a:t>
            </a:r>
            <a:endParaRPr lang="en-US" altLang="ko-KR" sz="24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00B0F0"/>
                </a:solidFill>
              </a:rPr>
              <a:t>2</a:t>
            </a:r>
            <a:r>
              <a:rPr lang="en-US" altLang="ko-KR" sz="2400" baseline="30000" dirty="0">
                <a:solidFill>
                  <a:srgbClr val="00B0F0"/>
                </a:solidFill>
              </a:rPr>
              <a:t>h-1</a:t>
            </a:r>
            <a:r>
              <a:rPr lang="ko-KR" altLang="ko-KR" sz="2400" dirty="0">
                <a:solidFill>
                  <a:srgbClr val="00B0F0"/>
                </a:solidFill>
              </a:rPr>
              <a:t>∼</a:t>
            </a:r>
            <a:r>
              <a:rPr lang="en-US" altLang="ko-KR" sz="2400" dirty="0">
                <a:solidFill>
                  <a:srgbClr val="00B0F0"/>
                </a:solidFill>
              </a:rPr>
              <a:t>2</a:t>
            </a:r>
            <a:r>
              <a:rPr lang="en-US" altLang="ko-KR" sz="2400" baseline="30000" dirty="0">
                <a:solidFill>
                  <a:srgbClr val="00B0F0"/>
                </a:solidFill>
              </a:rPr>
              <a:t>h</a:t>
            </a:r>
            <a:r>
              <a:rPr lang="en-US" altLang="ko-KR" sz="2400" dirty="0">
                <a:solidFill>
                  <a:srgbClr val="00B0F0"/>
                </a:solidFill>
              </a:rPr>
              <a:t>-1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ko-KR" altLang="ko-KR" dirty="0"/>
              <a:t>노드 수가</a:t>
            </a:r>
            <a:r>
              <a:rPr lang="en-US" altLang="ko-KR" dirty="0"/>
              <a:t> 2</a:t>
            </a:r>
            <a:r>
              <a:rPr lang="en-US" altLang="ko-KR" baseline="30000" dirty="0"/>
              <a:t>h-1</a:t>
            </a:r>
            <a:r>
              <a:rPr lang="ko-KR" altLang="ko-KR"/>
              <a:t>보다 작으면</a:t>
            </a:r>
            <a:r>
              <a:rPr lang="en-US" altLang="ko-KR"/>
              <a:t>:</a:t>
            </a:r>
            <a:r>
              <a:rPr lang="ko-KR" altLang="ko-KR"/>
              <a:t> </a:t>
            </a:r>
            <a:r>
              <a:rPr lang="ko-KR" altLang="ko-KR" dirty="0"/>
              <a:t>높이</a:t>
            </a:r>
            <a:r>
              <a:rPr lang="en-US" altLang="ko-KR" dirty="0"/>
              <a:t> =</a:t>
            </a:r>
            <a:r>
              <a:rPr lang="ko-KR" altLang="ko-KR" dirty="0"/>
              <a:t> </a:t>
            </a:r>
            <a:r>
              <a:rPr lang="en-US" altLang="ko-KR" dirty="0"/>
              <a:t>(h – 1)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altLang="ko-KR" dirty="0"/>
              <a:t>2</a:t>
            </a:r>
            <a:r>
              <a:rPr lang="en-US" altLang="ko-KR" baseline="30000" dirty="0"/>
              <a:t>h</a:t>
            </a:r>
            <a:r>
              <a:rPr lang="en-US" altLang="ko-KR" dirty="0"/>
              <a:t>-1</a:t>
            </a:r>
            <a:r>
              <a:rPr lang="ko-KR" altLang="ko-KR"/>
              <a:t>보다 크면</a:t>
            </a:r>
            <a:r>
              <a:rPr lang="en-US" altLang="ko-KR"/>
              <a:t>:</a:t>
            </a:r>
            <a:r>
              <a:rPr lang="ko-KR" altLang="ko-KR"/>
              <a:t> </a:t>
            </a:r>
            <a:r>
              <a:rPr lang="ko-KR" altLang="ko-KR" dirty="0"/>
              <a:t>높이</a:t>
            </a:r>
            <a:r>
              <a:rPr lang="en-US" altLang="ko-KR" dirty="0"/>
              <a:t> =</a:t>
            </a:r>
            <a:r>
              <a:rPr lang="ko-KR" altLang="ko-KR" dirty="0"/>
              <a:t> </a:t>
            </a:r>
            <a:r>
              <a:rPr lang="en-US" altLang="ko-KR" dirty="0"/>
              <a:t>(h + 1)</a:t>
            </a:r>
          </a:p>
        </p:txBody>
      </p:sp>
    </p:spTree>
    <p:extLst>
      <p:ext uri="{BB962C8B-B14F-4D97-AF65-F5344CB8AC3E}">
        <p14:creationId xmlns:p14="http://schemas.microsoft.com/office/powerpoint/2010/main" val="2305725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402350" y="473575"/>
            <a:ext cx="3814128" cy="2338762"/>
            <a:chOff x="4581079" y="676528"/>
            <a:chExt cx="3814128" cy="2338762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5063009" y="2299389"/>
              <a:ext cx="191427" cy="5312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5760659" y="2321413"/>
              <a:ext cx="298737" cy="524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070638" y="2321413"/>
              <a:ext cx="242322" cy="502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H="1">
              <a:off x="4753030" y="2299389"/>
              <a:ext cx="298737" cy="524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5731229" y="1722037"/>
              <a:ext cx="281708" cy="5523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7579350" y="1590556"/>
              <a:ext cx="627809" cy="683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 flipH="1">
              <a:off x="7204348" y="1581297"/>
              <a:ext cx="394799" cy="683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H="1">
              <a:off x="5046942" y="1590556"/>
              <a:ext cx="597475" cy="6789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H="1">
              <a:off x="5644418" y="883660"/>
              <a:ext cx="954469" cy="697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6627877" y="873685"/>
              <a:ext cx="920376" cy="707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6426936" y="691917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Oval 15"/>
            <p:cNvSpPr>
              <a:spLocks noChangeArrowheads="1"/>
            </p:cNvSpPr>
            <p:nvPr/>
          </p:nvSpPr>
          <p:spPr bwMode="auto">
            <a:xfrm>
              <a:off x="4581079" y="26271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Oval 16"/>
            <p:cNvSpPr>
              <a:spLocks noChangeArrowheads="1"/>
            </p:cNvSpPr>
            <p:nvPr/>
          </p:nvSpPr>
          <p:spPr bwMode="auto">
            <a:xfrm>
              <a:off x="5082485" y="2634002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Oval 15"/>
            <p:cNvSpPr>
              <a:spLocks noChangeArrowheads="1"/>
            </p:cNvSpPr>
            <p:nvPr/>
          </p:nvSpPr>
          <p:spPr bwMode="auto">
            <a:xfrm>
              <a:off x="5593524" y="2632033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Oval 16"/>
            <p:cNvSpPr>
              <a:spLocks noChangeArrowheads="1"/>
            </p:cNvSpPr>
            <p:nvPr/>
          </p:nvSpPr>
          <p:spPr bwMode="auto">
            <a:xfrm>
              <a:off x="6141008" y="2638881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Oval 15"/>
            <p:cNvSpPr>
              <a:spLocks noChangeArrowheads="1"/>
            </p:cNvSpPr>
            <p:nvPr/>
          </p:nvSpPr>
          <p:spPr bwMode="auto">
            <a:xfrm>
              <a:off x="4874991" y="2072918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5872083" y="2077796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auto">
            <a:xfrm>
              <a:off x="7032396" y="2077796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Oval 15"/>
            <p:cNvSpPr>
              <a:spLocks noChangeArrowheads="1"/>
            </p:cNvSpPr>
            <p:nvPr/>
          </p:nvSpPr>
          <p:spPr bwMode="auto">
            <a:xfrm>
              <a:off x="8035207" y="2082675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>
              <a:off x="5472467" y="13895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4" name="Oval 15"/>
            <p:cNvSpPr>
              <a:spLocks noChangeArrowheads="1"/>
            </p:cNvSpPr>
            <p:nvPr/>
          </p:nvSpPr>
          <p:spPr bwMode="auto">
            <a:xfrm>
              <a:off x="7376300" y="13895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57904" y="67652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02927" y="1389554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09921" y="138488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C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48064" y="2636912"/>
              <a:ext cx="24861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I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14452" y="2064677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21995" y="2629336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J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901416" y="2064217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74296" y="2058232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F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166529" y="264595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1644" y="2068252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G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13081" y="2629336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H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25873" y="3756963"/>
            <a:ext cx="50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935914" y="1489192"/>
            <a:ext cx="33922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파이썬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리스트에 저장된 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 트리</a:t>
            </a:r>
            <a:endParaRPr kumimoji="1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64385"/>
              </p:ext>
            </p:extLst>
          </p:nvPr>
        </p:nvGraphicFramePr>
        <p:xfrm>
          <a:off x="1534566" y="3756963"/>
          <a:ext cx="6095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J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64601"/>
              </p:ext>
            </p:extLst>
          </p:nvPr>
        </p:nvGraphicFramePr>
        <p:xfrm>
          <a:off x="1547664" y="3385910"/>
          <a:ext cx="6095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281207" y="4857820"/>
            <a:ext cx="8587220" cy="1389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저장하면 노드의 부모와 자식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어디에 저장되어 있는지를 다음과 같은 규칙을 통해 쉽게 알 수 있다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노드수는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8322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706551"/>
            <a:ext cx="7886700" cy="5921762"/>
          </a:xfrm>
        </p:spPr>
        <p:txBody>
          <a:bodyPr>
            <a:normAutofit/>
          </a:bodyPr>
          <a:lstStyle/>
          <a:p>
            <a:pPr lvl="0"/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ko-KR" sz="2400" dirty="0"/>
              <a:t>의 부모는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a[</a:t>
            </a:r>
            <a:r>
              <a:rPr lang="en-US" altLang="ko-KR" sz="2400" dirty="0" err="1">
                <a:solidFill>
                  <a:srgbClr val="00B0F0"/>
                </a:solidFill>
              </a:rPr>
              <a:t>i</a:t>
            </a:r>
            <a:r>
              <a:rPr lang="en-US" altLang="ko-KR" sz="2400" dirty="0">
                <a:solidFill>
                  <a:srgbClr val="00B0F0"/>
                </a:solidFill>
              </a:rPr>
              <a:t>/2]</a:t>
            </a:r>
            <a:r>
              <a:rPr lang="en-US" altLang="ko-KR" sz="2400" dirty="0">
                <a:solidFill>
                  <a:srgbClr val="3333FF"/>
                </a:solidFill>
              </a:rPr>
              <a:t>,</a:t>
            </a:r>
            <a:r>
              <a:rPr lang="en-US" altLang="ko-KR" sz="2400" dirty="0"/>
              <a:t> </a:t>
            </a:r>
            <a:r>
              <a:rPr lang="ko-KR" altLang="ko-KR" sz="2400" dirty="0"/>
              <a:t>단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&gt; 1</a:t>
            </a:r>
            <a:endParaRPr lang="ko-KR" altLang="ko-KR" sz="2400" dirty="0"/>
          </a:p>
          <a:p>
            <a:pPr lvl="0"/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ko-KR" sz="2400" dirty="0"/>
              <a:t>의 왼쪽 자식</a:t>
            </a:r>
            <a:r>
              <a:rPr lang="ko-KR" altLang="en-US" sz="2400" dirty="0"/>
              <a:t>은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a[2i]</a:t>
            </a:r>
            <a:r>
              <a:rPr lang="en-US" altLang="ko-KR" sz="2400" dirty="0">
                <a:solidFill>
                  <a:srgbClr val="3333FF"/>
                </a:solidFill>
              </a:rPr>
              <a:t>,</a:t>
            </a:r>
            <a:r>
              <a:rPr lang="en-US" altLang="ko-KR" sz="2400" dirty="0"/>
              <a:t> </a:t>
            </a:r>
            <a:r>
              <a:rPr lang="ko-KR" altLang="ko-KR" sz="2400" dirty="0"/>
              <a:t>단</a:t>
            </a:r>
            <a:r>
              <a:rPr lang="en-US" altLang="ko-KR" sz="2400" dirty="0"/>
              <a:t>, 2i ≤ n</a:t>
            </a:r>
            <a:endParaRPr lang="ko-KR" altLang="ko-KR" sz="2400" dirty="0"/>
          </a:p>
          <a:p>
            <a:pPr lvl="0"/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ko-KR" sz="2400" dirty="0"/>
              <a:t>의 오른쪽 자식</a:t>
            </a:r>
            <a:r>
              <a:rPr lang="ko-KR" altLang="en-US" sz="2400" dirty="0"/>
              <a:t>은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a[2i+1]</a:t>
            </a:r>
            <a:r>
              <a:rPr lang="en-US" altLang="ko-KR" sz="2400" dirty="0">
                <a:solidFill>
                  <a:srgbClr val="3333FF"/>
                </a:solidFill>
              </a:rPr>
              <a:t>,</a:t>
            </a:r>
            <a:r>
              <a:rPr lang="en-US" altLang="ko-KR" sz="2400" dirty="0"/>
              <a:t> </a:t>
            </a:r>
            <a:r>
              <a:rPr lang="ko-KR" altLang="ko-KR" sz="2400" dirty="0"/>
              <a:t>단</a:t>
            </a:r>
            <a:r>
              <a:rPr lang="en-US" altLang="ko-KR" sz="2400" dirty="0"/>
              <a:t>, 2i + 1 ≤ n</a:t>
            </a:r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r>
              <a:rPr lang="en-US" altLang="ko-KR" sz="2400" dirty="0"/>
              <a:t>E</a:t>
            </a:r>
            <a:r>
              <a:rPr lang="ko-KR" altLang="ko-KR" sz="2400" dirty="0"/>
              <a:t>의 부모는 </a:t>
            </a:r>
            <a:r>
              <a:rPr lang="en-US" altLang="ko-KR" sz="2400" dirty="0"/>
              <a:t>a[5/2] = a[2]</a:t>
            </a:r>
            <a:r>
              <a:rPr lang="ko-KR" altLang="ko-KR" sz="2400" dirty="0"/>
              <a:t>에 있는</a:t>
            </a:r>
            <a:r>
              <a:rPr lang="en-US" altLang="ko-KR" sz="2400" dirty="0">
                <a:solidFill>
                  <a:srgbClr val="3333FF"/>
                </a:solidFill>
              </a:rPr>
              <a:t> B</a:t>
            </a:r>
          </a:p>
          <a:p>
            <a:pPr>
              <a:spcBef>
                <a:spcPts val="0"/>
              </a:spcBef>
            </a:pPr>
            <a:r>
              <a:rPr lang="en-US" altLang="ko-KR" sz="2400" dirty="0"/>
              <a:t>E</a:t>
            </a:r>
            <a:r>
              <a:rPr lang="ko-KR" altLang="en-US" sz="2400" dirty="0"/>
              <a:t>의 </a:t>
            </a:r>
            <a:r>
              <a:rPr lang="ko-KR" altLang="ko-KR" sz="2400" dirty="0"/>
              <a:t>왼쪽과 오른쪽 자식은 각각 </a:t>
            </a:r>
            <a:r>
              <a:rPr lang="en-US" altLang="ko-KR" sz="2400" dirty="0"/>
              <a:t>a[2x5] = a[10]</a:t>
            </a:r>
            <a:r>
              <a:rPr lang="ko-KR" altLang="ko-KR" sz="2400" dirty="0"/>
              <a:t>과</a:t>
            </a:r>
            <a:r>
              <a:rPr lang="en-US" altLang="ko-KR" sz="2400" dirty="0"/>
              <a:t> a[2x5+1] = a[11]</a:t>
            </a:r>
            <a:r>
              <a:rPr lang="ko-KR" altLang="ko-KR" sz="2400" dirty="0"/>
              <a:t>에 저장된 </a:t>
            </a:r>
            <a:r>
              <a:rPr lang="en-US" altLang="ko-KR" sz="2400" dirty="0">
                <a:solidFill>
                  <a:srgbClr val="7030A0"/>
                </a:solidFill>
              </a:rPr>
              <a:t>J</a:t>
            </a:r>
            <a:r>
              <a:rPr lang="ko-KR" altLang="ko-KR" sz="2400" dirty="0"/>
              <a:t>와 </a:t>
            </a:r>
            <a:r>
              <a:rPr lang="en-US" altLang="ko-KR" sz="2400" dirty="0">
                <a:solidFill>
                  <a:srgbClr val="7030A0"/>
                </a:solidFill>
              </a:rPr>
              <a:t>K</a:t>
            </a:r>
            <a:endParaRPr lang="ko-KR" altLang="ko-KR" sz="2400" dirty="0">
              <a:solidFill>
                <a:srgbClr val="7030A0"/>
              </a:solidFill>
            </a:endParaRPr>
          </a:p>
          <a:p>
            <a:pPr lvl="0"/>
            <a:endParaRPr lang="ko-KR" altLang="ko-KR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2569336"/>
            <a:ext cx="6562725" cy="78105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021394" y="2883661"/>
            <a:ext cx="442451" cy="3441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612769" y="2883661"/>
            <a:ext cx="442451" cy="3441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858307" y="2883661"/>
            <a:ext cx="442451" cy="34412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406024" y="2883661"/>
            <a:ext cx="442451" cy="34412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9C8D9A4-B08C-1A83-F52D-00A14F2DD9A2}"/>
              </a:ext>
            </a:extLst>
          </p:cNvPr>
          <p:cNvGrpSpPr/>
          <p:nvPr/>
        </p:nvGrpSpPr>
        <p:grpSpPr>
          <a:xfrm>
            <a:off x="6406024" y="339634"/>
            <a:ext cx="2480187" cy="1506051"/>
            <a:chOff x="4581079" y="676528"/>
            <a:chExt cx="3814128" cy="2338762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59D807F4-7E3B-12EE-F5CF-92FB0EFBB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009" y="2299389"/>
              <a:ext cx="191427" cy="5312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F59B4A9-F789-8378-0ABF-4F0E98A7F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0659" y="2321413"/>
              <a:ext cx="298737" cy="524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15E50503-18C5-A08E-2DCE-D97F1E7FA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0638" y="2321413"/>
              <a:ext cx="242322" cy="502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F1AC8153-2B05-8F06-4D06-4D5B4748A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3030" y="2299389"/>
              <a:ext cx="298737" cy="524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91BA9570-A6B3-F009-5004-E9E488D31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1229" y="1722037"/>
              <a:ext cx="281708" cy="5523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566D94D2-0A64-B507-5D94-75BC0766B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9350" y="1590556"/>
              <a:ext cx="627809" cy="683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56D5BBB4-4C6E-A0F0-AAD2-0DB9AD14E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4348" y="1581297"/>
              <a:ext cx="394799" cy="683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F8A593AA-4984-6791-0307-ADB1736AA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6942" y="1590556"/>
              <a:ext cx="597475" cy="6789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FC6E1939-3E11-7F4A-AA64-C6DBD81A2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44418" y="883660"/>
              <a:ext cx="954469" cy="697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B6310FE5-2F11-5034-6013-83C078F2C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7877" y="873685"/>
              <a:ext cx="920376" cy="707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D27CF90-A397-ABFB-8016-15C07BDD9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6936" y="691917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2445CC7D-6575-B9AB-653E-E363F1692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079" y="26271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398A9FFB-1200-0A94-BAC0-D69D2B06D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2485" y="2634002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928B7BB1-329A-D1DC-5032-4D59967BC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524" y="2632033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314C2437-E0C8-2C3B-B513-9EE25BCB1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1008" y="2638881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Oval 15">
              <a:extLst>
                <a:ext uri="{FF2B5EF4-FFF2-40B4-BE49-F238E27FC236}">
                  <a16:creationId xmlns:a16="http://schemas.microsoft.com/office/drawing/2014/main" id="{5FD4970D-5879-AE90-0AF8-631CC8D73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991" y="2072918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Oval 15">
              <a:extLst>
                <a:ext uri="{FF2B5EF4-FFF2-40B4-BE49-F238E27FC236}">
                  <a16:creationId xmlns:a16="http://schemas.microsoft.com/office/drawing/2014/main" id="{2915C8B4-EAB8-7181-D73F-A3363B4B8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083" y="2077796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Oval 15">
              <a:extLst>
                <a:ext uri="{FF2B5EF4-FFF2-40B4-BE49-F238E27FC236}">
                  <a16:creationId xmlns:a16="http://schemas.microsoft.com/office/drawing/2014/main" id="{AAA9489F-5F60-CF81-9AF9-EACBF95A4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2396" y="2077796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Oval 15">
              <a:extLst>
                <a:ext uri="{FF2B5EF4-FFF2-40B4-BE49-F238E27FC236}">
                  <a16:creationId xmlns:a16="http://schemas.microsoft.com/office/drawing/2014/main" id="{E801BAB5-782D-351E-0DC9-32D02DCC1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207" y="2082675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378C4A9C-D747-CD96-869A-FBE99E82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467" y="13895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Oval 15">
              <a:extLst>
                <a:ext uri="{FF2B5EF4-FFF2-40B4-BE49-F238E27FC236}">
                  <a16:creationId xmlns:a16="http://schemas.microsoft.com/office/drawing/2014/main" id="{A2D4BA91-27DE-43AE-43BB-A48D93B0A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6300" y="1389554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527FB4-5770-ED64-B722-1D0080A1AF66}"/>
                </a:ext>
              </a:extLst>
            </p:cNvPr>
            <p:cNvSpPr txBox="1"/>
            <p:nvPr/>
          </p:nvSpPr>
          <p:spPr>
            <a:xfrm>
              <a:off x="6457904" y="67652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9E93B1-DCB0-D0FD-D905-0D852FF93A38}"/>
                </a:ext>
              </a:extLst>
            </p:cNvPr>
            <p:cNvSpPr txBox="1"/>
            <p:nvPr/>
          </p:nvSpPr>
          <p:spPr>
            <a:xfrm>
              <a:off x="5502927" y="1389554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9AD9A0E-8AEF-94CD-9451-AF7BE14593F1}"/>
                </a:ext>
              </a:extLst>
            </p:cNvPr>
            <p:cNvSpPr txBox="1"/>
            <p:nvPr/>
          </p:nvSpPr>
          <p:spPr>
            <a:xfrm>
              <a:off x="7409921" y="138488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4470B6-1B98-7BC4-E83E-ED9CA96D56AF}"/>
                </a:ext>
              </a:extLst>
            </p:cNvPr>
            <p:cNvSpPr txBox="1"/>
            <p:nvPr/>
          </p:nvSpPr>
          <p:spPr>
            <a:xfrm>
              <a:off x="5148064" y="2636912"/>
              <a:ext cx="24861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DE67EB6-8DD4-D825-918A-D5F03AA6B489}"/>
                </a:ext>
              </a:extLst>
            </p:cNvPr>
            <p:cNvSpPr txBox="1"/>
            <p:nvPr/>
          </p:nvSpPr>
          <p:spPr>
            <a:xfrm>
              <a:off x="4914452" y="2064677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280B25D-D3FB-54EC-38BD-42C195960358}"/>
                </a:ext>
              </a:extLst>
            </p:cNvPr>
            <p:cNvSpPr txBox="1"/>
            <p:nvPr/>
          </p:nvSpPr>
          <p:spPr>
            <a:xfrm>
              <a:off x="5621995" y="2629336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J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4E6984D-947D-3552-CA62-F38CF47F9C3D}"/>
                </a:ext>
              </a:extLst>
            </p:cNvPr>
            <p:cNvSpPr txBox="1"/>
            <p:nvPr/>
          </p:nvSpPr>
          <p:spPr>
            <a:xfrm>
              <a:off x="5901416" y="2064217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84A6D2-E3FE-CC48-D2A1-0627F5914F1E}"/>
                </a:ext>
              </a:extLst>
            </p:cNvPr>
            <p:cNvSpPr txBox="1"/>
            <p:nvPr/>
          </p:nvSpPr>
          <p:spPr>
            <a:xfrm>
              <a:off x="7074296" y="2058232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F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77B759-C66E-78F5-684D-C1D5FC738DA5}"/>
                </a:ext>
              </a:extLst>
            </p:cNvPr>
            <p:cNvSpPr txBox="1"/>
            <p:nvPr/>
          </p:nvSpPr>
          <p:spPr>
            <a:xfrm>
              <a:off x="6166529" y="2645958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K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7B5AB9-5F4C-C0BC-472D-372E0071BD37}"/>
                </a:ext>
              </a:extLst>
            </p:cNvPr>
            <p:cNvSpPr txBox="1"/>
            <p:nvPr/>
          </p:nvSpPr>
          <p:spPr>
            <a:xfrm>
              <a:off x="8081644" y="2068252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D50124C-158F-4EEE-3F87-1BA5E49BCCEF}"/>
                </a:ext>
              </a:extLst>
            </p:cNvPr>
            <p:cNvSpPr txBox="1"/>
            <p:nvPr/>
          </p:nvSpPr>
          <p:spPr>
            <a:xfrm>
              <a:off x="4613081" y="2629336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732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946457" y="1412776"/>
            <a:ext cx="1812122" cy="2211727"/>
            <a:chOff x="946457" y="1412776"/>
            <a:chExt cx="1812122" cy="2211727"/>
          </a:xfrm>
        </p:grpSpPr>
        <p:sp>
          <p:nvSpPr>
            <p:cNvPr id="38" name="Line 7"/>
            <p:cNvSpPr>
              <a:spLocks noChangeShapeType="1"/>
            </p:cNvSpPr>
            <p:nvPr/>
          </p:nvSpPr>
          <p:spPr bwMode="auto">
            <a:xfrm flipH="1">
              <a:off x="1147116" y="2891971"/>
              <a:ext cx="298737" cy="524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0" name="Line 7"/>
            <p:cNvSpPr>
              <a:spLocks noChangeShapeType="1"/>
            </p:cNvSpPr>
            <p:nvPr/>
          </p:nvSpPr>
          <p:spPr bwMode="auto">
            <a:xfrm flipH="1">
              <a:off x="1403647" y="2490797"/>
              <a:ext cx="346296" cy="4425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1" name="Line 7"/>
            <p:cNvSpPr>
              <a:spLocks noChangeShapeType="1"/>
            </p:cNvSpPr>
            <p:nvPr/>
          </p:nvSpPr>
          <p:spPr bwMode="auto">
            <a:xfrm flipH="1">
              <a:off x="1652043" y="1604519"/>
              <a:ext cx="918486" cy="8769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2398579" y="1412776"/>
              <a:ext cx="360000" cy="360000"/>
            </a:xfrm>
            <a:prstGeom prst="ellipse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7" name="Oval 15"/>
            <p:cNvSpPr>
              <a:spLocks noChangeArrowheads="1"/>
            </p:cNvSpPr>
            <p:nvPr/>
          </p:nvSpPr>
          <p:spPr bwMode="auto">
            <a:xfrm>
              <a:off x="1584517" y="2246605"/>
              <a:ext cx="360000" cy="360000"/>
            </a:xfrm>
            <a:prstGeom prst="ellipse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Oval 15"/>
            <p:cNvSpPr>
              <a:spLocks noChangeArrowheads="1"/>
            </p:cNvSpPr>
            <p:nvPr/>
          </p:nvSpPr>
          <p:spPr bwMode="auto">
            <a:xfrm>
              <a:off x="1949218" y="1833229"/>
              <a:ext cx="360000" cy="360000"/>
            </a:xfrm>
            <a:prstGeom prst="ellipse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946457" y="3255171"/>
              <a:ext cx="360000" cy="360000"/>
            </a:xfrm>
            <a:prstGeom prst="ellipse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1229503" y="2741482"/>
              <a:ext cx="360000" cy="360000"/>
            </a:xfrm>
            <a:prstGeom prst="ellipse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434563" y="1419853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03264" y="1828563"/>
              <a:ext cx="28803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599190" y="2237273"/>
              <a:ext cx="35002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C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234489" y="2736816"/>
              <a:ext cx="35002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46457" y="3255171"/>
              <a:ext cx="35002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E</a:t>
              </a: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219333" y="5344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편향 이진 트리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611520" y="5148302"/>
          <a:ext cx="54863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611520" y="4793871"/>
          <a:ext cx="54863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30449" y="4821587"/>
            <a:ext cx="43769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16</a:t>
            </a:r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6269138" y="2882639"/>
            <a:ext cx="302687" cy="524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5961027" y="2481465"/>
            <a:ext cx="350875" cy="4425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0" name="Line 7"/>
          <p:cNvSpPr>
            <a:spLocks noChangeShapeType="1"/>
          </p:cNvSpPr>
          <p:nvPr/>
        </p:nvSpPr>
        <p:spPr bwMode="auto">
          <a:xfrm>
            <a:off x="5129590" y="1595187"/>
            <a:ext cx="930632" cy="87694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1" name="Oval 14"/>
          <p:cNvSpPr>
            <a:spLocks noChangeArrowheads="1"/>
          </p:cNvSpPr>
          <p:nvPr/>
        </p:nvSpPr>
        <p:spPr bwMode="auto">
          <a:xfrm flipH="1">
            <a:off x="4939053" y="1403444"/>
            <a:ext cx="364761" cy="360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" name="Oval 15"/>
          <p:cNvSpPr>
            <a:spLocks noChangeArrowheads="1"/>
          </p:cNvSpPr>
          <p:nvPr/>
        </p:nvSpPr>
        <p:spPr bwMode="auto">
          <a:xfrm flipH="1">
            <a:off x="5763880" y="2237273"/>
            <a:ext cx="364761" cy="360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Oval 15"/>
          <p:cNvSpPr>
            <a:spLocks noChangeArrowheads="1"/>
          </p:cNvSpPr>
          <p:nvPr/>
        </p:nvSpPr>
        <p:spPr bwMode="auto">
          <a:xfrm flipH="1">
            <a:off x="5394356" y="1823897"/>
            <a:ext cx="364761" cy="360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Oval 15"/>
          <p:cNvSpPr>
            <a:spLocks noChangeArrowheads="1"/>
          </p:cNvSpPr>
          <p:nvPr/>
        </p:nvSpPr>
        <p:spPr bwMode="auto">
          <a:xfrm flipH="1">
            <a:off x="6410377" y="3245839"/>
            <a:ext cx="364761" cy="360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Oval 15"/>
          <p:cNvSpPr>
            <a:spLocks noChangeArrowheads="1"/>
          </p:cNvSpPr>
          <p:nvPr/>
        </p:nvSpPr>
        <p:spPr bwMode="auto">
          <a:xfrm flipH="1">
            <a:off x="6123589" y="2732150"/>
            <a:ext cx="364761" cy="360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 flipH="1">
            <a:off x="4977524" y="1386108"/>
            <a:ext cx="2918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 flipH="1">
            <a:off x="5412515" y="1819231"/>
            <a:ext cx="29184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 flipH="1">
            <a:off x="5759117" y="2227941"/>
            <a:ext cx="3546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C</a:t>
            </a:r>
          </a:p>
        </p:txBody>
      </p:sp>
      <p:sp>
        <p:nvSpPr>
          <p:cNvPr id="62" name="TextBox 61"/>
          <p:cNvSpPr txBox="1"/>
          <p:nvPr/>
        </p:nvSpPr>
        <p:spPr>
          <a:xfrm flipH="1">
            <a:off x="6128640" y="2727484"/>
            <a:ext cx="3546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6420481" y="3245839"/>
            <a:ext cx="3546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E</a:t>
            </a: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2580325" y="4138066"/>
          <a:ext cx="54863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2580325" y="3783635"/>
          <a:ext cx="54863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6156176" y="3794294"/>
            <a:ext cx="43769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3544" y="3783723"/>
            <a:ext cx="43769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31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9421" y="5873463"/>
            <a:ext cx="8248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편향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Skewed)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배열에 저장하는 경우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높이가 커질 수록 메모리 낭비가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심화됨</a:t>
            </a:r>
            <a:endParaRPr lang="ko-KR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5669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63340" y="725706"/>
            <a:ext cx="8066187" cy="987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노드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키와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레퍼런스 필드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(left,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right) 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>
              <a:lnSpc>
                <a:spcPct val="140000"/>
              </a:lnSpc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키와 관련된 정보도 노드에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저장되나 생략</a:t>
            </a:r>
            <a:endParaRPr lang="ko-KR" altLang="ko-KR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1" name="그림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40" y="3335154"/>
            <a:ext cx="2548547" cy="3183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751" y="3022575"/>
            <a:ext cx="4695207" cy="363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그림 11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189" y="2149330"/>
            <a:ext cx="1678052" cy="9820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0552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787943" y="718676"/>
            <a:ext cx="6008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위한 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BinaryTree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클래스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653"/>
            <a:ext cx="8812097" cy="282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76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3" y="238190"/>
            <a:ext cx="8796698" cy="63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30" y="398418"/>
            <a:ext cx="8483830" cy="417358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865689" y="5222789"/>
            <a:ext cx="3408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프로그램</a:t>
            </a:r>
            <a:r>
              <a:rPr lang="ko-KR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4-1] binary_tree.py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95094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 flipH="1">
            <a:off x="2535868" y="5587821"/>
            <a:ext cx="406528" cy="479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2991132" y="5065375"/>
            <a:ext cx="406528" cy="479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 flipV="1">
            <a:off x="3632817" y="4978003"/>
            <a:ext cx="326504" cy="5105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3698309" y="4509019"/>
            <a:ext cx="496657" cy="30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 flipV="1">
            <a:off x="4481893" y="4442725"/>
            <a:ext cx="634967" cy="370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4855584" y="4954032"/>
            <a:ext cx="406528" cy="479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 flipV="1">
            <a:off x="5275608" y="4978724"/>
            <a:ext cx="435384" cy="4486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58" y="508217"/>
            <a:ext cx="8512391" cy="3424956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168875" y="4178709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32875" y="4228043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3320437" y="4646709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84437" y="4696043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200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5016498" y="4676379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80498" y="4725713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300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2757132" y="5310911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21132" y="5360245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400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3735440" y="5311085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99440" y="536041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500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4590848" y="5310737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554848" y="536007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600</a:t>
            </a:r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5569156" y="5310911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533156" y="5360245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700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2329429" y="5925427"/>
            <a:ext cx="468000" cy="468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293429" y="597476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800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5189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214737" y="5789667"/>
            <a:ext cx="2714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프로그램</a:t>
            </a:r>
            <a:r>
              <a:rPr lang="ko-KR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4-2] main.py </a:t>
            </a:r>
            <a:endParaRPr 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57" y="1227551"/>
            <a:ext cx="6638599" cy="354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15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1" y="2492967"/>
            <a:ext cx="8860917" cy="2191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CB07F-6C0F-47FA-81CD-310B727E4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746" y="4684630"/>
            <a:ext cx="3088712" cy="179099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CB59450-4439-4359-A403-77CBCBC65BA5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4E9031-8889-436D-B734-0E23191F7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87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4.3 </a:t>
            </a:r>
            <a:r>
              <a:rPr lang="ko-KR" altLang="en-US"/>
              <a:t>이진 트리의</a:t>
            </a:r>
            <a:r>
              <a:rPr lang="en-US" altLang="ko-KR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6957"/>
            <a:ext cx="7886700" cy="49377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트리에서 </a:t>
            </a:r>
            <a:r>
              <a:rPr lang="ko-KR" altLang="ko-KR" sz="2400" dirty="0"/>
              <a:t>수행되는 기본 연산들은 트리를 </a:t>
            </a:r>
            <a:r>
              <a:rPr lang="ko-KR" altLang="ko-KR" sz="2400" dirty="0">
                <a:solidFill>
                  <a:srgbClr val="00B0F0"/>
                </a:solidFill>
              </a:rPr>
              <a:t>순회</a:t>
            </a:r>
            <a:r>
              <a:rPr lang="en-US" altLang="ko-KR" sz="2400" dirty="0">
                <a:solidFill>
                  <a:srgbClr val="00B0F0"/>
                </a:solidFill>
              </a:rPr>
              <a:t>(Traversal)</a:t>
            </a:r>
            <a:r>
              <a:rPr lang="ko-KR" altLang="ko-KR" sz="2400" dirty="0"/>
              <a:t>하며 이루어진다</a:t>
            </a:r>
            <a:r>
              <a:rPr lang="en-US" altLang="ko-KR" sz="2400" dirty="0"/>
              <a:t>. </a:t>
            </a:r>
          </a:p>
          <a:p>
            <a:pPr>
              <a:spcBef>
                <a:spcPts val="0"/>
              </a:spcBef>
            </a:pPr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r>
              <a:rPr lang="ko-KR" altLang="en-US" sz="2400"/>
              <a:t>의 </a:t>
            </a:r>
            <a:r>
              <a:rPr lang="en-US" altLang="ko-KR" sz="2400" dirty="0"/>
              <a:t>4</a:t>
            </a:r>
            <a:r>
              <a:rPr lang="ko-KR" altLang="en-US" sz="2400" dirty="0"/>
              <a:t>가지</a:t>
            </a:r>
            <a:r>
              <a:rPr lang="ko-KR" altLang="ko-KR" sz="2400" dirty="0"/>
              <a:t> 순회하는 방식</a:t>
            </a:r>
            <a:endParaRPr lang="en-US" altLang="ko-KR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2400"/>
              <a:t>   </a:t>
            </a:r>
            <a:r>
              <a:rPr lang="ko-KR" altLang="en-US" sz="2000"/>
              <a:t>순회는 </a:t>
            </a:r>
            <a:r>
              <a:rPr lang="ko-KR" altLang="ko-KR" sz="2000"/>
              <a:t>항상 트리의 루트부터 </a:t>
            </a:r>
            <a:r>
              <a:rPr lang="ko-KR" altLang="ko-KR" sz="2000" dirty="0"/>
              <a:t>시작</a:t>
            </a:r>
            <a:endParaRPr lang="ko-KR" altLang="ko-KR" sz="2400" dirty="0"/>
          </a:p>
          <a:p>
            <a:pPr marL="1071563"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전위</a:t>
            </a:r>
            <a:r>
              <a:rPr lang="en-US" altLang="ko-KR" sz="2400"/>
              <a:t> </a:t>
            </a:r>
            <a:r>
              <a:rPr lang="ko-KR" altLang="ko-KR" sz="2400"/>
              <a:t>순회</a:t>
            </a:r>
            <a:r>
              <a:rPr lang="en-US" altLang="ko-KR" sz="2400" dirty="0"/>
              <a:t>(Preorder Traversal)</a:t>
            </a:r>
            <a:endParaRPr lang="ko-KR" altLang="ko-KR" sz="2400" dirty="0"/>
          </a:p>
          <a:p>
            <a:pPr marL="1071563" lvl="0"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중위</a:t>
            </a:r>
            <a:r>
              <a:rPr lang="en-US" altLang="ko-KR" sz="2400"/>
              <a:t> </a:t>
            </a:r>
            <a:r>
              <a:rPr lang="ko-KR" altLang="ko-KR" sz="2400"/>
              <a:t>순회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Inorder</a:t>
            </a:r>
            <a:r>
              <a:rPr lang="en-US" altLang="ko-KR" sz="2400" dirty="0"/>
              <a:t> Traversal)</a:t>
            </a:r>
            <a:endParaRPr lang="ko-KR" altLang="ko-KR" sz="2400" dirty="0"/>
          </a:p>
          <a:p>
            <a:pPr marL="1071563" lvl="0"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후위</a:t>
            </a:r>
            <a:r>
              <a:rPr lang="en-US" altLang="ko-KR" sz="2400"/>
              <a:t> </a:t>
            </a:r>
            <a:r>
              <a:rPr lang="ko-KR" altLang="ko-KR" sz="2400"/>
              <a:t>순회</a:t>
            </a:r>
            <a:r>
              <a:rPr lang="en-US" altLang="ko-KR" sz="2400" dirty="0"/>
              <a:t>(</a:t>
            </a:r>
            <a:r>
              <a:rPr lang="en-US" altLang="ko-KR" sz="2400" dirty="0" err="1"/>
              <a:t>Postorder</a:t>
            </a:r>
            <a:r>
              <a:rPr lang="en-US" altLang="ko-KR" sz="2400" dirty="0"/>
              <a:t> Traversal)</a:t>
            </a:r>
            <a:endParaRPr lang="ko-KR" altLang="ko-KR" sz="2400" dirty="0"/>
          </a:p>
          <a:p>
            <a:pPr marL="1071563" lvl="0"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레벨</a:t>
            </a:r>
            <a:r>
              <a:rPr lang="en-US" altLang="ko-KR" sz="2400"/>
              <a:t> </a:t>
            </a:r>
            <a:r>
              <a:rPr lang="ko-KR" altLang="ko-KR" sz="2400"/>
              <a:t>순회</a:t>
            </a:r>
            <a:r>
              <a:rPr lang="en-US" altLang="ko-KR" sz="2400" dirty="0"/>
              <a:t>(</a:t>
            </a:r>
            <a:r>
              <a:rPr lang="en-US" altLang="ko-KR" sz="2400" dirty="0" err="1"/>
              <a:t>Levelorder</a:t>
            </a:r>
            <a:r>
              <a:rPr lang="en-US" altLang="ko-KR" sz="2400" dirty="0"/>
              <a:t> Traversal)</a:t>
            </a:r>
            <a:endParaRPr lang="ko-KR" altLang="ko-KR" sz="24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8487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6973" y="528248"/>
            <a:ext cx="7886700" cy="5599991"/>
          </a:xfrm>
        </p:spPr>
        <p:txBody>
          <a:bodyPr/>
          <a:lstStyle/>
          <a:p>
            <a:r>
              <a:rPr lang="ko-KR" altLang="ko-KR" dirty="0"/>
              <a:t>전위</a:t>
            </a:r>
            <a:r>
              <a:rPr lang="en-US" altLang="ko-KR" dirty="0"/>
              <a:t>, </a:t>
            </a:r>
            <a:r>
              <a:rPr lang="ko-KR" altLang="ko-KR" dirty="0"/>
              <a:t>중위</a:t>
            </a:r>
            <a:r>
              <a:rPr lang="en-US" altLang="ko-KR"/>
              <a:t>, </a:t>
            </a:r>
            <a:r>
              <a:rPr lang="ko-KR" altLang="ko-KR"/>
              <a:t>후위</a:t>
            </a:r>
            <a:r>
              <a:rPr lang="en-US" altLang="ko-KR"/>
              <a:t> </a:t>
            </a:r>
            <a:r>
              <a:rPr lang="ko-KR" altLang="ko-KR"/>
              <a:t>순회는 </a:t>
            </a:r>
            <a:r>
              <a:rPr lang="ko-KR" altLang="ko-KR" dirty="0"/>
              <a:t>트리를 순회하는 중에 노드를 방문하는 시점에 </a:t>
            </a:r>
            <a:r>
              <a:rPr lang="ko-KR" altLang="ko-KR"/>
              <a:t>따라 구분</a:t>
            </a:r>
            <a:endParaRPr lang="en-US" altLang="ko-KR" dirty="0"/>
          </a:p>
          <a:p>
            <a:r>
              <a:rPr lang="ko-KR" altLang="ko-KR" dirty="0"/>
              <a:t>전위</a:t>
            </a:r>
            <a:r>
              <a:rPr lang="en-US" altLang="ko-KR" dirty="0"/>
              <a:t>, </a:t>
            </a:r>
            <a:r>
              <a:rPr lang="ko-KR" altLang="ko-KR" dirty="0"/>
              <a:t>중위</a:t>
            </a:r>
            <a:r>
              <a:rPr lang="en-US" altLang="ko-KR"/>
              <a:t>, </a:t>
            </a:r>
            <a:r>
              <a:rPr lang="ko-KR" altLang="ko-KR"/>
              <a:t>후위</a:t>
            </a:r>
            <a:r>
              <a:rPr lang="en-US" altLang="ko-KR"/>
              <a:t> </a:t>
            </a:r>
            <a:r>
              <a:rPr lang="ko-KR" altLang="ko-KR"/>
              <a:t>순회는 모두 </a:t>
            </a:r>
            <a:r>
              <a:rPr lang="ko-KR" altLang="ko-KR" u="sng"/>
              <a:t>루트로부터</a:t>
            </a:r>
            <a:r>
              <a:rPr lang="ko-KR" altLang="ko-KR"/>
              <a:t> </a:t>
            </a:r>
            <a:r>
              <a:rPr lang="ko-KR" altLang="ko-KR" dirty="0"/>
              <a:t>동일한 </a:t>
            </a:r>
            <a:r>
              <a:rPr lang="ko-KR" altLang="ko-KR"/>
              <a:t>순서로 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/>
              <a:t>노드들을 지나가는데</a:t>
            </a:r>
            <a:r>
              <a:rPr lang="en-US" altLang="ko-KR" dirty="0"/>
              <a:t>, </a:t>
            </a:r>
            <a:r>
              <a:rPr lang="ko-KR" altLang="ko-KR" dirty="0"/>
              <a:t>특정 </a:t>
            </a:r>
            <a:r>
              <a:rPr lang="ko-KR" altLang="ko-KR"/>
              <a:t>노드에 도착</a:t>
            </a:r>
            <a:r>
              <a:rPr lang="ko-KR" altLang="en-US"/>
              <a:t>했을 때</a:t>
            </a:r>
            <a:r>
              <a:rPr lang="ko-KR" altLang="ko-KR"/>
              <a:t> </a:t>
            </a:r>
            <a:r>
              <a:rPr lang="ko-KR" altLang="ko-KR" dirty="0"/>
              <a:t>그 </a:t>
            </a:r>
            <a:r>
              <a:rPr lang="ko-KR" altLang="ko-KR"/>
              <a:t>노드를 방문</a:t>
            </a:r>
            <a:r>
              <a:rPr lang="ko-KR" altLang="en-US"/>
              <a:t>할지</a:t>
            </a:r>
            <a:r>
              <a:rPr lang="en-US" altLang="ko-KR"/>
              <a:t>, </a:t>
            </a:r>
            <a:r>
              <a:rPr lang="ko-KR" altLang="en-US"/>
              <a:t>아니면</a:t>
            </a:r>
            <a:r>
              <a:rPr lang="ko-KR" altLang="ko-KR"/>
              <a:t> </a:t>
            </a:r>
            <a:r>
              <a:rPr lang="ko-KR" altLang="ko-KR" dirty="0"/>
              <a:t>지나치고 나중에 방문하는지에 따라 구분</a:t>
            </a:r>
            <a:r>
              <a:rPr lang="ko-KR" altLang="en-US" dirty="0"/>
              <a:t>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CB019D-1B14-4D24-9045-CE284D41D9A9}"/>
              </a:ext>
            </a:extLst>
          </p:cNvPr>
          <p:cNvSpPr/>
          <p:nvPr/>
        </p:nvSpPr>
        <p:spPr>
          <a:xfrm>
            <a:off x="644738" y="4767067"/>
            <a:ext cx="5044862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</a:t>
            </a:r>
            <a:r>
              <a:rPr lang="en-US" altLang="ko-KR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⇔</a:t>
            </a:r>
            <a:r>
              <a:rPr lang="ko-KR" altLang="ko-KR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집</a:t>
            </a:r>
            <a:endParaRPr lang="en-US" altLang="ko-KR" sz="2600" b="1">
              <a:solidFill>
                <a:prstClr val="black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68288" lvl="0">
              <a:lnSpc>
                <a:spcPct val="120000"/>
              </a:lnSpc>
              <a:spcAft>
                <a:spcPts val="600"/>
              </a:spcAft>
            </a:pPr>
            <a:r>
              <a:rPr lang="ko-KR" altLang="ko-KR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방문</a:t>
            </a:r>
            <a:r>
              <a:rPr lang="en-US" altLang="ko-KR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⇔</a:t>
            </a:r>
            <a:r>
              <a:rPr lang="ko-KR" altLang="ko-KR" sz="2600" b="1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집안에 들어가는 것</a:t>
            </a:r>
            <a:endParaRPr lang="en-US" altLang="ko-KR" sz="2600" b="1" dirty="0">
              <a:solidFill>
                <a:prstClr val="black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B8F841-4D31-40A6-87B1-1E430ED6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371" y="4066936"/>
            <a:ext cx="2457537" cy="19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19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전위 순회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0389"/>
            <a:ext cx="7886700" cy="5111476"/>
          </a:xfrm>
        </p:spPr>
        <p:txBody>
          <a:bodyPr>
            <a:normAutofit/>
          </a:bodyPr>
          <a:lstStyle/>
          <a:p>
            <a:r>
              <a:rPr lang="ko-KR" altLang="ko-KR" sz="2400"/>
              <a:t>노드</a:t>
            </a:r>
            <a:r>
              <a:rPr lang="en-US" altLang="ko-KR" sz="2400"/>
              <a:t> n</a:t>
            </a:r>
            <a:r>
              <a:rPr lang="ko-KR" altLang="ko-KR" sz="2400"/>
              <a:t>에 도착</a:t>
            </a:r>
            <a:r>
              <a:rPr lang="ko-KR" altLang="en-US" sz="2400"/>
              <a:t>하면</a:t>
            </a:r>
            <a:r>
              <a:rPr lang="ko-KR" altLang="ko-KR" sz="2400"/>
              <a:t> </a:t>
            </a:r>
            <a:r>
              <a:rPr lang="en-US" altLang="ko-KR" sz="2400"/>
              <a:t>n</a:t>
            </a:r>
            <a:r>
              <a:rPr lang="ko-KR" altLang="en-US" sz="2400"/>
              <a:t>을</a:t>
            </a:r>
            <a:r>
              <a:rPr lang="ko-KR" altLang="ko-KR" sz="2400"/>
              <a:t> 방문</a:t>
            </a:r>
            <a:endParaRPr lang="en-US" altLang="ko-KR" sz="2400" dirty="0"/>
          </a:p>
          <a:p>
            <a:r>
              <a:rPr lang="ko-KR" altLang="ko-KR" sz="2400" dirty="0"/>
              <a:t>그 </a:t>
            </a:r>
            <a:r>
              <a:rPr lang="ko-KR" altLang="ko-KR" sz="2400"/>
              <a:t>다음에</a:t>
            </a:r>
            <a:r>
              <a:rPr lang="en-US" altLang="ko-KR" sz="2400"/>
              <a:t> n</a:t>
            </a:r>
            <a:r>
              <a:rPr lang="ko-KR" altLang="ko-KR" sz="2400"/>
              <a:t>의 왼쪽 자식</a:t>
            </a:r>
            <a:r>
              <a:rPr lang="ko-KR" altLang="en-US" sz="2400"/>
              <a:t>으</a:t>
            </a:r>
            <a:r>
              <a:rPr lang="ko-KR" altLang="ko-KR" sz="2400"/>
              <a:t>로 </a:t>
            </a:r>
            <a:r>
              <a:rPr lang="ko-KR" altLang="ko-KR" sz="2400" dirty="0"/>
              <a:t>순회를 계속</a:t>
            </a:r>
            <a:endParaRPr lang="en-US" altLang="ko-KR" sz="2400" dirty="0"/>
          </a:p>
          <a:p>
            <a:r>
              <a:rPr lang="en-US" altLang="ko-KR" sz="2400"/>
              <a:t>n</a:t>
            </a:r>
            <a:r>
              <a:rPr lang="ko-KR" altLang="ko-KR" sz="2400"/>
              <a:t>의 </a:t>
            </a:r>
            <a:r>
              <a:rPr lang="ko-KR" altLang="ko-KR" sz="2400" dirty="0"/>
              <a:t>왼쪽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</a:t>
            </a:r>
            <a:r>
              <a:rPr lang="ko-KR" altLang="ko-KR" sz="2400"/>
              <a:t>모든 노드</a:t>
            </a:r>
            <a:r>
              <a:rPr lang="ko-KR" altLang="en-US" sz="2400"/>
              <a:t>를</a:t>
            </a:r>
            <a:r>
              <a:rPr lang="ko-KR" altLang="ko-KR" sz="2400"/>
              <a:t> </a:t>
            </a:r>
            <a:r>
              <a:rPr lang="ko-KR" altLang="ko-KR" sz="2400" dirty="0"/>
              <a:t>방문한 </a:t>
            </a:r>
            <a:r>
              <a:rPr lang="ko-KR" altLang="ko-KR" sz="2400"/>
              <a:t>후에는</a:t>
            </a:r>
            <a:r>
              <a:rPr lang="en-US" altLang="ko-KR" sz="2400"/>
              <a:t> n</a:t>
            </a:r>
            <a:r>
              <a:rPr lang="ko-KR" altLang="ko-KR" sz="2400"/>
              <a:t>의 </a:t>
            </a:r>
            <a:r>
              <a:rPr lang="ko-KR" altLang="ko-KR" sz="2400" dirty="0"/>
              <a:t>오른쪽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모든 </a:t>
            </a:r>
            <a:r>
              <a:rPr lang="ko-KR" altLang="ko-KR" sz="2400"/>
              <a:t>후손 노드 </a:t>
            </a:r>
            <a:r>
              <a:rPr lang="ko-KR" altLang="ko-KR" sz="2400" dirty="0"/>
              <a:t>방문</a:t>
            </a:r>
            <a:endParaRPr lang="en-US" altLang="ko-KR" sz="2400" dirty="0"/>
          </a:p>
          <a:p>
            <a:r>
              <a:rPr lang="ko-KR" altLang="ko-KR" sz="2400"/>
              <a:t>전위</a:t>
            </a:r>
            <a:r>
              <a:rPr lang="en-US" altLang="ko-KR" sz="2400"/>
              <a:t> </a:t>
            </a:r>
            <a:r>
              <a:rPr lang="ko-KR" altLang="ko-KR" sz="2400"/>
              <a:t>순회의 </a:t>
            </a:r>
            <a:r>
              <a:rPr lang="ko-KR" altLang="ko-KR" sz="2400" dirty="0"/>
              <a:t>방문 규칙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1BC931-ECB7-471A-AE25-DAFF2DF75B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3049" y="4365781"/>
            <a:ext cx="2058165" cy="17055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32A794-FD13-41CA-BCB3-8FF9B7DF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914" y="4365781"/>
            <a:ext cx="49815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37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8986" y="918441"/>
            <a:ext cx="7886700" cy="5111476"/>
          </a:xfrm>
        </p:spPr>
        <p:txBody>
          <a:bodyPr>
            <a:normAutofit/>
          </a:bodyPr>
          <a:lstStyle/>
          <a:p>
            <a:r>
              <a:rPr lang="ko-KR" altLang="ko-KR" dirty="0"/>
              <a:t>각 </a:t>
            </a:r>
            <a:r>
              <a:rPr lang="ko-KR" altLang="ko-KR" dirty="0" err="1"/>
              <a:t>서브트리의</a:t>
            </a:r>
            <a:r>
              <a:rPr lang="ko-KR" altLang="ko-KR" dirty="0"/>
              <a:t> 방문은 동일한 방식으로</a:t>
            </a:r>
            <a:endParaRPr lang="en-US" altLang="ko-KR" dirty="0"/>
          </a:p>
          <a:p>
            <a:r>
              <a:rPr lang="ko-KR" altLang="ko-KR"/>
              <a:t>전위</a:t>
            </a:r>
            <a:r>
              <a:rPr lang="en-US" altLang="ko-KR"/>
              <a:t> </a:t>
            </a:r>
            <a:r>
              <a:rPr lang="ko-KR" altLang="ko-KR"/>
              <a:t>순회 </a:t>
            </a:r>
            <a:r>
              <a:rPr lang="ko-KR" altLang="en-US"/>
              <a:t>규칙</a:t>
            </a:r>
            <a:r>
              <a:rPr lang="en-US" altLang="ko-KR"/>
              <a:t>:</a:t>
            </a:r>
            <a:r>
              <a:rPr lang="ko-KR" altLang="ko-KR"/>
              <a:t> </a:t>
            </a:r>
            <a:r>
              <a:rPr lang="en-US" altLang="ko-KR" dirty="0"/>
              <a:t>NLR </a:t>
            </a:r>
            <a:r>
              <a:rPr lang="ko-KR" altLang="ko-KR"/>
              <a:t>또는 </a:t>
            </a:r>
            <a:r>
              <a:rPr lang="en-US" altLang="ko-KR"/>
              <a:t>VLR</a:t>
            </a:r>
            <a:endParaRPr lang="en-US" altLang="ko-KR" dirty="0"/>
          </a:p>
          <a:p>
            <a:pPr lvl="1"/>
            <a:r>
              <a:rPr lang="en-US" altLang="ko-KR"/>
              <a:t>N:</a:t>
            </a:r>
            <a:r>
              <a:rPr lang="ko-KR" altLang="ko-KR"/>
              <a:t> </a:t>
            </a:r>
            <a:r>
              <a:rPr lang="ko-KR" altLang="ko-KR" dirty="0"/>
              <a:t>노드</a:t>
            </a:r>
            <a:r>
              <a:rPr lang="en-US" altLang="ko-KR" dirty="0"/>
              <a:t>(</a:t>
            </a:r>
            <a:r>
              <a:rPr lang="en-US" altLang="ko-KR"/>
              <a:t>Node)</a:t>
            </a:r>
            <a:r>
              <a:rPr lang="ko-KR" altLang="ko-KR"/>
              <a:t> 방문</a:t>
            </a:r>
            <a:r>
              <a:rPr lang="en-US" altLang="ko-KR"/>
              <a:t>, V:</a:t>
            </a:r>
            <a:r>
              <a:rPr lang="ko-KR" altLang="ko-KR"/>
              <a:t> </a:t>
            </a:r>
            <a:r>
              <a:rPr lang="en-US" altLang="ko-KR" dirty="0"/>
              <a:t>Visit(</a:t>
            </a:r>
            <a:r>
              <a:rPr lang="ko-KR" altLang="ko-KR"/>
              <a:t>방문</a:t>
            </a:r>
            <a:r>
              <a:rPr lang="en-US" altLang="ko-KR"/>
              <a:t>)</a:t>
            </a:r>
            <a:endParaRPr lang="en-US" altLang="ko-KR" dirty="0"/>
          </a:p>
          <a:p>
            <a:pPr lvl="1"/>
            <a:r>
              <a:rPr lang="en-US" altLang="ko-KR"/>
              <a:t>L:</a:t>
            </a:r>
            <a:r>
              <a:rPr lang="ko-KR" altLang="ko-KR"/>
              <a:t> </a:t>
            </a:r>
            <a:r>
              <a:rPr lang="ko-KR" altLang="ko-KR" dirty="0"/>
              <a:t>왼쪽</a:t>
            </a:r>
            <a:r>
              <a:rPr lang="en-US" altLang="ko-KR"/>
              <a:t>, R:</a:t>
            </a:r>
            <a:r>
              <a:rPr lang="ko-KR" altLang="ko-KR"/>
              <a:t> </a:t>
            </a:r>
            <a:r>
              <a:rPr lang="ko-KR" altLang="ko-KR" dirty="0"/>
              <a:t>오른쪽 </a:t>
            </a:r>
            <a:r>
              <a:rPr lang="ko-KR" altLang="ko-KR" err="1"/>
              <a:t>서브트리로</a:t>
            </a:r>
            <a:r>
              <a:rPr lang="ko-KR" altLang="ko-KR"/>
              <a:t> 순회 진행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5411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77" y="296814"/>
            <a:ext cx="3466595" cy="280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그림 8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126" y="180844"/>
            <a:ext cx="3908672" cy="29256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직사각형 15"/>
          <p:cNvSpPr/>
          <p:nvPr/>
        </p:nvSpPr>
        <p:spPr>
          <a:xfrm>
            <a:off x="341317" y="3880825"/>
            <a:ext cx="864351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실선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화살표를 따라서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B, D, G, E, H, C, F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순으로 방문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점선 화살표는 노드의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서브트리에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있는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노드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방문한 후 부모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복귀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복귀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=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메소드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호출 완료 후에 리턴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방문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key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출력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0909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중위</a:t>
            </a:r>
            <a:r>
              <a:rPr lang="en-US" altLang="ko-KR"/>
              <a:t> </a:t>
            </a:r>
            <a:r>
              <a:rPr lang="ko-KR" altLang="ko-KR"/>
              <a:t>순회</a:t>
            </a:r>
            <a:endParaRPr lang="ko-KR" altLang="en-US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734838"/>
            <a:ext cx="1870449" cy="17417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8F8FEB5-E97E-4137-B6AE-D1109093E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4" y="1264920"/>
            <a:ext cx="7886700" cy="317073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ko-KR" sz="2400"/>
              <a:t>노드</a:t>
            </a:r>
            <a:r>
              <a:rPr lang="en-US" altLang="ko-KR" sz="2400"/>
              <a:t> n</a:t>
            </a:r>
            <a:r>
              <a:rPr lang="ko-KR" altLang="ko-KR" sz="2400"/>
              <a:t>에 도착하면</a:t>
            </a:r>
            <a:r>
              <a:rPr lang="en-US" altLang="ko-KR" sz="2400"/>
              <a:t> n</a:t>
            </a:r>
            <a:r>
              <a:rPr lang="ko-KR" altLang="ko-KR" sz="2400"/>
              <a:t>의 방문을 </a:t>
            </a:r>
            <a:r>
              <a:rPr lang="ko-KR" altLang="en-US" sz="2400"/>
              <a:t>미루</a:t>
            </a:r>
            <a:r>
              <a:rPr lang="ko-KR" altLang="ko-KR" sz="2400"/>
              <a:t>고</a:t>
            </a:r>
            <a:r>
              <a:rPr lang="en-US" altLang="ko-KR" sz="2400"/>
              <a:t> n</a:t>
            </a:r>
            <a:r>
              <a:rPr lang="ko-KR" altLang="ko-KR" sz="2400"/>
              <a:t>의 </a:t>
            </a:r>
            <a:r>
              <a:rPr lang="ko-KR" altLang="ko-KR" sz="2400" dirty="0"/>
              <a:t>왼쪽 </a:t>
            </a:r>
            <a:r>
              <a:rPr lang="ko-KR" altLang="ko-KR" sz="2400" dirty="0" err="1"/>
              <a:t>서브트리로</a:t>
            </a:r>
            <a:r>
              <a:rPr lang="ko-KR" altLang="ko-KR" sz="2400" dirty="0"/>
              <a:t> 순회를 진행</a:t>
            </a:r>
            <a:endParaRPr lang="en-US" altLang="ko-KR" sz="2400" dirty="0"/>
          </a:p>
          <a:p>
            <a:pPr marL="228600"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200" dirty="0"/>
              <a:t>- </a:t>
            </a:r>
            <a:r>
              <a:rPr lang="ko-KR" altLang="ko-KR" sz="2200" dirty="0"/>
              <a:t>왼쪽 </a:t>
            </a:r>
            <a:r>
              <a:rPr lang="ko-KR" altLang="ko-KR" sz="2200" dirty="0" err="1"/>
              <a:t>서브트리의</a:t>
            </a:r>
            <a:r>
              <a:rPr lang="ko-KR" altLang="ko-KR" sz="2200" dirty="0"/>
              <a:t> </a:t>
            </a:r>
            <a:r>
              <a:rPr lang="ko-KR" altLang="ko-KR" sz="2200"/>
              <a:t>모든 노드</a:t>
            </a:r>
            <a:r>
              <a:rPr lang="ko-KR" altLang="en-US" sz="2200"/>
              <a:t>를</a:t>
            </a:r>
            <a:r>
              <a:rPr lang="ko-KR" altLang="ko-KR" sz="2200"/>
              <a:t> </a:t>
            </a:r>
            <a:r>
              <a:rPr lang="ko-KR" altLang="ko-KR" sz="2200" dirty="0"/>
              <a:t>방문한 </a:t>
            </a:r>
            <a:r>
              <a:rPr lang="ko-KR" altLang="ko-KR" sz="2200"/>
              <a:t>후에 </a:t>
            </a:r>
            <a:r>
              <a:rPr lang="en-US" altLang="ko-KR" sz="2200"/>
              <a:t>n</a:t>
            </a:r>
            <a:r>
              <a:rPr lang="ko-KR" altLang="ko-KR" sz="2200"/>
              <a:t> </a:t>
            </a:r>
            <a:r>
              <a:rPr lang="ko-KR" altLang="ko-KR" sz="2200" dirty="0"/>
              <a:t>방문</a:t>
            </a:r>
            <a:endParaRPr lang="en-US" altLang="ko-KR" sz="2200" dirty="0"/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altLang="ko-KR" sz="2400"/>
              <a:t> n</a:t>
            </a:r>
            <a:r>
              <a:rPr lang="ko-KR" altLang="en-US" sz="2400"/>
              <a:t>을</a:t>
            </a:r>
            <a:r>
              <a:rPr lang="ko-KR" altLang="ko-KR" sz="2400"/>
              <a:t> 방문한 후에는</a:t>
            </a:r>
            <a:r>
              <a:rPr lang="en-US" altLang="ko-KR" sz="2400"/>
              <a:t> n</a:t>
            </a:r>
            <a:r>
              <a:rPr lang="ko-KR" altLang="ko-KR" sz="2400"/>
              <a:t>의 </a:t>
            </a:r>
            <a:r>
              <a:rPr lang="ko-KR" altLang="ko-KR" sz="2400" dirty="0"/>
              <a:t>오른쪽 </a:t>
            </a:r>
            <a:r>
              <a:rPr lang="ko-KR" altLang="ko-KR" sz="2400" dirty="0" err="1"/>
              <a:t>서브트리를</a:t>
            </a:r>
            <a:r>
              <a:rPr lang="ko-KR" altLang="ko-KR" sz="2400" dirty="0"/>
              <a:t> 같은 방식으로 방문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ko-KR" sz="2400"/>
              <a:t>중위</a:t>
            </a:r>
            <a:r>
              <a:rPr lang="en-US" altLang="ko-KR" sz="2400"/>
              <a:t> </a:t>
            </a:r>
            <a:r>
              <a:rPr lang="ko-KR" altLang="ko-KR" sz="2400"/>
              <a:t>순회 </a:t>
            </a:r>
            <a:r>
              <a:rPr lang="ko-KR" altLang="en-US" sz="2400"/>
              <a:t>규칙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en-US" altLang="ko-KR" sz="2400" dirty="0"/>
              <a:t>LNR </a:t>
            </a:r>
            <a:r>
              <a:rPr lang="ko-KR" altLang="ko-KR" sz="2400"/>
              <a:t>또는 </a:t>
            </a:r>
            <a:r>
              <a:rPr lang="en-US" altLang="ko-KR" sz="2400"/>
              <a:t>LVR</a:t>
            </a:r>
            <a:endParaRPr lang="ko-KR" altLang="ko-KR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97BC3A-4F66-4BF2-B4A8-7EF791A14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99" y="4343003"/>
            <a:ext cx="5343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91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/>
          <p:cNvSpPr>
            <a:spLocks noChangeShapeType="1"/>
          </p:cNvSpPr>
          <p:nvPr/>
        </p:nvSpPr>
        <p:spPr bwMode="auto">
          <a:xfrm>
            <a:off x="517668" y="2697839"/>
            <a:ext cx="291287" cy="546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Line 7"/>
          <p:cNvSpPr>
            <a:spLocks noChangeShapeType="1"/>
          </p:cNvSpPr>
          <p:nvPr/>
        </p:nvSpPr>
        <p:spPr bwMode="auto">
          <a:xfrm flipH="1">
            <a:off x="1442402" y="2719863"/>
            <a:ext cx="298737" cy="524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1220098" y="2068242"/>
            <a:ext cx="497618" cy="5053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3192984" y="1989006"/>
            <a:ext cx="627809" cy="68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495866" y="1989005"/>
            <a:ext cx="681596" cy="649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1177461" y="1263139"/>
            <a:ext cx="1022540" cy="7165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241511" y="1272135"/>
            <a:ext cx="920376" cy="70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2040570" y="109036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644074" y="3151008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1220098" y="3158584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329650" y="2471368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1553826" y="2476246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3526501" y="2477090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977762" y="1788004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2989934" y="1788004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71538" y="1074978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222" y="1788004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3555" y="1783338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653" y="3153918"/>
            <a:ext cx="2486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111" y="2463127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181" y="3153918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3159" y="2462667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2938" y="2462667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F</a:t>
            </a: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5000566" y="2894996"/>
            <a:ext cx="191427" cy="5312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 flipH="1">
            <a:off x="5925300" y="2917020"/>
            <a:ext cx="298737" cy="524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>
            <a:off x="5702996" y="2265399"/>
            <a:ext cx="497618" cy="5053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7" name="Line 7"/>
          <p:cNvSpPr>
            <a:spLocks noChangeShapeType="1"/>
          </p:cNvSpPr>
          <p:nvPr/>
        </p:nvSpPr>
        <p:spPr bwMode="auto">
          <a:xfrm>
            <a:off x="7675882" y="2186163"/>
            <a:ext cx="627809" cy="68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8" name="Line 7"/>
          <p:cNvSpPr>
            <a:spLocks noChangeShapeType="1"/>
          </p:cNvSpPr>
          <p:nvPr/>
        </p:nvSpPr>
        <p:spPr bwMode="auto">
          <a:xfrm flipH="1">
            <a:off x="4978764" y="2186162"/>
            <a:ext cx="681596" cy="649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 flipH="1">
            <a:off x="5660359" y="1460296"/>
            <a:ext cx="1022540" cy="7165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>
            <a:off x="6724409" y="1469292"/>
            <a:ext cx="920376" cy="70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1" name="Oval 14"/>
          <p:cNvSpPr>
            <a:spLocks noChangeArrowheads="1"/>
          </p:cNvSpPr>
          <p:nvPr/>
        </p:nvSpPr>
        <p:spPr bwMode="auto">
          <a:xfrm>
            <a:off x="6523468" y="1287524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5045162" y="3373625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" name="Oval 15"/>
          <p:cNvSpPr>
            <a:spLocks noChangeArrowheads="1"/>
          </p:cNvSpPr>
          <p:nvPr/>
        </p:nvSpPr>
        <p:spPr bwMode="auto">
          <a:xfrm>
            <a:off x="5758165" y="338120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Oval 15"/>
          <p:cNvSpPr>
            <a:spLocks noChangeArrowheads="1"/>
          </p:cNvSpPr>
          <p:nvPr/>
        </p:nvSpPr>
        <p:spPr bwMode="auto">
          <a:xfrm>
            <a:off x="4812548" y="2668525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Oval 15"/>
          <p:cNvSpPr>
            <a:spLocks noChangeArrowheads="1"/>
          </p:cNvSpPr>
          <p:nvPr/>
        </p:nvSpPr>
        <p:spPr bwMode="auto">
          <a:xfrm>
            <a:off x="6036724" y="2673403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8009399" y="267424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5460660" y="198516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7472832" y="198516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54436" y="1272135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91120" y="198516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6453" y="1980495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0741" y="3376535"/>
            <a:ext cx="2486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2009" y="2660284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5248" y="3376535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6057" y="2659824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55836" y="2659824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F</a:t>
            </a: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6684756" y="937595"/>
            <a:ext cx="0" cy="36000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4702091" y="296055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①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011888" y="367789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②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 flipH="1">
            <a:off x="5820660" y="1496974"/>
            <a:ext cx="648000" cy="43200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5084296" y="2247158"/>
            <a:ext cx="336187" cy="331296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437636" y="225997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③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717592" y="36757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④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4989930" y="3216352"/>
            <a:ext cx="72000" cy="21600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5178461" y="2998613"/>
            <a:ext cx="108000" cy="324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 flipH="1">
            <a:off x="5247486" y="2509122"/>
            <a:ext cx="252000" cy="216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/>
          <p:nvPr/>
        </p:nvCxnSpPr>
        <p:spPr>
          <a:xfrm flipH="1" flipV="1">
            <a:off x="5814057" y="2509122"/>
            <a:ext cx="252000" cy="252000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6057117" y="29584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⑤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 flipH="1">
            <a:off x="5899678" y="3057087"/>
            <a:ext cx="144000" cy="25200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6457742" y="1624724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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7437141" y="2286898"/>
            <a:ext cx="415415" cy="462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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960009" y="2998613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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>
            <a:off x="7891575" y="2186162"/>
            <a:ext cx="358911" cy="385715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6991175" y="1467524"/>
            <a:ext cx="612000" cy="468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5888761" y="2316692"/>
            <a:ext cx="288000" cy="288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H="1">
            <a:off x="6065730" y="3208972"/>
            <a:ext cx="72000" cy="180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flipH="1">
            <a:off x="5904147" y="1752233"/>
            <a:ext cx="591917" cy="396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flipH="1" flipV="1">
            <a:off x="6889147" y="1757292"/>
            <a:ext cx="468000" cy="360000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 flipH="1" flipV="1">
            <a:off x="7832832" y="2530964"/>
            <a:ext cx="180000" cy="180000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004074" y="4749968"/>
            <a:ext cx="7241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 순회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D, G, B, H, E, A, C, F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순으로 방문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3370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후위 순회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9824" y="1308466"/>
            <a:ext cx="7886700" cy="27699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ko-KR"/>
              <a:t>노드</a:t>
            </a:r>
            <a:r>
              <a:rPr lang="en-US" altLang="ko-KR"/>
              <a:t> </a:t>
            </a:r>
            <a:r>
              <a:rPr lang="en-US" altLang="ko-KR" dirty="0"/>
              <a:t>n</a:t>
            </a:r>
            <a:r>
              <a:rPr lang="ko-KR" altLang="ko-KR" dirty="0"/>
              <a:t>에 도착하면</a:t>
            </a:r>
            <a:r>
              <a:rPr lang="en-US" altLang="ko-KR" dirty="0"/>
              <a:t> n</a:t>
            </a:r>
            <a:r>
              <a:rPr lang="ko-KR" altLang="ko-KR" dirty="0"/>
              <a:t>의 방문을 보류하고 </a:t>
            </a:r>
            <a:r>
              <a:rPr lang="en-US" altLang="ko-KR" dirty="0"/>
              <a:t>n</a:t>
            </a:r>
            <a:r>
              <a:rPr lang="ko-KR" altLang="ko-KR" dirty="0"/>
              <a:t>의 왼쪽 서브트리로 순회를 진행</a:t>
            </a:r>
            <a:endParaRPr lang="en-US" altLang="ko-KR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dirty="0"/>
              <a:t>n</a:t>
            </a:r>
            <a:r>
              <a:rPr lang="ko-KR" altLang="ko-KR" dirty="0"/>
              <a:t>의 왼쪽 서브트리를 방문한 후에는</a:t>
            </a:r>
            <a:r>
              <a:rPr lang="en-US" altLang="ko-KR" dirty="0"/>
              <a:t> n</a:t>
            </a:r>
            <a:r>
              <a:rPr lang="ko-KR" altLang="ko-KR" dirty="0"/>
              <a:t>의 오른쪽 서브트리를 같은 방식으로 방문</a:t>
            </a:r>
            <a:endParaRPr lang="en-US" altLang="ko-KR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ko-KR" dirty="0"/>
              <a:t>마지막에 </a:t>
            </a:r>
            <a:r>
              <a:rPr lang="en-US" altLang="ko-KR" dirty="0"/>
              <a:t>n</a:t>
            </a:r>
            <a:r>
              <a:rPr lang="ko-KR" altLang="en-US"/>
              <a:t>을</a:t>
            </a:r>
            <a:r>
              <a:rPr lang="ko-KR" altLang="ko-KR"/>
              <a:t> 방문</a:t>
            </a:r>
            <a:endParaRPr lang="en-US" altLang="ko-KR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ko-KR"/>
              <a:t>후위</a:t>
            </a:r>
            <a:r>
              <a:rPr lang="en-US" altLang="ko-KR"/>
              <a:t> </a:t>
            </a:r>
            <a:r>
              <a:rPr lang="ko-KR" altLang="ko-KR"/>
              <a:t>순회 순서</a:t>
            </a:r>
            <a:r>
              <a:rPr lang="en-US" altLang="ko-KR"/>
              <a:t> </a:t>
            </a:r>
            <a:r>
              <a:rPr lang="ko-KR" altLang="en-US"/>
              <a:t>규칙</a:t>
            </a:r>
            <a:r>
              <a:rPr lang="en-US" altLang="ko-KR"/>
              <a:t>:</a:t>
            </a:r>
            <a:r>
              <a:rPr lang="ko-KR" altLang="ko-KR"/>
              <a:t> </a:t>
            </a:r>
            <a:r>
              <a:rPr lang="en-US" altLang="ko-KR"/>
              <a:t>LRN </a:t>
            </a:r>
            <a:r>
              <a:rPr lang="ko-KR" altLang="en-US"/>
              <a:t>또는 </a:t>
            </a:r>
            <a:r>
              <a:rPr lang="en-US" altLang="ko-KR"/>
              <a:t>LRV</a:t>
            </a:r>
            <a:endParaRPr lang="ko-KR" altLang="en-US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748846"/>
            <a:ext cx="2131795" cy="1627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A91120-B652-4BF7-9A91-0DB2CF98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75" y="4338036"/>
            <a:ext cx="50577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83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/>
          <p:cNvSpPr>
            <a:spLocks noChangeShapeType="1"/>
          </p:cNvSpPr>
          <p:nvPr/>
        </p:nvSpPr>
        <p:spPr bwMode="auto">
          <a:xfrm>
            <a:off x="486573" y="3189122"/>
            <a:ext cx="291287" cy="546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Line 7"/>
          <p:cNvSpPr>
            <a:spLocks noChangeShapeType="1"/>
          </p:cNvSpPr>
          <p:nvPr/>
        </p:nvSpPr>
        <p:spPr bwMode="auto">
          <a:xfrm flipH="1">
            <a:off x="1411307" y="3211146"/>
            <a:ext cx="298737" cy="524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1189003" y="2559525"/>
            <a:ext cx="497618" cy="5053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3161889" y="2480289"/>
            <a:ext cx="627809" cy="68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464771" y="2480288"/>
            <a:ext cx="681596" cy="649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1146366" y="1754422"/>
            <a:ext cx="1022540" cy="7165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210416" y="1763418"/>
            <a:ext cx="920376" cy="70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2009475" y="1581650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612979" y="364229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1189003" y="364986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8555" y="296265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1522731" y="2967529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3495406" y="2968373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946667" y="227928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2958839" y="227928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40443" y="156626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127" y="2279287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2460" y="227462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558" y="3645201"/>
            <a:ext cx="2486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016" y="295441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6086" y="364520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2064" y="295395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1843" y="295395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F</a:t>
            </a: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5177714" y="3163662"/>
            <a:ext cx="191427" cy="5312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 flipH="1">
            <a:off x="6102448" y="3185686"/>
            <a:ext cx="298737" cy="524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>
            <a:off x="5880144" y="2534065"/>
            <a:ext cx="497618" cy="5053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7" name="Line 7"/>
          <p:cNvSpPr>
            <a:spLocks noChangeShapeType="1"/>
          </p:cNvSpPr>
          <p:nvPr/>
        </p:nvSpPr>
        <p:spPr bwMode="auto">
          <a:xfrm>
            <a:off x="7853030" y="2454829"/>
            <a:ext cx="627809" cy="68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8" name="Line 7"/>
          <p:cNvSpPr>
            <a:spLocks noChangeShapeType="1"/>
          </p:cNvSpPr>
          <p:nvPr/>
        </p:nvSpPr>
        <p:spPr bwMode="auto">
          <a:xfrm flipH="1">
            <a:off x="5155912" y="2454828"/>
            <a:ext cx="681596" cy="649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 flipH="1">
            <a:off x="5837507" y="1728962"/>
            <a:ext cx="1022540" cy="7165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>
            <a:off x="6901557" y="1737958"/>
            <a:ext cx="920376" cy="70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1" name="Oval 14"/>
          <p:cNvSpPr>
            <a:spLocks noChangeArrowheads="1"/>
          </p:cNvSpPr>
          <p:nvPr/>
        </p:nvSpPr>
        <p:spPr bwMode="auto">
          <a:xfrm>
            <a:off x="6700616" y="1556190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5233458" y="364103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" name="Oval 15"/>
          <p:cNvSpPr>
            <a:spLocks noChangeArrowheads="1"/>
          </p:cNvSpPr>
          <p:nvPr/>
        </p:nvSpPr>
        <p:spPr bwMode="auto">
          <a:xfrm>
            <a:off x="5935313" y="364986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Oval 15"/>
          <p:cNvSpPr>
            <a:spLocks noChangeArrowheads="1"/>
          </p:cNvSpPr>
          <p:nvPr/>
        </p:nvSpPr>
        <p:spPr bwMode="auto">
          <a:xfrm>
            <a:off x="4989696" y="2937191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Oval 15"/>
          <p:cNvSpPr>
            <a:spLocks noChangeArrowheads="1"/>
          </p:cNvSpPr>
          <p:nvPr/>
        </p:nvSpPr>
        <p:spPr bwMode="auto">
          <a:xfrm>
            <a:off x="6213872" y="2942069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8186547" y="2942913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5637808" y="225382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7649980" y="2253827"/>
            <a:ext cx="360000" cy="3600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31584" y="154080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8268" y="2253827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3601" y="224916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9471" y="3634080"/>
            <a:ext cx="2486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157" y="292895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72396" y="3645201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3205" y="292849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2984" y="2928490"/>
            <a:ext cx="2880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F</a:t>
            </a: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6861904" y="1206261"/>
            <a:ext cx="0" cy="36000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5509567" y="360796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①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13293" y="294396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②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 flipH="1">
            <a:off x="5935313" y="1746548"/>
            <a:ext cx="690950" cy="472331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5261444" y="2515824"/>
            <a:ext cx="336187" cy="331296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6226475" y="36191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③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532834" y="290128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④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5155912" y="3356291"/>
            <a:ext cx="103417" cy="308907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5324479" y="3272194"/>
            <a:ext cx="117087" cy="320924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 flipH="1">
            <a:off x="5424634" y="2717444"/>
            <a:ext cx="299640" cy="276344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/>
          <p:nvPr/>
        </p:nvCxnSpPr>
        <p:spPr>
          <a:xfrm flipH="1" flipV="1">
            <a:off x="5873189" y="2682536"/>
            <a:ext cx="293629" cy="287307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5950058" y="225055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⑤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 flipH="1">
            <a:off x="6076826" y="3283072"/>
            <a:ext cx="166048" cy="309329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8479697" y="2877876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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7954757" y="2194998"/>
            <a:ext cx="415415" cy="462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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992346" y="1488411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  <a:sym typeface="Wingdings 2" panose="05020102010507070707" pitchFamily="18" charset="2"/>
              </a:rPr>
              <a:t>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>
            <a:off x="8127328" y="2587586"/>
            <a:ext cx="268120" cy="300767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7256144" y="1860260"/>
            <a:ext cx="460094" cy="363508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6078990" y="2598504"/>
            <a:ext cx="288000" cy="288000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H="1">
            <a:off x="6242874" y="3342850"/>
            <a:ext cx="167469" cy="304684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flipH="1">
            <a:off x="6226385" y="1950153"/>
            <a:ext cx="517532" cy="366688"/>
          </a:xfrm>
          <a:prstGeom prst="straightConnector1">
            <a:avLst/>
          </a:prstGeom>
          <a:ln w="19050">
            <a:solidFill>
              <a:srgbClr val="3333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flipH="1" flipV="1">
            <a:off x="6996717" y="1950154"/>
            <a:ext cx="560466" cy="435804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 flipH="1" flipV="1">
            <a:off x="7884857" y="2675616"/>
            <a:ext cx="282077" cy="294227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612979" y="4992195"/>
            <a:ext cx="82053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G, D, H, E, B, F, C, A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순으로 방문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6695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레벨 순회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64105"/>
            <a:ext cx="8063066" cy="1110269"/>
          </a:xfrm>
        </p:spPr>
        <p:txBody>
          <a:bodyPr>
            <a:noAutofit/>
          </a:bodyPr>
          <a:lstStyle/>
          <a:p>
            <a:r>
              <a:rPr lang="ko-KR" altLang="ko-KR" sz="2400"/>
              <a:t>레벨</a:t>
            </a:r>
            <a:r>
              <a:rPr lang="en-US" altLang="ko-KR" sz="2400"/>
              <a:t> </a:t>
            </a:r>
            <a:r>
              <a:rPr lang="ko-KR" altLang="ko-KR" sz="2400"/>
              <a:t>순회는 루트가 </a:t>
            </a:r>
            <a:r>
              <a:rPr lang="ko-KR" altLang="ko-KR" sz="2400" dirty="0"/>
              <a:t>있는 최상위 </a:t>
            </a:r>
            <a:r>
              <a:rPr lang="ko-KR" altLang="ko-KR" sz="2400"/>
              <a:t>레벨부터 시작하여</a:t>
            </a:r>
            <a:r>
              <a:rPr lang="en-US" altLang="ko-KR" sz="2400"/>
              <a:t> </a:t>
            </a:r>
            <a:r>
              <a:rPr lang="ko-KR" altLang="ko-KR" sz="2400"/>
              <a:t>레벨마다 </a:t>
            </a:r>
            <a:r>
              <a:rPr lang="ko-KR" altLang="ko-KR" sz="2400" dirty="0"/>
              <a:t>좌에서 </a:t>
            </a:r>
            <a:r>
              <a:rPr lang="ko-KR" altLang="ko-KR" sz="2400"/>
              <a:t>우로 노드</a:t>
            </a:r>
            <a:r>
              <a:rPr lang="ko-KR" altLang="en-US" sz="2400"/>
              <a:t>를</a:t>
            </a:r>
            <a:r>
              <a:rPr lang="ko-KR" altLang="ko-KR" sz="2400"/>
              <a:t> </a:t>
            </a:r>
            <a:r>
              <a:rPr lang="ko-KR" altLang="ko-KR" sz="2400" dirty="0"/>
              <a:t>방문</a:t>
            </a:r>
          </a:p>
          <a:p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737" y="2817833"/>
            <a:ext cx="4309902" cy="3119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8109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D2FA3A-9726-4B16-A9BF-7AB650D9B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914525"/>
            <a:ext cx="58959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77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09600" y="1521081"/>
            <a:ext cx="7982459" cy="21189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5359" y="1521081"/>
            <a:ext cx="7886700" cy="4937760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ko-KR" dirty="0">
                <a:solidFill>
                  <a:srgbClr val="007635"/>
                </a:solidFill>
              </a:rPr>
              <a:t>트리의 노드 수 </a:t>
            </a:r>
            <a:r>
              <a:rPr lang="en-US" altLang="ko-KR" dirty="0">
                <a:solidFill>
                  <a:srgbClr val="007635"/>
                </a:solidFill>
              </a:rPr>
              <a:t>= 1 +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007635"/>
                </a:solidFill>
              </a:rPr>
              <a:t>	</a:t>
            </a:r>
            <a:r>
              <a:rPr lang="en-US" altLang="ko-KR" sz="2400">
                <a:solidFill>
                  <a:srgbClr val="007635"/>
                </a:solidFill>
              </a:rPr>
              <a:t>(</a:t>
            </a:r>
            <a:r>
              <a:rPr lang="ko-KR" altLang="ko-KR" sz="2400">
                <a:solidFill>
                  <a:srgbClr val="007635"/>
                </a:solidFill>
              </a:rPr>
              <a:t>루트의 </a:t>
            </a:r>
            <a:r>
              <a:rPr lang="ko-KR" altLang="ko-KR" sz="2400" dirty="0">
                <a:solidFill>
                  <a:srgbClr val="007635"/>
                </a:solidFill>
              </a:rPr>
              <a:t>왼쪽 </a:t>
            </a:r>
            <a:r>
              <a:rPr lang="ko-KR" altLang="ko-KR" sz="2400" dirty="0" err="1">
                <a:solidFill>
                  <a:srgbClr val="007635"/>
                </a:solidFill>
              </a:rPr>
              <a:t>서브트리에</a:t>
            </a:r>
            <a:r>
              <a:rPr lang="ko-KR" altLang="ko-KR" sz="2400" dirty="0">
                <a:solidFill>
                  <a:srgbClr val="007635"/>
                </a:solidFill>
              </a:rPr>
              <a:t> 있는 노드 수</a:t>
            </a:r>
            <a:r>
              <a:rPr lang="en-US" altLang="ko-KR" sz="2400" dirty="0">
                <a:solidFill>
                  <a:srgbClr val="007635"/>
                </a:solidFill>
              </a:rPr>
              <a:t>) +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ko-KR" sz="2400" dirty="0">
                <a:solidFill>
                  <a:srgbClr val="007635"/>
                </a:solidFill>
              </a:rPr>
              <a:t>	</a:t>
            </a:r>
            <a:r>
              <a:rPr lang="en-US" altLang="ko-KR" sz="2400">
                <a:solidFill>
                  <a:srgbClr val="007635"/>
                </a:solidFill>
              </a:rPr>
              <a:t>(</a:t>
            </a:r>
            <a:r>
              <a:rPr lang="ko-KR" altLang="ko-KR" sz="2400">
                <a:solidFill>
                  <a:srgbClr val="007635"/>
                </a:solidFill>
              </a:rPr>
              <a:t>루트의 </a:t>
            </a:r>
            <a:r>
              <a:rPr lang="ko-KR" altLang="ko-KR" sz="2400" dirty="0">
                <a:solidFill>
                  <a:srgbClr val="007635"/>
                </a:solidFill>
              </a:rPr>
              <a:t>오른쪽 </a:t>
            </a:r>
            <a:r>
              <a:rPr lang="ko-KR" altLang="ko-KR" sz="2400" dirty="0" err="1">
                <a:solidFill>
                  <a:srgbClr val="007635"/>
                </a:solidFill>
              </a:rPr>
              <a:t>서브트리에</a:t>
            </a:r>
            <a:r>
              <a:rPr lang="ko-KR" altLang="ko-KR" sz="2400" dirty="0">
                <a:solidFill>
                  <a:srgbClr val="007635"/>
                </a:solidFill>
              </a:rPr>
              <a:t> 있는 노드 수</a:t>
            </a:r>
            <a:r>
              <a:rPr lang="en-US" altLang="ko-KR" sz="2400" dirty="0">
                <a:solidFill>
                  <a:srgbClr val="007635"/>
                </a:solidFill>
              </a:rPr>
              <a:t>)</a:t>
            </a:r>
          </a:p>
          <a:p>
            <a:r>
              <a:rPr lang="en-US" altLang="ko-KR" dirty="0"/>
              <a:t>1</a:t>
            </a:r>
            <a:r>
              <a:rPr lang="ko-KR" altLang="ko-KR"/>
              <a:t>은 루트 </a:t>
            </a:r>
            <a:r>
              <a:rPr lang="ko-KR" altLang="ko-KR" dirty="0"/>
              <a:t>자신을 계산에 반영하는 것</a:t>
            </a:r>
            <a:endParaRPr lang="ko-KR" altLang="en-US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670" y="4477179"/>
            <a:ext cx="3454078" cy="1817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0C406E-F0EE-46FC-B937-9D41C244C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107" y="1656185"/>
            <a:ext cx="495300" cy="762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A28021B-C3A4-4EA4-BD9C-BDB9DD0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2181"/>
            <a:ext cx="7886700" cy="503554"/>
          </a:xfrm>
        </p:spPr>
        <p:txBody>
          <a:bodyPr/>
          <a:lstStyle/>
          <a:p>
            <a:r>
              <a:rPr lang="ko-KR" altLang="ko-KR" dirty="0"/>
              <a:t>트리의 노드 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120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6" y="2694653"/>
            <a:ext cx="8665295" cy="146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76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963222"/>
            <a:ext cx="7886700" cy="503554"/>
          </a:xfrm>
        </p:spPr>
        <p:txBody>
          <a:bodyPr/>
          <a:lstStyle/>
          <a:p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192055"/>
            <a:ext cx="7886700" cy="4309810"/>
          </a:xfrm>
        </p:spPr>
        <p:txBody>
          <a:bodyPr/>
          <a:lstStyle/>
          <a:p>
            <a:r>
              <a:rPr lang="ko-KR" altLang="ko-KR" dirty="0"/>
              <a:t>앞서 설명된 각 연산은 트리의 각 노드를 한 번씩만 방문하므로 </a:t>
            </a:r>
            <a:r>
              <a:rPr lang="en-US" altLang="ko-KR">
                <a:solidFill>
                  <a:srgbClr val="00B0F0"/>
                </a:solidFill>
              </a:rPr>
              <a:t>O(n) </a:t>
            </a:r>
            <a:r>
              <a:rPr lang="ko-KR" altLang="ko-KR">
                <a:solidFill>
                  <a:srgbClr val="00B0F0"/>
                </a:solidFill>
              </a:rPr>
              <a:t>시간</a:t>
            </a:r>
            <a:endParaRPr lang="ko-KR" altLang="ko-KR" dirty="0">
              <a:solidFill>
                <a:srgbClr val="00B0F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044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06310"/>
            <a:ext cx="7886700" cy="503554"/>
          </a:xfrm>
        </p:spPr>
        <p:txBody>
          <a:bodyPr/>
          <a:lstStyle/>
          <a:p>
            <a:r>
              <a:rPr lang="ko-KR" altLang="en-US"/>
              <a:t>기타 이진 트리 </a:t>
            </a:r>
            <a:r>
              <a:rPr lang="ko-KR" altLang="en-US" dirty="0"/>
              <a:t>연산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995947"/>
            <a:ext cx="7886700" cy="4505917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en-US"/>
              <a:t>이진 트리의</a:t>
            </a:r>
            <a:r>
              <a:rPr lang="en-US" altLang="ko-KR"/>
              <a:t> </a:t>
            </a:r>
            <a:r>
              <a:rPr lang="ko-KR" altLang="en-US" dirty="0"/>
              <a:t>높이 계산</a:t>
            </a:r>
            <a:endParaRPr lang="en-US" altLang="ko-KR" dirty="0"/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ko-KR" dirty="0" err="1"/>
              <a:t>isEqual</a:t>
            </a:r>
            <a:r>
              <a:rPr lang="en-US" altLang="ko-KR" dirty="0"/>
              <a:t>(): 2</a:t>
            </a:r>
            <a:r>
              <a:rPr lang="ko-KR" altLang="ko-KR" dirty="0"/>
              <a:t>개의 </a:t>
            </a:r>
            <a:r>
              <a:rPr lang="ko-KR" altLang="ko-KR" dirty="0" err="1"/>
              <a:t>이진트리에</a:t>
            </a:r>
            <a:r>
              <a:rPr lang="ko-KR" altLang="ko-KR" dirty="0"/>
              <a:t> 대한 동일성 검사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57829" y="501598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3333FF"/>
                </a:solidFill>
              </a:rPr>
              <a:t>연습문제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3591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29266" y="2133600"/>
            <a:ext cx="8190270" cy="1120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트리의</a:t>
            </a:r>
            <a:r>
              <a:rPr lang="en-US" altLang="ko-KR" dirty="0"/>
              <a:t> </a:t>
            </a:r>
            <a:r>
              <a:rPr lang="ko-KR" altLang="en-US" dirty="0"/>
              <a:t>높이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564104"/>
            <a:ext cx="8259711" cy="307672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 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ko-KR" sz="2400" dirty="0">
                <a:solidFill>
                  <a:srgbClr val="007635"/>
                </a:solidFill>
              </a:rPr>
              <a:t>트리의 높이 </a:t>
            </a:r>
            <a:r>
              <a:rPr lang="en-US" altLang="ko-KR" sz="2400" dirty="0">
                <a:solidFill>
                  <a:srgbClr val="007635"/>
                </a:solidFill>
              </a:rPr>
              <a:t>= 1 + 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007635"/>
                </a:solidFill>
              </a:rPr>
              <a:t>    max (</a:t>
            </a:r>
            <a:r>
              <a:rPr lang="ko-KR" altLang="ko-KR" sz="2000" dirty="0">
                <a:solidFill>
                  <a:srgbClr val="007635"/>
                </a:solidFill>
              </a:rPr>
              <a:t>루트의 왼쪽 </a:t>
            </a:r>
            <a:r>
              <a:rPr lang="ko-KR" altLang="ko-KR" sz="2000" dirty="0" err="1">
                <a:solidFill>
                  <a:srgbClr val="007635"/>
                </a:solidFill>
              </a:rPr>
              <a:t>서브트리의</a:t>
            </a:r>
            <a:r>
              <a:rPr lang="ko-KR" altLang="ko-KR" sz="2000" dirty="0">
                <a:solidFill>
                  <a:srgbClr val="007635"/>
                </a:solidFill>
              </a:rPr>
              <a:t> 높이</a:t>
            </a:r>
            <a:r>
              <a:rPr lang="en-US" altLang="ko-KR" sz="2000" dirty="0">
                <a:solidFill>
                  <a:srgbClr val="007635"/>
                </a:solidFill>
              </a:rPr>
              <a:t>, </a:t>
            </a:r>
            <a:r>
              <a:rPr lang="ko-KR" altLang="ko-KR" sz="2000" dirty="0">
                <a:solidFill>
                  <a:srgbClr val="007635"/>
                </a:solidFill>
              </a:rPr>
              <a:t>루트의 오른쪽 </a:t>
            </a:r>
            <a:r>
              <a:rPr lang="ko-KR" altLang="ko-KR" sz="2000" dirty="0" err="1">
                <a:solidFill>
                  <a:srgbClr val="007635"/>
                </a:solidFill>
              </a:rPr>
              <a:t>서브트리의</a:t>
            </a:r>
            <a:r>
              <a:rPr lang="ko-KR" altLang="ko-KR" sz="2000" dirty="0">
                <a:solidFill>
                  <a:srgbClr val="007635"/>
                </a:solidFill>
              </a:rPr>
              <a:t> 높이</a:t>
            </a:r>
            <a:r>
              <a:rPr lang="en-US" altLang="ko-KR" dirty="0">
                <a:solidFill>
                  <a:srgbClr val="007635"/>
                </a:solidFill>
              </a:rPr>
              <a:t>)</a:t>
            </a:r>
          </a:p>
          <a:p>
            <a:pPr marL="228600" lvl="1">
              <a:spcBef>
                <a:spcPts val="600"/>
              </a:spcBef>
              <a:spcAft>
                <a:spcPts val="0"/>
              </a:spcAft>
            </a:pPr>
            <a:r>
              <a:rPr lang="en-US" altLang="ko-KR" dirty="0">
                <a:solidFill>
                  <a:srgbClr val="3333FF"/>
                </a:solidFill>
              </a:rPr>
              <a:t>1</a:t>
            </a:r>
            <a:r>
              <a:rPr lang="ko-KR" altLang="ko-KR">
                <a:solidFill>
                  <a:srgbClr val="3333FF"/>
                </a:solidFill>
              </a:rPr>
              <a:t>은 루트 </a:t>
            </a:r>
            <a:r>
              <a:rPr lang="ko-KR" altLang="ko-KR" dirty="0">
                <a:solidFill>
                  <a:srgbClr val="3333FF"/>
                </a:solidFill>
              </a:rPr>
              <a:t>자신을 계산에 반영</a:t>
            </a:r>
            <a:endParaRPr lang="en-US" altLang="ko-KR" dirty="0">
              <a:solidFill>
                <a:srgbClr val="3333FF"/>
              </a:solidFill>
            </a:endParaRPr>
          </a:p>
          <a:p>
            <a:r>
              <a:rPr lang="ko-KR" altLang="ko-KR" sz="2400" dirty="0"/>
              <a:t>왼쪽과 오른쪽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높이는 같은 방식으로 계산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641" y="4640826"/>
            <a:ext cx="6464717" cy="1719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75ECFD-8FC9-4D2E-994D-4F1EC3B4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998" y="1665427"/>
            <a:ext cx="495300" cy="762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517D1BC-E741-4746-8DA2-3EC445C51E9F}"/>
              </a:ext>
            </a:extLst>
          </p:cNvPr>
          <p:cNvSpPr/>
          <p:nvPr/>
        </p:nvSpPr>
        <p:spPr>
          <a:xfrm>
            <a:off x="457829" y="501598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3333FF"/>
                </a:solidFill>
              </a:rPr>
              <a:t>연습문제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79668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5" y="1592510"/>
            <a:ext cx="8447332" cy="133137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10590" y="254778"/>
            <a:ext cx="1210588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연습문제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5097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29266" y="2133601"/>
            <a:ext cx="7796979" cy="6882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이진 트리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64105"/>
            <a:ext cx="7886700" cy="162244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ko-KR" altLang="ko-KR" sz="2400">
                <a:solidFill>
                  <a:srgbClr val="007635"/>
                </a:solidFill>
              </a:rPr>
              <a:t>전위</a:t>
            </a:r>
            <a:r>
              <a:rPr lang="en-US" altLang="ko-KR" sz="2400">
                <a:solidFill>
                  <a:srgbClr val="007635"/>
                </a:solidFill>
              </a:rPr>
              <a:t> </a:t>
            </a:r>
            <a:r>
              <a:rPr lang="ko-KR" altLang="ko-KR" sz="2400">
                <a:solidFill>
                  <a:srgbClr val="007635"/>
                </a:solidFill>
              </a:rPr>
              <a:t>순회 </a:t>
            </a:r>
            <a:r>
              <a:rPr lang="ko-KR" altLang="ko-KR" sz="2400" dirty="0">
                <a:solidFill>
                  <a:srgbClr val="007635"/>
                </a:solidFill>
              </a:rPr>
              <a:t>과정에서 다른 점이 발견되는 순간 </a:t>
            </a:r>
            <a:r>
              <a:rPr lang="en-US" altLang="ko-KR" sz="2400" dirty="0">
                <a:solidFill>
                  <a:srgbClr val="007635"/>
                </a:solidFill>
              </a:rPr>
              <a:t>false</a:t>
            </a:r>
            <a:r>
              <a:rPr lang="ko-KR" altLang="ko-KR" sz="2400">
                <a:solidFill>
                  <a:srgbClr val="007635"/>
                </a:solidFill>
              </a:rPr>
              <a:t>를 리턴</a:t>
            </a:r>
            <a:endParaRPr lang="ko-KR" altLang="ko-KR" sz="2400" dirty="0">
              <a:solidFill>
                <a:srgbClr val="00B05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6B9F9F-81B0-44BE-822F-73904CFCB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595" y="1371601"/>
            <a:ext cx="495300" cy="762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B212BA-A8A1-4626-AE7A-95A471C29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07" y="3575397"/>
            <a:ext cx="8736385" cy="22980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BA0E163-EBA2-49A6-A52A-7151D36348E8}"/>
              </a:ext>
            </a:extLst>
          </p:cNvPr>
          <p:cNvSpPr/>
          <p:nvPr/>
        </p:nvSpPr>
        <p:spPr>
          <a:xfrm>
            <a:off x="457829" y="501598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3333FF"/>
                </a:solidFill>
              </a:rPr>
              <a:t>연습문제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768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스레드 이진 트리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63689"/>
            <a:ext cx="7886700" cy="493776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/>
              <a:t>기본 </a:t>
            </a:r>
            <a:r>
              <a:rPr lang="ko-KR" altLang="ko-KR"/>
              <a:t>연산들은 레벨</a:t>
            </a:r>
            <a:r>
              <a:rPr lang="en-US" altLang="ko-KR"/>
              <a:t> </a:t>
            </a:r>
            <a:r>
              <a:rPr lang="ko-KR" altLang="ko-KR"/>
              <a:t>순회를 </a:t>
            </a:r>
            <a:r>
              <a:rPr lang="ko-KR" altLang="ko-KR" dirty="0"/>
              <a:t>제외하고 모두 스택 자료구조를 사용</a:t>
            </a:r>
            <a:r>
              <a:rPr lang="en-US" altLang="ko-KR" dirty="0"/>
              <a:t>: </a:t>
            </a:r>
            <a:r>
              <a:rPr lang="ko-KR" altLang="ko-KR" err="1"/>
              <a:t>메소드의</a:t>
            </a:r>
            <a:r>
              <a:rPr lang="ko-KR" altLang="ko-KR"/>
              <a:t> </a:t>
            </a:r>
            <a:r>
              <a:rPr lang="ko-KR" altLang="en-US"/>
              <a:t>순환</a:t>
            </a:r>
            <a:r>
              <a:rPr lang="en-US" altLang="ko-KR"/>
              <a:t> </a:t>
            </a:r>
            <a:r>
              <a:rPr lang="ko-KR" altLang="ko-KR"/>
              <a:t>호출은 </a:t>
            </a:r>
            <a:r>
              <a:rPr lang="ko-KR" altLang="ko-KR" dirty="0"/>
              <a:t>시스템 스택을 사용하므로 스택 자료구조를 </a:t>
            </a:r>
            <a:r>
              <a:rPr lang="ko-KR" altLang="ko-KR"/>
              <a:t>사용한 것</a:t>
            </a:r>
            <a:endParaRPr lang="en-US" altLang="ko-KR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 dirty="0"/>
              <a:t>스택에 사용되는 메모리 공간의 크기는 트리의 높이에 비례</a:t>
            </a:r>
            <a:endParaRPr lang="en-US" altLang="ko-KR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ko-KR" altLang="ko-KR" dirty="0"/>
              <a:t>스택 없이 </a:t>
            </a:r>
            <a:r>
              <a:rPr lang="ko-KR" altLang="ko-KR" dirty="0" err="1"/>
              <a:t>이진트리의</a:t>
            </a:r>
            <a:r>
              <a:rPr lang="ko-KR" altLang="ko-KR" dirty="0"/>
              <a:t> 연산을 구현하는</a:t>
            </a:r>
            <a:r>
              <a:rPr lang="en-US" altLang="ko-KR" dirty="0"/>
              <a:t> 2 </a:t>
            </a:r>
            <a:r>
              <a:rPr lang="ko-KR" altLang="en-US" dirty="0"/>
              <a:t>가지</a:t>
            </a:r>
            <a:r>
              <a:rPr lang="ko-KR" altLang="ko-KR" dirty="0"/>
              <a:t> 방법</a:t>
            </a:r>
            <a:endParaRPr lang="en-US" altLang="ko-KR" dirty="0"/>
          </a:p>
          <a:p>
            <a:pPr marL="265113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ko-KR" dirty="0"/>
              <a:t>[1] Node </a:t>
            </a:r>
            <a:r>
              <a:rPr lang="ko-KR" altLang="ko-KR"/>
              <a:t>객체에 부모를 </a:t>
            </a:r>
            <a:r>
              <a:rPr lang="ko-KR" altLang="ko-KR" dirty="0"/>
              <a:t>가리키는 레퍼런스 필드를 추가로 </a:t>
            </a:r>
            <a:r>
              <a:rPr lang="ko-KR" altLang="ko-KR"/>
              <a:t>선언하여 순회</a:t>
            </a:r>
            <a:endParaRPr lang="en-US" altLang="ko-KR" dirty="0"/>
          </a:p>
          <a:p>
            <a:pPr marL="265113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ko-KR" dirty="0"/>
              <a:t>[2]</a:t>
            </a:r>
            <a:r>
              <a:rPr lang="ko-KR" altLang="ko-KR" dirty="0"/>
              <a:t> 노드의 </a:t>
            </a:r>
            <a:r>
              <a:rPr lang="en-US" altLang="ko-KR"/>
              <a:t>null </a:t>
            </a:r>
            <a:r>
              <a:rPr lang="ko-KR" altLang="ko-KR"/>
              <a:t>레퍼런스 활용</a:t>
            </a:r>
            <a:r>
              <a:rPr lang="en-US" altLang="ko-KR"/>
              <a:t>: </a:t>
            </a:r>
            <a:r>
              <a:rPr lang="ko-KR" altLang="ko-KR">
                <a:solidFill>
                  <a:srgbClr val="00B0F0"/>
                </a:solidFill>
              </a:rPr>
              <a:t>스레드 이진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트리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(Threaded Binary Tree)</a:t>
            </a:r>
          </a:p>
        </p:txBody>
      </p:sp>
    </p:spTree>
    <p:extLst>
      <p:ext uri="{BB962C8B-B14F-4D97-AF65-F5344CB8AC3E}">
        <p14:creationId xmlns:p14="http://schemas.microsoft.com/office/powerpoint/2010/main" val="39771073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63689"/>
            <a:ext cx="7886700" cy="49377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/>
              <a:t>None </a:t>
            </a:r>
            <a:r>
              <a:rPr lang="ko-KR" altLang="ko-KR" dirty="0"/>
              <a:t>레퍼런스 공간에 </a:t>
            </a:r>
            <a:r>
              <a:rPr lang="ko-KR" altLang="ko-KR" dirty="0">
                <a:solidFill>
                  <a:srgbClr val="00B0F0"/>
                </a:solidFill>
              </a:rPr>
              <a:t>다음에 방문할 </a:t>
            </a:r>
            <a:r>
              <a:rPr lang="ko-KR" altLang="ko-KR">
                <a:solidFill>
                  <a:srgbClr val="00B0F0"/>
                </a:solidFill>
              </a:rPr>
              <a:t>노드의 레퍼런스 </a:t>
            </a:r>
            <a:r>
              <a:rPr lang="ko-KR" altLang="ko-KR" dirty="0">
                <a:solidFill>
                  <a:srgbClr val="00B0F0"/>
                </a:solidFill>
              </a:rPr>
              <a:t>저장</a:t>
            </a:r>
            <a:endParaRPr lang="en-US" altLang="ko-KR" dirty="0">
              <a:solidFill>
                <a:srgbClr val="00B0F0"/>
              </a:solidFill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2400" dirty="0"/>
              <a:t>스레드는 </a:t>
            </a:r>
            <a:r>
              <a:rPr lang="ko-KR" altLang="ko-KR" sz="2400" dirty="0"/>
              <a:t>운영체제에서 스케줄러가 운영하는 독립적인 수행 단위인 스레드와는 전혀 관계 없는 단어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248360-6708-4A71-8AA6-E532EC6B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07" y="601689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44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3CA959-5DB7-4C4B-B519-2D140E7C63EB}"/>
              </a:ext>
            </a:extLst>
          </p:cNvPr>
          <p:cNvSpPr/>
          <p:nvPr/>
        </p:nvSpPr>
        <p:spPr>
          <a:xfrm>
            <a:off x="729673" y="3301022"/>
            <a:ext cx="7856919" cy="1544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직사각형 1"/>
          <p:cNvSpPr/>
          <p:nvPr/>
        </p:nvSpPr>
        <p:spPr>
          <a:xfrm>
            <a:off x="557408" y="967853"/>
            <a:ext cx="8185758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있는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null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레퍼런스 필드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(n+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총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레퍼런스 필드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중에서 부모 자식을 연결하는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레퍼런스는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n-1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</a:t>
            </a:r>
            <a:endParaRPr lang="en-US" altLang="ko-KR" sz="2400" b="1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63538">
              <a:spcAft>
                <a:spcPts val="1200"/>
              </a:spcAft>
            </a:pP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스레드 이진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null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레퍼런스를 활용하여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이전에 방문한 노드와 다음에 방문할 노드를 가리키도록 만들어 순회 연산이 스택 없이도 수행될 수 있도록 만든 트리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DDACEB-5C29-4A70-B82C-BB897BCB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27" y="3301022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850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8411" y="901873"/>
            <a:ext cx="843001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스레드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대부분의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경우 중위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순회에 기반하여 구현</a:t>
            </a:r>
            <a:endParaRPr lang="en-US" altLang="ko-KR" sz="2400" b="1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순회에 기반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한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스레드 트리를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구현할 수도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스레드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스택을 사용하는 순회보다 빠르고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메모리 공간도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적게 차지</a:t>
            </a: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</a:t>
            </a:r>
            <a:endParaRPr lang="en-US" altLang="ko-KR" sz="2400" b="1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구현이 비교적 복잡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하여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성능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저하</a:t>
            </a:r>
            <a:endParaRPr lang="ko-KR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Node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객체에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en-US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boolean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필드를 사용하여 레퍼런스가 스레드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다음 방문할 노드를 가리키는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사용되는 것인지 아니면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left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right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트리의 부모 자식 사이의 레퍼런스인지를 각각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true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false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표시해주어야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55975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57407" y="636068"/>
            <a:ext cx="753440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 스레드 이진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endParaRPr lang="en-US" altLang="ko-KR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>
              <a:spcAft>
                <a:spcPts val="0"/>
              </a:spcAft>
            </a:pP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점선 화살표는 직전 방문 노드를 가리키는 스레드이고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실선 화살표는 다음에 방문 노드를 가리키는 스레드</a:t>
            </a:r>
          </a:p>
        </p:txBody>
      </p:sp>
      <p:pic>
        <p:nvPicPr>
          <p:cNvPr id="5" name="그림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536" y="2540334"/>
            <a:ext cx="5192299" cy="2895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345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28650" y="725228"/>
            <a:ext cx="7886700" cy="503554"/>
          </a:xfrm>
        </p:spPr>
        <p:txBody>
          <a:bodyPr/>
          <a:lstStyle/>
          <a:p>
            <a:pPr algn="l"/>
            <a:r>
              <a:rPr lang="en-US" altLang="ko-KR"/>
              <a:t>4.4 </a:t>
            </a:r>
            <a:r>
              <a:rPr lang="ko-KR" altLang="en-US"/>
              <a:t>이진 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044700"/>
            <a:ext cx="7886700" cy="4443782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힙</a:t>
            </a:r>
            <a:r>
              <a:rPr lang="en-US" altLang="ko-KR" dirty="0"/>
              <a:t>(Binary Heap)</a:t>
            </a:r>
            <a:r>
              <a:rPr lang="ko-KR" altLang="ko-KR"/>
              <a:t>은 우선순위</a:t>
            </a:r>
            <a:r>
              <a:rPr lang="en-US" altLang="ko-KR"/>
              <a:t> </a:t>
            </a:r>
            <a:r>
              <a:rPr lang="ko-KR" altLang="ko-KR"/>
              <a:t>큐</a:t>
            </a:r>
            <a:r>
              <a:rPr lang="en-US" altLang="ko-KR" dirty="0"/>
              <a:t>(Priority Queue)</a:t>
            </a:r>
            <a:r>
              <a:rPr lang="ko-KR" altLang="ko-KR" dirty="0"/>
              <a:t>를 구현하는 가장 기본적인 자료구조이다</a:t>
            </a:r>
            <a:r>
              <a:rPr lang="en-US" altLang="ko-KR" dirty="0"/>
              <a:t>. </a:t>
            </a:r>
          </a:p>
          <a:p>
            <a:pPr>
              <a:lnSpc>
                <a:spcPct val="100000"/>
              </a:lnSpc>
              <a:spcAft>
                <a:spcPts val="1200"/>
              </a:spcAft>
              <a:buClr>
                <a:schemeClr val="tx1"/>
              </a:buClr>
            </a:pPr>
            <a:r>
              <a:rPr lang="ko-KR" altLang="ko-KR">
                <a:solidFill>
                  <a:srgbClr val="00B0F0"/>
                </a:solidFill>
              </a:rPr>
              <a:t>우선순위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큐</a:t>
            </a:r>
            <a:r>
              <a:rPr lang="en-US" altLang="ko-KR" dirty="0">
                <a:solidFill>
                  <a:srgbClr val="00B0F0"/>
                </a:solidFill>
              </a:rPr>
              <a:t>(Priority Queue)</a:t>
            </a:r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dirty="0"/>
              <a:t>가장 높은 우선순위를 가진 항목에 접근</a:t>
            </a:r>
            <a:r>
              <a:rPr lang="en-US" altLang="ko-KR" dirty="0"/>
              <a:t>,</a:t>
            </a:r>
            <a:r>
              <a:rPr lang="ko-KR" altLang="ko-KR" dirty="0"/>
              <a:t>  삭제</a:t>
            </a:r>
            <a:r>
              <a:rPr lang="ko-KR" altLang="en-US" dirty="0"/>
              <a:t>와</a:t>
            </a:r>
            <a:r>
              <a:rPr lang="ko-KR" altLang="ko-KR" dirty="0"/>
              <a:t> 임의의 우선순위를 가진 항목을 삽입을 지원하는 자료구조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38342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82495"/>
            <a:ext cx="7886700" cy="5105987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 dirty="0"/>
              <a:t>스택이나 큐도 </a:t>
            </a:r>
            <a:r>
              <a:rPr lang="ko-KR" altLang="ko-KR" sz="2600"/>
              <a:t>일종의 우선순위</a:t>
            </a:r>
            <a:r>
              <a:rPr lang="en-US" altLang="ko-KR" sz="2600"/>
              <a:t> </a:t>
            </a:r>
            <a:r>
              <a:rPr lang="ko-KR" altLang="ko-KR" sz="2600"/>
              <a:t>큐</a:t>
            </a:r>
            <a:endParaRPr lang="en-US" altLang="ko-KR" sz="2600" dirty="0"/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 dirty="0">
                <a:solidFill>
                  <a:srgbClr val="00B0F0"/>
                </a:solidFill>
              </a:rPr>
              <a:t>스택</a:t>
            </a:r>
            <a:r>
              <a:rPr lang="en-US" altLang="ko-KR" sz="2400" dirty="0"/>
              <a:t>: </a:t>
            </a:r>
            <a:r>
              <a:rPr lang="ko-KR" altLang="ko-KR" sz="2400" dirty="0"/>
              <a:t>가장 마지막으로 삽입된 항목이 가장 높은 우선순위를 가지</a:t>
            </a:r>
            <a:r>
              <a:rPr lang="ko-KR" altLang="en-US" sz="2400" dirty="0"/>
              <a:t>므로</a:t>
            </a:r>
            <a:r>
              <a:rPr lang="en-US" altLang="ko-KR" sz="2400" dirty="0"/>
              <a:t>, </a:t>
            </a:r>
            <a:r>
              <a:rPr lang="ko-KR" altLang="ko-KR" sz="2400" u="sng" dirty="0"/>
              <a:t>최근 시간일수록 높은 우선순위를 부여</a:t>
            </a:r>
            <a:endParaRPr lang="en-US" altLang="ko-KR" sz="2400" u="sng" dirty="0"/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 dirty="0">
                <a:solidFill>
                  <a:srgbClr val="00B0F0"/>
                </a:solidFill>
              </a:rPr>
              <a:t>큐</a:t>
            </a:r>
            <a:r>
              <a:rPr lang="en-US" altLang="ko-KR" sz="2400" dirty="0"/>
              <a:t>: </a:t>
            </a:r>
            <a:r>
              <a:rPr lang="ko-KR" altLang="ko-KR" sz="2400" dirty="0"/>
              <a:t>먼저 삽입된 항목이 우선순위가 더 높다</a:t>
            </a:r>
            <a:r>
              <a:rPr lang="en-US" altLang="ko-KR" sz="2400" dirty="0"/>
              <a:t>. </a:t>
            </a:r>
            <a:r>
              <a:rPr lang="ko-KR" altLang="ko-KR" sz="2400" dirty="0"/>
              <a:t>따라서 </a:t>
            </a:r>
            <a:r>
              <a:rPr lang="ko-KR" altLang="ko-KR" sz="2400" u="sng" dirty="0"/>
              <a:t>이른 시간일수록 더 높은 우선순위</a:t>
            </a:r>
            <a:r>
              <a:rPr lang="ko-KR" altLang="ko-KR" u="sng" dirty="0"/>
              <a:t>를 부여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682209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163782"/>
            <a:ext cx="7886700" cy="5013181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 dirty="0"/>
              <a:t>스택과 큐와 </a:t>
            </a:r>
            <a:r>
              <a:rPr lang="ko-KR" altLang="ko-KR" sz="2600"/>
              <a:t>같은 </a:t>
            </a:r>
            <a:r>
              <a:rPr lang="ko-KR" altLang="en-US" sz="2600"/>
              <a:t>우선순위 큐가</a:t>
            </a:r>
            <a:r>
              <a:rPr lang="ko-KR" altLang="ko-KR" sz="2600"/>
              <a:t> </a:t>
            </a:r>
            <a:r>
              <a:rPr lang="ko-KR" altLang="ko-KR" sz="2600" dirty="0"/>
              <a:t>있는데</a:t>
            </a:r>
            <a:r>
              <a:rPr lang="en-US" altLang="ko-KR" sz="2600" dirty="0"/>
              <a:t>, </a:t>
            </a:r>
            <a:r>
              <a:rPr lang="ko-KR" altLang="ko-KR" sz="2600" dirty="0"/>
              <a:t>왜 또 </a:t>
            </a:r>
            <a:r>
              <a:rPr lang="ko-KR" altLang="ko-KR" sz="2600"/>
              <a:t>다른 </a:t>
            </a:r>
            <a:r>
              <a:rPr lang="ko-KR" altLang="en-US" sz="2600"/>
              <a:t>우선순위 큐</a:t>
            </a:r>
            <a:r>
              <a:rPr lang="ko-KR" altLang="ko-KR" sz="2600"/>
              <a:t> </a:t>
            </a:r>
            <a:r>
              <a:rPr lang="ko-KR" altLang="ko-KR" sz="2600" dirty="0"/>
              <a:t>자료구조가 필요할까</a:t>
            </a:r>
            <a:r>
              <a:rPr lang="en-US" altLang="ko-KR" sz="2600" dirty="0"/>
              <a:t>?  </a:t>
            </a:r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 dirty="0"/>
              <a:t>스택에 삽입되는 항목의 우선순위는 스택에</a:t>
            </a:r>
            <a:r>
              <a:rPr lang="en-US" altLang="ko-KR" sz="2400" dirty="0"/>
              <a:t> </a:t>
            </a:r>
            <a:r>
              <a:rPr lang="ko-KR" altLang="ko-KR" sz="2400" dirty="0"/>
              <a:t>있는 모든 항목들의 우선순위보다 높</a:t>
            </a:r>
            <a:r>
              <a:rPr lang="ko-KR" altLang="en-US" sz="2400" dirty="0"/>
              <a:t>음</a:t>
            </a:r>
            <a:r>
              <a:rPr lang="en-US" altLang="ko-KR" sz="2400" dirty="0"/>
              <a:t> </a:t>
            </a:r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 dirty="0"/>
              <a:t>큐에 삽입되는 항목의 우선순위는 큐에 있는 모든 항목들의 우선</a:t>
            </a:r>
            <a:r>
              <a:rPr lang="ko-KR" altLang="en-US" sz="2400" dirty="0"/>
              <a:t>순</a:t>
            </a:r>
            <a:r>
              <a:rPr lang="ko-KR" altLang="ko-KR" sz="2400" dirty="0"/>
              <a:t>위보다 낮</a:t>
            </a:r>
            <a:r>
              <a:rPr lang="ko-KR" altLang="en-US" sz="2400" dirty="0"/>
              <a:t>음</a:t>
            </a:r>
            <a:r>
              <a:rPr lang="en-US" altLang="ko-KR" sz="2400" dirty="0"/>
              <a:t> </a:t>
            </a:r>
          </a:p>
          <a:p>
            <a:pPr marL="627063" lvl="1" indent="-169863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 dirty="0"/>
              <a:t>삽입되는 항목이 </a:t>
            </a:r>
            <a:r>
              <a:rPr lang="ko-KR" altLang="ko-KR" sz="2400" dirty="0">
                <a:solidFill>
                  <a:srgbClr val="00B0F0"/>
                </a:solidFill>
              </a:rPr>
              <a:t>임의의 우선순위를 가</a:t>
            </a:r>
            <a:r>
              <a:rPr lang="ko-KR" altLang="en-US" sz="2400" dirty="0">
                <a:solidFill>
                  <a:srgbClr val="00B0F0"/>
                </a:solidFill>
              </a:rPr>
              <a:t>지</a:t>
            </a:r>
            <a:r>
              <a:rPr lang="ko-KR" altLang="ko-KR" sz="2400" dirty="0">
                <a:solidFill>
                  <a:srgbClr val="00B0F0"/>
                </a:solidFill>
              </a:rPr>
              <a:t>면</a:t>
            </a:r>
            <a:r>
              <a:rPr lang="ko-KR" altLang="ko-KR" sz="2400" dirty="0">
                <a:solidFill>
                  <a:srgbClr val="3333FF"/>
                </a:solidFill>
              </a:rPr>
              <a:t> </a:t>
            </a:r>
            <a:r>
              <a:rPr lang="ko-KR" altLang="ko-KR" sz="2400" dirty="0"/>
              <a:t>스택이나 큐는 </a:t>
            </a:r>
            <a:r>
              <a:rPr lang="ko-KR" altLang="ko-KR" sz="2400"/>
              <a:t>새 항목</a:t>
            </a:r>
            <a:r>
              <a:rPr lang="ko-KR" altLang="en-US" sz="2400"/>
              <a:t>을</a:t>
            </a:r>
            <a:r>
              <a:rPr lang="ko-KR" altLang="ko-KR" sz="2400"/>
              <a:t> 삽입</a:t>
            </a:r>
            <a:r>
              <a:rPr lang="ko-KR" altLang="en-US" sz="2400"/>
              <a:t>할</a:t>
            </a:r>
            <a:r>
              <a:rPr lang="ko-KR" altLang="ko-KR" sz="2400"/>
              <a:t> 때마다 </a:t>
            </a:r>
            <a:r>
              <a:rPr lang="ko-KR" altLang="ko-KR" sz="2400">
                <a:solidFill>
                  <a:srgbClr val="00B0F0"/>
                </a:solidFill>
              </a:rPr>
              <a:t>정렬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en-US" sz="2400">
                <a:solidFill>
                  <a:srgbClr val="00B0F0"/>
                </a:solidFill>
              </a:rPr>
              <a:t>상태를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en-US" sz="2400">
                <a:solidFill>
                  <a:srgbClr val="00B0F0"/>
                </a:solidFill>
              </a:rPr>
              <a:t>유지</a:t>
            </a:r>
            <a:r>
              <a:rPr lang="ko-KR" altLang="ko-KR" sz="2400">
                <a:solidFill>
                  <a:srgbClr val="00B0F0"/>
                </a:solidFill>
              </a:rPr>
              <a:t>해야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254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E2B15EB-2971-43E8-8BCC-2FDB7907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50301"/>
            <a:ext cx="7640279" cy="100340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ko-KR" sz="2600" dirty="0">
                <a:solidFill>
                  <a:srgbClr val="3333FF"/>
                </a:solidFill>
              </a:rPr>
              <a:t>[</a:t>
            </a:r>
            <a:r>
              <a:rPr lang="ko-KR" altLang="ko-KR" sz="2600" dirty="0">
                <a:solidFill>
                  <a:srgbClr val="3333FF"/>
                </a:solidFill>
              </a:rPr>
              <a:t>정의</a:t>
            </a:r>
            <a:r>
              <a:rPr lang="en-US" altLang="ko-KR" sz="2600">
                <a:solidFill>
                  <a:srgbClr val="3333FF"/>
                </a:solidFill>
              </a:rPr>
              <a:t>] </a:t>
            </a:r>
            <a:r>
              <a:rPr lang="ko-KR" altLang="ko-KR" sz="2600">
                <a:solidFill>
                  <a:srgbClr val="006600"/>
                </a:solidFill>
              </a:rPr>
              <a:t>완전</a:t>
            </a:r>
            <a:r>
              <a:rPr lang="en-US" altLang="ko-KR" sz="2600">
                <a:solidFill>
                  <a:srgbClr val="006600"/>
                </a:solidFill>
              </a:rPr>
              <a:t> </a:t>
            </a:r>
            <a:r>
              <a:rPr lang="ko-KR" altLang="ko-KR" sz="2600">
                <a:solidFill>
                  <a:srgbClr val="006600"/>
                </a:solidFill>
              </a:rPr>
              <a:t>이진</a:t>
            </a:r>
            <a:r>
              <a:rPr lang="en-US" altLang="ko-KR" sz="2600">
                <a:solidFill>
                  <a:srgbClr val="006600"/>
                </a:solidFill>
              </a:rPr>
              <a:t> </a:t>
            </a:r>
            <a:r>
              <a:rPr lang="ko-KR" altLang="ko-KR" sz="2600">
                <a:solidFill>
                  <a:srgbClr val="006600"/>
                </a:solidFill>
              </a:rPr>
              <a:t>트리로서 </a:t>
            </a:r>
            <a:r>
              <a:rPr lang="ko-KR" altLang="ko-KR" sz="2600" dirty="0">
                <a:solidFill>
                  <a:srgbClr val="006600"/>
                </a:solidFill>
              </a:rPr>
              <a:t>부모의 우선순위가 자식의 우선순위보다 높은 자료구조</a:t>
            </a:r>
            <a:endParaRPr lang="ko-KR" altLang="en-US" sz="2600" dirty="0">
              <a:solidFill>
                <a:srgbClr val="0066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36545-CA2F-46F8-A641-25B3A0595913}"/>
              </a:ext>
            </a:extLst>
          </p:cNvPr>
          <p:cNvSpPr/>
          <p:nvPr/>
        </p:nvSpPr>
        <p:spPr>
          <a:xfrm>
            <a:off x="2562139" y="3039111"/>
            <a:ext cx="3611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어느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트리가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 힙일까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B332AF-7F6D-45D4-9346-18D6751F297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8" y="3980837"/>
            <a:ext cx="3093929" cy="190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F2B4718-B490-4A30-A2D7-1B5243F4E60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670" y="3858180"/>
            <a:ext cx="2902025" cy="2029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4F55499-A331-489C-B43C-CE20C7B49D6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294" y="3620612"/>
            <a:ext cx="2607023" cy="215388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F27BE9-44AF-4A14-ACA7-A1923719174D}"/>
              </a:ext>
            </a:extLst>
          </p:cNvPr>
          <p:cNvSpPr/>
          <p:nvPr/>
        </p:nvSpPr>
        <p:spPr>
          <a:xfrm>
            <a:off x="1646219" y="6074504"/>
            <a:ext cx="712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(a)			       (b)		                         (c)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B9AAF7D-5C2F-48CF-93A2-BE9F1F70A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68" y="1455422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42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A482E1-4D93-4932-9E5E-843349222BF0}"/>
              </a:ext>
            </a:extLst>
          </p:cNvPr>
          <p:cNvSpPr/>
          <p:nvPr/>
        </p:nvSpPr>
        <p:spPr>
          <a:xfrm>
            <a:off x="512902" y="1349103"/>
            <a:ext cx="829849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완전 이진 트리는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차원 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배열로 구현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배열의 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번째 </a:t>
            </a:r>
            <a:r>
              <a:rPr lang="ko-KR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원소부터 사용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  <a:r>
              <a:rPr lang="ko-KR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 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a[0]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은 사용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안함</a:t>
            </a:r>
            <a:endParaRPr lang="en-US" altLang="ko-KR" sz="2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완전 이진 트리의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노드</a:t>
            </a: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레벨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(Level-order 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Traversal) </a:t>
            </a:r>
            <a:r>
              <a:rPr lang="ko-KR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순서에 따라</a:t>
            </a:r>
            <a:r>
              <a:rPr lang="ko-KR" altLang="ko-KR" sz="26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6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a[1]</a:t>
            </a:r>
            <a:r>
              <a:rPr lang="ko-KR" altLang="ko-KR" sz="26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부터 차례로 저장</a:t>
            </a:r>
            <a:r>
              <a:rPr lang="en-US" altLang="ko-KR" sz="26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ko-KR" altLang="en-US" sz="26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3467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49179" y="451030"/>
            <a:ext cx="5623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완전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kumimoji="0" lang="ko-KR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kumimoji="0" lang="ko-KR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kumimoji="0" lang="ko-KR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노드들이 </a:t>
            </a:r>
            <a:r>
              <a:rPr kumimoji="0" lang="ko-KR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저장된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21235" y="6101832"/>
            <a:ext cx="78225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노드 아래의 숫자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kumimoji="0" lang="ko-KR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노드가 저장된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r>
              <a:rPr kumimoji="0" lang="ko-KR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원소의 인덱스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081087"/>
            <a:ext cx="72866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493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26093" y="474655"/>
            <a:ext cx="7991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ko-KR" sz="26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힙에서 </a:t>
            </a:r>
            <a:r>
              <a:rPr lang="ko-KR" altLang="ko-KR" sz="26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부모와 자식 관계</a:t>
            </a:r>
            <a:r>
              <a:rPr lang="en-US" altLang="ko-KR" sz="2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</a:t>
            </a:r>
            <a:endParaRPr lang="ko-KR" altLang="ko-KR" sz="28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3775" y="1723335"/>
            <a:ext cx="7903922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30213" indent="-3429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</a:t>
            </a:r>
            <a:r>
              <a:rPr lang="en-US" altLang="ko-KR" sz="2400" b="1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</a:t>
            </a: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ko-KR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자식은 </a:t>
            </a: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a[2i]</a:t>
            </a:r>
            <a:r>
              <a:rPr lang="ko-KR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a[2i+</a:t>
            </a:r>
            <a:r>
              <a:rPr lang="en-US" altLang="ko-KR" sz="2400" b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1],</a:t>
            </a:r>
            <a:endParaRPr lang="ko-KR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430213" indent="-3429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a[j]</a:t>
            </a:r>
            <a:r>
              <a:rPr lang="ko-KR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부모는</a:t>
            </a:r>
            <a:r>
              <a:rPr lang="en-US" altLang="ko-KR" sz="2400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a[j/</a:t>
            </a:r>
            <a:r>
              <a:rPr lang="en-US" altLang="ko-KR" sz="2400" b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2].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j &gt; 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j/2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정수만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33188" y="3906074"/>
            <a:ext cx="7584509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35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자식은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[2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×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=a[8]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[2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×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4+1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= a[9],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즉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80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50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90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a[11/2] = a[5]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45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38750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3464" y="718045"/>
            <a:ext cx="8154443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8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 힙의 </a:t>
            </a:r>
            <a:r>
              <a:rPr lang="ko-KR" altLang="en-US" sz="2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종류</a:t>
            </a:r>
            <a:r>
              <a:rPr lang="en-US" altLang="ko-KR" sz="2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8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sz="2800" b="1" dirty="0">
              <a:solidFill>
                <a:srgbClr val="3333FF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800100" lvl="1" indent="-342900">
              <a:spcAft>
                <a:spcPts val="1200"/>
              </a:spcAft>
              <a:buFontTx/>
              <a:buChar char="-"/>
            </a:pP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최소 힙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Minimum Heap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작을수록 높은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우선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순위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800100" lvl="1" indent="-342900">
              <a:spcAft>
                <a:spcPts val="1200"/>
              </a:spcAft>
              <a:buFontTx/>
              <a:buChar char="-"/>
            </a:pP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최대 힙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Maximum Heap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클수록 더 높은 우선순위</a:t>
            </a:r>
          </a:p>
          <a:p>
            <a:pPr marL="342900" indent="-342900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최소 힙의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루트에는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항상 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가장 작은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(min)</a:t>
            </a:r>
            <a:r>
              <a:rPr lang="ko-KR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키가 </a:t>
            </a:r>
            <a:r>
              <a:rPr lang="ko-KR" altLang="en-US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있다</a:t>
            </a:r>
            <a:r>
              <a:rPr lang="en-US" altLang="ko-KR" sz="2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en-US" altLang="ko-KR" sz="2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Tx/>
              <a:buChar char="-"/>
            </a:pP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부모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저장된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자식의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키보다 작다는 규칙 때문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a[1]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있으므로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O(1)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시간에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min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키를 가진 노드 접근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1876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55661" y="1894124"/>
            <a:ext cx="7670583" cy="3244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 sz="2800" dirty="0"/>
              <a:t>최솟값 삭제</a:t>
            </a:r>
            <a:r>
              <a:rPr lang="en-US" altLang="ko-KR" sz="2800" dirty="0"/>
              <a:t>(</a:t>
            </a:r>
            <a:r>
              <a:rPr lang="en-US" altLang="ko-KR" sz="2800" dirty="0" err="1">
                <a:latin typeface="Consolas" panose="020B0609020204030204" pitchFamily="49" charset="0"/>
              </a:rPr>
              <a:t>delete_min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5663"/>
            <a:ext cx="7797595" cy="5096577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ko-KR" altLang="ko-KR" dirty="0"/>
              <a:t>루트의 키를 삭제</a:t>
            </a:r>
            <a:endParaRPr lang="en-US" altLang="ko-KR" dirty="0"/>
          </a:p>
          <a:p>
            <a:pPr marL="714375" indent="-450850">
              <a:lnSpc>
                <a:spcPct val="120000"/>
              </a:lnSpc>
              <a:buNone/>
            </a:pPr>
            <a:r>
              <a:rPr lang="en-US" altLang="ko-KR" dirty="0"/>
              <a:t>[1] </a:t>
            </a:r>
            <a:r>
              <a:rPr lang="ko-KR" altLang="ko-KR" dirty="0" err="1"/>
              <a:t>힙의</a:t>
            </a:r>
            <a:r>
              <a:rPr lang="ko-KR" altLang="ko-KR" dirty="0"/>
              <a:t> 가장 마지막 노드</a:t>
            </a:r>
            <a:r>
              <a:rPr lang="en-US" altLang="ko-KR" dirty="0"/>
              <a:t>, </a:t>
            </a:r>
            <a:r>
              <a:rPr lang="ko-KR" altLang="ko-KR" dirty="0"/>
              <a:t>즉</a:t>
            </a:r>
            <a:r>
              <a:rPr lang="en-US" altLang="ko-KR" dirty="0"/>
              <a:t>, </a:t>
            </a:r>
            <a:r>
              <a:rPr lang="ko-KR" altLang="ko-KR" dirty="0"/>
              <a:t>배열의 가장 </a:t>
            </a:r>
            <a:r>
              <a:rPr lang="ko-KR" altLang="ko-KR"/>
              <a:t>마지막 </a:t>
            </a:r>
            <a:r>
              <a:rPr lang="ko-KR" altLang="en-US"/>
              <a:t>항목을</a:t>
            </a:r>
            <a:r>
              <a:rPr lang="ko-KR" altLang="ko-KR"/>
              <a:t> 루트로 </a:t>
            </a:r>
            <a:r>
              <a:rPr lang="ko-KR" altLang="en-US"/>
              <a:t>이동</a:t>
            </a:r>
            <a:r>
              <a:rPr lang="en-US" altLang="ko-KR"/>
              <a:t> </a:t>
            </a:r>
            <a:endParaRPr lang="en-US" altLang="ko-KR" dirty="0"/>
          </a:p>
          <a:p>
            <a:pPr marL="714375" indent="-450850">
              <a:lnSpc>
                <a:spcPct val="120000"/>
              </a:lnSpc>
              <a:buNone/>
            </a:pPr>
            <a:r>
              <a:rPr lang="en-US" altLang="ko-KR" dirty="0"/>
              <a:t>[2] </a:t>
            </a:r>
            <a:r>
              <a:rPr lang="ko-KR" altLang="ko-KR" dirty="0" err="1"/>
              <a:t>힙</a:t>
            </a:r>
            <a:r>
              <a:rPr lang="ko-KR" altLang="ko-KR" dirty="0"/>
              <a:t> 크기를 </a:t>
            </a:r>
            <a:r>
              <a:rPr lang="en-US" altLang="ko-KR" dirty="0"/>
              <a:t>1 </a:t>
            </a:r>
            <a:r>
              <a:rPr lang="ko-KR" altLang="ko-KR" dirty="0"/>
              <a:t>감소시킨다</a:t>
            </a:r>
            <a:r>
              <a:rPr lang="en-US" altLang="ko-KR" dirty="0"/>
              <a:t>. </a:t>
            </a:r>
          </a:p>
          <a:p>
            <a:pPr marL="714375" indent="-450850">
              <a:lnSpc>
                <a:spcPct val="120000"/>
              </a:lnSpc>
              <a:spcAft>
                <a:spcPts val="2400"/>
              </a:spcAft>
              <a:buNone/>
            </a:pPr>
            <a:r>
              <a:rPr lang="en-US" altLang="ko-KR" dirty="0"/>
              <a:t>[3] </a:t>
            </a:r>
            <a:r>
              <a:rPr lang="ko-KR" altLang="ko-KR" dirty="0" err="1"/>
              <a:t>루트로부터</a:t>
            </a:r>
            <a:r>
              <a:rPr lang="ko-KR" altLang="ko-KR" dirty="0"/>
              <a:t> 자식들 중에서 작은 값을 가진 자식</a:t>
            </a:r>
            <a:r>
              <a:rPr lang="en-US" altLang="ko-KR" dirty="0"/>
              <a:t> (</a:t>
            </a:r>
            <a:r>
              <a:rPr lang="ko-KR" altLang="ko-KR" dirty="0"/>
              <a:t>두 자식 사이의 </a:t>
            </a:r>
            <a:r>
              <a:rPr lang="ko-KR" altLang="ko-KR" dirty="0">
                <a:solidFill>
                  <a:srgbClr val="00B0F0"/>
                </a:solidFill>
              </a:rPr>
              <a:t>승자</a:t>
            </a:r>
            <a:r>
              <a:rPr lang="en-US" altLang="ko-KR" dirty="0"/>
              <a:t>)</a:t>
            </a:r>
            <a:r>
              <a:rPr lang="ko-KR" altLang="ko-KR" dirty="0"/>
              <a:t>과 키를 </a:t>
            </a:r>
            <a:r>
              <a:rPr lang="ko-KR" altLang="ko-KR"/>
              <a:t>비교하여 </a:t>
            </a:r>
            <a:r>
              <a:rPr lang="ko-KR" altLang="en-US"/>
              <a:t>힙 속성이</a:t>
            </a:r>
            <a:r>
              <a:rPr lang="ko-KR" altLang="ko-KR"/>
              <a:t> </a:t>
            </a:r>
            <a:r>
              <a:rPr lang="ko-KR" altLang="ko-KR" dirty="0"/>
              <a:t>만족될 때까지 키를 교환하며 이파리 방향으로 진행</a:t>
            </a:r>
            <a:endParaRPr lang="en-US" altLang="ko-KR" dirty="0"/>
          </a:p>
          <a:p>
            <a:pPr marL="263525" indent="-242888">
              <a:lnSpc>
                <a:spcPct val="120000"/>
              </a:lnSpc>
            </a:pPr>
            <a:r>
              <a:rPr lang="en-US" altLang="ko-KR" dirty="0"/>
              <a:t>[3]</a:t>
            </a:r>
            <a:r>
              <a:rPr lang="ko-KR" altLang="en-US" dirty="0"/>
              <a:t>의</a:t>
            </a:r>
            <a:r>
              <a:rPr lang="ko-KR" altLang="ko-KR" dirty="0"/>
              <a:t> </a:t>
            </a:r>
            <a:r>
              <a:rPr lang="ko-KR" altLang="ko-KR"/>
              <a:t>과정은 </a:t>
            </a:r>
            <a:r>
              <a:rPr lang="ko-KR" altLang="en-US"/>
              <a:t>루트로부터</a:t>
            </a:r>
            <a:r>
              <a:rPr lang="ko-KR" altLang="ko-KR"/>
              <a:t> </a:t>
            </a:r>
            <a:r>
              <a:rPr lang="ko-KR" altLang="ko-KR" dirty="0"/>
              <a:t>아래로 내려가며 진행되므로 </a:t>
            </a:r>
            <a:r>
              <a:rPr lang="en-US" altLang="ko-KR" dirty="0" err="1">
                <a:solidFill>
                  <a:srgbClr val="00B0F0"/>
                </a:solidFill>
              </a:rPr>
              <a:t>downheap</a:t>
            </a:r>
            <a:r>
              <a:rPr lang="ko-KR" altLang="ko-KR"/>
              <a:t>이라 부</a:t>
            </a:r>
            <a:r>
              <a:rPr lang="ko-KR" altLang="en-US"/>
              <a:t>르자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7389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78" y="1644520"/>
            <a:ext cx="4408070" cy="359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45" y="1719676"/>
            <a:ext cx="4291925" cy="31583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483623" y="500422"/>
            <a:ext cx="83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최솟값 삭제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과정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5458" y="5574070"/>
            <a:ext cx="777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(a) 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마지막 노드를 루트로 이동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	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       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(b) 15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20 </a:t>
            </a:r>
            <a:r>
              <a:rPr lang="ko-KR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중에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15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승자</a:t>
            </a:r>
            <a:endParaRPr lang="ko-KR" altLang="ko-KR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4973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61894" y="5211959"/>
            <a:ext cx="7295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(c)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승자인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루트를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교환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	                              (d) 35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45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중에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승자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752600"/>
            <a:ext cx="84677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637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58449" y="4696641"/>
            <a:ext cx="7747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(e)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승자인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70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교환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		               (f) 80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50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중에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승자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1" y="1264520"/>
            <a:ext cx="85058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99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127136" y="4847666"/>
            <a:ext cx="2731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(g)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승자인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과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70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교환</a:t>
            </a: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444" y="1469768"/>
            <a:ext cx="42291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149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91072" y="1653434"/>
            <a:ext cx="7776314" cy="20166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 sz="2800" dirty="0"/>
              <a:t>삽입 연산</a:t>
            </a:r>
            <a:r>
              <a:rPr lang="en-US" altLang="ko-KR" sz="2800" dirty="0"/>
              <a:t>(insert)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96288"/>
            <a:ext cx="7886700" cy="4190946"/>
          </a:xfrm>
        </p:spPr>
        <p:txBody>
          <a:bodyPr>
            <a:normAutofit lnSpcReduction="10000"/>
          </a:bodyPr>
          <a:lstStyle/>
          <a:p>
            <a:pPr marL="450850" indent="-450850">
              <a:lnSpc>
                <a:spcPct val="120000"/>
              </a:lnSpc>
              <a:buNone/>
            </a:pPr>
            <a:r>
              <a:rPr lang="en-US" altLang="ko-KR" dirty="0"/>
              <a:t>[1] </a:t>
            </a:r>
            <a:r>
              <a:rPr lang="ko-KR" altLang="ko-KR" dirty="0" err="1"/>
              <a:t>힙의</a:t>
            </a:r>
            <a:r>
              <a:rPr lang="ko-KR" altLang="ko-KR" dirty="0"/>
              <a:t> 마지막 노드</a:t>
            </a:r>
            <a:r>
              <a:rPr lang="en-US" altLang="ko-KR" dirty="0"/>
              <a:t>(</a:t>
            </a:r>
            <a:r>
              <a:rPr lang="ko-KR" altLang="ko-KR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ko-KR" altLang="ko-KR" dirty="0"/>
              <a:t>의 마지막 </a:t>
            </a:r>
            <a:r>
              <a:rPr lang="ko-KR" altLang="en-US" dirty="0"/>
              <a:t>항목</a:t>
            </a:r>
            <a:r>
              <a:rPr lang="en-US" altLang="ko-KR" dirty="0"/>
              <a:t>)</a:t>
            </a:r>
            <a:r>
              <a:rPr lang="ko-KR" altLang="ko-KR" dirty="0"/>
              <a:t>의 바로 다음 </a:t>
            </a:r>
            <a:r>
              <a:rPr lang="ko-KR" altLang="en-US" dirty="0"/>
              <a:t>비어있는</a:t>
            </a:r>
            <a:r>
              <a:rPr lang="ko-KR" altLang="ko-KR" dirty="0"/>
              <a:t> 원소에 새로운 항목을 저장</a:t>
            </a:r>
            <a:r>
              <a:rPr lang="en-US" altLang="ko-KR" dirty="0"/>
              <a:t> </a:t>
            </a:r>
          </a:p>
          <a:p>
            <a:pPr marL="450850" indent="-450850">
              <a:lnSpc>
                <a:spcPct val="120000"/>
              </a:lnSpc>
              <a:buNone/>
            </a:pPr>
            <a:r>
              <a:rPr lang="en-US" altLang="ko-KR" dirty="0"/>
              <a:t>[2] </a:t>
            </a:r>
            <a:r>
              <a:rPr lang="ko-KR" altLang="ko-KR" dirty="0"/>
              <a:t>루트 방향으로 올라가면서 부모의 키</a:t>
            </a:r>
            <a:r>
              <a:rPr lang="ko-KR" altLang="en-US" dirty="0"/>
              <a:t>와</a:t>
            </a:r>
            <a:r>
              <a:rPr lang="ko-KR" altLang="ko-KR" dirty="0"/>
              <a:t> 비교하여 힙속성이 만족될 때까지 노드를 교환</a:t>
            </a:r>
          </a:p>
          <a:p>
            <a:pPr marL="0" indent="0">
              <a:buNone/>
            </a:pPr>
            <a:endParaRPr lang="ko-KR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[2]</a:t>
            </a:r>
            <a:r>
              <a:rPr lang="ko-KR" altLang="en-US" dirty="0"/>
              <a:t>의</a:t>
            </a:r>
            <a:r>
              <a:rPr lang="ko-KR" altLang="ko-KR" dirty="0"/>
              <a:t> 과정은 이파리로부터 위로 올라가며 </a:t>
            </a:r>
            <a:r>
              <a:rPr lang="ko-KR" altLang="en-US" dirty="0"/>
              <a:t>수</a:t>
            </a:r>
            <a:r>
              <a:rPr lang="ko-KR" altLang="ko-KR" dirty="0"/>
              <a:t>행되므로 </a:t>
            </a:r>
            <a:r>
              <a:rPr lang="en-US" altLang="ko-KR" dirty="0" err="1">
                <a:solidFill>
                  <a:srgbClr val="00B0F0"/>
                </a:solidFill>
              </a:rPr>
              <a:t>upheap</a:t>
            </a:r>
            <a:r>
              <a:rPr lang="ko-KR" altLang="ko-KR"/>
              <a:t>이라 부</a:t>
            </a:r>
            <a:r>
              <a:rPr lang="ko-KR" altLang="en-US"/>
              <a:t>르자</a:t>
            </a:r>
            <a:r>
              <a:rPr lang="en-US" altLang="ko-KR"/>
              <a:t>.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3413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9" y="2415723"/>
            <a:ext cx="4367083" cy="271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341" y="2415723"/>
            <a:ext cx="4229295" cy="27199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2449720" y="801759"/>
            <a:ext cx="4725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최소 힙에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삽입하는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과정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75572" y="5423150"/>
            <a:ext cx="8693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(a) 5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를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배열의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마지막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원소</a:t>
            </a:r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(90) 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다음에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cs typeface="Times New Roman" panose="02020603050405020304" pitchFamily="18" charset="0"/>
              </a:rPr>
              <a:t>저장</a:t>
            </a:r>
            <a:r>
              <a:rPr lang="en-US" altLang="ko-KR">
                <a:latin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(b) a[12]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의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ko-KR" altLang="ko-KR">
                <a:latin typeface="Calibri" panose="020F0502020204030204" pitchFamily="34" charset="0"/>
                <a:cs typeface="Times New Roman" panose="02020603050405020304" pitchFamily="18" charset="0"/>
              </a:rPr>
              <a:t>와</a:t>
            </a:r>
            <a:r>
              <a:rPr lang="ko-KR" altLang="ko-KR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>
                <a:latin typeface="Calibri" panose="020F0502020204030204" pitchFamily="34" charset="0"/>
                <a:cs typeface="Times New Roman" panose="02020603050405020304" pitchFamily="18" charset="0"/>
              </a:rPr>
              <a:t>부모</a:t>
            </a:r>
            <a:r>
              <a:rPr lang="ko-KR" altLang="ko-KR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a[6]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의</a:t>
            </a:r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 40 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비교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57496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32563" y="5047369"/>
            <a:ext cx="8173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(c) 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교환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                                 (d) a[6]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의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부모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a[3]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20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비교</a:t>
            </a: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24" y="1966452"/>
            <a:ext cx="9167283" cy="27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445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81542" y="5304355"/>
            <a:ext cx="78600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(e) 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을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교환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(f) a[3]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부모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a[1]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15 </a:t>
            </a:r>
            <a:r>
              <a:rPr kumimoji="0" lang="ko-KR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비교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" y="1890707"/>
            <a:ext cx="8964000" cy="320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08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627588" y="4897770"/>
            <a:ext cx="20518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(g) 5</a:t>
            </a:r>
            <a:r>
              <a:rPr kumimoji="0" lang="ko-KR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kumimoji="0" lang="ko-KR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kumimoji="0" lang="ko-KR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kumimoji="0" lang="ko-KR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ko-KR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교환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43" y="1165890"/>
            <a:ext cx="4846996" cy="367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914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3" y="2133601"/>
            <a:ext cx="8486679" cy="28415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6106" y="629264"/>
            <a:ext cx="4778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C00000"/>
                </a:solidFill>
              </a:rPr>
              <a:t>이진힙을 위한 </a:t>
            </a:r>
            <a:r>
              <a:rPr lang="en-US" altLang="ko-KR" sz="2800" dirty="0">
                <a:solidFill>
                  <a:srgbClr val="C00000"/>
                </a:solidFill>
              </a:rPr>
              <a:t>BHeap </a:t>
            </a:r>
            <a:r>
              <a:rPr lang="ko-KR" altLang="en-US" sz="2800" dirty="0">
                <a:solidFill>
                  <a:srgbClr val="C00000"/>
                </a:solidFill>
              </a:rPr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12753494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07929" y="2894367"/>
            <a:ext cx="7722296" cy="27515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 아이디어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상향식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(Bottom-up) 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방식으로 각 노드에 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대해 </a:t>
            </a:r>
            <a:r>
              <a:rPr lang="ko-KR" altLang="en-US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 속성을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만족하도록 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부모와 자식</a:t>
            </a:r>
            <a:r>
              <a:rPr lang="ko-KR" altLang="en-US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서로 </a:t>
            </a:r>
            <a:r>
              <a:rPr lang="ko-KR" altLang="en-US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교환</a:t>
            </a:r>
            <a:endParaRPr lang="en-US" altLang="ko-KR" sz="2400" b="1" dirty="0">
              <a:solidFill>
                <a:srgbClr val="0066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항목이 배열에 임의의 순서로 저장되어 있을 때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 err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힙을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만들기 위해선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a[n/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2]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부터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a[1]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까지 차례로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 err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downheap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각각 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수행하여 </a:t>
            </a:r>
            <a:r>
              <a:rPr lang="ko-KR" altLang="en-US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 속성을</a:t>
            </a:r>
            <a:r>
              <a:rPr lang="ko-KR" altLang="ko-KR" sz="2400" b="1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충족시킨다</a:t>
            </a:r>
            <a:r>
              <a:rPr lang="en-US" altLang="ko-KR" sz="2400" b="1" dirty="0">
                <a:solidFill>
                  <a:srgbClr val="0066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2400" b="1" dirty="0">
              <a:solidFill>
                <a:srgbClr val="0066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45299" y="1098839"/>
            <a:ext cx="78475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상향식 </a:t>
            </a:r>
            <a:r>
              <a:rPr lang="ko-KR" altLang="ko-KR" sz="2800" b="1" dirty="0" err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힙만들기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(Bottom-up Heap Construction)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F1C89E-8FD5-4EA2-B233-A606500E1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1" y="2920838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798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82877" y="732710"/>
            <a:ext cx="78475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상향식 </a:t>
            </a:r>
            <a:r>
              <a:rPr kumimoji="0" lang="ko-KR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힙을</a:t>
            </a:r>
            <a:r>
              <a:rPr kumimoji="0" lang="ko-KR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만드는 순서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424" y="1551057"/>
            <a:ext cx="6565453" cy="37224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왼쪽 화살표 3"/>
          <p:cNvSpPr/>
          <p:nvPr/>
        </p:nvSpPr>
        <p:spPr>
          <a:xfrm>
            <a:off x="7570839" y="4109884"/>
            <a:ext cx="383458" cy="334297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82116" y="3991899"/>
            <a:ext cx="41295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11179126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48" y="1099830"/>
            <a:ext cx="84391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786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95" y="1447185"/>
            <a:ext cx="8140552" cy="333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545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1" y="1303389"/>
            <a:ext cx="8650803" cy="267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361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81" y="1148069"/>
            <a:ext cx="8756635" cy="25291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53032" y="4345858"/>
            <a:ext cx="3421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프로그램</a:t>
            </a:r>
            <a:r>
              <a:rPr lang="en-US" altLang="ko-KR" sz="2000" dirty="0"/>
              <a:t> 4-3] binary_heap.py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540020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86" y="1786551"/>
            <a:ext cx="8784000" cy="36322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0515" y="973394"/>
            <a:ext cx="3421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프로그램</a:t>
            </a:r>
            <a:r>
              <a:rPr lang="en-US" altLang="ko-KR" sz="2000" dirty="0"/>
              <a:t> 4-4] main.py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71565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173692" y="983023"/>
            <a:ext cx="31390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</a:t>
            </a:r>
            <a:r>
              <a:rPr kumimoji="0" lang="ko-KR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수행결과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427224"/>
            <a:ext cx="9144000" cy="34477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B3F6E04-12BF-4CA7-BDB0-6D236C21D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570534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85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/>
              <a:t>수행</a:t>
            </a:r>
            <a:r>
              <a:rPr lang="en-US" altLang="ko-KR"/>
              <a:t> </a:t>
            </a:r>
            <a:r>
              <a:rPr lang="ko-KR" altLang="ko-KR"/>
              <a:t>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ko-KR" dirty="0"/>
              <a:t> </a:t>
            </a:r>
            <a:r>
              <a:rPr lang="en-US" altLang="ko-KR" dirty="0"/>
              <a:t>Insert </a:t>
            </a:r>
            <a:r>
              <a:rPr lang="ko-KR" altLang="ko-KR" dirty="0"/>
              <a:t>연산을 위한 </a:t>
            </a:r>
            <a:r>
              <a:rPr lang="en-US" altLang="ko-KR" dirty="0" err="1"/>
              <a:t>upheap</a:t>
            </a:r>
            <a:r>
              <a:rPr lang="ko-KR" altLang="ko-KR" dirty="0"/>
              <a:t>은 삽입된 노드로부터 최대 루트까지 올라가며 </a:t>
            </a:r>
            <a:r>
              <a:rPr lang="ko-KR" altLang="ko-KR"/>
              <a:t>부모와 자식</a:t>
            </a:r>
            <a:r>
              <a:rPr lang="ko-KR" altLang="en-US"/>
              <a:t>을</a:t>
            </a:r>
            <a:r>
              <a:rPr lang="ko-KR" altLang="ko-KR"/>
              <a:t> </a:t>
            </a:r>
            <a:r>
              <a:rPr lang="ko-KR" altLang="ko-KR" dirty="0"/>
              <a:t>교환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delete_min</a:t>
            </a:r>
            <a:r>
              <a:rPr lang="en-US" altLang="ko-KR" dirty="0"/>
              <a:t> </a:t>
            </a:r>
            <a:r>
              <a:rPr lang="ko-KR" altLang="ko-KR" dirty="0"/>
              <a:t>연산에서는 힙의 마지막 노드를 루트로 이동한 후</a:t>
            </a:r>
            <a:r>
              <a:rPr lang="en-US" altLang="ko-KR" dirty="0"/>
              <a:t>, </a:t>
            </a:r>
            <a:r>
              <a:rPr lang="en-US" altLang="ko-KR" dirty="0" err="1"/>
              <a:t>downheap</a:t>
            </a:r>
            <a:r>
              <a:rPr lang="ko-KR" altLang="ko-KR" dirty="0"/>
              <a:t>을 최하위 층의 노드까지 </a:t>
            </a:r>
            <a:r>
              <a:rPr lang="ko-KR" altLang="ko-KR"/>
              <a:t>교환해야 </a:t>
            </a:r>
            <a:r>
              <a:rPr lang="ko-KR" altLang="en-US"/>
              <a:t>할수도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 dirty="0" err="1"/>
              <a:t>힙에서</a:t>
            </a:r>
            <a:r>
              <a:rPr lang="ko-KR" altLang="ko-KR" dirty="0"/>
              <a:t> 각 </a:t>
            </a:r>
            <a:r>
              <a:rPr lang="ko-KR" altLang="ko-KR"/>
              <a:t>연산의 수행시간</a:t>
            </a:r>
            <a:r>
              <a:rPr lang="en-US" altLang="ko-KR"/>
              <a:t>:</a:t>
            </a:r>
            <a:r>
              <a:rPr lang="ko-KR" altLang="ko-KR"/>
              <a:t> </a:t>
            </a:r>
            <a:r>
              <a:rPr lang="ko-KR" altLang="ko-KR" dirty="0" err="1">
                <a:solidFill>
                  <a:srgbClr val="00B0F0"/>
                </a:solidFill>
              </a:rPr>
              <a:t>힙의</a:t>
            </a:r>
            <a:r>
              <a:rPr lang="ko-KR" altLang="ko-KR" dirty="0">
                <a:solidFill>
                  <a:srgbClr val="00B0F0"/>
                </a:solidFill>
              </a:rPr>
              <a:t> 높이에 비례</a:t>
            </a:r>
            <a:endParaRPr lang="en-US" altLang="ko-KR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ko-KR" dirty="0" err="1"/>
              <a:t>힙은</a:t>
            </a:r>
            <a:r>
              <a:rPr lang="ko-KR" altLang="ko-KR" dirty="0"/>
              <a:t> </a:t>
            </a:r>
            <a:r>
              <a:rPr lang="ko-KR" altLang="ko-KR" dirty="0" err="1"/>
              <a:t>완전이진트리이므로</a:t>
            </a:r>
            <a:r>
              <a:rPr lang="ko-KR" altLang="ko-KR" dirty="0"/>
              <a:t> </a:t>
            </a:r>
            <a:r>
              <a:rPr lang="ko-KR" altLang="ko-KR" dirty="0" err="1"/>
              <a:t>힙에</a:t>
            </a:r>
            <a:r>
              <a:rPr lang="ko-KR" altLang="ko-KR" dirty="0"/>
              <a:t> </a:t>
            </a:r>
            <a:r>
              <a:rPr lang="en-US" altLang="ko-KR" dirty="0"/>
              <a:t>N</a:t>
            </a:r>
            <a:r>
              <a:rPr lang="ko-KR" altLang="ko-KR" dirty="0"/>
              <a:t>개의 노드가 있으면 </a:t>
            </a:r>
            <a:r>
              <a:rPr lang="ko-KR" altLang="ko-KR"/>
              <a:t>그 높이</a:t>
            </a:r>
            <a:r>
              <a:rPr lang="en-US" altLang="ko-KR"/>
              <a:t>:</a:t>
            </a:r>
            <a:r>
              <a:rPr lang="ko-KR" altLang="ko-KR">
                <a:solidFill>
                  <a:srgbClr val="3333FF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  <a:sym typeface="Symbol" panose="05050102010706020507" pitchFamily="18" charset="2"/>
              </a:rPr>
              <a:t></a:t>
            </a:r>
            <a:r>
              <a:rPr lang="en-US" altLang="ko-KR" dirty="0">
                <a:solidFill>
                  <a:srgbClr val="00B0F0"/>
                </a:solidFill>
              </a:rPr>
              <a:t>log(N+1)</a:t>
            </a:r>
            <a:r>
              <a:rPr lang="en-US" altLang="ko-KR" dirty="0">
                <a:solidFill>
                  <a:srgbClr val="00B0F0"/>
                </a:solidFill>
                <a:sym typeface="Symbol" panose="05050102010706020507" pitchFamily="18" charset="2"/>
              </a:rPr>
              <a:t></a:t>
            </a:r>
            <a:endParaRPr lang="en-US" altLang="ko-KR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ko-KR" dirty="0"/>
              <a:t>각 </a:t>
            </a:r>
            <a:r>
              <a:rPr lang="ko-KR" altLang="ko-KR" dirty="0" err="1"/>
              <a:t>힙</a:t>
            </a:r>
            <a:r>
              <a:rPr lang="ko-KR" altLang="ko-KR" dirty="0"/>
              <a:t> </a:t>
            </a:r>
            <a:r>
              <a:rPr lang="ko-KR" altLang="ko-KR"/>
              <a:t>연산의 수행시간</a:t>
            </a:r>
            <a:r>
              <a:rPr lang="en-US" altLang="ko-KR"/>
              <a:t>:</a:t>
            </a:r>
            <a:r>
              <a:rPr lang="ko-KR" altLang="ko-KR">
                <a:solidFill>
                  <a:srgbClr val="00B0F0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O(</a:t>
            </a:r>
            <a:r>
              <a:rPr lang="en-US" altLang="ko-KR" dirty="0" err="1">
                <a:solidFill>
                  <a:srgbClr val="00B0F0"/>
                </a:solidFill>
              </a:rPr>
              <a:t>logN</a:t>
            </a:r>
            <a:r>
              <a:rPr lang="en-US" altLang="ko-KR" dirty="0">
                <a:solidFill>
                  <a:srgbClr val="00B0F0"/>
                </a:solidFill>
              </a:rPr>
              <a:t>)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5089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C9EB765F-5FEC-440B-9187-0C750B9D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1807"/>
            <a:ext cx="7886700" cy="503554"/>
          </a:xfrm>
        </p:spPr>
        <p:txBody>
          <a:bodyPr/>
          <a:lstStyle/>
          <a:p>
            <a:pPr algn="ctr"/>
            <a:r>
              <a:rPr lang="ko-KR" altLang="ko-KR" sz="2800" dirty="0"/>
              <a:t>상향식 </a:t>
            </a:r>
            <a:r>
              <a:rPr lang="ko-KR" altLang="ko-KR" sz="2800" err="1"/>
              <a:t>힙만들기의</a:t>
            </a:r>
            <a:r>
              <a:rPr lang="ko-KR" altLang="ko-KR" sz="2800"/>
              <a:t> </a:t>
            </a:r>
            <a:r>
              <a:rPr lang="ko-KR" altLang="en-US" sz="2800"/>
              <a:t>수행 시간</a:t>
            </a:r>
            <a:r>
              <a:rPr lang="ko-KR" altLang="ko-KR" sz="2800"/>
              <a:t> </a:t>
            </a:r>
            <a:r>
              <a:rPr lang="ko-KR" altLang="ko-KR" sz="2800" dirty="0"/>
              <a:t>분석</a:t>
            </a:r>
            <a:endParaRPr lang="ko-KR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A35B16BC-BEBD-40C7-8EFA-63D2B69E61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14135"/>
                <a:ext cx="7886700" cy="509657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ko-KR" dirty="0"/>
                  <a:t>노드 </a:t>
                </a:r>
                <a:r>
                  <a:rPr lang="ko-KR" altLang="ko-KR"/>
                  <a:t>수가 </a:t>
                </a:r>
                <a:r>
                  <a:rPr lang="en-US" altLang="ko-KR"/>
                  <a:t>n</a:t>
                </a:r>
                <a:r>
                  <a:rPr lang="ko-KR" altLang="ko-KR"/>
                  <a:t>인 </a:t>
                </a:r>
                <a:r>
                  <a:rPr lang="ko-KR" altLang="ko-KR" dirty="0" err="1"/>
                  <a:t>힙의</a:t>
                </a:r>
                <a:r>
                  <a:rPr lang="ko-KR" altLang="ko-KR" dirty="0"/>
                  <a:t> 각 층에 있는 노드 수를 살펴보자</a:t>
                </a:r>
                <a:r>
                  <a:rPr lang="en-US" altLang="ko-KR" dirty="0"/>
                  <a:t>. </a:t>
                </a:r>
                <a:r>
                  <a:rPr lang="ko-KR" altLang="ko-KR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ko-KR" dirty="0"/>
                  <a:t>간단한 계산을 </a:t>
                </a:r>
                <a:r>
                  <a:rPr lang="ko-KR" altLang="ko-KR"/>
                  <a:t>위하여 </a:t>
                </a:r>
                <a:r>
                  <a:rPr lang="en-US" altLang="ko-KR"/>
                  <a:t>n </a:t>
                </a:r>
                <a:r>
                  <a:rPr lang="en-US" altLang="ko-KR" dirty="0"/>
                  <a:t>= 2</a:t>
                </a:r>
                <a:r>
                  <a:rPr lang="en-US" altLang="ko-KR" baseline="30000" dirty="0"/>
                  <a:t>k</a:t>
                </a:r>
                <a:r>
                  <a:rPr lang="en-US" altLang="ko-KR" dirty="0"/>
                  <a:t>-1</a:t>
                </a:r>
                <a:r>
                  <a:rPr lang="ko-KR" altLang="ko-KR" dirty="0"/>
                  <a:t>로 가정</a:t>
                </a:r>
                <a:r>
                  <a:rPr lang="en-US" altLang="ko-KR" dirty="0"/>
                  <a:t>, k</a:t>
                </a:r>
                <a:r>
                  <a:rPr lang="ko-KR" altLang="ko-KR" dirty="0"/>
                  <a:t>는 양의 상수</a:t>
                </a:r>
                <a:r>
                  <a:rPr lang="en-US" altLang="ko-KR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ko-KR"/>
                  <a:t>최하위</a:t>
                </a:r>
                <a:r>
                  <a:rPr lang="en-US" altLang="ko-KR"/>
                  <a:t> </a:t>
                </a:r>
                <a:r>
                  <a:rPr lang="ko-KR" altLang="ko-KR"/>
                  <a:t>층</a:t>
                </a:r>
                <a:r>
                  <a:rPr lang="en-US" altLang="ko-KR"/>
                  <a:t> </a:t>
                </a:r>
                <a:r>
                  <a:rPr lang="en-US" altLang="ko-KR" dirty="0"/>
                  <a:t>(h = 0)</a:t>
                </a:r>
                <a:r>
                  <a:rPr lang="ko-KR" altLang="en-US" dirty="0"/>
                  <a:t>의 노드 수 </a:t>
                </a:r>
                <a:r>
                  <a:rPr lang="en-US" altLang="ko-K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</m:num>
                      <m:den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dirty="0">
                    <a:sym typeface="Symbol" panose="05050102010706020507" pitchFamily="18" charset="2"/>
                  </a:rPr>
                  <a:t>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ko-KR" dirty="0"/>
                  <a:t>(h=1)</a:t>
                </a:r>
                <a:r>
                  <a:rPr lang="ko-KR" altLang="en-US" dirty="0"/>
                  <a:t>의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노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드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</m:num>
                      <m:den>
                        <m:sSup>
                          <m:sSup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ko-KR" dirty="0"/>
                  <a:t>(h=2)</a:t>
                </a:r>
                <a:r>
                  <a:rPr lang="ko-KR" altLang="en-US" dirty="0"/>
                  <a:t>의 노드 수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</m:num>
                      <m:den>
                        <m:sSup>
                          <m:sSup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ko-KR" dirty="0"/>
                  <a:t>h</a:t>
                </a:r>
                <a:r>
                  <a:rPr lang="ko-KR" altLang="ko-KR" dirty="0"/>
                  <a:t>층</a:t>
                </a:r>
                <a:r>
                  <a:rPr lang="ko-KR" altLang="en-US" dirty="0"/>
                  <a:t>의 노드 수 </a:t>
                </a:r>
                <a:r>
                  <a:rPr lang="en-US" altLang="ko-KR" dirty="0"/>
                  <a:t>= 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</m:num>
                      <m:den>
                        <m:sSup>
                          <m:sSup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ko-KR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ko-KR" dirty="0" err="1"/>
                  <a:t>힙만들기는</a:t>
                </a:r>
                <a:r>
                  <a:rPr lang="ko-KR" altLang="ko-KR" dirty="0"/>
                  <a:t> </a:t>
                </a:r>
                <a:r>
                  <a:rPr lang="en-US" altLang="ko-KR" dirty="0"/>
                  <a:t>h=1</a:t>
                </a:r>
                <a:r>
                  <a:rPr lang="ko-KR" altLang="ko-KR" dirty="0"/>
                  <a:t>인 경우부터 </a:t>
                </a:r>
                <a:r>
                  <a:rPr lang="ko-KR" altLang="ko-KR"/>
                  <a:t>시작하여 최상위</a:t>
                </a:r>
                <a:r>
                  <a:rPr lang="en-US" altLang="ko-KR"/>
                  <a:t> </a:t>
                </a:r>
                <a:r>
                  <a:rPr lang="ko-KR" altLang="ko-KR"/>
                  <a:t>층의 </a:t>
                </a:r>
                <a:r>
                  <a:rPr lang="ko-KR" altLang="en-US"/>
                  <a:t>루트까지</a:t>
                </a:r>
                <a:r>
                  <a:rPr lang="ko-KR" altLang="ko-KR"/>
                  <a:t> </a:t>
                </a:r>
                <a:r>
                  <a:rPr lang="ko-KR" altLang="ko-KR" dirty="0"/>
                  <a:t>각 노드에 대해 </a:t>
                </a:r>
                <a:r>
                  <a:rPr lang="en-US" altLang="ko-KR" dirty="0" err="1"/>
                  <a:t>downheap</a:t>
                </a:r>
                <a:r>
                  <a:rPr lang="ko-KR" altLang="ko-KR" dirty="0"/>
                  <a:t>을 수행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A35B16BC-BEBD-40C7-8EFA-63D2B69E61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14135"/>
                <a:ext cx="7886700" cy="5096577"/>
              </a:xfrm>
              <a:blipFill>
                <a:blip r:embed="rId2"/>
                <a:stretch>
                  <a:fillRect l="-1005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9588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23AA67-F40B-4744-973C-876BCECA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2157412"/>
            <a:ext cx="78009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796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52284" y="325267"/>
            <a:ext cx="8544232" cy="614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ko-KR" sz="2800" dirty="0">
                <a:solidFill>
                  <a:srgbClr val="3333FF"/>
                </a:solidFill>
              </a:rPr>
              <a:t>|</a:t>
            </a:r>
            <a:r>
              <a:rPr lang="ko-KR" altLang="ko-KR" sz="28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파이썬</a:t>
            </a:r>
            <a:r>
              <a:rPr lang="ko-KR" altLang="ko-KR" sz="2800" dirty="0">
                <a:solidFill>
                  <a:srgbClr val="3333FF"/>
                </a:solidFill>
              </a:rPr>
              <a:t> </a:t>
            </a:r>
            <a:r>
              <a:rPr lang="en-US" altLang="ko-KR" sz="2800" dirty="0">
                <a:solidFill>
                  <a:srgbClr val="3333FF"/>
                </a:solidFill>
                <a:latin typeface="Consolas" panose="020B0609020204030204" pitchFamily="49" charset="0"/>
              </a:rPr>
              <a:t>heapq</a:t>
            </a:r>
            <a:r>
              <a:rPr lang="en-US" altLang="ko-KR" sz="2800" dirty="0">
                <a:solidFill>
                  <a:srgbClr val="3333FF"/>
                </a:solidFill>
              </a:rPr>
              <a:t>|</a:t>
            </a:r>
            <a:endParaRPr lang="ko-KR" altLang="ko-KR" sz="2800" dirty="0">
              <a:solidFill>
                <a:srgbClr val="3333FF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ko-KR" sz="2400" dirty="0"/>
              <a:t> </a:t>
            </a:r>
            <a:endParaRPr lang="ko-KR" altLang="ko-KR" sz="24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파이썬은 우선순위큐를 위한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heapq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라이브러리로 제공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ko-KR" sz="2400" dirty="0">
                <a:solidFill>
                  <a:srgbClr val="C00000"/>
                </a:solidFill>
                <a:latin typeface="Consolas" panose="020B0609020204030204" pitchFamily="49" charset="0"/>
              </a:rPr>
              <a:t>heapq</a:t>
            </a:r>
            <a:r>
              <a:rPr lang="ko-KR" altLang="ko-KR" sz="2400" dirty="0">
                <a:solidFill>
                  <a:srgbClr val="C00000"/>
                </a:solidFill>
                <a:latin typeface="Calibri" panose="020F0502020204030204" pitchFamily="34" charset="0"/>
              </a:rPr>
              <a:t>에</a:t>
            </a:r>
            <a:r>
              <a:rPr lang="ko-KR" altLang="ko-KR" sz="2400" dirty="0">
                <a:solidFill>
                  <a:srgbClr val="C00000"/>
                </a:solidFill>
              </a:rPr>
              <a:t> </a:t>
            </a:r>
            <a:r>
              <a:rPr lang="ko-KR" altLang="ko-KR" sz="2400" dirty="0">
                <a:solidFill>
                  <a:srgbClr val="C00000"/>
                </a:solidFill>
                <a:latin typeface="Calibri" panose="020F0502020204030204" pitchFamily="34" charset="0"/>
              </a:rPr>
              <a:t>선언된</a:t>
            </a:r>
            <a:r>
              <a:rPr lang="ko-KR" altLang="ko-KR" sz="2400" dirty="0">
                <a:solidFill>
                  <a:srgbClr val="C00000"/>
                </a:solidFill>
              </a:rPr>
              <a:t> </a:t>
            </a:r>
            <a:r>
              <a:rPr lang="ko-KR" altLang="ko-KR" sz="2400" dirty="0">
                <a:solidFill>
                  <a:srgbClr val="C00000"/>
                </a:solidFill>
                <a:latin typeface="Calibri" panose="020F0502020204030204" pitchFamily="34" charset="0"/>
              </a:rPr>
              <a:t>메소드</a:t>
            </a:r>
            <a:endParaRPr lang="ko-KR" altLang="ko-KR" sz="2400" dirty="0">
              <a:solidFill>
                <a:srgbClr val="C00000"/>
              </a:solidFill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altLang="ko-KR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heapq.</a:t>
            </a:r>
            <a:r>
              <a:rPr lang="en-US" altLang="ko-KR" sz="2400" dirty="0" err="1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heappush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heap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# insert() </a:t>
            </a:r>
            <a:r>
              <a:rPr lang="ko-KR" altLang="ko-KR" sz="2400" dirty="0" err="1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메소드와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동일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altLang="ko-KR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heapq</a:t>
            </a:r>
            <a:r>
              <a:rPr lang="en-US" altLang="ko-KR" sz="2400" dirty="0" err="1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ko-KR" sz="2400" dirty="0" err="1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heappop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heap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) 	     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# delete_min() </a:t>
            </a:r>
            <a:r>
              <a:rPr lang="ko-KR" altLang="ko-KR" sz="2400" dirty="0" err="1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메소드와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동일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altLang="ko-KR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heapq.</a:t>
            </a:r>
            <a:r>
              <a:rPr lang="en-US" altLang="ko-KR" sz="2400" dirty="0" err="1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heappushpop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heap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) 	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en-US" altLang="ko-KR" sz="2400" i="1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삽입 후 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delete_min() 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수행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heapq</a:t>
            </a:r>
            <a:r>
              <a:rPr lang="en-US" altLang="ko-KR" sz="24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.heapify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) 	                   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# create_heap() </a:t>
            </a:r>
            <a:r>
              <a:rPr lang="ko-KR" altLang="ko-KR" sz="2400" dirty="0" err="1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메소드와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동일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altLang="ko-KR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heapq</a:t>
            </a:r>
            <a:r>
              <a:rPr lang="en-US" altLang="ko-KR" sz="2400" dirty="0" err="1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.heapreplace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heap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altLang="ko-KR" sz="2400" i="1" dirty="0">
                <a:latin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) 	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# delete_min() 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먼저 수행 후</a:t>
            </a:r>
            <a:r>
              <a:rPr lang="en-US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altLang="ko-KR" sz="2400" i="1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item </a:t>
            </a:r>
            <a:r>
              <a:rPr lang="ko-KR" altLang="ko-KR" sz="2400" dirty="0">
                <a:solidFill>
                  <a:srgbClr val="80808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ko-KR" altLang="ko-K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이외에도 몇 개의 다른 메소드들이 있으나 힙의 항목 수가 많아지면 이 연산들은 매우 비효율적이서 사용하지 말 것을 권고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41941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ko-KR" dirty="0"/>
              <a:t>관공서</a:t>
            </a:r>
            <a:r>
              <a:rPr lang="en-US" altLang="ko-KR" dirty="0"/>
              <a:t>, </a:t>
            </a:r>
            <a:r>
              <a:rPr lang="ko-KR" altLang="ko-KR" dirty="0"/>
              <a:t>은행</a:t>
            </a:r>
            <a:r>
              <a:rPr lang="en-US" altLang="ko-KR" dirty="0"/>
              <a:t>, </a:t>
            </a:r>
            <a:r>
              <a:rPr lang="ko-KR" altLang="ko-KR" dirty="0"/>
              <a:t>병원</a:t>
            </a:r>
            <a:r>
              <a:rPr lang="en-US" altLang="ko-KR" dirty="0"/>
              <a:t>, </a:t>
            </a:r>
            <a:r>
              <a:rPr lang="ko-KR" altLang="ko-KR" dirty="0"/>
              <a:t>우체국</a:t>
            </a:r>
            <a:r>
              <a:rPr lang="en-US" altLang="ko-KR" dirty="0"/>
              <a:t>, </a:t>
            </a:r>
            <a:r>
              <a:rPr lang="ko-KR" altLang="ko-KR" dirty="0"/>
              <a:t>대형</a:t>
            </a:r>
            <a:r>
              <a:rPr lang="en-US" altLang="ko-KR" dirty="0"/>
              <a:t> </a:t>
            </a:r>
            <a:r>
              <a:rPr lang="ko-KR" altLang="ko-KR" dirty="0"/>
              <a:t>마켓</a:t>
            </a:r>
            <a:r>
              <a:rPr lang="en-US" altLang="ko-KR" dirty="0"/>
              <a:t>, </a:t>
            </a:r>
            <a:r>
              <a:rPr lang="ko-KR" altLang="ko-KR" dirty="0"/>
              <a:t>공항 등에서 이루어지는 업무와 관련된 이벤트 처리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 dirty="0"/>
              <a:t>컴퓨터 운영체제의 프로세스 처리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 dirty="0"/>
              <a:t>네트워크 라우터에서의 패킷 처리 등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/>
              <a:t>데이터 </a:t>
            </a:r>
            <a:r>
              <a:rPr lang="ko-KR" altLang="ko-KR" dirty="0"/>
              <a:t>스트림에서 </a:t>
            </a:r>
            <a:r>
              <a:rPr lang="en-US" altLang="ko-KR" dirty="0"/>
              <a:t>Top k </a:t>
            </a:r>
            <a:r>
              <a:rPr lang="ko-KR" altLang="ko-KR"/>
              <a:t>항목 유지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 dirty="0"/>
              <a:t>허프만 코딩</a:t>
            </a:r>
            <a:endParaRPr lang="en-US" altLang="ko-KR" dirty="0"/>
          </a:p>
          <a:p>
            <a:r>
              <a:rPr lang="en-US" altLang="ko-KR">
                <a:latin typeface="Consolas" panose="020B0609020204030204" pitchFamily="49" charset="0"/>
              </a:rPr>
              <a:t>Part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7</a:t>
            </a:r>
            <a:r>
              <a:rPr lang="ko-KR" altLang="ko-KR"/>
              <a:t>의 힙</a:t>
            </a:r>
            <a:r>
              <a:rPr lang="en-US" altLang="ko-KR"/>
              <a:t> </a:t>
            </a:r>
            <a:r>
              <a:rPr lang="ko-KR" altLang="ko-KR"/>
              <a:t>정렬</a:t>
            </a:r>
            <a:endParaRPr lang="en-US" altLang="ko-KR" dirty="0"/>
          </a:p>
          <a:p>
            <a:r>
              <a:rPr lang="en-US" altLang="ko-KR">
                <a:latin typeface="Consolas" panose="020B0609020204030204" pitchFamily="49" charset="0"/>
              </a:rPr>
              <a:t>Part 8</a:t>
            </a:r>
            <a:r>
              <a:rPr lang="ko-KR" altLang="ko-KR"/>
              <a:t>의 </a:t>
            </a:r>
            <a:r>
              <a:rPr lang="en-US" altLang="ko-KR" dirty="0"/>
              <a:t>Prim</a:t>
            </a:r>
            <a:r>
              <a:rPr lang="ko-KR" altLang="ko-KR" dirty="0"/>
              <a:t>의 최소신장트리 알고리즘과</a:t>
            </a:r>
            <a:r>
              <a:rPr lang="en-US" altLang="ko-KR" dirty="0"/>
              <a:t> </a:t>
            </a:r>
            <a:r>
              <a:rPr lang="en-US" altLang="ko-KR" dirty="0" err="1"/>
              <a:t>Dijkstra</a:t>
            </a:r>
            <a:r>
              <a:rPr lang="ko-KR" altLang="ko-KR" dirty="0"/>
              <a:t>의 </a:t>
            </a:r>
            <a:r>
              <a:rPr lang="ko-KR" altLang="ko-KR" dirty="0" err="1"/>
              <a:t>최단경로</a:t>
            </a:r>
            <a:r>
              <a:rPr lang="ko-KR" altLang="ko-KR" dirty="0"/>
              <a:t> 알고리즘에도 활용</a:t>
            </a:r>
            <a:endParaRPr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EBE716D-2E0E-49E3-B638-F0C15A397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1807"/>
            <a:ext cx="7886700" cy="503554"/>
          </a:xfrm>
        </p:spPr>
        <p:txBody>
          <a:bodyPr/>
          <a:lstStyle/>
          <a:p>
            <a:pPr algn="ctr"/>
            <a:r>
              <a:rPr lang="ko-KR" altLang="ko-KR" dirty="0"/>
              <a:t>응용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138227-C64A-4CD1-B12A-4CD5BA5AC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2" y="90161"/>
            <a:ext cx="1379749" cy="103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570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sz="3600" dirty="0"/>
              <a:t>요약</a:t>
            </a:r>
            <a:endParaRPr 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35510"/>
            <a:ext cx="8161389" cy="48938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ko-KR" altLang="ko-KR" sz="2500" dirty="0"/>
              <a:t>트리는 </a:t>
            </a:r>
            <a:r>
              <a:rPr lang="ko-KR" altLang="ko-KR" sz="2500" dirty="0">
                <a:solidFill>
                  <a:srgbClr val="00B0F0"/>
                </a:solidFill>
              </a:rPr>
              <a:t>계층적 자료구조</a:t>
            </a:r>
            <a:r>
              <a:rPr lang="ko-KR" altLang="ko-KR" sz="2500" dirty="0"/>
              <a:t>로서 배열이나 연결리스트의 단점을 보완하는 자료구조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ko-KR" altLang="ko-KR" sz="2500">
                <a:solidFill>
                  <a:srgbClr val="00B0F0"/>
                </a:solidFill>
              </a:rPr>
              <a:t>왼쪽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자식</a:t>
            </a:r>
            <a:r>
              <a:rPr lang="en-US" altLang="ko-KR" sz="2500">
                <a:solidFill>
                  <a:srgbClr val="00B0F0"/>
                </a:solidFill>
              </a:rPr>
              <a:t>–</a:t>
            </a:r>
            <a:r>
              <a:rPr lang="ko-KR" altLang="ko-KR" sz="2500">
                <a:solidFill>
                  <a:srgbClr val="00B0F0"/>
                </a:solidFill>
              </a:rPr>
              <a:t>오른쪽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형제 </a:t>
            </a:r>
            <a:r>
              <a:rPr lang="ko-KR" altLang="ko-KR" sz="2500" dirty="0">
                <a:solidFill>
                  <a:srgbClr val="00B0F0"/>
                </a:solidFill>
              </a:rPr>
              <a:t>표현</a:t>
            </a:r>
            <a:r>
              <a:rPr lang="ko-KR" altLang="ko-KR" sz="2500" dirty="0"/>
              <a:t>은 노드의 차수가 일정하지 않은 일반적인 트리를 구현하는 매우 효율적인 자료구조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ko-KR" altLang="ko-KR" sz="2500">
                <a:solidFill>
                  <a:srgbClr val="00B0F0"/>
                </a:solidFill>
              </a:rPr>
              <a:t>포화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이진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트리</a:t>
            </a:r>
            <a:r>
              <a:rPr lang="ko-KR" altLang="ko-KR" sz="2500"/>
              <a:t>는 각 내부</a:t>
            </a:r>
            <a:r>
              <a:rPr lang="en-US" altLang="ko-KR" sz="2500"/>
              <a:t> </a:t>
            </a:r>
            <a:r>
              <a:rPr lang="ko-KR" altLang="ko-KR" sz="2500"/>
              <a:t>노드가 </a:t>
            </a:r>
            <a:r>
              <a:rPr lang="en-US" altLang="ko-KR" sz="2500" dirty="0"/>
              <a:t>2</a:t>
            </a:r>
            <a:r>
              <a:rPr lang="ko-KR" altLang="ko-KR" sz="2500" dirty="0"/>
              <a:t>개의 자식 </a:t>
            </a:r>
            <a:r>
              <a:rPr lang="ko-KR" altLang="ko-KR" sz="2500"/>
              <a:t>노드를 가지</a:t>
            </a:r>
            <a:r>
              <a:rPr lang="ko-KR" altLang="en-US" sz="2500"/>
              <a:t>며 모든 이파리가 같은 층에 있</a:t>
            </a:r>
            <a:r>
              <a:rPr lang="ko-KR" altLang="ko-KR" sz="2500"/>
              <a:t>는 트리</a:t>
            </a:r>
            <a:endParaRPr lang="en-US" altLang="ko-KR" sz="2500" dirty="0"/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ko-KR" altLang="ko-KR" sz="2500">
                <a:solidFill>
                  <a:srgbClr val="00B0F0"/>
                </a:solidFill>
              </a:rPr>
              <a:t>완전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이진</a:t>
            </a:r>
            <a:r>
              <a:rPr lang="en-US" altLang="ko-KR" sz="2500">
                <a:solidFill>
                  <a:srgbClr val="00B0F0"/>
                </a:solidFill>
              </a:rPr>
              <a:t> </a:t>
            </a:r>
            <a:r>
              <a:rPr lang="ko-KR" altLang="ko-KR" sz="2500">
                <a:solidFill>
                  <a:srgbClr val="00B0F0"/>
                </a:solidFill>
              </a:rPr>
              <a:t>트리</a:t>
            </a:r>
            <a:r>
              <a:rPr lang="ko-KR" altLang="ko-KR" sz="2500"/>
              <a:t>는 </a:t>
            </a:r>
            <a:r>
              <a:rPr lang="ko-KR" altLang="ko-KR" sz="2500" dirty="0"/>
              <a:t>마지막 레벨을 제외한 각 레벨이 노드들로 꽉 차있고</a:t>
            </a:r>
            <a:r>
              <a:rPr lang="en-US" altLang="ko-KR" sz="2500" dirty="0"/>
              <a:t>, </a:t>
            </a:r>
            <a:r>
              <a:rPr lang="ko-KR" altLang="ko-KR" sz="2500" dirty="0"/>
              <a:t>마지막 레벨에는 노드들이 왼쪽부터 빠짐없이 </a:t>
            </a:r>
            <a:r>
              <a:rPr lang="ko-KR" altLang="ko-KR" sz="2500"/>
              <a:t>채워진 트리</a:t>
            </a:r>
            <a:endParaRPr lang="en-US" altLang="ko-KR" sz="2500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ko-KR" altLang="ko-KR" sz="2500"/>
              <a:t>포화</a:t>
            </a:r>
            <a:r>
              <a:rPr lang="en-US" altLang="ko-KR" sz="2500"/>
              <a:t> </a:t>
            </a:r>
            <a:r>
              <a:rPr lang="ko-KR" altLang="ko-KR" sz="2500"/>
              <a:t>이진</a:t>
            </a:r>
            <a:r>
              <a:rPr lang="en-US" altLang="ko-KR" sz="2500"/>
              <a:t> </a:t>
            </a:r>
            <a:r>
              <a:rPr lang="ko-KR" altLang="ko-KR" sz="2500"/>
              <a:t>트리는 완전</a:t>
            </a:r>
            <a:r>
              <a:rPr lang="en-US" altLang="ko-KR" sz="2500"/>
              <a:t> </a:t>
            </a:r>
            <a:r>
              <a:rPr lang="ko-KR" altLang="ko-KR" sz="2500"/>
              <a:t>이진</a:t>
            </a:r>
            <a:r>
              <a:rPr lang="en-US" altLang="ko-KR" sz="2500"/>
              <a:t> </a:t>
            </a:r>
            <a:r>
              <a:rPr lang="ko-KR" altLang="ko-KR" sz="2500"/>
              <a:t>트리이다</a:t>
            </a:r>
            <a:r>
              <a:rPr lang="en-US" altLang="ko-KR" sz="2500" dirty="0"/>
              <a:t>.</a:t>
            </a:r>
            <a:endParaRPr lang="ko-KR" altLang="ko-KR" sz="2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3" y="338018"/>
            <a:ext cx="615950" cy="75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684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651353"/>
            <a:ext cx="7886700" cy="585051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ko-KR" altLang="ko-KR" sz="2800" dirty="0" err="1"/>
              <a:t>이진트리의</a:t>
            </a:r>
            <a:r>
              <a:rPr lang="ko-KR" altLang="ko-KR" sz="2800" dirty="0"/>
              <a:t> 순회 방법</a:t>
            </a:r>
            <a:endParaRPr lang="en-US" altLang="ko-KR" sz="28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ko-KR" sz="2600"/>
              <a:t>- </a:t>
            </a:r>
            <a:r>
              <a:rPr lang="ko-KR" altLang="ko-KR" sz="2600"/>
              <a:t>전위</a:t>
            </a:r>
            <a:r>
              <a:rPr lang="en-US" altLang="ko-KR" sz="2600"/>
              <a:t> </a:t>
            </a:r>
            <a:r>
              <a:rPr lang="ko-KR" altLang="ko-KR" sz="2600"/>
              <a:t>순회</a:t>
            </a:r>
            <a:r>
              <a:rPr lang="en-US" altLang="ko-KR" sz="2600" dirty="0"/>
              <a:t>(NLR)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ko-KR" sz="2600"/>
              <a:t>- </a:t>
            </a:r>
            <a:r>
              <a:rPr lang="ko-KR" altLang="ko-KR" sz="2600"/>
              <a:t>중위</a:t>
            </a:r>
            <a:r>
              <a:rPr lang="en-US" altLang="ko-KR" sz="2600"/>
              <a:t> </a:t>
            </a:r>
            <a:r>
              <a:rPr lang="ko-KR" altLang="ko-KR" sz="2600"/>
              <a:t>순회</a:t>
            </a:r>
            <a:r>
              <a:rPr lang="en-US" altLang="ko-KR" sz="2600" dirty="0"/>
              <a:t>(LNR)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ko-KR" sz="2600"/>
              <a:t>- </a:t>
            </a:r>
            <a:r>
              <a:rPr lang="ko-KR" altLang="ko-KR" sz="2600"/>
              <a:t>후위</a:t>
            </a:r>
            <a:r>
              <a:rPr lang="en-US" altLang="ko-KR" sz="2600"/>
              <a:t> </a:t>
            </a:r>
            <a:r>
              <a:rPr lang="ko-KR" altLang="ko-KR" sz="2600"/>
              <a:t>순회</a:t>
            </a:r>
            <a:r>
              <a:rPr lang="en-US" altLang="ko-KR" sz="2600" dirty="0"/>
              <a:t>(LRN)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ko-KR" sz="2600"/>
              <a:t>- </a:t>
            </a:r>
            <a:r>
              <a:rPr lang="ko-KR" altLang="ko-KR" sz="2600"/>
              <a:t>레벨</a:t>
            </a:r>
            <a:r>
              <a:rPr lang="en-US" altLang="ko-KR" sz="2600"/>
              <a:t> </a:t>
            </a:r>
            <a:r>
              <a:rPr lang="ko-KR" altLang="ko-KR" sz="2600"/>
              <a:t>순회</a:t>
            </a:r>
            <a:r>
              <a:rPr lang="en-US" altLang="ko-KR" sz="2600" dirty="0">
                <a:solidFill>
                  <a:srgbClr val="3333FF"/>
                </a:solidFill>
              </a:rPr>
              <a:t>-</a:t>
            </a:r>
            <a:r>
              <a:rPr lang="ko-KR" altLang="ko-KR" sz="2600" dirty="0" err="1"/>
              <a:t>레벨순회는</a:t>
            </a:r>
            <a:r>
              <a:rPr lang="ko-KR" altLang="ko-KR" sz="2600" dirty="0"/>
              <a:t> 큐 자료구조를 사용해서 구현</a:t>
            </a:r>
            <a:endParaRPr lang="en-US" altLang="ko-KR" dirty="0"/>
          </a:p>
          <a:p>
            <a:pPr lvl="0">
              <a:spcBef>
                <a:spcPts val="1800"/>
              </a:spcBef>
              <a:spcAft>
                <a:spcPts val="1200"/>
              </a:spcAft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 </a:t>
            </a:r>
            <a:r>
              <a:rPr lang="ko-KR" altLang="ko-KR" dirty="0"/>
              <a:t>높이 계산과 노드 수의 </a:t>
            </a:r>
            <a:r>
              <a:rPr lang="ko-KR" altLang="ko-KR"/>
              <a:t>계산에는 후위</a:t>
            </a:r>
            <a:r>
              <a:rPr lang="en-US" altLang="ko-KR"/>
              <a:t> </a:t>
            </a:r>
            <a:r>
              <a:rPr lang="ko-KR" altLang="ko-KR"/>
              <a:t>순회가 </a:t>
            </a:r>
            <a:r>
              <a:rPr lang="ko-KR" altLang="ko-KR" dirty="0"/>
              <a:t>적합</a:t>
            </a:r>
            <a:r>
              <a:rPr lang="en-US" altLang="ko-KR"/>
              <a:t>,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비교에는 전위</a:t>
            </a:r>
            <a:r>
              <a:rPr lang="en-US" altLang="ko-KR"/>
              <a:t> </a:t>
            </a:r>
            <a:r>
              <a:rPr lang="ko-KR" altLang="ko-KR"/>
              <a:t>순회가 </a:t>
            </a:r>
            <a:r>
              <a:rPr lang="ko-KR" altLang="ko-KR" dirty="0"/>
              <a:t>적합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>
                <a:solidFill>
                  <a:srgbClr val="00B0F0"/>
                </a:solidFill>
              </a:rPr>
              <a:t>스레드 이진트리</a:t>
            </a:r>
            <a:r>
              <a:rPr lang="en-US" altLang="ko-KR">
                <a:solidFill>
                  <a:srgbClr val="3333FF"/>
                </a:solidFill>
              </a:rPr>
              <a:t>:</a:t>
            </a:r>
            <a:r>
              <a:rPr lang="ko-KR" altLang="ko-KR"/>
              <a:t>스택 없이 이진</a:t>
            </a:r>
            <a:r>
              <a:rPr lang="en-US" altLang="ko-KR"/>
              <a:t> </a:t>
            </a:r>
            <a:r>
              <a:rPr lang="ko-KR" altLang="ko-KR"/>
              <a:t>트리를 </a:t>
            </a:r>
            <a:r>
              <a:rPr lang="ko-KR" altLang="ko-KR" dirty="0"/>
              <a:t>순회하기 위해 노드의</a:t>
            </a:r>
            <a:r>
              <a:rPr lang="en-US" altLang="ko-KR" dirty="0"/>
              <a:t> None </a:t>
            </a:r>
            <a:r>
              <a:rPr lang="ko-KR" altLang="ko-KR" dirty="0"/>
              <a:t>레퍼런스 대신 다음에 방문할 노드의 레퍼런스를 </a:t>
            </a:r>
            <a:r>
              <a:rPr lang="ko-KR" altLang="ko-KR"/>
              <a:t>저장한 이진</a:t>
            </a:r>
            <a:r>
              <a:rPr lang="en-US" altLang="ko-KR"/>
              <a:t> </a:t>
            </a:r>
            <a:r>
              <a:rPr lang="ko-KR" altLang="ko-KR"/>
              <a:t>트리를</a:t>
            </a:r>
            <a:endParaRPr lang="ko-KR" altLang="ko-KR" dirty="0"/>
          </a:p>
          <a:p>
            <a:pPr lvl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트리의 </a:t>
            </a:r>
            <a:r>
              <a:rPr lang="ko-KR" altLang="ko-KR" dirty="0"/>
              <a:t>높이 및 노드 수의 계산</a:t>
            </a:r>
            <a:r>
              <a:rPr lang="en-US" altLang="ko-KR" dirty="0"/>
              <a:t>, </a:t>
            </a:r>
            <a:r>
              <a:rPr lang="ko-KR" altLang="ko-KR" dirty="0"/>
              <a:t>각 트리 순회</a:t>
            </a:r>
            <a:r>
              <a:rPr lang="en-US" altLang="ko-KR" dirty="0"/>
              <a:t>, </a:t>
            </a:r>
            <a:r>
              <a:rPr lang="ko-KR" altLang="ko-KR" dirty="0"/>
              <a:t>동일성 검사는 트리의 </a:t>
            </a:r>
            <a:r>
              <a:rPr lang="ko-KR" altLang="ko-KR"/>
              <a:t>모든 노드</a:t>
            </a:r>
            <a:r>
              <a:rPr lang="ko-KR" altLang="en-US"/>
              <a:t>를</a:t>
            </a:r>
            <a:r>
              <a:rPr lang="ko-KR" altLang="ko-KR"/>
              <a:t> </a:t>
            </a:r>
            <a:r>
              <a:rPr lang="ko-KR" altLang="ko-KR" dirty="0"/>
              <a:t>방문해야 하므로 각각 </a:t>
            </a:r>
            <a:r>
              <a:rPr lang="en-US" altLang="ko-KR">
                <a:solidFill>
                  <a:srgbClr val="00B0F0"/>
                </a:solidFill>
              </a:rPr>
              <a:t>O(n) </a:t>
            </a:r>
            <a:r>
              <a:rPr lang="ko-KR" altLang="ko-KR">
                <a:solidFill>
                  <a:srgbClr val="00B0F0"/>
                </a:solidFill>
              </a:rPr>
              <a:t>시간</a:t>
            </a:r>
            <a:endParaRPr lang="ko-KR" altLang="ko-K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4124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8482" y="923983"/>
            <a:ext cx="7886700" cy="5056979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우선순위</a:t>
            </a:r>
            <a:r>
              <a:rPr lang="en-US" altLang="ko-KR"/>
              <a:t> </a:t>
            </a:r>
            <a:r>
              <a:rPr lang="ko-KR" altLang="ko-KR"/>
              <a:t>큐는 </a:t>
            </a:r>
            <a:r>
              <a:rPr lang="ko-KR" altLang="ko-KR" dirty="0"/>
              <a:t>가장 높은 우선순위를 가진 항목을 접근 또는 삭제하는 연산과 삽입 연산을 지원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ko-KR" altLang="ko-KR">
                <a:solidFill>
                  <a:srgbClr val="00B0F0"/>
                </a:solidFill>
              </a:rPr>
              <a:t>이진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힙</a:t>
            </a:r>
            <a:r>
              <a:rPr lang="ko-KR" altLang="ko-KR"/>
              <a:t>은 완전</a:t>
            </a:r>
            <a:r>
              <a:rPr lang="en-US" altLang="ko-KR"/>
              <a:t>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트리로서 </a:t>
            </a:r>
            <a:r>
              <a:rPr lang="ko-KR" altLang="ko-KR" dirty="0"/>
              <a:t>부모의 우선순위가 자식의 우선순위보다 높은 자료구조</a:t>
            </a:r>
            <a:endParaRPr lang="en-US" altLang="ko-KR" dirty="0"/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ko-KR" altLang="ko-KR"/>
              <a:t>파이썬은 우선순위</a:t>
            </a:r>
            <a:r>
              <a:rPr lang="en-US" altLang="ko-KR"/>
              <a:t> </a:t>
            </a:r>
            <a:r>
              <a:rPr lang="ko-KR" altLang="ko-KR"/>
              <a:t>큐를 위해</a:t>
            </a:r>
            <a:r>
              <a:rPr lang="ko-KR" altLang="ko-KR">
                <a:solidFill>
                  <a:srgbClr val="3333FF"/>
                </a:solidFill>
              </a:rPr>
              <a:t> </a:t>
            </a:r>
            <a:r>
              <a:rPr lang="en-US" altLang="ko-KR" b="0">
                <a:solidFill>
                  <a:srgbClr val="00B0F0"/>
                </a:solidFill>
                <a:latin typeface="Consolas" panose="020B0609020204030204" pitchFamily="49" charset="0"/>
              </a:rPr>
              <a:t>heapq</a:t>
            </a:r>
            <a:r>
              <a:rPr lang="ko-KR" altLang="ko-KR"/>
              <a:t>를 </a:t>
            </a:r>
            <a:r>
              <a:rPr lang="ko-KR" altLang="ko-KR" dirty="0"/>
              <a:t>라이브러리로 제공</a:t>
            </a:r>
          </a:p>
        </p:txBody>
      </p:sp>
    </p:spTree>
    <p:extLst>
      <p:ext uri="{BB962C8B-B14F-4D97-AF65-F5344CB8AC3E}">
        <p14:creationId xmlns:p14="http://schemas.microsoft.com/office/powerpoint/2010/main" val="30396028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992D1-DC07-49F5-924D-D04ACF389BC4}"/>
              </a:ext>
            </a:extLst>
          </p:cNvPr>
          <p:cNvSpPr txBox="1"/>
          <p:nvPr/>
        </p:nvSpPr>
        <p:spPr>
          <a:xfrm>
            <a:off x="3999345" y="2983346"/>
            <a:ext cx="748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끝</a:t>
            </a:r>
            <a:r>
              <a:rPr lang="en-US" altLang="ko-KR" sz="36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859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2500</TotalTime>
  <Words>3390</Words>
  <Application>Microsoft Office PowerPoint</Application>
  <PresentationFormat>화면 슬라이드 쇼(4:3)</PresentationFormat>
  <Paragraphs>526</Paragraphs>
  <Slides>90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90</vt:i4>
      </vt:variant>
    </vt:vector>
  </HeadingPairs>
  <TitlesOfParts>
    <vt:vector size="101" baseType="lpstr">
      <vt:lpstr>굴림</vt:lpstr>
      <vt:lpstr>맑은 고딕</vt:lpstr>
      <vt:lpstr>함초롬바탕</vt:lpstr>
      <vt:lpstr>Arial</vt:lpstr>
      <vt:lpstr>Calibri</vt:lpstr>
      <vt:lpstr>Cambria Math</vt:lpstr>
      <vt:lpstr>Consolas</vt:lpstr>
      <vt:lpstr>MT Extra</vt:lpstr>
      <vt:lpstr>Symbol</vt:lpstr>
      <vt:lpstr>Tahoma</vt:lpstr>
      <vt:lpstr>Office 테마</vt:lpstr>
      <vt:lpstr>PowerPoint 프레젠테이션</vt:lpstr>
      <vt:lpstr>목차</vt:lpstr>
      <vt:lpstr>트리</vt:lpstr>
      <vt:lpstr>응용</vt:lpstr>
      <vt:lpstr>4.1 트리</vt:lpstr>
      <vt:lpstr>용어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왼쪽 자식–오른쪽 형제(Left Child-Right Sibling) 표현</vt:lpstr>
      <vt:lpstr>PowerPoint 프레젠테이션</vt:lpstr>
      <vt:lpstr>4.2 이진 트리 (Binary Tree)</vt:lpstr>
      <vt:lpstr>PowerPoint 프레젠테이션</vt:lpstr>
      <vt:lpstr>PowerPoint 프레젠테이션</vt:lpstr>
      <vt:lpstr>이진 트리의 속성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4.3 이진 트리의 연산</vt:lpstr>
      <vt:lpstr>PowerPoint 프레젠테이션</vt:lpstr>
      <vt:lpstr>전위 순회</vt:lpstr>
      <vt:lpstr>PowerPoint 프레젠테이션</vt:lpstr>
      <vt:lpstr>PowerPoint 프레젠테이션</vt:lpstr>
      <vt:lpstr>중위 순회</vt:lpstr>
      <vt:lpstr>PowerPoint 프레젠테이션</vt:lpstr>
      <vt:lpstr>후위 순회</vt:lpstr>
      <vt:lpstr>PowerPoint 프레젠테이션</vt:lpstr>
      <vt:lpstr>레벨 순회</vt:lpstr>
      <vt:lpstr>PowerPoint 프레젠테이션</vt:lpstr>
      <vt:lpstr>트리의 노드 수</vt:lpstr>
      <vt:lpstr>PowerPoint 프레젠테이션</vt:lpstr>
      <vt:lpstr>수행 시간</vt:lpstr>
      <vt:lpstr>기타 이진 트리 연산</vt:lpstr>
      <vt:lpstr>트리의 높이</vt:lpstr>
      <vt:lpstr>PowerPoint 프레젠테이션</vt:lpstr>
      <vt:lpstr>이진 트리 비교</vt:lpstr>
      <vt:lpstr>스레드 이진 트리</vt:lpstr>
      <vt:lpstr>PowerPoint 프레젠테이션</vt:lpstr>
      <vt:lpstr>PowerPoint 프레젠테이션</vt:lpstr>
      <vt:lpstr>PowerPoint 프레젠테이션</vt:lpstr>
      <vt:lpstr>PowerPoint 프레젠테이션</vt:lpstr>
      <vt:lpstr>4.4 이진 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최솟값 삭제(delete_min)</vt:lpstr>
      <vt:lpstr>PowerPoint 프레젠테이션</vt:lpstr>
      <vt:lpstr>PowerPoint 프레젠테이션</vt:lpstr>
      <vt:lpstr>PowerPoint 프레젠테이션</vt:lpstr>
      <vt:lpstr>PowerPoint 프레젠테이션</vt:lpstr>
      <vt:lpstr>삽입 연산(insert)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수행 시간</vt:lpstr>
      <vt:lpstr>상향식 힙만들기의 수행 시간 분석</vt:lpstr>
      <vt:lpstr>PowerPoint 프레젠테이션</vt:lpstr>
      <vt:lpstr>PowerPoint 프레젠테이션</vt:lpstr>
      <vt:lpstr>응용</vt:lpstr>
      <vt:lpstr>요약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sbyang</dc:creator>
  <cp:lastModifiedBy>허봉식</cp:lastModifiedBy>
  <cp:revision>83</cp:revision>
  <dcterms:created xsi:type="dcterms:W3CDTF">2017-03-16T00:57:55Z</dcterms:created>
  <dcterms:modified xsi:type="dcterms:W3CDTF">2024-05-21T15:20:53Z</dcterms:modified>
</cp:coreProperties>
</file>