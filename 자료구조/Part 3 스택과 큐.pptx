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402" r:id="rId2"/>
    <p:sldId id="403" r:id="rId3"/>
    <p:sldId id="339" r:id="rId4"/>
    <p:sldId id="383" r:id="rId5"/>
    <p:sldId id="385" r:id="rId6"/>
    <p:sldId id="382" r:id="rId7"/>
    <p:sldId id="388" r:id="rId8"/>
    <p:sldId id="390" r:id="rId9"/>
    <p:sldId id="341" r:id="rId10"/>
    <p:sldId id="404" r:id="rId11"/>
    <p:sldId id="391" r:id="rId12"/>
    <p:sldId id="347" r:id="rId13"/>
    <p:sldId id="393" r:id="rId14"/>
    <p:sldId id="394" r:id="rId15"/>
    <p:sldId id="405" r:id="rId16"/>
    <p:sldId id="395" r:id="rId17"/>
    <p:sldId id="350" r:id="rId18"/>
    <p:sldId id="351" r:id="rId19"/>
    <p:sldId id="352" r:id="rId20"/>
    <p:sldId id="307" r:id="rId21"/>
    <p:sldId id="407" r:id="rId22"/>
    <p:sldId id="408" r:id="rId23"/>
    <p:sldId id="409" r:id="rId24"/>
    <p:sldId id="401" r:id="rId25"/>
    <p:sldId id="355" r:id="rId26"/>
    <p:sldId id="310" r:id="rId27"/>
    <p:sldId id="356" r:id="rId28"/>
    <p:sldId id="311" r:id="rId29"/>
    <p:sldId id="410" r:id="rId30"/>
    <p:sldId id="312" r:id="rId31"/>
    <p:sldId id="360" r:id="rId32"/>
    <p:sldId id="363" r:id="rId33"/>
    <p:sldId id="396" r:id="rId34"/>
    <p:sldId id="411" r:id="rId35"/>
    <p:sldId id="370" r:id="rId36"/>
    <p:sldId id="397" r:id="rId37"/>
    <p:sldId id="398" r:id="rId38"/>
    <p:sldId id="412" r:id="rId39"/>
    <p:sldId id="413" r:id="rId40"/>
    <p:sldId id="374" r:id="rId41"/>
    <p:sldId id="375" r:id="rId42"/>
    <p:sldId id="414" r:id="rId43"/>
    <p:sldId id="378" r:id="rId44"/>
    <p:sldId id="399" r:id="rId45"/>
    <p:sldId id="400" r:id="rId46"/>
    <p:sldId id="415" r:id="rId47"/>
    <p:sldId id="379" r:id="rId48"/>
    <p:sldId id="380" r:id="rId49"/>
    <p:sldId id="381" r:id="rId50"/>
    <p:sldId id="338" r:id="rId51"/>
    <p:sldId id="416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FCF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06812-A822-4ADE-93EC-4A5609009718}" type="datetimeFigureOut">
              <a:rPr lang="ko-KR" altLang="en-US" smtClean="0"/>
              <a:t>2024-05-10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1EFE5-BD75-4387-ADCE-2C31A4D1B6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49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C9A8C9-0BB7-4DEB-83F2-BCF1C5B6FB19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146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C9A8C9-0BB7-4DEB-83F2-BCF1C5B6FB19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06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C9A8C9-0BB7-4DEB-83F2-BCF1C5B6FB19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316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C9A8C9-0BB7-4DEB-83F2-BCF1C5B6FB19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4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62E3667-2BB2-4382-BE27-2B668CD813E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76BFD1A-8C02-4E18-AAB3-F166A1139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9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1807"/>
            <a:ext cx="7886700" cy="503554"/>
          </a:xfrm>
        </p:spPr>
        <p:txBody>
          <a:bodyPr>
            <a:noAutofit/>
          </a:bodyPr>
          <a:lstStyle>
            <a:lvl1pPr>
              <a:defRPr sz="3200">
                <a:solidFill>
                  <a:srgbClr val="C00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63316"/>
            <a:ext cx="7886700" cy="522892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54894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4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58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80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013" y="1773382"/>
            <a:ext cx="7886700" cy="4800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425433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715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C00000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1" kern="1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681FCD4-E609-4D09-934E-B48A4FC63E7E}"/>
              </a:ext>
            </a:extLst>
          </p:cNvPr>
          <p:cNvSpPr/>
          <p:nvPr/>
        </p:nvSpPr>
        <p:spPr>
          <a:xfrm>
            <a:off x="3259573" y="2613392"/>
            <a:ext cx="2291013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400"/>
              </a:spcAft>
            </a:pPr>
            <a:r>
              <a:rPr lang="en-US" altLang="ko-KR" sz="4000" b="1">
                <a:solidFill>
                  <a:srgbClr val="C00000"/>
                </a:solidFill>
                <a:latin typeface="Consolas" panose="020B0609020204030204" pitchFamily="49" charset="0"/>
                <a:ea typeface="함초롬바탕" panose="02030604000101010101" pitchFamily="18" charset="-127"/>
                <a:cs typeface="함초롬바탕" panose="02030604000101010101" pitchFamily="18" charset="-127"/>
              </a:rPr>
              <a:t>Part 3</a:t>
            </a:r>
          </a:p>
          <a:p>
            <a:pPr algn="ctr"/>
            <a:r>
              <a:rPr lang="ko-KR" altLang="en-US" sz="4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스택과 큐</a:t>
            </a:r>
            <a:endParaRPr lang="en-US" altLang="ko-KR" sz="4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9110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0092D-7730-4E7B-8CB8-E69BDC606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442" y="784958"/>
            <a:ext cx="7886700" cy="503554"/>
          </a:xfrm>
        </p:spPr>
        <p:txBody>
          <a:bodyPr/>
          <a:lstStyle/>
          <a:p>
            <a:r>
              <a:rPr lang="ko-KR" altLang="en-US"/>
              <a:t>목차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E09EE-855F-4D0D-92D5-81E3D7622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649" y="2141951"/>
            <a:ext cx="5837129" cy="25803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3.1 </a:t>
            </a:r>
            <a:r>
              <a:rPr lang="ko-KR" altLang="en-US" dirty="0" smtClean="0"/>
              <a:t>스택</a:t>
            </a:r>
            <a:r>
              <a:rPr lang="en-US" altLang="ko-KR" dirty="0" smtClean="0"/>
              <a:t>(stack)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3.2 </a:t>
            </a:r>
            <a:r>
              <a:rPr lang="ko-KR" altLang="en-US" dirty="0"/>
              <a:t>스택의 응용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3.3 </a:t>
            </a:r>
            <a:r>
              <a:rPr lang="ko-KR" altLang="en-US" dirty="0" smtClean="0"/>
              <a:t>큐</a:t>
            </a:r>
            <a:r>
              <a:rPr lang="en-US" altLang="ko-KR" dirty="0" smtClean="0"/>
              <a:t>(queue)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3.4 </a:t>
            </a:r>
            <a:r>
              <a:rPr lang="ko-KR" altLang="en-US" dirty="0" err="1" smtClean="0"/>
              <a:t>데크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deque</a:t>
            </a:r>
            <a:r>
              <a:rPr lang="en-US" altLang="ko-KR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4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814707"/>
            <a:ext cx="7886700" cy="503554"/>
          </a:xfrm>
        </p:spPr>
        <p:txBody>
          <a:bodyPr/>
          <a:lstStyle/>
          <a:p>
            <a:r>
              <a:rPr lang="en-US" altLang="ko-KR" sz="32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3.1 </a:t>
            </a:r>
            <a:r>
              <a:rPr lang="ko-KR" altLang="ko-KR" sz="32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스택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082800"/>
            <a:ext cx="7886700" cy="2971800"/>
          </a:xfrm>
        </p:spPr>
        <p:txBody>
          <a:bodyPr>
            <a:normAutofit/>
          </a:bodyPr>
          <a:lstStyle/>
          <a:p>
            <a:r>
              <a:rPr lang="ko-KR" altLang="ko-KR" sz="2400" dirty="0"/>
              <a:t>한 쪽 끝에서만 </a:t>
            </a:r>
            <a:r>
              <a:rPr lang="en-US" altLang="ko-KR" sz="2400" dirty="0"/>
              <a:t>item(</a:t>
            </a:r>
            <a:r>
              <a:rPr lang="ko-KR" altLang="ko-KR" sz="2400" dirty="0"/>
              <a:t>항목</a:t>
            </a:r>
            <a:r>
              <a:rPr lang="en-US" altLang="ko-KR" sz="2400" dirty="0"/>
              <a:t>)</a:t>
            </a:r>
            <a:r>
              <a:rPr lang="ko-KR" altLang="ko-KR" sz="2400" dirty="0"/>
              <a:t>을 삭제하거나 새로운 </a:t>
            </a:r>
            <a:r>
              <a:rPr lang="en-US" altLang="ko-KR" sz="2400" dirty="0"/>
              <a:t>item</a:t>
            </a:r>
            <a:r>
              <a:rPr lang="ko-KR" altLang="ko-KR" sz="2400"/>
              <a:t>을 </a:t>
            </a:r>
            <a:r>
              <a:rPr lang="ko-KR" altLang="en-US" sz="2400"/>
              <a:t>삽입</a:t>
            </a:r>
            <a:r>
              <a:rPr lang="ko-KR" altLang="ko-KR" sz="2400"/>
              <a:t>하는 </a:t>
            </a:r>
            <a:r>
              <a:rPr lang="ko-KR" altLang="ko-KR" sz="2400" dirty="0"/>
              <a:t>자료구조</a:t>
            </a:r>
            <a:endParaRPr lang="en-US" altLang="ko-KR" sz="2400" dirty="0"/>
          </a:p>
          <a:p>
            <a:r>
              <a:rPr lang="ko-KR" altLang="ko-KR" sz="2400" dirty="0"/>
              <a:t>새</a:t>
            </a:r>
            <a:r>
              <a:rPr lang="en-US" altLang="ko-KR" sz="2400" dirty="0"/>
              <a:t> item</a:t>
            </a:r>
            <a:r>
              <a:rPr lang="ko-KR" altLang="ko-KR" sz="2400" dirty="0"/>
              <a:t>을 저장하는 연산</a:t>
            </a:r>
            <a:r>
              <a:rPr lang="en-US" altLang="ko-KR" sz="2400" dirty="0"/>
              <a:t>:</a:t>
            </a:r>
            <a:r>
              <a:rPr lang="ko-KR" altLang="ko-KR" sz="2400" dirty="0"/>
              <a:t> </a:t>
            </a:r>
            <a:r>
              <a:rPr lang="en-US" altLang="ko-KR" sz="2400" dirty="0"/>
              <a:t>push</a:t>
            </a:r>
          </a:p>
          <a:p>
            <a:r>
              <a:rPr lang="en-US" altLang="ko-KR" sz="2400" dirty="0"/>
              <a:t>Top item</a:t>
            </a:r>
            <a:r>
              <a:rPr lang="ko-KR" altLang="ko-KR" sz="2400" dirty="0"/>
              <a:t>을 삭제하는 연산</a:t>
            </a:r>
            <a:r>
              <a:rPr lang="en-US" altLang="ko-KR" sz="2400" dirty="0"/>
              <a:t>:</a:t>
            </a:r>
            <a:r>
              <a:rPr lang="ko-KR" altLang="ko-KR" sz="2400" dirty="0"/>
              <a:t> </a:t>
            </a:r>
            <a:r>
              <a:rPr lang="en-US" altLang="ko-KR" sz="2400" dirty="0"/>
              <a:t>pop  </a:t>
            </a:r>
          </a:p>
          <a:p>
            <a:pPr>
              <a:buClr>
                <a:schemeClr val="tx1"/>
              </a:buClr>
            </a:pPr>
            <a:r>
              <a:rPr lang="ko-KR" altLang="en-US" sz="2400" dirty="0" err="1">
                <a:solidFill>
                  <a:srgbClr val="00B0F0"/>
                </a:solidFill>
              </a:rPr>
              <a:t>후</a:t>
            </a:r>
            <a:r>
              <a:rPr lang="ko-KR" altLang="ko-KR" sz="2400" dirty="0" err="1">
                <a:solidFill>
                  <a:srgbClr val="00B0F0"/>
                </a:solidFill>
              </a:rPr>
              <a:t>입</a:t>
            </a:r>
            <a:r>
              <a:rPr lang="ko-KR" altLang="ko-KR" sz="2400" dirty="0">
                <a:solidFill>
                  <a:srgbClr val="00B0F0"/>
                </a:solidFill>
              </a:rPr>
              <a:t> 선출</a:t>
            </a:r>
            <a:r>
              <a:rPr lang="en-US" altLang="ko-KR" sz="2400" dirty="0">
                <a:solidFill>
                  <a:srgbClr val="00B0F0"/>
                </a:solidFill>
              </a:rPr>
              <a:t>(Last-In First-Out, </a:t>
            </a:r>
            <a:r>
              <a:rPr lang="en-US" altLang="ko-KR" sz="2400">
                <a:solidFill>
                  <a:srgbClr val="00B0F0"/>
                </a:solidFill>
              </a:rPr>
              <a:t>LIFO)</a:t>
            </a:r>
            <a:endParaRPr lang="ko-KR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92743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02" y="1419992"/>
            <a:ext cx="4320000" cy="20340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41" y="1419992"/>
            <a:ext cx="4320000" cy="204891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02" y="4142912"/>
            <a:ext cx="4320000" cy="212154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90" y="4142912"/>
            <a:ext cx="4320000" cy="206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5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41" y="1465961"/>
            <a:ext cx="4320000" cy="213443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50" y="1539306"/>
            <a:ext cx="4320000" cy="206109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41" y="4171930"/>
            <a:ext cx="4320000" cy="209299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841" y="4171930"/>
            <a:ext cx="4320000" cy="207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33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곱셈 기호 195"/>
          <p:cNvSpPr/>
          <p:nvPr/>
        </p:nvSpPr>
        <p:spPr>
          <a:xfrm>
            <a:off x="6488813" y="6017686"/>
            <a:ext cx="432048" cy="56712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도넛 197"/>
          <p:cNvSpPr/>
          <p:nvPr/>
        </p:nvSpPr>
        <p:spPr>
          <a:xfrm>
            <a:off x="2830928" y="6121247"/>
            <a:ext cx="360000" cy="360000"/>
          </a:xfrm>
          <a:prstGeom prst="donut">
            <a:avLst/>
          </a:prstGeom>
          <a:solidFill>
            <a:srgbClr val="3333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883" y="854055"/>
            <a:ext cx="4320000" cy="219499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029" y="3510921"/>
            <a:ext cx="1599799" cy="245130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243" y="4466136"/>
            <a:ext cx="1663188" cy="54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1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60852" y="5276309"/>
            <a:ext cx="4677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그림</a:t>
            </a:r>
            <a:r>
              <a:rPr lang="ko-KR" alt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3-2] </a:t>
            </a:r>
            <a:r>
              <a:rPr lang="ko-KR" alt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스택의</a:t>
            </a:r>
            <a:r>
              <a:rPr lang="ko-KR" alt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push</a:t>
            </a:r>
            <a:r>
              <a:rPr lang="ko-KR" alt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와</a:t>
            </a:r>
            <a:r>
              <a:rPr lang="ko-KR" alt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pop </a:t>
            </a:r>
            <a:r>
              <a:rPr lang="ko-KR" alt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연산</a:t>
            </a:r>
            <a:endParaRPr 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9" y="2074607"/>
            <a:ext cx="900112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662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525113" y="1998638"/>
            <a:ext cx="443879" cy="1876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261956"/>
              </p:ext>
            </p:extLst>
          </p:nvPr>
        </p:nvGraphicFramePr>
        <p:xfrm>
          <a:off x="2900278" y="2276096"/>
          <a:ext cx="2112040" cy="5498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8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rgbClr val="AA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rgbClr val="AA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rgbClr val="AA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rgbClr val="AA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900277" y="1931832"/>
          <a:ext cx="21120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277" y="3091064"/>
            <a:ext cx="446400" cy="440889"/>
          </a:xfrm>
          <a:prstGeom prst="rect">
            <a:avLst/>
          </a:prstGeom>
          <a:ln>
            <a:noFill/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324" y="3360767"/>
            <a:ext cx="446400" cy="410161"/>
          </a:xfrm>
          <a:prstGeom prst="rect">
            <a:avLst/>
          </a:prstGeom>
          <a:ln>
            <a:noFill/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04" y="3336040"/>
            <a:ext cx="435782" cy="468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041" y="3042612"/>
            <a:ext cx="426511" cy="4680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60" y="1575947"/>
            <a:ext cx="1257300" cy="193357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888780" y="4581128"/>
            <a:ext cx="4440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그림</a:t>
            </a:r>
            <a:r>
              <a:rPr lang="ko-KR" alt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3-3] </a:t>
            </a:r>
            <a:r>
              <a:rPr lang="ko-KR" altLang="en-US" sz="2400">
                <a:ea typeface="Calibri" panose="020F0502020204030204" pitchFamily="34" charset="0"/>
                <a:cs typeface="Times New Roman" panose="02020603050405020304" pitchFamily="18" charset="0"/>
              </a:rPr>
              <a:t>리스트</a:t>
            </a:r>
            <a:r>
              <a:rPr lang="ko-KR" altLang="en-US" sz="240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로</a:t>
            </a:r>
            <a:r>
              <a:rPr lang="ko-KR" altLang="en-US" sz="240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sz="240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구현한</a:t>
            </a:r>
            <a:r>
              <a:rPr lang="ko-KR" altLang="en-US" sz="240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sz="24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스택</a:t>
            </a:r>
            <a:endParaRPr lang="en-US" sz="2400" dirty="0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3135888" y="2555463"/>
            <a:ext cx="0" cy="500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3692365" y="2551002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>
            <a:off x="4189592" y="2555463"/>
            <a:ext cx="0" cy="500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4747052" y="2551002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340437" y="1602412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7931064" y="2025214"/>
            <a:ext cx="443879" cy="1876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6306229" y="2302672"/>
          <a:ext cx="2112040" cy="5498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8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/>
        </p:nvGraphicFramePr>
        <p:xfrm>
          <a:off x="6306228" y="1958408"/>
          <a:ext cx="21120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6" name="그림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601" y="2370421"/>
            <a:ext cx="446400" cy="440889"/>
          </a:xfrm>
          <a:prstGeom prst="rect">
            <a:avLst/>
          </a:prstGeom>
          <a:ln>
            <a:noFill/>
          </a:ln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543" y="2380764"/>
            <a:ext cx="446400" cy="410161"/>
          </a:xfrm>
          <a:prstGeom prst="rect">
            <a:avLst/>
          </a:prstGeom>
          <a:ln>
            <a:noFill/>
          </a:ln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520" y="2351845"/>
            <a:ext cx="435782" cy="468000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821" y="2343578"/>
            <a:ext cx="426511" cy="4680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746388" y="1628988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2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</a:p>
        </p:txBody>
      </p:sp>
    </p:spTree>
    <p:extLst>
      <p:ext uri="{BB962C8B-B14F-4D97-AF65-F5344CB8AC3E}">
        <p14:creationId xmlns:p14="http://schemas.microsoft.com/office/powerpoint/2010/main" val="2167045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sz="2800" dirty="0"/>
              <a:t>리스트</a:t>
            </a:r>
            <a:r>
              <a:rPr lang="ko-KR" altLang="ko-KR" sz="2800" dirty="0"/>
              <a:t>로 구현한 </a:t>
            </a:r>
            <a:r>
              <a:rPr lang="ko-KR" altLang="en-US" sz="2800" dirty="0"/>
              <a:t>스택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643062"/>
            <a:ext cx="8379777" cy="399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44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8" y="713983"/>
            <a:ext cx="7891463" cy="4724232"/>
          </a:xfrm>
          <a:prstGeom prst="rect">
            <a:avLst/>
          </a:prstGeom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3101876" y="5860704"/>
            <a:ext cx="2283619" cy="6330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sz="2000" dirty="0">
                <a:solidFill>
                  <a:schemeClr val="tx1"/>
                </a:solidFill>
                <a:latin typeface="+mn-ea"/>
                <a:ea typeface="+mn-ea"/>
              </a:rPr>
              <a:t>프로그램 </a:t>
            </a:r>
            <a:r>
              <a:rPr lang="en-US" altLang="ko-KR" sz="2000" dirty="0">
                <a:solidFill>
                  <a:schemeClr val="tx1"/>
                </a:solidFill>
                <a:latin typeface="+mn-ea"/>
                <a:ea typeface="+mn-ea"/>
              </a:rPr>
              <a:t>3-1]</a:t>
            </a:r>
            <a:endParaRPr lang="ko-KR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5017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0831"/>
            <a:ext cx="9144000" cy="208241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134A036-074E-4BCF-8451-A6205CD454E0}"/>
              </a:ext>
            </a:extLst>
          </p:cNvPr>
          <p:cNvSpPr/>
          <p:nvPr/>
        </p:nvSpPr>
        <p:spPr>
          <a:xfrm>
            <a:off x="2791824" y="1133062"/>
            <a:ext cx="3127779" cy="5143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 수행 결과</a:t>
            </a:r>
            <a:endParaRPr kumimoji="1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E59C0B-7D09-46CC-9E51-66CCB5637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54" y="904427"/>
            <a:ext cx="792000" cy="74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30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sz="2800"/>
              <a:t>단순 연결 리스트</a:t>
            </a:r>
            <a:r>
              <a:rPr lang="en-US" altLang="ko-KR" sz="2800"/>
              <a:t> </a:t>
            </a:r>
            <a:r>
              <a:rPr lang="ko-KR" altLang="en-US" sz="2800" dirty="0"/>
              <a:t>스택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87" y="1401762"/>
            <a:ext cx="8719514" cy="474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88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87" y="444500"/>
            <a:ext cx="8742851" cy="28194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8" y="3302000"/>
            <a:ext cx="6674129" cy="323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856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639194"/>
            <a:ext cx="6845300" cy="4680977"/>
          </a:xfrm>
          <a:prstGeom prst="rect">
            <a:avLst/>
          </a:prstGeom>
        </p:spPr>
      </p:pic>
      <p:sp>
        <p:nvSpPr>
          <p:cNvPr id="4" name="제목 1"/>
          <p:cNvSpPr txBox="1">
            <a:spLocks/>
          </p:cNvSpPr>
          <p:nvPr/>
        </p:nvSpPr>
        <p:spPr>
          <a:xfrm>
            <a:off x="3470493" y="5585713"/>
            <a:ext cx="2025650" cy="6330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sz="2000" dirty="0">
                <a:solidFill>
                  <a:schemeClr val="tx1"/>
                </a:solidFill>
                <a:latin typeface="+mn-ea"/>
                <a:ea typeface="+mn-ea"/>
              </a:rPr>
              <a:t>프로그램 </a:t>
            </a:r>
            <a:r>
              <a:rPr lang="en-US" altLang="ko-KR" sz="2000" dirty="0">
                <a:solidFill>
                  <a:schemeClr val="tx1"/>
                </a:solidFill>
                <a:latin typeface="+mn-ea"/>
                <a:ea typeface="+mn-ea"/>
              </a:rPr>
              <a:t>3-2]</a:t>
            </a:r>
            <a:endParaRPr lang="ko-KR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4783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50" y="2949513"/>
            <a:ext cx="7096125" cy="159067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4A9043C-77F8-4AB2-B8AA-ACCFEBA92D36}"/>
              </a:ext>
            </a:extLst>
          </p:cNvPr>
          <p:cNvSpPr/>
          <p:nvPr/>
        </p:nvSpPr>
        <p:spPr>
          <a:xfrm>
            <a:off x="2791824" y="1133062"/>
            <a:ext cx="3127779" cy="5143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 수행 결과</a:t>
            </a:r>
            <a:endParaRPr kumimoji="1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FD699B-0993-4AE0-A8C1-5A9B6263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54" y="904427"/>
            <a:ext cx="792000" cy="74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38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776607"/>
            <a:ext cx="7886700" cy="503554"/>
          </a:xfrm>
        </p:spPr>
        <p:txBody>
          <a:bodyPr/>
          <a:lstStyle/>
          <a:p>
            <a:pPr algn="ctr"/>
            <a:r>
              <a:rPr lang="ko-KR" altLang="en-US"/>
              <a:t>수행 시간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727200"/>
            <a:ext cx="7886700" cy="47650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</a:pPr>
            <a:r>
              <a:rPr lang="ko-KR" altLang="ko-KR" sz="2400" dirty="0"/>
              <a:t>파이썬의 </a:t>
            </a:r>
            <a:r>
              <a:rPr lang="ko-KR" altLang="ko-KR" sz="2400" dirty="0">
                <a:solidFill>
                  <a:srgbClr val="00B0F0"/>
                </a:solidFill>
              </a:rPr>
              <a:t>리스트</a:t>
            </a:r>
            <a:r>
              <a:rPr lang="ko-KR" altLang="ko-KR" sz="2400" dirty="0"/>
              <a:t>로 구현한 스택의 </a:t>
            </a:r>
            <a:r>
              <a:rPr lang="en-US" altLang="ko-KR" sz="2400" dirty="0"/>
              <a:t>push</a:t>
            </a:r>
            <a:r>
              <a:rPr lang="ko-KR" altLang="ko-KR" sz="2400" dirty="0"/>
              <a:t>와</a:t>
            </a:r>
            <a:r>
              <a:rPr lang="en-US" altLang="ko-KR" sz="2400" dirty="0"/>
              <a:t> </a:t>
            </a:r>
            <a:r>
              <a:rPr lang="en-US" altLang="ko-KR" sz="2400"/>
              <a:t>pop </a:t>
            </a:r>
            <a:r>
              <a:rPr lang="ko-KR" altLang="ko-KR" sz="2400"/>
              <a:t>연산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ko-KR" altLang="ko-KR" sz="2400" dirty="0"/>
              <a:t>각각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O(1</a:t>
            </a:r>
            <a:r>
              <a:rPr lang="en-US" altLang="ko-KR" sz="2400">
                <a:solidFill>
                  <a:srgbClr val="00B0F0"/>
                </a:solidFill>
              </a:rPr>
              <a:t>) </a:t>
            </a:r>
            <a:r>
              <a:rPr lang="ko-KR" altLang="ko-KR" sz="2400">
                <a:solidFill>
                  <a:srgbClr val="00B0F0"/>
                </a:solidFill>
              </a:rPr>
              <a:t>시간</a:t>
            </a:r>
            <a:endParaRPr lang="en-US" altLang="ko-KR" sz="2400" dirty="0"/>
          </a:p>
          <a:p>
            <a:pPr marL="457200" lvl="1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ko-KR" dirty="0"/>
              <a:t>파이썬의 리스트는 크기가 </a:t>
            </a:r>
            <a:r>
              <a:rPr lang="ko-KR" altLang="ko-KR"/>
              <a:t>동적으로 확대</a:t>
            </a:r>
            <a:r>
              <a:rPr lang="en-US" altLang="ko-KR"/>
              <a:t>/</a:t>
            </a:r>
            <a:r>
              <a:rPr lang="ko-KR" altLang="ko-KR"/>
              <a:t>축소되며</a:t>
            </a:r>
            <a:r>
              <a:rPr lang="en-US" altLang="ko-KR"/>
              <a:t>, </a:t>
            </a:r>
            <a:r>
              <a:rPr lang="ko-KR" altLang="ko-KR"/>
              <a:t>크기 </a:t>
            </a:r>
            <a:r>
              <a:rPr lang="ko-KR" altLang="ko-KR" dirty="0"/>
              <a:t>조절은 스택</a:t>
            </a:r>
            <a:r>
              <a:rPr lang="en-US" altLang="ko-KR" dirty="0"/>
              <a:t>(</a:t>
            </a:r>
            <a:r>
              <a:rPr lang="ko-KR" altLang="ko-KR" dirty="0"/>
              <a:t>리스트</a:t>
            </a:r>
            <a:r>
              <a:rPr lang="en-US" altLang="ko-KR" dirty="0"/>
              <a:t>)</a:t>
            </a:r>
            <a:r>
              <a:rPr lang="ko-KR" altLang="ko-KR" dirty="0"/>
              <a:t>의 </a:t>
            </a:r>
            <a:r>
              <a:rPr lang="ko-KR" altLang="ko-KR"/>
              <a:t>모든 항목을 </a:t>
            </a:r>
            <a:r>
              <a:rPr lang="ko-KR" altLang="ko-KR" dirty="0"/>
              <a:t>새 리스트로 복사해야 하기 때문에</a:t>
            </a:r>
            <a:r>
              <a:rPr lang="en-US" altLang="ko-KR" dirty="0"/>
              <a:t> </a:t>
            </a:r>
            <a:r>
              <a:rPr lang="en-US" altLang="ko-KR">
                <a:solidFill>
                  <a:srgbClr val="00B0F0"/>
                </a:solidFill>
              </a:rPr>
              <a:t>O(n) </a:t>
            </a:r>
            <a:r>
              <a:rPr lang="ko-KR" altLang="ko-KR">
                <a:solidFill>
                  <a:srgbClr val="00B0F0"/>
                </a:solidFill>
              </a:rPr>
              <a:t>시간</a:t>
            </a:r>
            <a:r>
              <a:rPr lang="ko-KR" altLang="ko-KR"/>
              <a:t> </a:t>
            </a:r>
            <a:r>
              <a:rPr lang="ko-KR" altLang="ko-KR" dirty="0"/>
              <a:t>소요</a:t>
            </a:r>
            <a:endParaRPr lang="en-US" altLang="ko-KR" dirty="0"/>
          </a:p>
          <a:p>
            <a:pPr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</a:pPr>
            <a:r>
              <a:rPr lang="ko-KR" altLang="ko-KR" sz="2400">
                <a:solidFill>
                  <a:srgbClr val="00B0F0"/>
                </a:solidFill>
              </a:rPr>
              <a:t>단순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ko-KR" sz="2400">
                <a:solidFill>
                  <a:srgbClr val="00B0F0"/>
                </a:solidFill>
              </a:rPr>
              <a:t>연결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ko-KR" sz="2400">
                <a:solidFill>
                  <a:srgbClr val="00B0F0"/>
                </a:solidFill>
              </a:rPr>
              <a:t>리스트</a:t>
            </a:r>
            <a:r>
              <a:rPr lang="ko-KR" altLang="ko-KR" sz="2400"/>
              <a:t> </a:t>
            </a:r>
            <a:r>
              <a:rPr lang="ko-KR" altLang="ko-KR" sz="2400" dirty="0"/>
              <a:t>스택의 </a:t>
            </a:r>
            <a:r>
              <a:rPr lang="en-US" altLang="ko-KR" sz="2400" dirty="0"/>
              <a:t>push</a:t>
            </a:r>
            <a:r>
              <a:rPr lang="ko-KR" altLang="ko-KR" sz="2400" dirty="0"/>
              <a:t>와</a:t>
            </a:r>
            <a:r>
              <a:rPr lang="en-US" altLang="ko-KR" sz="2400" dirty="0"/>
              <a:t> </a:t>
            </a:r>
            <a:r>
              <a:rPr lang="en-US" altLang="ko-KR" sz="2400"/>
              <a:t>pop </a:t>
            </a:r>
            <a:r>
              <a:rPr lang="ko-KR" altLang="ko-KR" sz="2400"/>
              <a:t>연산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ko-KR" altLang="ko-KR" sz="2400" dirty="0"/>
              <a:t>각각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O(1) </a:t>
            </a:r>
            <a:r>
              <a:rPr lang="ko-KR" altLang="ko-KR" sz="2400" dirty="0">
                <a:solidFill>
                  <a:srgbClr val="00B0F0"/>
                </a:solidFill>
              </a:rPr>
              <a:t>시간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 marL="457200" lvl="1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ko-KR"/>
              <a:t>연결</a:t>
            </a:r>
            <a:r>
              <a:rPr lang="en-US" altLang="ko-KR"/>
              <a:t> </a:t>
            </a:r>
            <a:r>
              <a:rPr lang="ko-KR" altLang="ko-KR"/>
              <a:t>리스트의 </a:t>
            </a:r>
            <a:r>
              <a:rPr lang="ko-KR" altLang="ko-KR" dirty="0"/>
              <a:t>맨 앞 부분에서 노드를 삽입하거나 삭제하기 때문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6813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83697"/>
            <a:ext cx="7886700" cy="128229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ko-KR" sz="2400" dirty="0"/>
              <a:t>컴파일러의 괄호 짝 맞추기</a:t>
            </a:r>
            <a:endParaRPr lang="en-US" altLang="ko-KR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ko-KR" sz="2400" dirty="0"/>
              <a:t>회문</a:t>
            </a:r>
            <a:r>
              <a:rPr lang="en-US" altLang="ko-KR" sz="2400" dirty="0"/>
              <a:t>(Palindrome) </a:t>
            </a:r>
            <a:r>
              <a:rPr lang="ko-KR" altLang="ko-KR" sz="2400" dirty="0"/>
              <a:t>검사하기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endParaRPr lang="ko-KR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6580" y="530942"/>
            <a:ext cx="5279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3.2 </a:t>
            </a:r>
            <a:r>
              <a:rPr lang="ko-KR" altLang="en-US" sz="32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스택의 응용</a:t>
            </a:r>
          </a:p>
        </p:txBody>
      </p:sp>
    </p:spTree>
    <p:extLst>
      <p:ext uri="{BB962C8B-B14F-4D97-AF65-F5344CB8AC3E}">
        <p14:creationId xmlns:p14="http://schemas.microsoft.com/office/powerpoint/2010/main" val="2837272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6124" y="1481722"/>
            <a:ext cx="8064413" cy="9930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ko-KR" dirty="0"/>
              <a:t>컴파일러의 괄호 짝 맞추기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28787"/>
            <a:ext cx="7886700" cy="4390232"/>
          </a:xfrm>
        </p:spPr>
        <p:txBody>
          <a:bodyPr>
            <a:normAutofit/>
          </a:bodyPr>
          <a:lstStyle/>
          <a:p>
            <a:pPr marL="263525" indent="0">
              <a:lnSpc>
                <a:spcPct val="120000"/>
              </a:lnSpc>
              <a:spcAft>
                <a:spcPts val="2400"/>
              </a:spcAft>
              <a:buNone/>
            </a:pPr>
            <a:r>
              <a:rPr lang="en-US" altLang="ko-KR" dirty="0">
                <a:solidFill>
                  <a:srgbClr val="3333FF"/>
                </a:solidFill>
              </a:rPr>
              <a:t>[</a:t>
            </a:r>
            <a:r>
              <a:rPr lang="ko-KR" altLang="ko-KR" dirty="0">
                <a:solidFill>
                  <a:srgbClr val="3333FF"/>
                </a:solidFill>
              </a:rPr>
              <a:t>핵심 아이디어</a:t>
            </a:r>
            <a:r>
              <a:rPr lang="en-US" altLang="ko-KR" dirty="0">
                <a:solidFill>
                  <a:srgbClr val="3333FF"/>
                </a:solidFill>
              </a:rPr>
              <a:t>]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ko-KR" altLang="ko-KR" dirty="0">
                <a:solidFill>
                  <a:srgbClr val="7030A0"/>
                </a:solidFill>
              </a:rPr>
              <a:t>왼쪽 괄호는 스택에 </a:t>
            </a:r>
            <a:r>
              <a:rPr lang="en-US" altLang="ko-KR" dirty="0">
                <a:solidFill>
                  <a:srgbClr val="7030A0"/>
                </a:solidFill>
              </a:rPr>
              <a:t>push, </a:t>
            </a:r>
            <a:r>
              <a:rPr lang="ko-KR" altLang="ko-KR" dirty="0">
                <a:solidFill>
                  <a:srgbClr val="7030A0"/>
                </a:solidFill>
              </a:rPr>
              <a:t>오른쪽 괄호를 읽으면 </a:t>
            </a:r>
            <a:r>
              <a:rPr lang="en-US" altLang="ko-KR" dirty="0">
                <a:solidFill>
                  <a:srgbClr val="7030A0"/>
                </a:solidFill>
              </a:rPr>
              <a:t>pop</a:t>
            </a:r>
            <a:r>
              <a:rPr lang="ko-KR" altLang="ko-KR" dirty="0">
                <a:solidFill>
                  <a:srgbClr val="7030A0"/>
                </a:solidFill>
              </a:rPr>
              <a:t> 수행</a:t>
            </a:r>
            <a:endParaRPr lang="en-US" altLang="ko-KR" dirty="0">
              <a:solidFill>
                <a:srgbClr val="7030A0"/>
              </a:solidFill>
            </a:endParaRPr>
          </a:p>
          <a:p>
            <a:pPr>
              <a:spcAft>
                <a:spcPts val="2400"/>
              </a:spcAft>
            </a:pPr>
            <a:r>
              <a:rPr lang="en-US" altLang="ko-KR" sz="2400" dirty="0"/>
              <a:t>pop</a:t>
            </a:r>
            <a:r>
              <a:rPr lang="ko-KR" altLang="ko-KR" sz="2400" dirty="0"/>
              <a:t>된 왼쪽 괄호와 바로 읽었던 오른쪽 괄호가 </a:t>
            </a:r>
            <a:r>
              <a:rPr lang="ko-KR" altLang="ko-KR" sz="2400" u="sng" dirty="0"/>
              <a:t>다른 종류이면</a:t>
            </a:r>
            <a:r>
              <a:rPr lang="ko-KR" altLang="ko-KR" sz="2400" dirty="0"/>
              <a:t> 에러 처리</a:t>
            </a:r>
            <a:r>
              <a:rPr lang="en-US" altLang="ko-KR" sz="2400" dirty="0"/>
              <a:t>, </a:t>
            </a:r>
            <a:r>
              <a:rPr lang="ko-KR" altLang="ko-KR" sz="2400" dirty="0"/>
              <a:t>같은 종류이면 다음 괄호를 읽</a:t>
            </a:r>
            <a:r>
              <a:rPr lang="ko-KR" altLang="en-US" sz="2400" dirty="0"/>
              <a:t>음</a:t>
            </a:r>
            <a:r>
              <a:rPr lang="en-US" altLang="ko-KR" sz="2400" dirty="0"/>
              <a:t> </a:t>
            </a:r>
          </a:p>
          <a:p>
            <a:pPr>
              <a:spcAft>
                <a:spcPts val="2400"/>
              </a:spcAft>
            </a:pPr>
            <a:r>
              <a:rPr lang="ko-KR" altLang="ko-KR" sz="2400" dirty="0"/>
              <a:t>모든 괄호를 읽은 뒤 에러가 없고 스택이 </a:t>
            </a:r>
            <a:r>
              <a:rPr lang="en-US" altLang="ko-KR" sz="2400" dirty="0"/>
              <a:t>empty</a:t>
            </a:r>
            <a:r>
              <a:rPr lang="ko-KR" altLang="ko-KR" sz="2400" dirty="0"/>
              <a:t>이면</a:t>
            </a:r>
            <a:r>
              <a:rPr lang="en-US" altLang="ko-KR" sz="2400"/>
              <a:t>, </a:t>
            </a:r>
            <a:r>
              <a:rPr lang="ko-KR" altLang="ko-KR" sz="2400"/>
              <a:t>정상</a:t>
            </a:r>
            <a:endParaRPr lang="en-US" altLang="ko-KR" sz="2400" dirty="0"/>
          </a:p>
          <a:p>
            <a:pPr>
              <a:spcAft>
                <a:spcPts val="2400"/>
              </a:spcAft>
            </a:pPr>
            <a:r>
              <a:rPr lang="ko-KR" altLang="ko-KR" sz="2400"/>
              <a:t>모든 </a:t>
            </a:r>
            <a:r>
              <a:rPr lang="ko-KR" altLang="ko-KR" sz="2400" dirty="0"/>
              <a:t>괄호를 </a:t>
            </a:r>
            <a:r>
              <a:rPr lang="ko-KR" altLang="ko-KR" sz="2400"/>
              <a:t>처리한 후</a:t>
            </a:r>
            <a:r>
              <a:rPr lang="en-US" altLang="ko-KR" sz="2400"/>
              <a:t>,</a:t>
            </a:r>
            <a:r>
              <a:rPr lang="ko-KR" altLang="ko-KR" sz="2400"/>
              <a:t> </a:t>
            </a:r>
            <a:r>
              <a:rPr lang="ko-KR" altLang="ko-KR" sz="2400" dirty="0"/>
              <a:t>스택이 </a:t>
            </a:r>
            <a:r>
              <a:rPr lang="en-US" altLang="ko-KR" sz="2400" dirty="0"/>
              <a:t>empty</a:t>
            </a:r>
            <a:r>
              <a:rPr lang="ko-KR" altLang="ko-KR" sz="2400" dirty="0"/>
              <a:t>가 아니면 짝이 맞지 않는 괄호가 스택에 남은 것이므로 에러 처리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F9CCC8-397E-4C1F-B68C-5C7BF039C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7251"/>
            <a:ext cx="495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95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2" y="1512687"/>
            <a:ext cx="8758989" cy="38413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EF6CC64-ADF3-481B-AB9F-D52E71D227B8}"/>
              </a:ext>
            </a:extLst>
          </p:cNvPr>
          <p:cNvSpPr/>
          <p:nvPr/>
        </p:nvSpPr>
        <p:spPr>
          <a:xfrm>
            <a:off x="259618" y="549639"/>
            <a:ext cx="68708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예제</a:t>
            </a:r>
            <a:r>
              <a:rPr kumimoji="1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1] </a:t>
            </a:r>
            <a:r>
              <a:rPr kumimoji="1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괄호 짝 맞추기</a:t>
            </a:r>
            <a:endParaRPr kumimoji="1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188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80476" y="2054040"/>
            <a:ext cx="5142576" cy="559164"/>
            <a:chOff x="323528" y="764704"/>
            <a:chExt cx="5142576" cy="559164"/>
          </a:xfrm>
        </p:grpSpPr>
        <p:sp>
          <p:nvSpPr>
            <p:cNvPr id="110" name="직사각형 109"/>
            <p:cNvSpPr/>
            <p:nvPr/>
          </p:nvSpPr>
          <p:spPr>
            <a:xfrm>
              <a:off x="4176008" y="783868"/>
              <a:ext cx="468000" cy="540000"/>
            </a:xfrm>
            <a:prstGeom prst="rect">
              <a:avLst/>
            </a:prstGeom>
            <a:solidFill>
              <a:srgbClr val="FFCC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3626264" y="783868"/>
              <a:ext cx="468000" cy="540000"/>
            </a:xfrm>
            <a:prstGeom prst="rect">
              <a:avLst/>
            </a:prstGeom>
            <a:solidFill>
              <a:srgbClr val="99FFCC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1718104" y="783868"/>
              <a:ext cx="468000" cy="540000"/>
            </a:xfrm>
            <a:prstGeom prst="rect">
              <a:avLst/>
            </a:prstGeom>
            <a:solidFill>
              <a:srgbClr val="CCFF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4814448" y="783868"/>
              <a:ext cx="468000" cy="540000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2942240" y="783868"/>
              <a:ext cx="468000" cy="540000"/>
            </a:xfrm>
            <a:prstGeom prst="rect">
              <a:avLst/>
            </a:prstGeom>
            <a:solidFill>
              <a:srgbClr val="99FFCC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366176" y="783868"/>
              <a:ext cx="468000" cy="540000"/>
            </a:xfrm>
            <a:prstGeom prst="rect">
              <a:avLst/>
            </a:prstGeom>
            <a:solidFill>
              <a:srgbClr val="FFCC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926016" y="783868"/>
              <a:ext cx="468000" cy="540000"/>
            </a:xfrm>
            <a:prstGeom prst="rect">
              <a:avLst/>
            </a:prstGeom>
            <a:solidFill>
              <a:srgbClr val="CCFF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23528" y="783868"/>
              <a:ext cx="468000" cy="540000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21506" name="Text Box 2"/>
            <p:cNvSpPr txBox="1">
              <a:spLocks noChangeArrowheads="1"/>
            </p:cNvSpPr>
            <p:nvPr/>
          </p:nvSpPr>
          <p:spPr bwMode="auto">
            <a:xfrm>
              <a:off x="376249" y="764704"/>
              <a:ext cx="508985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 (      )    {    (     )    )    }</a:t>
              </a:r>
              <a:r>
                <a:rPr kumimoji="1" lang="en-US" altLang="zh-TW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 </a:t>
              </a: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971704" y="4842678"/>
            <a:ext cx="468000" cy="559164"/>
            <a:chOff x="755576" y="1573692"/>
            <a:chExt cx="468000" cy="559164"/>
          </a:xfrm>
        </p:grpSpPr>
        <p:sp>
          <p:nvSpPr>
            <p:cNvPr id="40" name="직사각형 39"/>
            <p:cNvSpPr/>
            <p:nvPr/>
          </p:nvSpPr>
          <p:spPr>
            <a:xfrm>
              <a:off x="755576" y="1592856"/>
              <a:ext cx="468000" cy="540000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41" name="Text Box 2"/>
            <p:cNvSpPr txBox="1">
              <a:spLocks noChangeArrowheads="1"/>
            </p:cNvSpPr>
            <p:nvPr/>
          </p:nvSpPr>
          <p:spPr bwMode="auto">
            <a:xfrm>
              <a:off x="808297" y="157369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1907808" y="4293096"/>
            <a:ext cx="549767" cy="576064"/>
            <a:chOff x="1357937" y="2708920"/>
            <a:chExt cx="549767" cy="576064"/>
          </a:xfrm>
        </p:grpSpPr>
        <p:sp>
          <p:nvSpPr>
            <p:cNvPr id="44" name="직사각형 43"/>
            <p:cNvSpPr/>
            <p:nvPr/>
          </p:nvSpPr>
          <p:spPr>
            <a:xfrm>
              <a:off x="1405000" y="2744984"/>
              <a:ext cx="468000" cy="540000"/>
            </a:xfrm>
            <a:prstGeom prst="rect">
              <a:avLst/>
            </a:prstGeom>
            <a:solidFill>
              <a:srgbClr val="CCFF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46" name="Text Box 2"/>
            <p:cNvSpPr txBox="1">
              <a:spLocks noChangeArrowheads="1"/>
            </p:cNvSpPr>
            <p:nvPr/>
          </p:nvSpPr>
          <p:spPr bwMode="auto">
            <a:xfrm>
              <a:off x="1357937" y="2708920"/>
              <a:ext cx="54976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 ( 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4212064" y="4293096"/>
            <a:ext cx="478880" cy="559164"/>
            <a:chOff x="791632" y="3733932"/>
            <a:chExt cx="478880" cy="559164"/>
          </a:xfrm>
        </p:grpSpPr>
        <p:sp>
          <p:nvSpPr>
            <p:cNvPr id="48" name="직사각형 47"/>
            <p:cNvSpPr/>
            <p:nvPr/>
          </p:nvSpPr>
          <p:spPr>
            <a:xfrm>
              <a:off x="791632" y="3753096"/>
              <a:ext cx="468000" cy="540000"/>
            </a:xfrm>
            <a:prstGeom prst="rect">
              <a:avLst/>
            </a:prstGeom>
            <a:solidFill>
              <a:srgbClr val="FFCC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51" name="Text Box 2"/>
            <p:cNvSpPr txBox="1">
              <a:spLocks noChangeArrowheads="1"/>
            </p:cNvSpPr>
            <p:nvPr/>
          </p:nvSpPr>
          <p:spPr bwMode="auto">
            <a:xfrm>
              <a:off x="855233" y="373393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5364192" y="3740560"/>
            <a:ext cx="549767" cy="570340"/>
            <a:chOff x="2230674" y="2714644"/>
            <a:chExt cx="549767" cy="570340"/>
          </a:xfrm>
        </p:grpSpPr>
        <p:sp>
          <p:nvSpPr>
            <p:cNvPr id="57" name="직사각형 56"/>
            <p:cNvSpPr/>
            <p:nvPr/>
          </p:nvSpPr>
          <p:spPr>
            <a:xfrm>
              <a:off x="2269096" y="2744984"/>
              <a:ext cx="468000" cy="540000"/>
            </a:xfrm>
            <a:prstGeom prst="rect">
              <a:avLst/>
            </a:prstGeom>
            <a:solidFill>
              <a:srgbClr val="99FFCC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58" name="Text Box 2"/>
            <p:cNvSpPr txBox="1">
              <a:spLocks noChangeArrowheads="1"/>
            </p:cNvSpPr>
            <p:nvPr/>
          </p:nvSpPr>
          <p:spPr bwMode="auto">
            <a:xfrm>
              <a:off x="2230674" y="2714644"/>
              <a:ext cx="54976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 ( 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1953519" y="4855384"/>
            <a:ext cx="468000" cy="559164"/>
            <a:chOff x="755576" y="1573692"/>
            <a:chExt cx="468000" cy="559164"/>
          </a:xfrm>
        </p:grpSpPr>
        <p:sp>
          <p:nvSpPr>
            <p:cNvPr id="64" name="직사각형 63"/>
            <p:cNvSpPr/>
            <p:nvPr/>
          </p:nvSpPr>
          <p:spPr>
            <a:xfrm>
              <a:off x="755576" y="1592856"/>
              <a:ext cx="468000" cy="540000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65" name="Text Box 2"/>
            <p:cNvSpPr txBox="1">
              <a:spLocks noChangeArrowheads="1"/>
            </p:cNvSpPr>
            <p:nvPr/>
          </p:nvSpPr>
          <p:spPr bwMode="auto">
            <a:xfrm>
              <a:off x="808297" y="157369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3059936" y="4853942"/>
            <a:ext cx="468000" cy="559164"/>
            <a:chOff x="755576" y="1573692"/>
            <a:chExt cx="468000" cy="559164"/>
          </a:xfrm>
        </p:grpSpPr>
        <p:sp>
          <p:nvSpPr>
            <p:cNvPr id="67" name="직사각형 66"/>
            <p:cNvSpPr/>
            <p:nvPr/>
          </p:nvSpPr>
          <p:spPr>
            <a:xfrm>
              <a:off x="755576" y="1592856"/>
              <a:ext cx="468000" cy="540000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79" name="Text Box 2"/>
            <p:cNvSpPr txBox="1">
              <a:spLocks noChangeArrowheads="1"/>
            </p:cNvSpPr>
            <p:nvPr/>
          </p:nvSpPr>
          <p:spPr bwMode="auto">
            <a:xfrm>
              <a:off x="808297" y="157369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4217504" y="4842678"/>
            <a:ext cx="468000" cy="559164"/>
            <a:chOff x="755576" y="1573692"/>
            <a:chExt cx="468000" cy="559164"/>
          </a:xfrm>
        </p:grpSpPr>
        <p:sp>
          <p:nvSpPr>
            <p:cNvPr id="81" name="직사각형 80"/>
            <p:cNvSpPr/>
            <p:nvPr/>
          </p:nvSpPr>
          <p:spPr>
            <a:xfrm>
              <a:off x="755576" y="1592856"/>
              <a:ext cx="468000" cy="540000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82" name="Text Box 2"/>
            <p:cNvSpPr txBox="1">
              <a:spLocks noChangeArrowheads="1"/>
            </p:cNvSpPr>
            <p:nvPr/>
          </p:nvSpPr>
          <p:spPr bwMode="auto">
            <a:xfrm>
              <a:off x="808297" y="157369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8028384" y="4850116"/>
            <a:ext cx="468000" cy="559164"/>
            <a:chOff x="755576" y="1573692"/>
            <a:chExt cx="468000" cy="559164"/>
          </a:xfrm>
        </p:grpSpPr>
        <p:sp>
          <p:nvSpPr>
            <p:cNvPr id="90" name="직사각형 89"/>
            <p:cNvSpPr/>
            <p:nvPr/>
          </p:nvSpPr>
          <p:spPr>
            <a:xfrm>
              <a:off x="755576" y="1592856"/>
              <a:ext cx="468000" cy="540000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91" name="Text Box 2"/>
            <p:cNvSpPr txBox="1">
              <a:spLocks noChangeArrowheads="1"/>
            </p:cNvSpPr>
            <p:nvPr/>
          </p:nvSpPr>
          <p:spPr bwMode="auto">
            <a:xfrm>
              <a:off x="808297" y="157369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95" name="그룹 94"/>
          <p:cNvGrpSpPr/>
          <p:nvPr/>
        </p:nvGrpSpPr>
        <p:grpSpPr>
          <a:xfrm>
            <a:off x="5405076" y="4300254"/>
            <a:ext cx="478880" cy="559164"/>
            <a:chOff x="791632" y="3733932"/>
            <a:chExt cx="478880" cy="559164"/>
          </a:xfrm>
        </p:grpSpPr>
        <p:sp>
          <p:nvSpPr>
            <p:cNvPr id="96" name="직사각형 95"/>
            <p:cNvSpPr/>
            <p:nvPr/>
          </p:nvSpPr>
          <p:spPr>
            <a:xfrm>
              <a:off x="791632" y="3753096"/>
              <a:ext cx="468000" cy="540000"/>
            </a:xfrm>
            <a:prstGeom prst="rect">
              <a:avLst/>
            </a:prstGeom>
            <a:solidFill>
              <a:srgbClr val="FFCC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97" name="Text Box 2"/>
            <p:cNvSpPr txBox="1">
              <a:spLocks noChangeArrowheads="1"/>
            </p:cNvSpPr>
            <p:nvPr/>
          </p:nvSpPr>
          <p:spPr bwMode="auto">
            <a:xfrm>
              <a:off x="855233" y="373393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98" name="그룹 97"/>
          <p:cNvGrpSpPr/>
          <p:nvPr/>
        </p:nvGrpSpPr>
        <p:grpSpPr>
          <a:xfrm>
            <a:off x="5406757" y="4842678"/>
            <a:ext cx="468000" cy="559164"/>
            <a:chOff x="755576" y="1573692"/>
            <a:chExt cx="468000" cy="559164"/>
          </a:xfrm>
        </p:grpSpPr>
        <p:sp>
          <p:nvSpPr>
            <p:cNvPr id="99" name="직사각형 98"/>
            <p:cNvSpPr/>
            <p:nvPr/>
          </p:nvSpPr>
          <p:spPr>
            <a:xfrm>
              <a:off x="755576" y="1592856"/>
              <a:ext cx="468000" cy="540000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100" name="Text Box 2"/>
            <p:cNvSpPr txBox="1">
              <a:spLocks noChangeArrowheads="1"/>
            </p:cNvSpPr>
            <p:nvPr/>
          </p:nvSpPr>
          <p:spPr bwMode="auto">
            <a:xfrm>
              <a:off x="808297" y="157369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6687653" y="4300254"/>
            <a:ext cx="478880" cy="559164"/>
            <a:chOff x="791632" y="3733932"/>
            <a:chExt cx="478880" cy="559164"/>
          </a:xfrm>
        </p:grpSpPr>
        <p:sp>
          <p:nvSpPr>
            <p:cNvPr id="102" name="직사각형 101"/>
            <p:cNvSpPr/>
            <p:nvPr/>
          </p:nvSpPr>
          <p:spPr>
            <a:xfrm>
              <a:off x="791632" y="3753096"/>
              <a:ext cx="468000" cy="540000"/>
            </a:xfrm>
            <a:prstGeom prst="rect">
              <a:avLst/>
            </a:prstGeom>
            <a:solidFill>
              <a:srgbClr val="FFCC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103" name="Text Box 2"/>
            <p:cNvSpPr txBox="1">
              <a:spLocks noChangeArrowheads="1"/>
            </p:cNvSpPr>
            <p:nvPr/>
          </p:nvSpPr>
          <p:spPr bwMode="auto">
            <a:xfrm>
              <a:off x="855233" y="373393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6686696" y="4842678"/>
            <a:ext cx="468000" cy="559164"/>
            <a:chOff x="755576" y="1573692"/>
            <a:chExt cx="468000" cy="559164"/>
          </a:xfrm>
        </p:grpSpPr>
        <p:sp>
          <p:nvSpPr>
            <p:cNvPr id="105" name="직사각형 104"/>
            <p:cNvSpPr/>
            <p:nvPr/>
          </p:nvSpPr>
          <p:spPr>
            <a:xfrm>
              <a:off x="755576" y="1592856"/>
              <a:ext cx="468000" cy="540000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106" name="Text Box 2"/>
            <p:cNvSpPr txBox="1">
              <a:spLocks noChangeArrowheads="1"/>
            </p:cNvSpPr>
            <p:nvPr/>
          </p:nvSpPr>
          <p:spPr bwMode="auto">
            <a:xfrm>
              <a:off x="808297" y="157369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cxnSp>
        <p:nvCxnSpPr>
          <p:cNvPr id="19" name="직선 연결선 18"/>
          <p:cNvCxnSpPr/>
          <p:nvPr/>
        </p:nvCxnSpPr>
        <p:spPr>
          <a:xfrm>
            <a:off x="108064" y="5409280"/>
            <a:ext cx="8820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V="1">
            <a:off x="971704" y="5401842"/>
            <a:ext cx="468000" cy="0"/>
          </a:xfrm>
          <a:prstGeom prst="line">
            <a:avLst/>
          </a:prstGeom>
          <a:ln w="5715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 flipV="1">
            <a:off x="-36512" y="5409280"/>
            <a:ext cx="468000" cy="0"/>
          </a:xfrm>
          <a:prstGeom prst="line">
            <a:avLst/>
          </a:prstGeom>
          <a:ln w="5715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/>
        </p:nvCxnSpPr>
        <p:spPr>
          <a:xfrm flipV="1">
            <a:off x="3059936" y="5397696"/>
            <a:ext cx="468000" cy="0"/>
          </a:xfrm>
          <a:prstGeom prst="line">
            <a:avLst/>
          </a:prstGeom>
          <a:ln w="5715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 flipV="1">
            <a:off x="1953519" y="5397696"/>
            <a:ext cx="468000" cy="0"/>
          </a:xfrm>
          <a:prstGeom prst="line">
            <a:avLst/>
          </a:prstGeom>
          <a:ln w="5715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 flipV="1">
            <a:off x="5402614" y="5409280"/>
            <a:ext cx="468000" cy="0"/>
          </a:xfrm>
          <a:prstGeom prst="line">
            <a:avLst/>
          </a:prstGeom>
          <a:ln w="5715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V="1">
            <a:off x="4212064" y="5409280"/>
            <a:ext cx="468000" cy="0"/>
          </a:xfrm>
          <a:prstGeom prst="line">
            <a:avLst/>
          </a:prstGeom>
          <a:ln w="5715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/>
          <p:nvPr/>
        </p:nvCxnSpPr>
        <p:spPr>
          <a:xfrm flipV="1">
            <a:off x="6686696" y="5409280"/>
            <a:ext cx="468000" cy="0"/>
          </a:xfrm>
          <a:prstGeom prst="line">
            <a:avLst/>
          </a:prstGeom>
          <a:ln w="5715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 flipV="1">
            <a:off x="8028384" y="5409280"/>
            <a:ext cx="468000" cy="0"/>
          </a:xfrm>
          <a:prstGeom prst="line">
            <a:avLst/>
          </a:prstGeom>
          <a:ln w="5715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/>
          <p:cNvGrpSpPr/>
          <p:nvPr/>
        </p:nvGrpSpPr>
        <p:grpSpPr>
          <a:xfrm>
            <a:off x="7668344" y="4030254"/>
            <a:ext cx="478880" cy="559164"/>
            <a:chOff x="791632" y="3733932"/>
            <a:chExt cx="478880" cy="559164"/>
          </a:xfrm>
        </p:grpSpPr>
        <p:sp>
          <p:nvSpPr>
            <p:cNvPr id="61" name="직사각형 60"/>
            <p:cNvSpPr/>
            <p:nvPr/>
          </p:nvSpPr>
          <p:spPr>
            <a:xfrm>
              <a:off x="791632" y="3753096"/>
              <a:ext cx="468000" cy="540000"/>
            </a:xfrm>
            <a:prstGeom prst="rect">
              <a:avLst/>
            </a:prstGeom>
            <a:solidFill>
              <a:srgbClr val="FFCC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62" name="Text Box 2"/>
            <p:cNvSpPr txBox="1">
              <a:spLocks noChangeArrowheads="1"/>
            </p:cNvSpPr>
            <p:nvPr/>
          </p:nvSpPr>
          <p:spPr bwMode="auto">
            <a:xfrm>
              <a:off x="855233" y="3733932"/>
              <a:ext cx="4152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{ 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424" y="4009855"/>
            <a:ext cx="571500" cy="619125"/>
          </a:xfrm>
          <a:prstGeom prst="rect">
            <a:avLst/>
          </a:prstGeom>
        </p:spPr>
      </p:pic>
      <p:sp>
        <p:nvSpPr>
          <p:cNvPr id="68" name="직사각형 67"/>
          <p:cNvSpPr/>
          <p:nvPr/>
        </p:nvSpPr>
        <p:spPr>
          <a:xfrm>
            <a:off x="2890179" y="5517232"/>
            <a:ext cx="7457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pop()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588224" y="5517232"/>
            <a:ext cx="7457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pop()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7858731" y="5546543"/>
            <a:ext cx="7457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pop()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755576" y="5549170"/>
            <a:ext cx="9268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push(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{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)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691680" y="5543051"/>
            <a:ext cx="9252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push(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(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)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3995936" y="5530003"/>
            <a:ext cx="9268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push(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{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)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5230923" y="5517232"/>
            <a:ext cx="9252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push(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(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)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92804" y="1470459"/>
            <a:ext cx="52442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  <a:sym typeface="Wingdings 2" panose="05020102010507070707" pitchFamily="18" charset="2"/>
              </a:rPr>
              <a:t>                   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09258" y="4886060"/>
            <a:ext cx="625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  <a:sym typeface="Wingdings 2" panose="05020102010507070707" pitchFamily="18" charset="2"/>
              </a:rPr>
              <a:t> </a:t>
            </a: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1533272" y="4359981"/>
            <a:ext cx="3980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  <a:sym typeface="Wingdings 2" panose="05020102010507070707" pitchFamily="18" charset="2"/>
              </a:rPr>
              <a:t>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  <a:cs typeface="+mn-cs"/>
              <a:sym typeface="Symbol" panose="05050102010706020507" pitchFamily="18" charset="2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12657" y="3188295"/>
            <a:ext cx="505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  <a:sym typeface="Wingdings 2" panose="05020102010507070707" pitchFamily="18" charset="2"/>
              </a:rPr>
              <a:t></a:t>
            </a: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3078577" y="3554031"/>
            <a:ext cx="6190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</a:t>
            </a:r>
            <a:endParaRPr kumimoji="1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2627784" y="3573621"/>
            <a:ext cx="549767" cy="576064"/>
            <a:chOff x="1357937" y="2708920"/>
            <a:chExt cx="549767" cy="576064"/>
          </a:xfrm>
        </p:grpSpPr>
        <p:sp>
          <p:nvSpPr>
            <p:cNvPr id="84" name="직사각형 83"/>
            <p:cNvSpPr/>
            <p:nvPr/>
          </p:nvSpPr>
          <p:spPr>
            <a:xfrm>
              <a:off x="1405000" y="2744984"/>
              <a:ext cx="468000" cy="540000"/>
            </a:xfrm>
            <a:prstGeom prst="rect">
              <a:avLst/>
            </a:prstGeom>
            <a:solidFill>
              <a:srgbClr val="CCFF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85" name="Text Box 2"/>
            <p:cNvSpPr txBox="1">
              <a:spLocks noChangeArrowheads="1"/>
            </p:cNvSpPr>
            <p:nvPr/>
          </p:nvSpPr>
          <p:spPr bwMode="auto">
            <a:xfrm>
              <a:off x="1357937" y="2708920"/>
              <a:ext cx="54976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 ( 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3563888" y="3573621"/>
            <a:ext cx="549767" cy="576064"/>
            <a:chOff x="1357937" y="2708920"/>
            <a:chExt cx="549767" cy="576064"/>
          </a:xfrm>
        </p:grpSpPr>
        <p:sp>
          <p:nvSpPr>
            <p:cNvPr id="87" name="직사각형 86"/>
            <p:cNvSpPr/>
            <p:nvPr/>
          </p:nvSpPr>
          <p:spPr>
            <a:xfrm>
              <a:off x="1405000" y="2744984"/>
              <a:ext cx="468000" cy="540000"/>
            </a:xfrm>
            <a:prstGeom prst="rect">
              <a:avLst/>
            </a:prstGeom>
            <a:solidFill>
              <a:srgbClr val="CCFFFF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  <p:sp>
          <p:nvSpPr>
            <p:cNvPr id="88" name="Text Box 2"/>
            <p:cNvSpPr txBox="1">
              <a:spLocks noChangeArrowheads="1"/>
            </p:cNvSpPr>
            <p:nvPr/>
          </p:nvSpPr>
          <p:spPr bwMode="auto">
            <a:xfrm>
              <a:off x="1357937" y="2708920"/>
              <a:ext cx="54976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49263" indent="-44926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맑은 고딕" panose="020B0503020000020004" pitchFamily="50" charset="-127"/>
                </a:defRPr>
              </a:lvl9pPr>
            </a:lstStyle>
            <a:p>
              <a:pPr marL="449263" marR="0" lvl="0" indent="-4492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FF"/>
                </a:buClr>
                <a:buSzPct val="11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新細明體" panose="02020500000000000000" pitchFamily="18" charset="-120"/>
                  <a:cs typeface="Tahoma" panose="020B0604030504040204" pitchFamily="34" charset="0"/>
                </a:rPr>
                <a:t> )    </a:t>
              </a:r>
              <a:endPara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739848" y="4347043"/>
            <a:ext cx="50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  <a:sym typeface="Wingdings 2" panose="05020102010507070707" pitchFamily="18" charset="2"/>
              </a:rPr>
              <a:t></a:t>
            </a: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971022" y="3758532"/>
            <a:ext cx="4950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  <a:sym typeface="Wingdings 2" panose="05020102010507070707" pitchFamily="18" charset="2"/>
              </a:rPr>
              <a:t></a:t>
            </a: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619842" y="2699078"/>
            <a:ext cx="50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  <a:sym typeface="Wingdings 2" panose="05020102010507070707" pitchFamily="18" charset="2"/>
              </a:rPr>
              <a:t></a:t>
            </a: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041486" y="3679857"/>
            <a:ext cx="50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  <a:sym typeface="Wingdings 2" panose="05020102010507070707" pitchFamily="18" charset="2"/>
              </a:rPr>
              <a:t></a:t>
            </a: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6582854" y="3126979"/>
            <a:ext cx="6190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</a:t>
            </a:r>
            <a:endParaRPr kumimoji="1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6179124" y="3182633"/>
            <a:ext cx="468000" cy="540000"/>
          </a:xfrm>
          <a:prstGeom prst="rect">
            <a:avLst/>
          </a:prstGeom>
          <a:solidFill>
            <a:srgbClr val="99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맑은 고딕"/>
              <a:cs typeface="+mn-cs"/>
            </a:endParaRPr>
          </a:p>
        </p:txBody>
      </p:sp>
      <p:sp>
        <p:nvSpPr>
          <p:cNvPr id="122" name="Text Box 2"/>
          <p:cNvSpPr txBox="1">
            <a:spLocks noChangeArrowheads="1"/>
          </p:cNvSpPr>
          <p:nvPr/>
        </p:nvSpPr>
        <p:spPr bwMode="auto">
          <a:xfrm>
            <a:off x="6132061" y="3146569"/>
            <a:ext cx="549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9263" indent="-4492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9pPr>
          </a:lstStyle>
          <a:p>
            <a:pPr marL="449263" marR="0" lvl="0" indent="-4492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rPr>
              <a:t> (    </a:t>
            </a:r>
            <a:endParaRPr kumimoji="1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新細明體" panose="02020500000000000000" pitchFamily="18" charset="-120"/>
              <a:cs typeface="Tahoma" panose="020B0604030504040204" pitchFamily="34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7115228" y="3182633"/>
            <a:ext cx="468000" cy="540000"/>
          </a:xfrm>
          <a:prstGeom prst="rect">
            <a:avLst/>
          </a:prstGeom>
          <a:solidFill>
            <a:srgbClr val="99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맑은 고딕"/>
              <a:cs typeface="+mn-cs"/>
            </a:endParaRPr>
          </a:p>
        </p:txBody>
      </p:sp>
      <p:sp>
        <p:nvSpPr>
          <p:cNvPr id="125" name="Text Box 2"/>
          <p:cNvSpPr txBox="1">
            <a:spLocks noChangeArrowheads="1"/>
          </p:cNvSpPr>
          <p:nvPr/>
        </p:nvSpPr>
        <p:spPr bwMode="auto">
          <a:xfrm>
            <a:off x="7068165" y="3146569"/>
            <a:ext cx="549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9263" indent="-4492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</a:defRPr>
            </a:lvl9pPr>
          </a:lstStyle>
          <a:p>
            <a:pPr marL="449263" marR="0" lvl="0" indent="-4492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新細明體" panose="02020500000000000000" pitchFamily="18" charset="-120"/>
                <a:cs typeface="Tahoma" panose="020B0604030504040204" pitchFamily="34" charset="0"/>
              </a:rPr>
              <a:t> )    </a:t>
            </a:r>
            <a:endParaRPr kumimoji="1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新細明體" panose="02020500000000000000" pitchFamily="18" charset="-120"/>
              <a:cs typeface="Tahoma" panose="020B0604030504040204" pitchFamily="34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8026440" y="408214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  <a:sym typeface="Webdings" panose="05030102010509060703" pitchFamily="18" charset="2"/>
              </a:rPr>
              <a:t>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-265941" y="5549170"/>
            <a:ext cx="853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empty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88280" y="1453618"/>
            <a:ext cx="5126693" cy="132730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맑은 고딕"/>
              <a:cs typeface="+mn-cs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98981CB9-14A0-4730-8500-B6E7D0AC6284}"/>
              </a:ext>
            </a:extLst>
          </p:cNvPr>
          <p:cNvSpPr/>
          <p:nvPr/>
        </p:nvSpPr>
        <p:spPr>
          <a:xfrm>
            <a:off x="259618" y="549639"/>
            <a:ext cx="68708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kumimoji="1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예제</a:t>
            </a: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2] </a:t>
            </a:r>
            <a:r>
              <a:rPr kumimoji="1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괄호 짝 맞추기</a:t>
            </a:r>
            <a:endParaRPr kumimoji="1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3405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48930" y="2290915"/>
            <a:ext cx="7886700" cy="8849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/>
              <a:t>회문 검사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ko-KR" sz="2400" dirty="0"/>
              <a:t>회문</a:t>
            </a:r>
            <a:r>
              <a:rPr lang="en-US" altLang="ko-KR" sz="2400" dirty="0"/>
              <a:t>(Palindrome):</a:t>
            </a:r>
            <a:r>
              <a:rPr lang="ko-KR" altLang="ko-KR" sz="2400" dirty="0"/>
              <a:t> 앞으로부터 읽으나 뒤로부터 읽으나 </a:t>
            </a:r>
            <a:r>
              <a:rPr lang="ko-KR" altLang="en-US" sz="2400" dirty="0"/>
              <a:t>동일한</a:t>
            </a:r>
            <a:r>
              <a:rPr lang="ko-KR" altLang="ko-KR" sz="2400" dirty="0"/>
              <a:t> 스트링</a:t>
            </a:r>
            <a:endParaRPr lang="en-US" altLang="ko-KR" sz="2400" dirty="0"/>
          </a:p>
          <a:p>
            <a:pPr marL="263525" indent="0">
              <a:lnSpc>
                <a:spcPct val="120000"/>
              </a:lnSpc>
              <a:buNone/>
            </a:pPr>
            <a:r>
              <a:rPr lang="en-US" altLang="ko-KR" sz="2400" dirty="0">
                <a:solidFill>
                  <a:srgbClr val="3333FF"/>
                </a:solidFill>
              </a:rPr>
              <a:t>[</a:t>
            </a:r>
            <a:r>
              <a:rPr lang="ko-KR" altLang="ko-KR" sz="2400" dirty="0">
                <a:solidFill>
                  <a:srgbClr val="3333FF"/>
                </a:solidFill>
              </a:rPr>
              <a:t>핵심 아이디어</a:t>
            </a:r>
            <a:r>
              <a:rPr lang="en-US" altLang="ko-KR" sz="2400" dirty="0">
                <a:solidFill>
                  <a:srgbClr val="3333FF"/>
                </a:solidFill>
              </a:rPr>
              <a:t>] </a:t>
            </a:r>
            <a:r>
              <a:rPr lang="ko-KR" altLang="ko-KR" sz="2400" dirty="0">
                <a:solidFill>
                  <a:srgbClr val="00B050"/>
                </a:solidFill>
              </a:rPr>
              <a:t>전반부의 문자들을 스택에 </a:t>
            </a:r>
            <a:r>
              <a:rPr lang="en-US" altLang="ko-KR" sz="2400" dirty="0">
                <a:solidFill>
                  <a:srgbClr val="00B050"/>
                </a:solidFill>
              </a:rPr>
              <a:t>push</a:t>
            </a:r>
            <a:r>
              <a:rPr lang="ko-KR" altLang="ko-KR" sz="2400" dirty="0">
                <a:solidFill>
                  <a:srgbClr val="00B050"/>
                </a:solidFill>
              </a:rPr>
              <a:t>한 후</a:t>
            </a:r>
            <a:r>
              <a:rPr lang="en-US" altLang="ko-KR" sz="2400" dirty="0">
                <a:solidFill>
                  <a:srgbClr val="00B050"/>
                </a:solidFill>
              </a:rPr>
              <a:t>, </a:t>
            </a:r>
            <a:r>
              <a:rPr lang="ko-KR" altLang="ko-KR" sz="2400" dirty="0">
                <a:solidFill>
                  <a:srgbClr val="00B050"/>
                </a:solidFill>
              </a:rPr>
              <a:t>후반부의 각 문자를 차례로 </a:t>
            </a:r>
            <a:r>
              <a:rPr lang="en-US" altLang="ko-KR" sz="2400" dirty="0">
                <a:solidFill>
                  <a:srgbClr val="00B050"/>
                </a:solidFill>
              </a:rPr>
              <a:t>pop</a:t>
            </a:r>
            <a:r>
              <a:rPr lang="ko-KR" altLang="ko-KR" sz="2400" dirty="0">
                <a:solidFill>
                  <a:srgbClr val="00B050"/>
                </a:solidFill>
              </a:rPr>
              <a:t>한 문자와 비교</a:t>
            </a:r>
            <a:endParaRPr lang="en-US" altLang="ko-KR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en-US" sz="2400"/>
              <a:t>입력</a:t>
            </a:r>
            <a:r>
              <a:rPr lang="ko-KR" altLang="ko-KR" sz="2400"/>
              <a:t>의 앞부분 </a:t>
            </a:r>
            <a:r>
              <a:rPr lang="en-US" altLang="ko-KR" sz="2400"/>
              <a:t>1/2</a:t>
            </a:r>
            <a:r>
              <a:rPr lang="ko-KR" altLang="ko-KR" sz="2400"/>
              <a:t>을 읽어 </a:t>
            </a:r>
            <a:r>
              <a:rPr lang="ko-KR" altLang="ko-KR" sz="2400" dirty="0"/>
              <a:t>스택에 </a:t>
            </a:r>
            <a:r>
              <a:rPr lang="en-US" altLang="ko-KR" sz="2400" dirty="0"/>
              <a:t>push</a:t>
            </a:r>
            <a:r>
              <a:rPr lang="ko-KR" altLang="ko-KR" sz="2400" dirty="0"/>
              <a:t>한 후</a:t>
            </a:r>
            <a:r>
              <a:rPr lang="en-US" altLang="ko-KR" sz="2400" dirty="0"/>
              <a:t>, </a:t>
            </a:r>
            <a:r>
              <a:rPr lang="ko-KR" altLang="ko-KR" sz="2400" dirty="0"/>
              <a:t>문자열의 길이가 짝수이면 뒷부분의 문자 </a:t>
            </a:r>
            <a:r>
              <a:rPr lang="en-US" altLang="ko-KR" sz="2400" dirty="0"/>
              <a:t>1</a:t>
            </a:r>
            <a:r>
              <a:rPr lang="ko-KR" altLang="ko-KR" sz="2400" dirty="0"/>
              <a:t> </a:t>
            </a:r>
            <a:r>
              <a:rPr lang="ko-KR" altLang="ko-KR" sz="2400"/>
              <a:t>개를 읽</a:t>
            </a:r>
            <a:r>
              <a:rPr lang="ko-KR" altLang="en-US" sz="2400"/>
              <a:t>어서</a:t>
            </a:r>
            <a:r>
              <a:rPr lang="ko-KR" altLang="ko-KR" sz="2400"/>
              <a:t> </a:t>
            </a:r>
            <a:r>
              <a:rPr lang="en-US" altLang="ko-KR" sz="2400"/>
              <a:t>pop</a:t>
            </a:r>
            <a:r>
              <a:rPr lang="ko-KR" altLang="en-US" sz="2400"/>
              <a:t>한</a:t>
            </a:r>
            <a:r>
              <a:rPr lang="ko-KR" altLang="ko-KR" sz="2400"/>
              <a:t> 문자</a:t>
            </a:r>
            <a:r>
              <a:rPr lang="ko-KR" altLang="en-US" sz="2400"/>
              <a:t>와</a:t>
            </a:r>
            <a:r>
              <a:rPr lang="ko-KR" altLang="ko-KR" sz="2400"/>
              <a:t> 비교하는 과정 반복</a:t>
            </a:r>
            <a:endParaRPr lang="en-US" altLang="ko-KR" sz="2400" dirty="0"/>
          </a:p>
          <a:p>
            <a:pPr>
              <a:lnSpc>
                <a:spcPct val="120000"/>
              </a:lnSpc>
            </a:pPr>
            <a:r>
              <a:rPr lang="ko-KR" altLang="ko-KR" sz="2400"/>
              <a:t>마지막 </a:t>
            </a:r>
            <a:r>
              <a:rPr lang="ko-KR" altLang="ko-KR" sz="2400" dirty="0"/>
              <a:t>비교까지 두 문자가 동일하고 </a:t>
            </a:r>
            <a:r>
              <a:rPr lang="ko-KR" altLang="ko-KR" sz="2400"/>
              <a:t>스택이 </a:t>
            </a:r>
            <a:r>
              <a:rPr lang="en-US" altLang="ko-KR" sz="2400"/>
              <a:t>empty</a:t>
            </a:r>
            <a:r>
              <a:rPr lang="ko-KR" altLang="en-US" sz="2400"/>
              <a:t>이</a:t>
            </a:r>
            <a:r>
              <a:rPr lang="ko-KR" altLang="ko-KR" sz="2400"/>
              <a:t>면</a:t>
            </a:r>
            <a:r>
              <a:rPr lang="en-US" altLang="ko-KR" sz="2400"/>
              <a:t>,</a:t>
            </a:r>
            <a:r>
              <a:rPr lang="ko-KR" altLang="ko-KR" sz="2400"/>
              <a:t> 입력은 </a:t>
            </a:r>
            <a:r>
              <a:rPr lang="ko-KR" altLang="ko-KR" sz="2400" dirty="0"/>
              <a:t>회문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7810B9-A483-4352-94F2-3DEE46090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0" y="2290915"/>
            <a:ext cx="495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9674" y="912131"/>
            <a:ext cx="7886700" cy="77474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2400"/>
              <a:t>입력</a:t>
            </a:r>
            <a:r>
              <a:rPr lang="ko-KR" altLang="ko-KR" sz="2400"/>
              <a:t>의 </a:t>
            </a:r>
            <a:r>
              <a:rPr lang="ko-KR" altLang="ko-KR" sz="2400" dirty="0"/>
              <a:t>길이가 </a:t>
            </a:r>
            <a:r>
              <a:rPr lang="ko-KR" altLang="ko-KR" sz="2400"/>
              <a:t>홀수인 경우</a:t>
            </a:r>
            <a:r>
              <a:rPr lang="en-US" altLang="ko-KR" sz="2400"/>
              <a:t> </a:t>
            </a:r>
            <a:r>
              <a:rPr lang="ko-KR" altLang="ko-KR" sz="2400"/>
              <a:t>중간 문자</a:t>
            </a:r>
            <a:r>
              <a:rPr lang="ko-KR" altLang="en-US" sz="2400"/>
              <a:t>는</a:t>
            </a:r>
            <a:r>
              <a:rPr lang="ko-KR" altLang="ko-KR" sz="2400"/>
              <a:t> </a:t>
            </a:r>
            <a:r>
              <a:rPr lang="ko-KR" altLang="ko-KR" sz="2400" dirty="0"/>
              <a:t>읽고 버린다</a:t>
            </a:r>
            <a:r>
              <a:rPr lang="en-US" altLang="ko-KR" sz="2400"/>
              <a:t>. </a:t>
            </a:r>
            <a:endParaRPr lang="ko-KR" altLang="ko-KR" sz="24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24708" y="3194388"/>
            <a:ext cx="7915178" cy="3297852"/>
            <a:chOff x="300502" y="1844824"/>
            <a:chExt cx="7915178" cy="3297852"/>
          </a:xfrm>
        </p:grpSpPr>
        <p:sp>
          <p:nvSpPr>
            <p:cNvPr id="6" name="직사각형 5"/>
            <p:cNvSpPr/>
            <p:nvPr/>
          </p:nvSpPr>
          <p:spPr>
            <a:xfrm>
              <a:off x="1799744" y="4077072"/>
              <a:ext cx="393056" cy="52322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918856" y="3553852"/>
              <a:ext cx="396000" cy="52322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B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031992" y="3049796"/>
              <a:ext cx="392400" cy="52322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S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918856" y="4077072"/>
              <a:ext cx="393056" cy="52322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4031992" y="3573016"/>
              <a:ext cx="393056" cy="52322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B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031992" y="4096236"/>
              <a:ext cx="393056" cy="52322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220072" y="3573016"/>
              <a:ext cx="393056" cy="52322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B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220072" y="4096236"/>
              <a:ext cx="392400" cy="52322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408256" y="4115400"/>
              <a:ext cx="392400" cy="52322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1044168" y="4664720"/>
              <a:ext cx="694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 flipV="1">
              <a:off x="1763792" y="4657282"/>
              <a:ext cx="468000" cy="0"/>
            </a:xfrm>
            <a:prstGeom prst="line">
              <a:avLst/>
            </a:prstGeom>
            <a:ln w="5715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flipV="1">
              <a:off x="611560" y="4664720"/>
              <a:ext cx="468000" cy="0"/>
            </a:xfrm>
            <a:prstGeom prst="line">
              <a:avLst/>
            </a:prstGeom>
            <a:ln w="5715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 flipV="1">
              <a:off x="3996040" y="4653136"/>
              <a:ext cx="468000" cy="0"/>
            </a:xfrm>
            <a:prstGeom prst="line">
              <a:avLst/>
            </a:prstGeom>
            <a:ln w="5715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2889623" y="4653136"/>
              <a:ext cx="468000" cy="0"/>
            </a:xfrm>
            <a:prstGeom prst="line">
              <a:avLst/>
            </a:prstGeom>
            <a:ln w="5715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 flipV="1">
              <a:off x="6374774" y="4664720"/>
              <a:ext cx="468000" cy="0"/>
            </a:xfrm>
            <a:prstGeom prst="line">
              <a:avLst/>
            </a:prstGeom>
            <a:ln w="5715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flipV="1">
              <a:off x="5184224" y="4664720"/>
              <a:ext cx="468000" cy="0"/>
            </a:xfrm>
            <a:prstGeom prst="line">
              <a:avLst/>
            </a:prstGeom>
            <a:ln w="5715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 flipV="1">
              <a:off x="7560384" y="4664720"/>
              <a:ext cx="468000" cy="0"/>
            </a:xfrm>
            <a:prstGeom prst="line">
              <a:avLst/>
            </a:prstGeom>
            <a:ln w="5715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85775" y="2401724"/>
              <a:ext cx="27460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   B   S</a:t>
              </a: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   </a:t>
              </a:r>
              <a:r>
                <a:rPr kumimoji="1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S</a:t>
              </a: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   B   A 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004048" y="2825206"/>
              <a:ext cx="349776" cy="52322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S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5482448" y="2825206"/>
              <a:ext cx="34977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S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5265679" y="2833772"/>
              <a:ext cx="364202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=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192096" y="3473278"/>
              <a:ext cx="380232" cy="52322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B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670496" y="3473278"/>
              <a:ext cx="38023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B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6453727" y="3481844"/>
              <a:ext cx="364202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=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344224" y="3933056"/>
              <a:ext cx="393056" cy="52322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7822624" y="3933056"/>
              <a:ext cx="39305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A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7605855" y="3941622"/>
              <a:ext cx="364202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굴림" panose="020B0600000101010101" pitchFamily="50" charset="-127"/>
                  <a:cs typeface="+mn-cs"/>
                </a:rPr>
                <a:t>=</a:t>
              </a:r>
              <a:endPara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5049897" y="4713254"/>
              <a:ext cx="746239" cy="411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pop()</a:t>
              </a:r>
              <a:endPara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6274555" y="4742566"/>
              <a:ext cx="7457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pop()</a:t>
              </a:r>
              <a:endPara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7426683" y="4726026"/>
              <a:ext cx="7457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pop()</a:t>
              </a:r>
              <a:endPara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565053" y="4731263"/>
              <a:ext cx="99578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push(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A</a:t>
              </a:r>
              <a:r>
                <a:rPr kumimoji="1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)</a:t>
              </a:r>
              <a:endPara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2645173" y="4725144"/>
              <a:ext cx="9861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push(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B</a:t>
              </a:r>
              <a:r>
                <a:rPr kumimoji="1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)</a:t>
              </a:r>
              <a:endPara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725293" y="4725144"/>
              <a:ext cx="9653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push(</a:t>
              </a: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S</a:t>
              </a:r>
              <a:r>
                <a:rPr kumimoji="1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)</a:t>
              </a:r>
              <a:endPara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98650" y="1931670"/>
              <a:ext cx="273319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+mn-cs"/>
                  <a:sym typeface="Wingdings 2" panose="05020102010507070707" pitchFamily="18" charset="2"/>
                </a:rPr>
                <a:t>       </a:t>
              </a: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301487" y="4103172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+mn-cs"/>
                  <a:sym typeface="Wingdings 2" panose="05020102010507070707" pitchFamily="18" charset="2"/>
                </a:rPr>
                <a:t>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462767" y="3573016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+mn-cs"/>
                  <a:sym typeface="Wingdings 2" panose="05020102010507070707" pitchFamily="18" charset="2"/>
                </a:rPr>
                <a:t>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577015" y="3044005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+mn-cs"/>
                  <a:sym typeface="Wingdings 2" panose="05020102010507070707" pitchFamily="18" charset="2"/>
                </a:rPr>
                <a:t>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5173012" y="2494317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+mn-cs"/>
                  <a:sym typeface="Wingdings 2" panose="05020102010507070707" pitchFamily="18" charset="2"/>
                </a:rPr>
                <a:t>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6402811" y="3150363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+mn-cs"/>
                  <a:sym typeface="Wingdings 2" panose="05020102010507070707" pitchFamily="18" charset="2"/>
                </a:rPr>
                <a:t>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7558183" y="3618707"/>
              <a:ext cx="505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+mn-cs"/>
                  <a:sym typeface="Wingdings 2" panose="05020102010507070707" pitchFamily="18" charset="2"/>
                </a:rPr>
                <a:t></a:t>
              </a: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478073" y="4742566"/>
              <a:ext cx="8535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empty</a:t>
              </a:r>
              <a:endPara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00502" y="1844824"/>
              <a:ext cx="2831337" cy="108012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맑은 고딕"/>
                <a:cs typeface="+mn-cs"/>
              </a:endParaRPr>
            </a:p>
          </p:txBody>
        </p:sp>
      </p:grpSp>
      <p:sp>
        <p:nvSpPr>
          <p:cNvPr id="48" name="직사각형 47"/>
          <p:cNvSpPr/>
          <p:nvPr/>
        </p:nvSpPr>
        <p:spPr>
          <a:xfrm>
            <a:off x="548247" y="1907290"/>
            <a:ext cx="12218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kumimoji="1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예제 </a:t>
            </a:r>
            <a:r>
              <a:rPr kumimoji="1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endParaRPr kumimoji="1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1685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/>
          <p:cNvSpPr/>
          <p:nvPr/>
        </p:nvSpPr>
        <p:spPr>
          <a:xfrm>
            <a:off x="688109" y="894295"/>
            <a:ext cx="12218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kumimoji="1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예제 </a:t>
            </a:r>
            <a:r>
              <a:rPr kumimoji="1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endParaRPr kumimoji="1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024992-18AF-424A-BA3D-9BD3D8D07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9" y="2142507"/>
            <a:ext cx="7767782" cy="332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21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892310"/>
            <a:ext cx="7886700" cy="503554"/>
          </a:xfrm>
        </p:spPr>
        <p:txBody>
          <a:bodyPr/>
          <a:lstStyle/>
          <a:p>
            <a:r>
              <a:rPr lang="ko-KR" altLang="en-US" sz="2800" dirty="0"/>
              <a:t>스택의 기타 응용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628650" y="2229633"/>
            <a:ext cx="7886700" cy="426260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ko-KR" sz="2400"/>
              <a:t>후위</a:t>
            </a:r>
            <a:r>
              <a:rPr lang="en-US" altLang="ko-KR" sz="2400"/>
              <a:t> </a:t>
            </a:r>
            <a:r>
              <a:rPr lang="ko-KR" altLang="ko-KR" sz="2400"/>
              <a:t>표기</a:t>
            </a:r>
            <a:r>
              <a:rPr lang="en-US" altLang="ko-KR" sz="2400"/>
              <a:t>(</a:t>
            </a:r>
            <a:r>
              <a:rPr lang="en-US" altLang="ko-KR" sz="2400" dirty="0"/>
              <a:t>Postfix Notation) </a:t>
            </a:r>
            <a:r>
              <a:rPr lang="ko-KR" altLang="ko-KR" sz="2400" dirty="0"/>
              <a:t>수식 계산하기</a:t>
            </a:r>
            <a:endParaRPr lang="en-US" altLang="ko-KR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ko-KR" sz="2400"/>
              <a:t>중위</a:t>
            </a:r>
            <a:r>
              <a:rPr lang="en-US" altLang="ko-KR" sz="2400"/>
              <a:t> </a:t>
            </a:r>
            <a:r>
              <a:rPr lang="ko-KR" altLang="ko-KR" sz="2400"/>
              <a:t>표기</a:t>
            </a:r>
            <a:r>
              <a:rPr lang="en-US" altLang="ko-KR" sz="2400"/>
              <a:t>(</a:t>
            </a:r>
            <a:r>
              <a:rPr lang="en-US" altLang="ko-KR" sz="2400" dirty="0"/>
              <a:t>Infix Notation) </a:t>
            </a:r>
            <a:r>
              <a:rPr lang="ko-KR" altLang="ko-KR" sz="2400" dirty="0"/>
              <a:t>수식의 후위</a:t>
            </a:r>
            <a:r>
              <a:rPr lang="en-US" altLang="ko-KR" sz="2400" dirty="0"/>
              <a:t> </a:t>
            </a:r>
            <a:r>
              <a:rPr lang="ko-KR" altLang="ko-KR" sz="2400" dirty="0"/>
              <a:t>표기법 변환</a:t>
            </a:r>
            <a:endParaRPr lang="en-US" altLang="ko-KR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ko-KR" sz="2400" dirty="0"/>
              <a:t>미로 찾기</a:t>
            </a:r>
            <a:endParaRPr lang="en-US" altLang="ko-KR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ko-KR" sz="2400"/>
              <a:t>트리의 </a:t>
            </a:r>
            <a:r>
              <a:rPr lang="ko-KR" altLang="en-US" sz="2400"/>
              <a:t>순회</a:t>
            </a:r>
            <a:r>
              <a:rPr lang="en-US" altLang="ko-KR" sz="2400"/>
              <a:t>(</a:t>
            </a:r>
            <a:r>
              <a:rPr lang="en-US" altLang="ko-KR" sz="2400">
                <a:latin typeface="Consolas" panose="020B0609020204030204" pitchFamily="49" charset="0"/>
              </a:rPr>
              <a:t>Part 4</a:t>
            </a:r>
            <a:r>
              <a:rPr lang="en-US" altLang="ko-KR" sz="2400"/>
              <a:t>)</a:t>
            </a:r>
            <a:endParaRPr lang="en-US" altLang="ko-KR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ko-KR" sz="2400" dirty="0"/>
              <a:t>그래프의 </a:t>
            </a:r>
            <a:r>
              <a:rPr lang="en-US" altLang="ko-KR" sz="2400"/>
              <a:t>DFS(</a:t>
            </a:r>
            <a:r>
              <a:rPr lang="en-US" altLang="ko-KR" sz="2400">
                <a:latin typeface="Consolas" panose="020B0609020204030204" pitchFamily="49" charset="0"/>
              </a:rPr>
              <a:t>Part 8</a:t>
            </a:r>
            <a:r>
              <a:rPr lang="en-US" altLang="ko-KR" sz="2400"/>
              <a:t>)</a:t>
            </a:r>
            <a:endParaRPr lang="en-US" altLang="ko-KR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ko-KR" sz="2400" dirty="0"/>
              <a:t>프로그래밍에서 매우 중요한 함수</a:t>
            </a:r>
            <a:r>
              <a:rPr lang="en-US" altLang="ko-KR" sz="2400" dirty="0"/>
              <a:t>/</a:t>
            </a:r>
            <a:r>
              <a:rPr lang="ko-KR" altLang="ko-KR" sz="2400" dirty="0"/>
              <a:t>메소드</a:t>
            </a:r>
            <a:r>
              <a:rPr lang="en-US" altLang="ko-KR" sz="2400" dirty="0"/>
              <a:t> </a:t>
            </a:r>
            <a:r>
              <a:rPr lang="ko-KR" altLang="ko-KR" sz="2400" dirty="0"/>
              <a:t>호출 및 </a:t>
            </a:r>
            <a:r>
              <a:rPr lang="ko-KR" altLang="en-US" sz="2400" dirty="0"/>
              <a:t>순환</a:t>
            </a:r>
            <a:r>
              <a:rPr lang="en-US" altLang="ko-KR" sz="2400" dirty="0"/>
              <a:t> </a:t>
            </a:r>
            <a:r>
              <a:rPr lang="ko-KR" altLang="ko-KR" sz="2400" dirty="0"/>
              <a:t>호출도 스택 자료구조를 바탕으로 구현</a:t>
            </a:r>
          </a:p>
          <a:p>
            <a:pPr>
              <a:lnSpc>
                <a:spcPct val="150000"/>
              </a:lnSpc>
            </a:pPr>
            <a:endParaRPr lang="ko-KR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0DC5FF-643D-4BC5-A571-897BF492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8" y="230323"/>
            <a:ext cx="17621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64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수식의 표기법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28010"/>
            <a:ext cx="7886700" cy="496422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ko-KR" dirty="0"/>
              <a:t>프로그램을 작성할 때 수식에서 </a:t>
            </a:r>
            <a:r>
              <a:rPr lang="en-US" altLang="ko-KR" dirty="0"/>
              <a:t>+, –, *, /</a:t>
            </a:r>
            <a:r>
              <a:rPr lang="ko-KR" altLang="ko-KR" dirty="0"/>
              <a:t>와 </a:t>
            </a:r>
            <a:r>
              <a:rPr lang="ko-KR" altLang="ko-KR"/>
              <a:t>같은 이항</a:t>
            </a:r>
            <a:r>
              <a:rPr lang="en-US" altLang="ko-KR"/>
              <a:t> </a:t>
            </a:r>
            <a:r>
              <a:rPr lang="ko-KR" altLang="ko-KR"/>
              <a:t>연산자는 </a:t>
            </a:r>
            <a:r>
              <a:rPr lang="en-US" altLang="ko-KR" dirty="0"/>
              <a:t>2</a:t>
            </a:r>
            <a:r>
              <a:rPr lang="ko-KR" altLang="ko-KR"/>
              <a:t>개의 피연산자 사이에 위치</a:t>
            </a:r>
            <a:r>
              <a:rPr lang="en-US" altLang="ko-KR"/>
              <a:t>: </a:t>
            </a:r>
            <a:r>
              <a:rPr lang="ko-KR" altLang="ko-KR">
                <a:solidFill>
                  <a:srgbClr val="00B0F0"/>
                </a:solidFill>
              </a:rPr>
              <a:t>중위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ko-KR" altLang="ko-KR">
                <a:solidFill>
                  <a:srgbClr val="00B0F0"/>
                </a:solidFill>
              </a:rPr>
              <a:t>표기</a:t>
            </a:r>
            <a:r>
              <a:rPr lang="en-US" altLang="ko-KR">
                <a:solidFill>
                  <a:srgbClr val="00B0F0"/>
                </a:solidFill>
              </a:rPr>
              <a:t>(</a:t>
            </a:r>
            <a:r>
              <a:rPr lang="en-US" altLang="ko-KR" dirty="0">
                <a:solidFill>
                  <a:srgbClr val="00B0F0"/>
                </a:solidFill>
              </a:rPr>
              <a:t>Infix Notation) </a:t>
            </a:r>
          </a:p>
          <a:p>
            <a:pPr>
              <a:lnSpc>
                <a:spcPct val="120000"/>
              </a:lnSpc>
            </a:pPr>
            <a:r>
              <a:rPr lang="ko-KR" altLang="ko-KR"/>
              <a:t>컴파일러는 중위표기 수식을 </a:t>
            </a:r>
            <a:r>
              <a:rPr lang="ko-KR" altLang="ko-KR">
                <a:solidFill>
                  <a:srgbClr val="00B0F0"/>
                </a:solidFill>
              </a:rPr>
              <a:t>후위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ko-KR" altLang="ko-KR">
                <a:solidFill>
                  <a:srgbClr val="00B0F0"/>
                </a:solidFill>
              </a:rPr>
              <a:t>표기</a:t>
            </a:r>
            <a:r>
              <a:rPr lang="en-US" altLang="ko-KR">
                <a:solidFill>
                  <a:srgbClr val="00B0F0"/>
                </a:solidFill>
              </a:rPr>
              <a:t>(</a:t>
            </a:r>
            <a:r>
              <a:rPr lang="en-US" altLang="ko-KR" dirty="0">
                <a:solidFill>
                  <a:srgbClr val="00B0F0"/>
                </a:solidFill>
              </a:rPr>
              <a:t>Postfix</a:t>
            </a:r>
            <a:r>
              <a:rPr lang="en-US" altLang="ko-KR" dirty="0">
                <a:solidFill>
                  <a:srgbClr val="3333FF"/>
                </a:solidFill>
              </a:rPr>
              <a:t> </a:t>
            </a:r>
            <a:r>
              <a:rPr lang="en-US" altLang="ko-KR" dirty="0">
                <a:solidFill>
                  <a:srgbClr val="00B0F0"/>
                </a:solidFill>
              </a:rPr>
              <a:t>Notation)</a:t>
            </a:r>
            <a:r>
              <a:rPr lang="ko-KR" altLang="ko-KR" dirty="0"/>
              <a:t>으로 바꾼다</a:t>
            </a:r>
            <a:r>
              <a:rPr lang="en-US" altLang="ko-KR" dirty="0"/>
              <a:t>. </a:t>
            </a:r>
          </a:p>
          <a:p>
            <a:pPr lvl="1">
              <a:lnSpc>
                <a:spcPct val="120000"/>
              </a:lnSpc>
            </a:pPr>
            <a:r>
              <a:rPr lang="ko-KR" altLang="ko-KR" dirty="0"/>
              <a:t>그 </a:t>
            </a:r>
            <a:r>
              <a:rPr lang="ko-KR" altLang="ko-KR"/>
              <a:t>이유는 후위표기 </a:t>
            </a:r>
            <a:r>
              <a:rPr lang="ko-KR" altLang="ko-KR" dirty="0"/>
              <a:t>수식은 괄호 </a:t>
            </a:r>
            <a:r>
              <a:rPr lang="ko-KR" altLang="ko-KR"/>
              <a:t>없이 중위</a:t>
            </a:r>
            <a:r>
              <a:rPr lang="en-US" altLang="ko-KR"/>
              <a:t> </a:t>
            </a:r>
            <a:r>
              <a:rPr lang="ko-KR" altLang="ko-KR"/>
              <a:t>표기 </a:t>
            </a:r>
            <a:r>
              <a:rPr lang="ko-KR" altLang="ko-KR" dirty="0"/>
              <a:t>수식을 표현할 수 있기 때문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ko-KR">
                <a:solidFill>
                  <a:srgbClr val="00B0F0"/>
                </a:solidFill>
              </a:rPr>
              <a:t>전위</a:t>
            </a:r>
            <a:r>
              <a:rPr lang="en-US" altLang="ko-KR">
                <a:solidFill>
                  <a:srgbClr val="00B0F0"/>
                </a:solidFill>
              </a:rPr>
              <a:t> </a:t>
            </a:r>
            <a:r>
              <a:rPr lang="ko-KR" altLang="ko-KR">
                <a:solidFill>
                  <a:srgbClr val="00B0F0"/>
                </a:solidFill>
              </a:rPr>
              <a:t>표기</a:t>
            </a:r>
            <a:r>
              <a:rPr lang="en-US" altLang="ko-KR">
                <a:solidFill>
                  <a:srgbClr val="00B0F0"/>
                </a:solidFill>
              </a:rPr>
              <a:t>(</a:t>
            </a:r>
            <a:r>
              <a:rPr lang="en-US" altLang="ko-KR" dirty="0">
                <a:solidFill>
                  <a:srgbClr val="00B0F0"/>
                </a:solidFill>
              </a:rPr>
              <a:t>Prefix Notation)</a:t>
            </a:r>
            <a:r>
              <a:rPr lang="en-US" altLang="ko-KR" dirty="0"/>
              <a:t>:</a:t>
            </a:r>
            <a:r>
              <a:rPr lang="ko-KR" altLang="ko-KR" dirty="0"/>
              <a:t> 연산자를 </a:t>
            </a:r>
            <a:r>
              <a:rPr lang="ko-KR" altLang="ko-KR" dirty="0" err="1"/>
              <a:t>피연산자들</a:t>
            </a:r>
            <a:r>
              <a:rPr lang="ko-KR" altLang="ko-KR" dirty="0"/>
              <a:t> 앞에 </a:t>
            </a:r>
            <a:r>
              <a:rPr lang="ko-KR" altLang="ko-KR"/>
              <a:t>두는 표기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80072" y="320651"/>
            <a:ext cx="160492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연습문제</a:t>
            </a: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47337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011230"/>
              </p:ext>
            </p:extLst>
          </p:nvPr>
        </p:nvGraphicFramePr>
        <p:xfrm>
          <a:off x="404578" y="2013894"/>
          <a:ext cx="8482263" cy="34676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7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7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7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52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중위 표기</a:t>
                      </a:r>
                      <a:endParaRPr lang="en-US" sz="2400" b="1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AA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후위 표기</a:t>
                      </a:r>
                      <a:endParaRPr lang="en-US" sz="2400" b="1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AA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전위 표기</a:t>
                      </a:r>
                      <a:endParaRPr lang="en-US" sz="2400" b="1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AA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521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 panose="020F0502020204030204" pitchFamily="34" charset="0"/>
                        </a:rPr>
                        <a:t>     A</a:t>
                      </a:r>
                      <a:r>
                        <a:rPr lang="en-US" sz="2400" baseline="0" dirty="0">
                          <a:latin typeface="Calibri" panose="020F0502020204030204" pitchFamily="34" charset="0"/>
                        </a:rPr>
                        <a:t> + B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 panose="020F0502020204030204" pitchFamily="34" charset="0"/>
                        </a:rPr>
                        <a:t>      A B 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 panose="020F0502020204030204" pitchFamily="34" charset="0"/>
                        </a:rPr>
                        <a:t>      + A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521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/>
                          <a:ea typeface="맑은 고딕"/>
                          <a:cs typeface="Times New Roman"/>
                        </a:rPr>
                        <a:t>     A + B – C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/>
                          <a:ea typeface="맑은 고딕"/>
                          <a:cs typeface="Times New Roman"/>
                        </a:rPr>
                        <a:t>      A B + C –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/>
                          <a:ea typeface="맑은 고딕"/>
                          <a:cs typeface="Times New Roman"/>
                        </a:rPr>
                        <a:t>      + A – B C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521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/>
                          <a:ea typeface="맑은 고딕"/>
                          <a:cs typeface="Times New Roman"/>
                        </a:rPr>
                        <a:t>     A + B * C – D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/>
                          <a:ea typeface="맑은 고딕"/>
                          <a:cs typeface="Times New Roman"/>
                        </a:rPr>
                        <a:t>      A B C * + D –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/>
                          <a:ea typeface="맑은 고딕"/>
                          <a:cs typeface="Times New Roman"/>
                        </a:rPr>
                        <a:t>      – + A * B C D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521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/>
                          <a:ea typeface="맑은 고딕"/>
                          <a:cs typeface="Times New Roman"/>
                        </a:rPr>
                        <a:t>     (A + B) / (C – D)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/>
                          <a:ea typeface="맑은 고딕"/>
                          <a:cs typeface="Times New Roman"/>
                        </a:rPr>
                        <a:t>      A B+ C D – /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libri"/>
                          <a:ea typeface="맑은 고딕"/>
                          <a:cs typeface="Times New Roman"/>
                        </a:rPr>
                        <a:t>      / + A B – C D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281672" y="727051"/>
            <a:ext cx="160492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연습문제</a:t>
            </a:r>
            <a:r>
              <a:rPr kumimoji="1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04112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ko-KR"/>
              <a:t>후위</a:t>
            </a:r>
            <a:r>
              <a:rPr lang="en-US" altLang="ko-KR"/>
              <a:t> </a:t>
            </a:r>
            <a:r>
              <a:rPr lang="ko-KR" altLang="ko-KR"/>
              <a:t>표기 </a:t>
            </a:r>
            <a:r>
              <a:rPr lang="ko-KR" altLang="ko-KR" dirty="0"/>
              <a:t>수식 계산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80072" y="320651"/>
            <a:ext cx="160492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연습문제</a:t>
            </a: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2D62D1-594A-4CA2-BD3A-B9DE36E1F3D5}"/>
              </a:ext>
            </a:extLst>
          </p:cNvPr>
          <p:cNvSpPr/>
          <p:nvPr/>
        </p:nvSpPr>
        <p:spPr>
          <a:xfrm>
            <a:off x="773231" y="1490450"/>
            <a:ext cx="7804749" cy="9930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74D48E3-B0B4-4C28-ADCE-77EB27346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601" y="1573284"/>
            <a:ext cx="7886700" cy="4964065"/>
          </a:xfrm>
        </p:spPr>
        <p:txBody>
          <a:bodyPr>
            <a:normAutofit/>
          </a:bodyPr>
          <a:lstStyle/>
          <a:p>
            <a:pPr marL="22225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ko-KR" dirty="0">
                <a:solidFill>
                  <a:srgbClr val="3333FF"/>
                </a:solidFill>
              </a:rPr>
              <a:t>[</a:t>
            </a:r>
            <a:r>
              <a:rPr lang="ko-KR" altLang="ko-KR" dirty="0">
                <a:solidFill>
                  <a:srgbClr val="3333FF"/>
                </a:solidFill>
              </a:rPr>
              <a:t>핵심 아이디어</a:t>
            </a:r>
            <a:r>
              <a:rPr lang="en-US" altLang="ko-KR" dirty="0">
                <a:solidFill>
                  <a:srgbClr val="3333FF"/>
                </a:solidFill>
              </a:rPr>
              <a:t>] </a:t>
            </a:r>
            <a:r>
              <a:rPr lang="ko-KR" altLang="ko-KR" dirty="0" err="1">
                <a:solidFill>
                  <a:srgbClr val="00B050"/>
                </a:solidFill>
              </a:rPr>
              <a:t>피연산자는</a:t>
            </a:r>
            <a:r>
              <a:rPr lang="ko-KR" altLang="ko-KR" dirty="0">
                <a:solidFill>
                  <a:srgbClr val="00B050"/>
                </a:solidFill>
              </a:rPr>
              <a:t> 스택에 </a:t>
            </a:r>
            <a:r>
              <a:rPr lang="en-US" altLang="ko-KR" dirty="0">
                <a:solidFill>
                  <a:srgbClr val="00B050"/>
                </a:solidFill>
              </a:rPr>
              <a:t>push</a:t>
            </a:r>
            <a:r>
              <a:rPr lang="ko-KR" altLang="ko-KR" dirty="0">
                <a:solidFill>
                  <a:srgbClr val="00B050"/>
                </a:solidFill>
              </a:rPr>
              <a:t>하고</a:t>
            </a:r>
            <a:r>
              <a:rPr lang="en-US" altLang="ko-KR" dirty="0">
                <a:solidFill>
                  <a:srgbClr val="00B050"/>
                </a:solidFill>
              </a:rPr>
              <a:t>, </a:t>
            </a:r>
            <a:r>
              <a:rPr lang="ko-KR" altLang="ko-KR" dirty="0">
                <a:solidFill>
                  <a:srgbClr val="00B050"/>
                </a:solidFill>
              </a:rPr>
              <a:t>연산자는 </a:t>
            </a:r>
            <a:r>
              <a:rPr lang="en-US" altLang="ko-KR" dirty="0">
                <a:solidFill>
                  <a:srgbClr val="00B050"/>
                </a:solidFill>
              </a:rPr>
              <a:t>2</a:t>
            </a:r>
            <a:r>
              <a:rPr lang="ko-KR" altLang="ko-KR" dirty="0">
                <a:solidFill>
                  <a:srgbClr val="00B050"/>
                </a:solidFill>
              </a:rPr>
              <a:t>회</a:t>
            </a:r>
            <a:r>
              <a:rPr lang="en-US" altLang="ko-KR" dirty="0">
                <a:solidFill>
                  <a:srgbClr val="00B050"/>
                </a:solidFill>
              </a:rPr>
              <a:t> pop</a:t>
            </a:r>
            <a:r>
              <a:rPr lang="ko-KR" altLang="ko-KR" dirty="0">
                <a:solidFill>
                  <a:srgbClr val="00B050"/>
                </a:solidFill>
              </a:rPr>
              <a:t>하여 계산한 후 </a:t>
            </a:r>
            <a:r>
              <a:rPr lang="en-US" altLang="ko-KR" dirty="0">
                <a:solidFill>
                  <a:srgbClr val="00B050"/>
                </a:solidFill>
              </a:rPr>
              <a:t>push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ko-KR" altLang="ko-KR" u="sng" dirty="0" err="1"/>
              <a:t>후위표기로</a:t>
            </a:r>
            <a:r>
              <a:rPr lang="ko-KR" altLang="ko-KR" u="sng" dirty="0"/>
              <a:t> 표현된 수식 계산</a:t>
            </a:r>
            <a:r>
              <a:rPr lang="en-US" altLang="ko-KR" u="sng" dirty="0"/>
              <a:t> </a:t>
            </a:r>
            <a:r>
              <a:rPr lang="ko-KR" altLang="ko-KR" u="sng" dirty="0"/>
              <a:t>알고리즘</a:t>
            </a:r>
            <a:endParaRPr lang="en-US" altLang="ko-KR" u="sng" dirty="0"/>
          </a:p>
          <a:p>
            <a:pPr marL="541338">
              <a:lnSpc>
                <a:spcPct val="100000"/>
              </a:lnSpc>
              <a:spcAft>
                <a:spcPts val="1200"/>
              </a:spcAft>
            </a:pPr>
            <a:r>
              <a:rPr lang="ko-KR" altLang="ko-KR" sz="2400" dirty="0"/>
              <a:t>입력을 좌에서 우로 문자를 </a:t>
            </a:r>
            <a:r>
              <a:rPr lang="en-US" altLang="ko-KR" sz="2400" dirty="0"/>
              <a:t>1</a:t>
            </a:r>
            <a:r>
              <a:rPr lang="ko-KR" altLang="ko-KR" sz="2400" dirty="0"/>
              <a:t>개씩 읽</a:t>
            </a:r>
            <a:r>
              <a:rPr lang="ko-KR" altLang="en-US" sz="2400" dirty="0"/>
              <a:t>고 이를</a:t>
            </a:r>
            <a:r>
              <a:rPr lang="ko-KR" altLang="ko-KR" sz="2400" dirty="0"/>
              <a:t> </a:t>
            </a:r>
            <a:r>
              <a:rPr lang="en-US" altLang="ko-KR" sz="2400" dirty="0"/>
              <a:t>C</a:t>
            </a:r>
            <a:r>
              <a:rPr lang="ko-KR" altLang="ko-KR" sz="2400" dirty="0" err="1"/>
              <a:t>라고하</a:t>
            </a:r>
            <a:r>
              <a:rPr lang="ko-KR" altLang="en-US" sz="2400" dirty="0" err="1"/>
              <a:t>면</a:t>
            </a:r>
            <a:endParaRPr lang="ko-KR" altLang="ko-KR" sz="2400" dirty="0"/>
          </a:p>
          <a:p>
            <a:pPr marL="541338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ko-KR" sz="2400" dirty="0"/>
              <a:t>[1] C</a:t>
            </a:r>
            <a:r>
              <a:rPr lang="ko-KR" altLang="ko-KR" sz="2400" dirty="0"/>
              <a:t>가 피연산자이면 </a:t>
            </a:r>
            <a:r>
              <a:rPr lang="en-US" altLang="ko-KR" sz="2400" dirty="0"/>
              <a:t>C</a:t>
            </a:r>
            <a:r>
              <a:rPr lang="ko-KR" altLang="en-US" sz="2400" dirty="0"/>
              <a:t>를</a:t>
            </a:r>
            <a:r>
              <a:rPr lang="ko-KR" altLang="ko-KR" sz="2400" dirty="0"/>
              <a:t> </a:t>
            </a:r>
            <a:r>
              <a:rPr lang="en-US" altLang="ko-KR" sz="2400" dirty="0"/>
              <a:t>push</a:t>
            </a:r>
            <a:endParaRPr lang="ko-KR" altLang="ko-KR" sz="2400" dirty="0"/>
          </a:p>
          <a:p>
            <a:pPr marL="541338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altLang="ko-KR" sz="2400" dirty="0"/>
              <a:t>[2] C</a:t>
            </a:r>
            <a:r>
              <a:rPr lang="ko-KR" altLang="ko-KR" sz="2400" dirty="0"/>
              <a:t>가 연산자</a:t>
            </a:r>
            <a:r>
              <a:rPr lang="en-US" altLang="ko-KR" sz="2400" dirty="0"/>
              <a:t>(op)</a:t>
            </a:r>
            <a:r>
              <a:rPr lang="ko-KR" altLang="ko-KR" sz="2400" dirty="0"/>
              <a:t>이면 </a:t>
            </a:r>
            <a:r>
              <a:rPr lang="en-US" altLang="ko-KR" sz="2400" dirty="0"/>
              <a:t>pop</a:t>
            </a:r>
            <a:r>
              <a:rPr lang="ko-KR" altLang="ko-KR" sz="2400" dirty="0"/>
              <a:t>을</a:t>
            </a:r>
            <a:r>
              <a:rPr lang="en-US" altLang="ko-KR" sz="2400" dirty="0"/>
              <a:t> 2</a:t>
            </a:r>
            <a:r>
              <a:rPr lang="ko-KR" altLang="ko-KR" sz="2400" dirty="0"/>
              <a:t>회 수행한다</a:t>
            </a:r>
            <a:r>
              <a:rPr lang="en-US" altLang="ko-KR" sz="2400" dirty="0"/>
              <a:t>. </a:t>
            </a:r>
            <a:r>
              <a:rPr lang="ko-KR" altLang="ko-KR" sz="2400" dirty="0"/>
              <a:t>먼저 </a:t>
            </a:r>
            <a:r>
              <a:rPr lang="en-US" altLang="ko-KR" sz="2400" dirty="0"/>
              <a:t>pop</a:t>
            </a:r>
            <a:r>
              <a:rPr lang="ko-KR" altLang="ko-KR" sz="2400" dirty="0"/>
              <a:t>된 </a:t>
            </a:r>
            <a:r>
              <a:rPr lang="ko-KR" altLang="ko-KR" sz="2400" dirty="0" err="1"/>
              <a:t>피연산자가</a:t>
            </a:r>
            <a:r>
              <a:rPr lang="ko-KR" altLang="ko-KR" sz="2400" dirty="0"/>
              <a:t> </a:t>
            </a:r>
            <a:r>
              <a:rPr lang="en-US" altLang="ko-KR" sz="2400" dirty="0" smtClean="0"/>
              <a:t>B</a:t>
            </a:r>
            <a:r>
              <a:rPr lang="ko-KR" altLang="ko-KR" sz="2400" dirty="0" smtClean="0"/>
              <a:t>이고</a:t>
            </a:r>
            <a:r>
              <a:rPr lang="en-US" altLang="ko-KR" sz="2400" dirty="0"/>
              <a:t>, </a:t>
            </a:r>
            <a:r>
              <a:rPr lang="ko-KR" altLang="ko-KR" sz="2400" dirty="0"/>
              <a:t>나중에 </a:t>
            </a:r>
            <a:r>
              <a:rPr lang="en-US" altLang="ko-KR" sz="2400" dirty="0"/>
              <a:t>pop</a:t>
            </a:r>
            <a:r>
              <a:rPr lang="ko-KR" altLang="ko-KR" sz="2400" dirty="0"/>
              <a:t>된 </a:t>
            </a:r>
            <a:r>
              <a:rPr lang="ko-KR" altLang="ko-KR" sz="2400" dirty="0" err="1"/>
              <a:t>피연산자가</a:t>
            </a:r>
            <a:r>
              <a:rPr lang="ko-KR" altLang="ko-KR" sz="2400" dirty="0"/>
              <a:t> </a:t>
            </a:r>
            <a:r>
              <a:rPr lang="en-US" altLang="ko-KR" sz="2400" dirty="0" smtClean="0"/>
              <a:t>A</a:t>
            </a:r>
            <a:r>
              <a:rPr lang="ko-KR" altLang="ko-KR" sz="2400" dirty="0" smtClean="0"/>
              <a:t>라면</a:t>
            </a:r>
            <a:r>
              <a:rPr lang="en-US" altLang="ko-KR" sz="2400" dirty="0"/>
              <a:t>, </a:t>
            </a:r>
            <a:r>
              <a:rPr lang="en-US" altLang="ko-KR" sz="2400" dirty="0">
                <a:solidFill>
                  <a:srgbClr val="3333FF"/>
                </a:solidFill>
              </a:rPr>
              <a:t>(A op B)</a:t>
            </a:r>
            <a:r>
              <a:rPr lang="ko-KR" altLang="ko-KR" sz="2400" dirty="0">
                <a:solidFill>
                  <a:srgbClr val="3333FF"/>
                </a:solidFill>
              </a:rPr>
              <a:t>를 수행하여 그 </a:t>
            </a:r>
            <a:r>
              <a:rPr lang="ko-KR" altLang="ko-KR" sz="2400" dirty="0" err="1">
                <a:solidFill>
                  <a:srgbClr val="3333FF"/>
                </a:solidFill>
              </a:rPr>
              <a:t>결</a:t>
            </a:r>
            <a:r>
              <a:rPr lang="ko-KR" altLang="en-US" sz="2400" dirty="0" err="1">
                <a:solidFill>
                  <a:srgbClr val="3333FF"/>
                </a:solidFill>
              </a:rPr>
              <a:t>괏</a:t>
            </a:r>
            <a:r>
              <a:rPr lang="ko-KR" altLang="ko-KR" sz="2400" dirty="0" err="1">
                <a:solidFill>
                  <a:srgbClr val="3333FF"/>
                </a:solidFill>
              </a:rPr>
              <a:t>값을</a:t>
            </a:r>
            <a:r>
              <a:rPr lang="ko-KR" altLang="ko-KR" sz="2400" dirty="0">
                <a:solidFill>
                  <a:srgbClr val="3333FF"/>
                </a:solidFill>
              </a:rPr>
              <a:t> </a:t>
            </a:r>
            <a:r>
              <a:rPr lang="en-US" altLang="ko-KR" sz="2400" dirty="0">
                <a:solidFill>
                  <a:srgbClr val="3333FF"/>
                </a:solidFill>
              </a:rPr>
              <a:t>push</a:t>
            </a:r>
            <a:endParaRPr lang="ko-KR" altLang="ko-KR" sz="2400" dirty="0">
              <a:solidFill>
                <a:srgbClr val="3333FF"/>
              </a:solidFill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ko-KR" altLang="en-US" dirty="0">
              <a:solidFill>
                <a:srgbClr val="00B05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ACC5F93-B7C6-4FCF-B918-C1CD64C4B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01" y="1605979"/>
            <a:ext cx="495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99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직선 연결선 33"/>
          <p:cNvCxnSpPr/>
          <p:nvPr/>
        </p:nvCxnSpPr>
        <p:spPr>
          <a:xfrm flipV="1">
            <a:off x="9576608" y="4664720"/>
            <a:ext cx="468000" cy="0"/>
          </a:xfrm>
          <a:prstGeom prst="line">
            <a:avLst/>
          </a:prstGeom>
          <a:ln w="5715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9514915" y="4726026"/>
            <a:ext cx="7457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pop()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9612560" y="4129916"/>
            <a:ext cx="367408" cy="523220"/>
          </a:xfrm>
          <a:prstGeom prst="rect">
            <a:avLst/>
          </a:prstGeom>
          <a:solidFill>
            <a:srgbClr val="CCFFFF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+mn-cs"/>
              </a:rPr>
              <a:t>2</a:t>
            </a:r>
            <a:endParaRPr kumimoji="1" lang="en-US" sz="28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80072" y="320651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[</a:t>
            </a:r>
            <a:r>
              <a:rPr kumimoji="1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예제</a:t>
            </a:r>
            <a:r>
              <a: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]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180072" y="320651"/>
            <a:ext cx="160492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연습문제</a:t>
            </a: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6D709837-73C6-40F9-A648-411BA788F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24" y="2014082"/>
            <a:ext cx="7963679" cy="329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85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81906" y="1230243"/>
            <a:ext cx="7723476" cy="10494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ko-KR"/>
              <a:t>중위</a:t>
            </a:r>
            <a:r>
              <a:rPr lang="en-US" altLang="ko-KR"/>
              <a:t> </a:t>
            </a:r>
            <a:r>
              <a:rPr lang="ko-KR" altLang="ko-KR"/>
              <a:t>표기 수식을 후위</a:t>
            </a:r>
            <a:r>
              <a:rPr lang="en-US" altLang="ko-KR"/>
              <a:t> </a:t>
            </a:r>
            <a:r>
              <a:rPr lang="ko-KR" altLang="ko-KR"/>
              <a:t>표기로 </a:t>
            </a:r>
            <a:r>
              <a:rPr lang="ko-KR" altLang="ko-KR" dirty="0"/>
              <a:t>변환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3538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en-US" altLang="ko-KR" dirty="0">
                <a:solidFill>
                  <a:srgbClr val="3333FF"/>
                </a:solidFill>
              </a:rPr>
              <a:t>[</a:t>
            </a:r>
            <a:r>
              <a:rPr lang="ko-KR" altLang="ko-KR" dirty="0">
                <a:solidFill>
                  <a:srgbClr val="3333FF"/>
                </a:solidFill>
              </a:rPr>
              <a:t>핵심 아이디어</a:t>
            </a:r>
            <a:r>
              <a:rPr lang="en-US" altLang="ko-KR" dirty="0">
                <a:solidFill>
                  <a:srgbClr val="3333FF"/>
                </a:solidFill>
              </a:rPr>
              <a:t>] </a:t>
            </a:r>
            <a:r>
              <a:rPr lang="ko-KR" altLang="ko-KR" dirty="0">
                <a:solidFill>
                  <a:srgbClr val="00B050"/>
                </a:solidFill>
              </a:rPr>
              <a:t>왼쪽 괄호나 연산자는 스택에 </a:t>
            </a:r>
            <a:r>
              <a:rPr lang="en-US" altLang="ko-KR" dirty="0">
                <a:solidFill>
                  <a:srgbClr val="00B050"/>
                </a:solidFill>
              </a:rPr>
              <a:t>push</a:t>
            </a:r>
            <a:r>
              <a:rPr lang="ko-KR" altLang="ko-KR" dirty="0">
                <a:solidFill>
                  <a:srgbClr val="00B050"/>
                </a:solidFill>
              </a:rPr>
              <a:t>하고</a:t>
            </a:r>
            <a:r>
              <a:rPr lang="en-US" altLang="ko-KR" dirty="0">
                <a:solidFill>
                  <a:srgbClr val="00B050"/>
                </a:solidFill>
              </a:rPr>
              <a:t>, </a:t>
            </a:r>
            <a:r>
              <a:rPr lang="ko-KR" altLang="ko-KR" dirty="0" err="1">
                <a:solidFill>
                  <a:srgbClr val="00B050"/>
                </a:solidFill>
              </a:rPr>
              <a:t>피연산자는</a:t>
            </a:r>
            <a:r>
              <a:rPr lang="ko-KR" altLang="ko-KR" dirty="0">
                <a:solidFill>
                  <a:srgbClr val="00B050"/>
                </a:solidFill>
              </a:rPr>
              <a:t> 출력</a:t>
            </a:r>
            <a:endParaRPr lang="en-US" altLang="ko-KR" dirty="0">
              <a:solidFill>
                <a:srgbClr val="00B050"/>
              </a:solidFill>
            </a:endParaRPr>
          </a:p>
          <a:p>
            <a:r>
              <a:rPr lang="ko-KR" altLang="ko-KR" dirty="0"/>
              <a:t>입력을 좌에서 우로 문자를 </a:t>
            </a:r>
            <a:r>
              <a:rPr lang="en-US" altLang="ko-KR" dirty="0"/>
              <a:t>1</a:t>
            </a:r>
            <a:r>
              <a:rPr lang="ko-KR" altLang="ko-KR" dirty="0"/>
              <a:t>개씩 읽는다</a:t>
            </a:r>
            <a:r>
              <a:rPr lang="en-US" altLang="ko-KR" dirty="0"/>
              <a:t>. </a:t>
            </a:r>
            <a:r>
              <a:rPr lang="ko-KR" altLang="ko-KR" dirty="0"/>
              <a:t>읽은 문자가</a:t>
            </a:r>
          </a:p>
          <a:p>
            <a:pPr marL="1071563" lvl="0" indent="-514350">
              <a:buFont typeface="+mj-lt"/>
              <a:buAutoNum type="arabicPeriod"/>
            </a:pPr>
            <a:r>
              <a:rPr lang="ko-KR" altLang="ko-KR" dirty="0"/>
              <a:t>피연산자이면</a:t>
            </a:r>
            <a:r>
              <a:rPr lang="en-US" altLang="ko-KR" dirty="0"/>
              <a:t>, </a:t>
            </a:r>
            <a:r>
              <a:rPr lang="ko-KR" altLang="ko-KR" dirty="0"/>
              <a:t>읽은 문자를 출력</a:t>
            </a:r>
          </a:p>
          <a:p>
            <a:pPr marL="1071563" lvl="0" indent="-514350">
              <a:buFont typeface="+mj-lt"/>
              <a:buAutoNum type="arabicPeriod"/>
            </a:pPr>
            <a:r>
              <a:rPr lang="ko-KR" altLang="ko-KR" dirty="0"/>
              <a:t>왼쪽 괄호이면</a:t>
            </a:r>
            <a:r>
              <a:rPr lang="en-US" altLang="ko-KR" dirty="0"/>
              <a:t>, push</a:t>
            </a:r>
            <a:endParaRPr lang="ko-KR" altLang="ko-KR" dirty="0"/>
          </a:p>
          <a:p>
            <a:pPr marL="1071563" lvl="0" indent="-514350">
              <a:buFont typeface="+mj-lt"/>
              <a:buAutoNum type="arabicPeriod"/>
            </a:pPr>
            <a:r>
              <a:rPr lang="ko-KR" altLang="ko-KR" dirty="0"/>
              <a:t>오른쪽 괄호이면</a:t>
            </a:r>
            <a:r>
              <a:rPr lang="en-US" altLang="ko-KR" dirty="0"/>
              <a:t>, </a:t>
            </a:r>
            <a:r>
              <a:rPr lang="ko-KR" altLang="ko-KR" dirty="0"/>
              <a:t>왼쪽 괄호가 나올 때까지 </a:t>
            </a:r>
            <a:r>
              <a:rPr lang="en-US" altLang="ko-KR" dirty="0"/>
              <a:t>pop</a:t>
            </a:r>
            <a:r>
              <a:rPr lang="ko-KR" altLang="ko-KR" dirty="0"/>
              <a:t>하여 출력</a:t>
            </a:r>
            <a:r>
              <a:rPr lang="en-US" altLang="ko-KR" dirty="0"/>
              <a:t>. </a:t>
            </a:r>
            <a:r>
              <a:rPr lang="ko-KR" altLang="ko-KR" sz="2200" dirty="0"/>
              <a:t>단</a:t>
            </a:r>
            <a:r>
              <a:rPr lang="en-US" altLang="ko-KR" sz="2200" dirty="0"/>
              <a:t>, </a:t>
            </a:r>
            <a:r>
              <a:rPr lang="ko-KR" altLang="ko-KR" sz="2200" dirty="0"/>
              <a:t>오른쪽이나 왼쪽 괄호는 출력하지 않</a:t>
            </a:r>
            <a:r>
              <a:rPr lang="ko-KR" altLang="en-US" sz="2200" dirty="0"/>
              <a:t>음</a:t>
            </a:r>
            <a:endParaRPr lang="en-US" altLang="ko-KR" dirty="0"/>
          </a:p>
          <a:p>
            <a:pPr marL="1071563" lvl="0" indent="-514350">
              <a:buFont typeface="+mj-lt"/>
              <a:buAutoNum type="arabicPeriod"/>
            </a:pPr>
            <a:r>
              <a:rPr lang="ko-KR" altLang="en-US" dirty="0"/>
              <a:t>연</a:t>
            </a:r>
            <a:r>
              <a:rPr lang="ko-KR" altLang="ko-KR" dirty="0"/>
              <a:t>산자이면</a:t>
            </a:r>
            <a:r>
              <a:rPr lang="en-US" altLang="ko-KR" dirty="0"/>
              <a:t>, </a:t>
            </a:r>
            <a:r>
              <a:rPr lang="ko-KR" altLang="ko-KR" dirty="0"/>
              <a:t>자신의 우선순위보다 낮은 연산자가 스택 </a:t>
            </a:r>
            <a:r>
              <a:rPr lang="en-US" altLang="ko-KR" dirty="0"/>
              <a:t>top</a:t>
            </a:r>
            <a:r>
              <a:rPr lang="ko-KR" altLang="ko-KR" dirty="0"/>
              <a:t>에 </a:t>
            </a:r>
            <a:r>
              <a:rPr lang="ko-KR" altLang="en-US" dirty="0"/>
              <a:t>나타날</a:t>
            </a:r>
            <a:r>
              <a:rPr lang="ko-KR" altLang="ko-KR" dirty="0"/>
              <a:t> 때까지 </a:t>
            </a:r>
            <a:r>
              <a:rPr lang="en-US" altLang="ko-KR" dirty="0"/>
              <a:t>pop</a:t>
            </a:r>
            <a:r>
              <a:rPr lang="ko-KR" altLang="ko-KR" dirty="0"/>
              <a:t>하여 출력하고 읽은 연산자를 </a:t>
            </a:r>
            <a:r>
              <a:rPr lang="en-US" altLang="ko-KR" dirty="0"/>
              <a:t>push</a:t>
            </a:r>
            <a:endParaRPr lang="ko-KR" altLang="ko-KR" dirty="0"/>
          </a:p>
          <a:p>
            <a:r>
              <a:rPr lang="ko-KR" altLang="ko-KR" dirty="0"/>
              <a:t>입력을 모두 읽었으면 스택이</a:t>
            </a:r>
            <a:r>
              <a:rPr lang="en-US" altLang="ko-KR" dirty="0"/>
              <a:t> empty</a:t>
            </a:r>
            <a:r>
              <a:rPr lang="ko-KR" altLang="ko-KR" dirty="0"/>
              <a:t>될 때까지 </a:t>
            </a:r>
            <a:r>
              <a:rPr lang="en-US" altLang="ko-KR" dirty="0"/>
              <a:t>pop</a:t>
            </a:r>
            <a:r>
              <a:rPr lang="ko-KR" altLang="ko-KR" dirty="0"/>
              <a:t> 출력</a:t>
            </a:r>
          </a:p>
          <a:p>
            <a:pPr marL="1071563" lvl="0" indent="-514350">
              <a:buFont typeface="+mj-lt"/>
              <a:buAutoNum type="arabicPeriod"/>
            </a:pPr>
            <a:endParaRPr lang="ko-KR" altLang="ko-KR" dirty="0"/>
          </a:p>
          <a:p>
            <a:endParaRPr lang="ko-KR" altLang="en-US" dirty="0">
              <a:solidFill>
                <a:srgbClr val="00B05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A5B6FC-766B-405D-8012-2BFA9955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8" y="1263316"/>
            <a:ext cx="495300" cy="762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90C917D-0753-4E1B-A535-97C98B91232B}"/>
              </a:ext>
            </a:extLst>
          </p:cNvPr>
          <p:cNvSpPr/>
          <p:nvPr/>
        </p:nvSpPr>
        <p:spPr>
          <a:xfrm>
            <a:off x="0" y="10142"/>
            <a:ext cx="160492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연습문제</a:t>
            </a: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986553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그림 7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92" y="1869357"/>
            <a:ext cx="8973308" cy="328274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직사각형 75"/>
          <p:cNvSpPr/>
          <p:nvPr/>
        </p:nvSpPr>
        <p:spPr>
          <a:xfrm>
            <a:off x="180072" y="320651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[</a:t>
            </a:r>
            <a:r>
              <a:rPr kumimoji="1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예제</a:t>
            </a:r>
            <a:r>
              <a:rPr kumimoji="1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]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80072" y="320651"/>
            <a:ext cx="160492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연습문제</a:t>
            </a: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82621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ko-KR" sz="2400" dirty="0"/>
              <a:t>큐</a:t>
            </a:r>
            <a:r>
              <a:rPr lang="en-US" altLang="ko-KR" sz="2400" dirty="0"/>
              <a:t>(Queue):</a:t>
            </a:r>
            <a:r>
              <a:rPr lang="ko-KR" altLang="ko-KR" sz="2400" dirty="0"/>
              <a:t> 삽입과 삭제가 양 끝에서 각각 수행되는 자료구조</a:t>
            </a:r>
            <a:endParaRPr lang="en-US" altLang="ko-KR" sz="2400" dirty="0"/>
          </a:p>
          <a:p>
            <a:pPr>
              <a:lnSpc>
                <a:spcPct val="130000"/>
              </a:lnSpc>
            </a:pPr>
            <a:r>
              <a:rPr lang="ko-KR" altLang="ko-KR" sz="2400" dirty="0"/>
              <a:t>일상생활의 관공서</a:t>
            </a:r>
            <a:r>
              <a:rPr lang="en-US" altLang="ko-KR" sz="2400" dirty="0"/>
              <a:t>, </a:t>
            </a:r>
            <a:r>
              <a:rPr lang="ko-KR" altLang="ko-KR" sz="2400" dirty="0"/>
              <a:t>은행</a:t>
            </a:r>
            <a:r>
              <a:rPr lang="en-US" altLang="ko-KR" sz="2400" dirty="0"/>
              <a:t>, </a:t>
            </a:r>
            <a:r>
              <a:rPr lang="ko-KR" altLang="ko-KR" sz="2400" dirty="0"/>
              <a:t>우체국</a:t>
            </a:r>
            <a:r>
              <a:rPr lang="en-US" altLang="ko-KR" sz="2400" dirty="0"/>
              <a:t>, </a:t>
            </a:r>
            <a:r>
              <a:rPr lang="ko-KR" altLang="ko-KR" sz="2400" dirty="0"/>
              <a:t>병원 등에서 번호표를 </a:t>
            </a:r>
            <a:r>
              <a:rPr lang="ko-KR" altLang="ko-KR" sz="2400"/>
              <a:t>이용한 줄서기</a:t>
            </a:r>
            <a:endParaRPr lang="en-US" altLang="ko-KR" sz="2400" dirty="0"/>
          </a:p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ko-KR" altLang="ko-KR" sz="2400" dirty="0">
                <a:solidFill>
                  <a:srgbClr val="00B0F0"/>
                </a:solidFill>
              </a:rPr>
              <a:t>선입 선출</a:t>
            </a:r>
            <a:r>
              <a:rPr lang="en-US" altLang="ko-KR" sz="2400" dirty="0">
                <a:solidFill>
                  <a:srgbClr val="00B0F0"/>
                </a:solidFill>
              </a:rPr>
              <a:t>(First-In First-Out, </a:t>
            </a:r>
            <a:r>
              <a:rPr lang="en-US" altLang="ko-KR" sz="2400">
                <a:solidFill>
                  <a:srgbClr val="00B0F0"/>
                </a:solidFill>
              </a:rPr>
              <a:t>FIFO)</a:t>
            </a:r>
            <a:endParaRPr lang="ko-KR" altLang="en-US" sz="2400" dirty="0"/>
          </a:p>
        </p:txBody>
      </p:sp>
      <p:pic>
        <p:nvPicPr>
          <p:cNvPr id="4" name="그림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140" y="4100945"/>
            <a:ext cx="3336152" cy="2503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1530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72191" y="620290"/>
            <a:ext cx="28616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파이썬 리스트 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큐</a:t>
            </a:r>
            <a:endParaRPr lang="ko-KR" altLang="en-US" sz="26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1" y="1670050"/>
            <a:ext cx="8703321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09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40" y="777635"/>
            <a:ext cx="7156450" cy="4395766"/>
          </a:xfrm>
          <a:prstGeom prst="rect">
            <a:avLst/>
          </a:prstGeom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3733539" y="5585714"/>
            <a:ext cx="2025650" cy="6330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sz="2000" dirty="0">
                <a:solidFill>
                  <a:schemeClr val="tx1"/>
                </a:solidFill>
                <a:latin typeface="+mn-ea"/>
                <a:ea typeface="+mn-ea"/>
              </a:rPr>
              <a:t>프로그램 </a:t>
            </a:r>
            <a:r>
              <a:rPr lang="en-US" altLang="ko-KR" sz="2000" dirty="0">
                <a:solidFill>
                  <a:schemeClr val="tx1"/>
                </a:solidFill>
                <a:latin typeface="+mn-ea"/>
                <a:ea typeface="+mn-ea"/>
              </a:rPr>
              <a:t>3-3]</a:t>
            </a:r>
            <a:endParaRPr lang="ko-KR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967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5577"/>
            <a:ext cx="9151938" cy="181508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9D968A4-BFE2-4D1B-AD80-15E06EDF3C6E}"/>
              </a:ext>
            </a:extLst>
          </p:cNvPr>
          <p:cNvSpPr/>
          <p:nvPr/>
        </p:nvSpPr>
        <p:spPr>
          <a:xfrm>
            <a:off x="2791824" y="1133062"/>
            <a:ext cx="3127779" cy="5143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 수행 결과</a:t>
            </a:r>
            <a:endParaRPr kumimoji="1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C43DFC-AF26-4CEC-975D-83D347F57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54" y="904427"/>
            <a:ext cx="792000" cy="74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07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32956" y="571050"/>
            <a:ext cx="307808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6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단순 연결 리스트</a:t>
            </a:r>
            <a:r>
              <a:rPr lang="ko-KR" altLang="ko-KR" sz="26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6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큐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87" y="1546224"/>
            <a:ext cx="8012113" cy="424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14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25" y="1449387"/>
            <a:ext cx="7943450" cy="337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22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28" y="1046619"/>
            <a:ext cx="8421543" cy="4140200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4061999" y="5681069"/>
            <a:ext cx="2025650" cy="6330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sz="2000" dirty="0">
                <a:solidFill>
                  <a:schemeClr val="tx1"/>
                </a:solidFill>
                <a:latin typeface="+mn-ea"/>
                <a:ea typeface="+mn-ea"/>
              </a:rPr>
              <a:t>프로그램 </a:t>
            </a:r>
            <a:r>
              <a:rPr lang="en-US" altLang="ko-KR" sz="2000" dirty="0">
                <a:solidFill>
                  <a:schemeClr val="tx1"/>
                </a:solidFill>
                <a:latin typeface="+mn-ea"/>
                <a:ea typeface="+mn-ea"/>
              </a:rPr>
              <a:t>3-4]</a:t>
            </a:r>
            <a:endParaRPr lang="ko-KR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97476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6774"/>
            <a:ext cx="9144000" cy="168828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35DD8E0-F57B-4476-9F3F-E86F367F53EC}"/>
              </a:ext>
            </a:extLst>
          </p:cNvPr>
          <p:cNvSpPr/>
          <p:nvPr/>
        </p:nvSpPr>
        <p:spPr>
          <a:xfrm>
            <a:off x="2791824" y="1133062"/>
            <a:ext cx="3127779" cy="5143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 수행 결과</a:t>
            </a:r>
            <a:endParaRPr kumimoji="1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DCAB1F-FED5-4D60-A51A-929F682DB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54" y="904427"/>
            <a:ext cx="792000" cy="74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063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709802"/>
            <a:ext cx="7886700" cy="503554"/>
          </a:xfrm>
        </p:spPr>
        <p:txBody>
          <a:bodyPr/>
          <a:lstStyle/>
          <a:p>
            <a:pPr algn="ctr"/>
            <a:r>
              <a:rPr lang="ko-KR" altLang="ko-KR" dirty="0"/>
              <a:t>큐 자료구조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응용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7568" y="1906167"/>
            <a:ext cx="7886700" cy="4643905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ko-KR" sz="2400" dirty="0"/>
              <a:t>CPU</a:t>
            </a:r>
            <a:r>
              <a:rPr lang="ko-KR" altLang="ko-KR" sz="2400" dirty="0"/>
              <a:t>의 태스크 스케줄링</a:t>
            </a:r>
            <a:r>
              <a:rPr lang="en-US" altLang="ko-KR" sz="2400" dirty="0"/>
              <a:t>(Task Scheduling)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400" dirty="0"/>
              <a:t>네트워크 프린터</a:t>
            </a:r>
            <a:endParaRPr lang="en-US" altLang="ko-KR" sz="2400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400" dirty="0"/>
              <a:t>실시간</a:t>
            </a:r>
            <a:r>
              <a:rPr lang="en-US" altLang="ko-KR" sz="2400" dirty="0"/>
              <a:t>(Real-time) </a:t>
            </a:r>
            <a:r>
              <a:rPr lang="ko-KR" altLang="ko-KR" sz="2400" dirty="0"/>
              <a:t>시스템의 인터럽트</a:t>
            </a:r>
            <a:r>
              <a:rPr lang="en-US" altLang="ko-KR" sz="2400" dirty="0"/>
              <a:t>(Interrupt) </a:t>
            </a:r>
            <a:r>
              <a:rPr lang="ko-KR" altLang="ko-KR" sz="2400" dirty="0"/>
              <a:t>처리</a:t>
            </a:r>
            <a:r>
              <a:rPr lang="en-US" altLang="ko-KR" sz="2400" dirty="0"/>
              <a:t>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400" dirty="0"/>
              <a:t>다양한 이벤트 구동 방식</a:t>
            </a:r>
            <a:r>
              <a:rPr lang="en-US" altLang="ko-KR" sz="2400" dirty="0"/>
              <a:t>(Event-driven) </a:t>
            </a:r>
            <a:r>
              <a:rPr lang="ko-KR" altLang="ko-KR" sz="2400" dirty="0"/>
              <a:t>컴퓨터 시뮬레이션</a:t>
            </a:r>
            <a:endParaRPr lang="en-US" altLang="ko-KR" sz="2400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400" dirty="0"/>
              <a:t>콜 센터의 전화 서비스 처리 등</a:t>
            </a:r>
            <a:endParaRPr lang="en-US" altLang="ko-KR" sz="2400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ko-KR" sz="2400">
                <a:latin typeface="Consolas" panose="020B0609020204030204" pitchFamily="49" charset="0"/>
              </a:rPr>
              <a:t>Part 4</a:t>
            </a:r>
            <a:r>
              <a:rPr lang="ko-KR" altLang="ko-KR" sz="2400"/>
              <a:t>의 이진</a:t>
            </a:r>
            <a:r>
              <a:rPr lang="en-US" altLang="ko-KR" sz="2400"/>
              <a:t> </a:t>
            </a:r>
            <a:r>
              <a:rPr lang="ko-KR" altLang="ko-KR" sz="2400"/>
              <a:t>트리의 레벨</a:t>
            </a:r>
            <a:r>
              <a:rPr lang="en-US" altLang="ko-KR" sz="2400"/>
              <a:t> </a:t>
            </a:r>
            <a:r>
              <a:rPr lang="ko-KR" altLang="ko-KR" sz="2400"/>
              <a:t>순회</a:t>
            </a:r>
            <a:r>
              <a:rPr lang="en-US" altLang="ko-KR" sz="2400" dirty="0"/>
              <a:t>(Level-order Traversal)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ko-KR" sz="2400">
                <a:latin typeface="Consolas" panose="020B0609020204030204" pitchFamily="49" charset="0"/>
              </a:rPr>
              <a:t>Part 8</a:t>
            </a:r>
            <a:r>
              <a:rPr lang="ko-KR" altLang="ko-KR" sz="2400">
                <a:latin typeface="Consolas" panose="020B0609020204030204" pitchFamily="49" charset="0"/>
              </a:rPr>
              <a:t> </a:t>
            </a:r>
            <a:r>
              <a:rPr lang="ko-KR" altLang="ko-KR" sz="2400"/>
              <a:t>그래프에서 너비</a:t>
            </a:r>
            <a:r>
              <a:rPr lang="en-US" altLang="ko-KR" sz="2400"/>
              <a:t> </a:t>
            </a:r>
            <a:r>
              <a:rPr lang="ko-KR" altLang="ko-KR" sz="2400"/>
              <a:t>우선</a:t>
            </a:r>
            <a:r>
              <a:rPr lang="en-US" altLang="ko-KR" sz="2400"/>
              <a:t> </a:t>
            </a:r>
            <a:r>
              <a:rPr lang="ko-KR" altLang="ko-KR" sz="2400"/>
              <a:t>탐색</a:t>
            </a:r>
            <a:r>
              <a:rPr lang="en-US" altLang="ko-KR" sz="2400" dirty="0"/>
              <a:t>(Breath-First Search) </a:t>
            </a:r>
            <a:r>
              <a:rPr lang="ko-KR" altLang="en-US" sz="2400" dirty="0"/>
              <a:t>등</a:t>
            </a:r>
            <a:endParaRPr lang="ko-KR" altLang="ko-KR" sz="2400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A420248-2FA8-4843-B73D-5D3091AD8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03" y="193300"/>
            <a:ext cx="17621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502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/>
              <a:t>수행 시간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lang="ko-KR" altLang="ko-KR" sz="2400" dirty="0"/>
              <a:t>리스트로 구현한 큐의 </a:t>
            </a:r>
            <a:r>
              <a:rPr lang="en-US" altLang="ko-KR" sz="2400" dirty="0"/>
              <a:t>add</a:t>
            </a:r>
            <a:r>
              <a:rPr lang="ko-KR" altLang="ko-KR" sz="2400" dirty="0"/>
              <a:t>와 </a:t>
            </a:r>
            <a:r>
              <a:rPr lang="en-US" altLang="ko-KR" sz="2400"/>
              <a:t>remove </a:t>
            </a:r>
            <a:r>
              <a:rPr lang="ko-KR" altLang="ko-KR" sz="2400"/>
              <a:t>연산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ko-KR" altLang="ko-KR" sz="2400" dirty="0"/>
              <a:t>각각 </a:t>
            </a:r>
            <a:r>
              <a:rPr lang="en-US" altLang="ko-KR" sz="2400" dirty="0">
                <a:solidFill>
                  <a:srgbClr val="00B0F0"/>
                </a:solidFill>
              </a:rPr>
              <a:t>O(1</a:t>
            </a:r>
            <a:r>
              <a:rPr lang="en-US" altLang="ko-KR" sz="2400">
                <a:solidFill>
                  <a:srgbClr val="00B0F0"/>
                </a:solidFill>
              </a:rPr>
              <a:t>) </a:t>
            </a:r>
            <a:r>
              <a:rPr lang="ko-KR" altLang="ko-KR" sz="2400">
                <a:solidFill>
                  <a:srgbClr val="00B0F0"/>
                </a:solidFill>
              </a:rPr>
              <a:t>시간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 marL="714375" lvl="1" indent="-257175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altLang="ko-KR"/>
              <a:t>- </a:t>
            </a:r>
            <a:r>
              <a:rPr lang="ko-KR" altLang="ko-KR"/>
              <a:t>리스트 크기를 확대</a:t>
            </a:r>
            <a:r>
              <a:rPr lang="en-US" altLang="ko-KR"/>
              <a:t>/</a:t>
            </a:r>
            <a:r>
              <a:rPr lang="ko-KR" altLang="ko-KR"/>
              <a:t>축소시키는 </a:t>
            </a:r>
            <a:r>
              <a:rPr lang="ko-KR" altLang="ko-KR" dirty="0"/>
              <a:t>경우에 큐의 </a:t>
            </a:r>
            <a:r>
              <a:rPr lang="ko-KR" altLang="ko-KR"/>
              <a:t>모든 항목을 새 리스트</a:t>
            </a:r>
            <a:r>
              <a:rPr lang="ko-KR" altLang="en-US"/>
              <a:t>에</a:t>
            </a:r>
            <a:r>
              <a:rPr lang="ko-KR" altLang="ko-KR"/>
              <a:t> </a:t>
            </a:r>
            <a:r>
              <a:rPr lang="ko-KR" altLang="ko-KR" dirty="0"/>
              <a:t>복사해야 하므로 </a:t>
            </a:r>
            <a:r>
              <a:rPr lang="en-US" altLang="ko-KR">
                <a:solidFill>
                  <a:srgbClr val="00B0F0"/>
                </a:solidFill>
              </a:rPr>
              <a:t>O(n) </a:t>
            </a:r>
            <a:r>
              <a:rPr lang="ko-KR" altLang="ko-KR">
                <a:solidFill>
                  <a:srgbClr val="00B0F0"/>
                </a:solidFill>
              </a:rPr>
              <a:t>시간</a:t>
            </a:r>
            <a:endParaRPr lang="en-US" altLang="ko-KR" dirty="0"/>
          </a:p>
          <a:p>
            <a:pPr>
              <a:lnSpc>
                <a:spcPct val="110000"/>
              </a:lnSpc>
              <a:spcBef>
                <a:spcPts val="2400"/>
              </a:spcBef>
              <a:spcAft>
                <a:spcPts val="1800"/>
              </a:spcAft>
            </a:pPr>
            <a:r>
              <a:rPr lang="ko-KR" altLang="ko-KR" sz="2400"/>
              <a:t>단순</a:t>
            </a:r>
            <a:r>
              <a:rPr lang="en-US" altLang="ko-KR" sz="2400"/>
              <a:t> </a:t>
            </a:r>
            <a:r>
              <a:rPr lang="ko-KR" altLang="ko-KR" sz="2400"/>
              <a:t>연결</a:t>
            </a:r>
            <a:r>
              <a:rPr lang="en-US" altLang="ko-KR" sz="2400"/>
              <a:t> </a:t>
            </a:r>
            <a:r>
              <a:rPr lang="ko-KR" altLang="ko-KR" sz="2400"/>
              <a:t>리스트 </a:t>
            </a:r>
            <a:r>
              <a:rPr lang="ko-KR" altLang="ko-KR" sz="2400" dirty="0"/>
              <a:t>큐의 </a:t>
            </a:r>
            <a:r>
              <a:rPr lang="en-US" altLang="ko-KR" sz="2400" dirty="0"/>
              <a:t>add</a:t>
            </a:r>
            <a:r>
              <a:rPr lang="ko-KR" altLang="ko-KR" sz="2400" dirty="0"/>
              <a:t>와 </a:t>
            </a:r>
            <a:r>
              <a:rPr lang="en-US" altLang="ko-KR" sz="2400" dirty="0"/>
              <a:t>remove </a:t>
            </a:r>
            <a:r>
              <a:rPr lang="ko-KR" altLang="ko-KR" sz="2400" dirty="0"/>
              <a:t>연산은 각각 </a:t>
            </a:r>
            <a:r>
              <a:rPr lang="en-US" altLang="ko-KR" sz="2400" dirty="0">
                <a:solidFill>
                  <a:srgbClr val="00B0F0"/>
                </a:solidFill>
              </a:rPr>
              <a:t>O(1) </a:t>
            </a:r>
            <a:r>
              <a:rPr lang="ko-KR" altLang="ko-KR" sz="2400" dirty="0">
                <a:solidFill>
                  <a:srgbClr val="00B0F0"/>
                </a:solidFill>
              </a:rPr>
              <a:t>시간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 marL="714375" lvl="2" indent="-271463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altLang="ko-KR" sz="22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ko-KR" sz="22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삽입 </a:t>
            </a:r>
            <a:r>
              <a:rPr lang="ko-KR" altLang="ko-KR" sz="2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또는 삭제 연산이</a:t>
            </a:r>
            <a:r>
              <a:rPr lang="en-US" altLang="ko-KR" sz="2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rear </a:t>
            </a:r>
            <a:r>
              <a:rPr lang="ko-KR" altLang="ko-KR" sz="2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</a:t>
            </a:r>
            <a:r>
              <a:rPr lang="en-US" altLang="ko-KR" sz="2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front</a:t>
            </a:r>
            <a:r>
              <a:rPr lang="ko-KR" altLang="ko-KR" sz="2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로 </a:t>
            </a:r>
            <a:r>
              <a:rPr lang="ko-KR" altLang="ko-KR" sz="22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인해 연결</a:t>
            </a:r>
            <a:r>
              <a:rPr lang="en-US" altLang="ko-KR" sz="22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2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리스트의 다른 노드</a:t>
            </a:r>
            <a:r>
              <a:rPr lang="ko-KR" altLang="en-US" sz="22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</a:t>
            </a:r>
            <a:r>
              <a:rPr lang="ko-KR" altLang="ko-KR" sz="22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방문할 </a:t>
            </a:r>
            <a:r>
              <a:rPr lang="ko-KR" altLang="ko-KR" sz="22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필요 없</a:t>
            </a:r>
            <a:r>
              <a:rPr lang="ko-KR" altLang="en-US" sz="22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음</a:t>
            </a:r>
            <a:endParaRPr lang="ko-KR" altLang="en-US" sz="22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48713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</a:t>
            </a:r>
            <a:r>
              <a:rPr lang="ko-KR" altLang="en-US" dirty="0" err="1"/>
              <a:t>데크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789470"/>
            <a:ext cx="7886700" cy="47027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</a:pPr>
            <a:r>
              <a:rPr lang="ko-KR" altLang="ko-KR" sz="2400" dirty="0" err="1">
                <a:solidFill>
                  <a:srgbClr val="00B0F0"/>
                </a:solidFill>
              </a:rPr>
              <a:t>데크</a:t>
            </a:r>
            <a:r>
              <a:rPr lang="en-US" altLang="ko-KR" sz="2400" dirty="0">
                <a:solidFill>
                  <a:srgbClr val="00B0F0"/>
                </a:solidFill>
              </a:rPr>
              <a:t>(Double-ended Queue, </a:t>
            </a:r>
            <a:r>
              <a:rPr lang="en-US" altLang="ko-KR" sz="2400" dirty="0" err="1">
                <a:solidFill>
                  <a:srgbClr val="00B0F0"/>
                </a:solidFill>
              </a:rPr>
              <a:t>Deque</a:t>
            </a:r>
            <a:r>
              <a:rPr lang="en-US" altLang="ko-KR" sz="2400" dirty="0">
                <a:solidFill>
                  <a:srgbClr val="00B0F0"/>
                </a:solidFill>
              </a:rPr>
              <a:t>)</a:t>
            </a:r>
            <a:r>
              <a:rPr lang="en-US" altLang="ko-KR" sz="2400" dirty="0"/>
              <a:t>:</a:t>
            </a:r>
            <a:r>
              <a:rPr lang="ko-KR" altLang="ko-KR" sz="2400" dirty="0"/>
              <a:t> 양쪽 끝에서 삽입과 삭제를 허용하는 자료구조</a:t>
            </a:r>
            <a:r>
              <a:rPr lang="en-US" altLang="ko-KR" sz="2400" dirty="0"/>
              <a:t>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ko-KR" altLang="ko-KR" sz="2400" dirty="0" err="1"/>
              <a:t>데크는</a:t>
            </a:r>
            <a:r>
              <a:rPr lang="ko-KR" altLang="ko-KR" sz="2400" dirty="0"/>
              <a:t> 스택과 큐 자료구조를 혼합한 자료구조</a:t>
            </a:r>
            <a:endParaRPr lang="en-US" altLang="ko-KR" sz="2400" dirty="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ko-KR" altLang="ko-KR" sz="2400" dirty="0"/>
              <a:t>따라서 </a:t>
            </a:r>
            <a:r>
              <a:rPr lang="ko-KR" altLang="ko-KR" sz="2400" dirty="0" err="1"/>
              <a:t>데크는</a:t>
            </a:r>
            <a:r>
              <a:rPr lang="ko-KR" altLang="ko-KR" sz="2400" dirty="0"/>
              <a:t> 스택과 큐를 동시에 구현하는데 사용</a:t>
            </a:r>
            <a:endParaRPr lang="ko-KR" altLang="en-US" sz="2400" dirty="0"/>
          </a:p>
        </p:txBody>
      </p:sp>
      <p:pic>
        <p:nvPicPr>
          <p:cNvPr id="4" name="그림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086" y="4266466"/>
            <a:ext cx="5398327" cy="15205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43885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835062"/>
            <a:ext cx="7886700" cy="503554"/>
          </a:xfrm>
        </p:spPr>
        <p:txBody>
          <a:bodyPr/>
          <a:lstStyle/>
          <a:p>
            <a:pPr algn="ctr"/>
            <a:r>
              <a:rPr lang="ko-KR" altLang="en-US"/>
              <a:t>데크의 응용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373744"/>
            <a:ext cx="7886700" cy="411849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dirty="0"/>
              <a:t>스크롤</a:t>
            </a:r>
            <a:r>
              <a:rPr lang="en-US" altLang="ko-KR" dirty="0"/>
              <a:t>(Scroll)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dirty="0"/>
              <a:t>문서 편집기 등의</a:t>
            </a:r>
            <a:r>
              <a:rPr lang="en-US" altLang="ko-KR" dirty="0"/>
              <a:t> undo </a:t>
            </a:r>
            <a:r>
              <a:rPr lang="ko-KR" altLang="ko-KR" dirty="0"/>
              <a:t>연산</a:t>
            </a:r>
            <a:endParaRPr lang="en-US" altLang="ko-KR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dirty="0"/>
              <a:t>웹 브라우저의 방문 </a:t>
            </a:r>
            <a:r>
              <a:rPr lang="ko-KR" altLang="ko-KR"/>
              <a:t>기록 등</a:t>
            </a:r>
            <a:endParaRPr lang="en-US" altLang="ko-KR"/>
          </a:p>
          <a:p>
            <a:pPr marL="628650" lvl="1" indent="-17145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ko-KR" sz="2200">
                <a:solidFill>
                  <a:prstClr val="black"/>
                </a:solidFill>
              </a:rPr>
              <a:t>- </a:t>
            </a:r>
            <a:r>
              <a:rPr lang="ko-KR" altLang="ko-KR" sz="2200">
                <a:solidFill>
                  <a:prstClr val="black"/>
                </a:solidFill>
              </a:rPr>
              <a:t>웹 브라우저 방문 기록의 경우</a:t>
            </a:r>
            <a:r>
              <a:rPr lang="en-US" altLang="ko-KR" sz="2200">
                <a:solidFill>
                  <a:prstClr val="black"/>
                </a:solidFill>
              </a:rPr>
              <a:t>, </a:t>
            </a:r>
            <a:r>
              <a:rPr lang="ko-KR" altLang="ko-KR" sz="2200">
                <a:solidFill>
                  <a:prstClr val="black"/>
                </a:solidFill>
              </a:rPr>
              <a:t>최근 방문</a:t>
            </a:r>
            <a:r>
              <a:rPr lang="ko-KR" altLang="en-US" sz="2200">
                <a:solidFill>
                  <a:prstClr val="black"/>
                </a:solidFill>
              </a:rPr>
              <a:t>한</a:t>
            </a:r>
            <a:r>
              <a:rPr lang="ko-KR" altLang="ko-KR" sz="2200">
                <a:solidFill>
                  <a:prstClr val="black"/>
                </a:solidFill>
              </a:rPr>
              <a:t> 웹 페이지 주소는 앞에 삽입하고</a:t>
            </a:r>
            <a:r>
              <a:rPr lang="en-US" altLang="ko-KR" sz="2200">
                <a:solidFill>
                  <a:prstClr val="black"/>
                </a:solidFill>
              </a:rPr>
              <a:t>, </a:t>
            </a:r>
            <a:r>
              <a:rPr lang="ko-KR" altLang="ko-KR" sz="2200">
                <a:solidFill>
                  <a:prstClr val="black"/>
                </a:solidFill>
              </a:rPr>
              <a:t>일정 수의 새 주소들이 앞쪽에서 삽입되면 뒤에서 삭제가 수행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ko-KR" altLang="ko-KR"/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22F9A2-BB50-4025-AD7F-D7681A26D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93" y="313373"/>
            <a:ext cx="17621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556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600" err="1"/>
              <a:t>데크를</a:t>
            </a:r>
            <a:r>
              <a:rPr lang="ko-KR" altLang="ko-KR" sz="2600"/>
              <a:t> 이중</a:t>
            </a:r>
            <a:r>
              <a:rPr lang="en-US" altLang="ko-KR" sz="2600"/>
              <a:t> </a:t>
            </a:r>
            <a:r>
              <a:rPr lang="ko-KR" altLang="ko-KR" sz="2600"/>
              <a:t>연결</a:t>
            </a:r>
            <a:r>
              <a:rPr lang="en-US" altLang="ko-KR" sz="2600"/>
              <a:t> </a:t>
            </a:r>
            <a:r>
              <a:rPr lang="ko-KR" altLang="ko-KR" sz="2600"/>
              <a:t>리스트로 </a:t>
            </a:r>
            <a:r>
              <a:rPr lang="ko-KR" altLang="ko-KR" sz="2600" dirty="0"/>
              <a:t>구현</a:t>
            </a:r>
            <a:r>
              <a:rPr lang="ko-KR" altLang="en-US" sz="2600" dirty="0"/>
              <a:t>하는 것이 편리</a:t>
            </a:r>
            <a:endParaRPr lang="en-US" altLang="ko-KR" sz="2600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600"/>
              <a:t>단순</a:t>
            </a:r>
            <a:r>
              <a:rPr lang="en-US" altLang="ko-KR" sz="2600"/>
              <a:t> </a:t>
            </a:r>
            <a:r>
              <a:rPr lang="ko-KR" altLang="ko-KR" sz="2600"/>
              <a:t>연결</a:t>
            </a:r>
            <a:r>
              <a:rPr lang="en-US" altLang="ko-KR" sz="2600"/>
              <a:t> </a:t>
            </a:r>
            <a:r>
              <a:rPr lang="ko-KR" altLang="ko-KR" sz="2600"/>
              <a:t>리스트는</a:t>
            </a:r>
            <a:r>
              <a:rPr lang="ko-KR" altLang="en-US" sz="2600"/>
              <a:t> </a:t>
            </a:r>
            <a:r>
              <a:rPr lang="ko-KR" altLang="ko-KR" sz="2600"/>
              <a:t>노드의 </a:t>
            </a:r>
            <a:r>
              <a:rPr lang="ko-KR" altLang="ko-KR" sz="2600" dirty="0"/>
              <a:t>이전 노드의 레퍼런스를 </a:t>
            </a:r>
            <a:r>
              <a:rPr lang="ko-KR" altLang="ko-KR" sz="2600"/>
              <a:t>알아야 삭제</a:t>
            </a:r>
            <a:endParaRPr lang="ko-KR" altLang="ko-KR" sz="2600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ko-KR" altLang="ko-KR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77778"/>
            <a:ext cx="868680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360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400" dirty="0"/>
              <a:t>파이썬에는 데크가 </a:t>
            </a:r>
            <a:r>
              <a:rPr lang="en-US" altLang="ko-KR" sz="2400" dirty="0"/>
              <a:t>Collections </a:t>
            </a:r>
            <a:r>
              <a:rPr lang="ko-KR" altLang="ko-KR" sz="2400" dirty="0"/>
              <a:t>패키지에 정의되어 있</a:t>
            </a:r>
            <a:r>
              <a:rPr lang="ko-KR" altLang="en-US" sz="2400" dirty="0"/>
              <a:t>음</a:t>
            </a:r>
            <a:r>
              <a:rPr lang="en-US" altLang="ko-KR" sz="2400" dirty="0"/>
              <a:t>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400" dirty="0"/>
              <a:t>삽입</a:t>
            </a:r>
            <a:r>
              <a:rPr lang="en-US" altLang="ko-KR" sz="2400" dirty="0"/>
              <a:t>, </a:t>
            </a:r>
            <a:r>
              <a:rPr lang="ko-KR" altLang="ko-KR" sz="2400" dirty="0"/>
              <a:t>삭제 등의 연산은 파이썬의 </a:t>
            </a:r>
            <a:r>
              <a:rPr lang="ko-KR" altLang="ko-KR" sz="2400"/>
              <a:t>리스트의 연산과 </a:t>
            </a:r>
            <a:r>
              <a:rPr lang="ko-KR" altLang="ko-KR" sz="2400" dirty="0"/>
              <a:t>매우 유사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1705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66" y="1352593"/>
            <a:ext cx="8623176" cy="442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857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5302"/>
            <a:ext cx="9036000" cy="156837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2EAB902-4A02-47D7-8987-8B4562403CB4}"/>
              </a:ext>
            </a:extLst>
          </p:cNvPr>
          <p:cNvSpPr/>
          <p:nvPr/>
        </p:nvSpPr>
        <p:spPr>
          <a:xfrm>
            <a:off x="2791824" y="1133062"/>
            <a:ext cx="3127779" cy="5143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 수행 결과</a:t>
            </a:r>
            <a:endParaRPr kumimoji="1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2749F9-920D-43D6-82A1-4BB5D8554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54" y="904427"/>
            <a:ext cx="792000" cy="74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22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/>
              <a:t>수행 시간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923716"/>
            <a:ext cx="7886700" cy="3676984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Aft>
                <a:spcPts val="1800"/>
              </a:spcAft>
            </a:pPr>
            <a:r>
              <a:rPr lang="ko-KR" altLang="ko-KR" sz="2400" dirty="0" err="1"/>
              <a:t>데크를</a:t>
            </a:r>
            <a:r>
              <a:rPr lang="ko-KR" altLang="ko-KR" sz="2400" dirty="0"/>
              <a:t> </a:t>
            </a:r>
            <a:r>
              <a:rPr lang="ko-KR" altLang="ko-KR" sz="2400"/>
              <a:t>배열이나 이중</a:t>
            </a:r>
            <a:r>
              <a:rPr lang="en-US" altLang="ko-KR" sz="2400"/>
              <a:t> </a:t>
            </a:r>
            <a:r>
              <a:rPr lang="ko-KR" altLang="ko-KR" sz="2400"/>
              <a:t>연결</a:t>
            </a:r>
            <a:r>
              <a:rPr lang="en-US" altLang="ko-KR" sz="2400"/>
              <a:t> </a:t>
            </a:r>
            <a:r>
              <a:rPr lang="ko-KR" altLang="ko-KR" sz="2400"/>
              <a:t>리스트로 </a:t>
            </a:r>
            <a:r>
              <a:rPr lang="ko-KR" altLang="ko-KR" sz="2400" dirty="0"/>
              <a:t>구현한 경우</a:t>
            </a:r>
            <a:r>
              <a:rPr lang="en-US" altLang="ko-KR" sz="2400" dirty="0"/>
              <a:t>, </a:t>
            </a:r>
            <a:r>
              <a:rPr lang="ko-KR" altLang="ko-KR" sz="2400" dirty="0"/>
              <a:t>스택과 </a:t>
            </a:r>
            <a:r>
              <a:rPr lang="ko-KR" altLang="ko-KR" sz="2400"/>
              <a:t>큐의 수행</a:t>
            </a:r>
            <a:r>
              <a:rPr lang="en-US" altLang="ko-KR" sz="2400"/>
              <a:t> </a:t>
            </a:r>
            <a:r>
              <a:rPr lang="ko-KR" altLang="ko-KR" sz="2400"/>
              <a:t>시간</a:t>
            </a:r>
            <a:r>
              <a:rPr lang="ko-KR" altLang="en-US" sz="2400"/>
              <a:t>과 </a:t>
            </a:r>
            <a:r>
              <a:rPr lang="ko-KR" altLang="en-US" sz="2400" dirty="0"/>
              <a:t>동일</a:t>
            </a:r>
            <a:r>
              <a:rPr lang="en-US" altLang="ko-KR" sz="2400" dirty="0"/>
              <a:t> </a:t>
            </a:r>
          </a:p>
          <a:p>
            <a:pPr>
              <a:lnSpc>
                <a:spcPct val="140000"/>
              </a:lnSpc>
              <a:spcAft>
                <a:spcPts val="1800"/>
              </a:spcAft>
            </a:pPr>
            <a:r>
              <a:rPr lang="ko-KR" altLang="ko-KR" sz="2400" dirty="0"/>
              <a:t>양 끝에서 삽입과 삭제가 가능하므로 프로그램이 다소 복잡</a:t>
            </a:r>
            <a:endParaRPr lang="en-US" altLang="ko-KR" sz="2400" dirty="0"/>
          </a:p>
          <a:p>
            <a:pPr>
              <a:lnSpc>
                <a:spcPct val="140000"/>
              </a:lnSpc>
              <a:spcAft>
                <a:spcPts val="1800"/>
              </a:spcAft>
            </a:pPr>
            <a:r>
              <a:rPr lang="ko-KR" altLang="ko-KR" sz="2400"/>
              <a:t>이중</a:t>
            </a:r>
            <a:r>
              <a:rPr lang="en-US" altLang="ko-KR" sz="2400"/>
              <a:t> </a:t>
            </a:r>
            <a:r>
              <a:rPr lang="ko-KR" altLang="ko-KR" sz="2400"/>
              <a:t>연결</a:t>
            </a:r>
            <a:r>
              <a:rPr lang="en-US" altLang="ko-KR" sz="2400"/>
              <a:t> </a:t>
            </a:r>
            <a:r>
              <a:rPr lang="ko-KR" altLang="ko-KR" sz="2400"/>
              <a:t>리스트로 </a:t>
            </a:r>
            <a:r>
              <a:rPr lang="ko-KR" altLang="ko-KR" sz="2400" dirty="0"/>
              <a:t>구현한 경우는 더 복잡</a:t>
            </a:r>
            <a:r>
              <a:rPr lang="ko-KR" altLang="en-US" sz="2400" dirty="0"/>
              <a:t>함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5270054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요약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99290"/>
            <a:ext cx="7886700" cy="5228924"/>
          </a:xfrm>
        </p:spPr>
        <p:txBody>
          <a:bodyPr/>
          <a:lstStyle/>
          <a:p>
            <a:pPr lvl="0">
              <a:lnSpc>
                <a:spcPct val="100000"/>
              </a:lnSpc>
              <a:spcAft>
                <a:spcPts val="1800"/>
              </a:spcAft>
              <a:buClr>
                <a:schemeClr val="tx1"/>
              </a:buClr>
            </a:pPr>
            <a:r>
              <a:rPr lang="ko-KR" altLang="ko-KR" sz="2400" dirty="0">
                <a:solidFill>
                  <a:srgbClr val="00B0F0"/>
                </a:solidFill>
              </a:rPr>
              <a:t>스택</a:t>
            </a:r>
            <a:r>
              <a:rPr lang="ko-KR" altLang="ko-KR" sz="2400" dirty="0"/>
              <a:t>은 한 쪽 끝에서만</a:t>
            </a:r>
            <a:r>
              <a:rPr lang="en-US" altLang="ko-KR" sz="2400" dirty="0"/>
              <a:t> item</a:t>
            </a:r>
            <a:r>
              <a:rPr lang="ko-KR" altLang="ko-KR" sz="2400" dirty="0"/>
              <a:t>을 삭제하거나 새로운 </a:t>
            </a:r>
            <a:r>
              <a:rPr lang="en-US" altLang="ko-KR" sz="2400" dirty="0"/>
              <a:t>item</a:t>
            </a:r>
            <a:r>
              <a:rPr lang="ko-KR" altLang="ko-KR" sz="2400" dirty="0"/>
              <a:t>을 </a:t>
            </a:r>
            <a:r>
              <a:rPr lang="ko-KR" altLang="ko-KR" sz="2400"/>
              <a:t>저장하는 </a:t>
            </a:r>
            <a:r>
              <a:rPr lang="ko-KR" altLang="ko-KR" sz="2400">
                <a:solidFill>
                  <a:srgbClr val="00B0F0"/>
                </a:solidFill>
              </a:rPr>
              <a:t>후입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ko-KR" sz="2400">
                <a:solidFill>
                  <a:srgbClr val="00B0F0"/>
                </a:solidFill>
              </a:rPr>
              <a:t>선출</a:t>
            </a:r>
            <a:r>
              <a:rPr lang="en-US" altLang="ko-KR" sz="2400" dirty="0">
                <a:solidFill>
                  <a:srgbClr val="00B0F0"/>
                </a:solidFill>
              </a:rPr>
              <a:t>(LIFO)</a:t>
            </a:r>
            <a:r>
              <a:rPr lang="en-US" altLang="ko-KR" sz="2400" dirty="0"/>
              <a:t> </a:t>
            </a:r>
            <a:r>
              <a:rPr lang="ko-KR" altLang="ko-KR" sz="2400" dirty="0"/>
              <a:t>자료구조</a:t>
            </a:r>
          </a:p>
          <a:p>
            <a:pPr lvl="0">
              <a:lnSpc>
                <a:spcPct val="100000"/>
              </a:lnSpc>
              <a:spcAft>
                <a:spcPts val="1800"/>
              </a:spcAft>
            </a:pPr>
            <a:r>
              <a:rPr lang="ko-KR" altLang="ko-KR" sz="2400" dirty="0"/>
              <a:t>스택은 컴파일러의 괄호 짝 맞추기</a:t>
            </a:r>
            <a:r>
              <a:rPr lang="en-US" altLang="ko-KR" sz="2400" dirty="0"/>
              <a:t>, </a:t>
            </a:r>
            <a:r>
              <a:rPr lang="ko-KR" altLang="ko-KR" sz="2400" dirty="0"/>
              <a:t>회문 검사하기</a:t>
            </a:r>
            <a:r>
              <a:rPr lang="en-US" altLang="ko-KR" sz="2400"/>
              <a:t>, </a:t>
            </a:r>
            <a:r>
              <a:rPr lang="ko-KR" altLang="ko-KR" sz="2400"/>
              <a:t>후위</a:t>
            </a:r>
            <a:r>
              <a:rPr lang="en-US" altLang="ko-KR" sz="2400"/>
              <a:t> </a:t>
            </a:r>
            <a:r>
              <a:rPr lang="ko-KR" altLang="ko-KR" sz="2400"/>
              <a:t>표기</a:t>
            </a:r>
            <a:r>
              <a:rPr lang="en-US" altLang="ko-KR" sz="2400"/>
              <a:t> </a:t>
            </a:r>
            <a:r>
              <a:rPr lang="ko-KR" altLang="ko-KR" sz="2400"/>
              <a:t>수식 </a:t>
            </a:r>
            <a:r>
              <a:rPr lang="ko-KR" altLang="ko-KR" sz="2400" dirty="0"/>
              <a:t>계산하기</a:t>
            </a:r>
            <a:r>
              <a:rPr lang="en-US" altLang="ko-KR" sz="2400"/>
              <a:t>, </a:t>
            </a:r>
            <a:r>
              <a:rPr lang="ko-KR" altLang="ko-KR" sz="2400"/>
              <a:t>중위</a:t>
            </a:r>
            <a:r>
              <a:rPr lang="en-US" altLang="ko-KR" sz="2400"/>
              <a:t> </a:t>
            </a:r>
            <a:r>
              <a:rPr lang="ko-KR" altLang="ko-KR" sz="2400"/>
              <a:t>표기 수식을 후위</a:t>
            </a:r>
            <a:r>
              <a:rPr lang="en-US" altLang="ko-KR" sz="2400"/>
              <a:t> </a:t>
            </a:r>
            <a:r>
              <a:rPr lang="ko-KR" altLang="ko-KR" sz="2400"/>
              <a:t>표기로 </a:t>
            </a:r>
            <a:r>
              <a:rPr lang="ko-KR" altLang="ko-KR" sz="2400" dirty="0"/>
              <a:t>변환하기</a:t>
            </a:r>
            <a:r>
              <a:rPr lang="en-US" altLang="ko-KR" sz="2400" dirty="0"/>
              <a:t>, </a:t>
            </a:r>
            <a:r>
              <a:rPr lang="ko-KR" altLang="ko-KR" sz="2400" dirty="0"/>
              <a:t>미로 찾기</a:t>
            </a:r>
            <a:r>
              <a:rPr lang="en-US" altLang="ko-KR" sz="2400" dirty="0"/>
              <a:t>, </a:t>
            </a:r>
            <a:r>
              <a:rPr lang="ko-KR" altLang="ko-KR" sz="2400" dirty="0"/>
              <a:t>트리의 노드 방문</a:t>
            </a:r>
            <a:r>
              <a:rPr lang="en-US" altLang="ko-KR" sz="2400" dirty="0"/>
              <a:t>, </a:t>
            </a:r>
            <a:r>
              <a:rPr lang="ko-KR" altLang="ko-KR" sz="2400"/>
              <a:t>그래프의 </a:t>
            </a:r>
            <a:r>
              <a:rPr lang="en-US" altLang="ko-KR" sz="2400"/>
              <a:t>DFS</a:t>
            </a:r>
            <a:r>
              <a:rPr lang="ko-KR" altLang="ko-KR" sz="2400"/>
              <a:t>에 </a:t>
            </a:r>
            <a:r>
              <a:rPr lang="ko-KR" altLang="ko-KR" sz="2400" dirty="0"/>
              <a:t>사용</a:t>
            </a:r>
            <a:r>
              <a:rPr lang="en-US" altLang="ko-KR" sz="2400" dirty="0"/>
              <a:t>. </a:t>
            </a:r>
            <a:r>
              <a:rPr lang="ko-KR" altLang="ko-KR" sz="2400" dirty="0"/>
              <a:t>또한 프로그래밍에서 매우 중요한 </a:t>
            </a:r>
            <a:r>
              <a:rPr lang="ko-KR" altLang="ko-KR" sz="2400" dirty="0" err="1"/>
              <a:t>메소드</a:t>
            </a:r>
            <a:r>
              <a:rPr lang="ko-KR" altLang="ko-KR" sz="2400" dirty="0"/>
              <a:t> 호출 </a:t>
            </a:r>
            <a:r>
              <a:rPr lang="ko-KR" altLang="ko-KR" sz="2400"/>
              <a:t>및 </a:t>
            </a:r>
            <a:r>
              <a:rPr lang="ko-KR" altLang="en-US" sz="2400"/>
              <a:t>순환 </a:t>
            </a:r>
            <a:r>
              <a:rPr lang="ko-KR" altLang="ko-KR" sz="2400"/>
              <a:t>호출도 </a:t>
            </a:r>
            <a:r>
              <a:rPr lang="ko-KR" altLang="ko-KR" sz="2400" dirty="0"/>
              <a:t>스택 자료구조를 바탕으로 구현</a:t>
            </a:r>
          </a:p>
          <a:p>
            <a:pPr lvl="0">
              <a:lnSpc>
                <a:spcPct val="100000"/>
              </a:lnSpc>
              <a:spcAft>
                <a:spcPts val="1800"/>
              </a:spcAft>
              <a:buClr>
                <a:schemeClr val="tx1"/>
              </a:buClr>
            </a:pPr>
            <a:r>
              <a:rPr lang="ko-KR" altLang="ko-KR" sz="2400" dirty="0">
                <a:solidFill>
                  <a:srgbClr val="00B0F0"/>
                </a:solidFill>
              </a:rPr>
              <a:t>큐</a:t>
            </a:r>
            <a:r>
              <a:rPr lang="ko-KR" altLang="ko-KR" sz="2400" dirty="0"/>
              <a:t>는 삽입과 삭제가 양 끝에서 각각 </a:t>
            </a:r>
            <a:r>
              <a:rPr lang="ko-KR" altLang="ko-KR" sz="2400"/>
              <a:t>수행되는 </a:t>
            </a:r>
            <a:r>
              <a:rPr lang="ko-KR" altLang="ko-KR" sz="2400">
                <a:solidFill>
                  <a:srgbClr val="00B0F0"/>
                </a:solidFill>
              </a:rPr>
              <a:t>선입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ko-KR" sz="2400">
                <a:solidFill>
                  <a:srgbClr val="00B0F0"/>
                </a:solidFill>
              </a:rPr>
              <a:t>선출</a:t>
            </a:r>
            <a:r>
              <a:rPr lang="en-US" altLang="ko-KR" sz="2400" dirty="0">
                <a:solidFill>
                  <a:srgbClr val="00B0F0"/>
                </a:solidFill>
              </a:rPr>
              <a:t>(FIFO)</a:t>
            </a:r>
            <a:r>
              <a:rPr lang="en-US" altLang="ko-KR" sz="2400" dirty="0"/>
              <a:t> </a:t>
            </a:r>
            <a:r>
              <a:rPr lang="ko-KR" altLang="ko-KR" sz="2400" dirty="0"/>
              <a:t>자료구조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7644"/>
            <a:ext cx="615950" cy="75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331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638827"/>
            <a:ext cx="7886700" cy="585341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Aft>
                <a:spcPts val="2400"/>
              </a:spcAft>
            </a:pPr>
            <a:r>
              <a:rPr lang="ko-KR" altLang="ko-KR" sz="2400" dirty="0"/>
              <a:t>큐는 </a:t>
            </a:r>
            <a:r>
              <a:rPr lang="en-US" altLang="ko-KR" sz="2400" dirty="0"/>
              <a:t>CPU</a:t>
            </a:r>
            <a:r>
              <a:rPr lang="ko-KR" altLang="ko-KR" sz="2400" dirty="0"/>
              <a:t>의 태스크 스케줄링</a:t>
            </a:r>
            <a:r>
              <a:rPr lang="en-US" altLang="ko-KR" sz="2400" dirty="0"/>
              <a:t>, </a:t>
            </a:r>
            <a:r>
              <a:rPr lang="ko-KR" altLang="ko-KR" sz="2400" dirty="0"/>
              <a:t>네트워크 프린터</a:t>
            </a:r>
            <a:r>
              <a:rPr lang="en-US" altLang="ko-KR" sz="2400" dirty="0"/>
              <a:t>, </a:t>
            </a:r>
            <a:r>
              <a:rPr lang="ko-KR" altLang="ko-KR" sz="2400" dirty="0"/>
              <a:t>실시간 시스템의 인터럽트 처리</a:t>
            </a:r>
            <a:r>
              <a:rPr lang="en-US" altLang="ko-KR" sz="2400" dirty="0"/>
              <a:t>, </a:t>
            </a:r>
            <a:r>
              <a:rPr lang="ko-KR" altLang="ko-KR" sz="2400" dirty="0"/>
              <a:t>다양한 이벤트 구동 방식 컴퓨터 시뮬레이션</a:t>
            </a:r>
            <a:r>
              <a:rPr lang="en-US" altLang="ko-KR" sz="2400" dirty="0"/>
              <a:t>, </a:t>
            </a:r>
            <a:r>
              <a:rPr lang="ko-KR" altLang="ko-KR" sz="2400" dirty="0"/>
              <a:t>콜 센터의 전화 서비스 처리 등에 사용되며</a:t>
            </a:r>
            <a:r>
              <a:rPr lang="en-US" altLang="ko-KR" sz="2400" dirty="0"/>
              <a:t>, </a:t>
            </a:r>
            <a:r>
              <a:rPr lang="ko-KR" altLang="ko-KR" sz="2400" dirty="0"/>
              <a:t>이진트리의 레벨순회와 </a:t>
            </a:r>
            <a:r>
              <a:rPr lang="ko-KR" altLang="ko-KR" sz="2400"/>
              <a:t>그래프의 </a:t>
            </a:r>
            <a:r>
              <a:rPr lang="en-US" altLang="ko-KR" sz="2400"/>
              <a:t>BFS</a:t>
            </a:r>
            <a:r>
              <a:rPr lang="ko-KR" altLang="ko-KR" sz="2400"/>
              <a:t>에 </a:t>
            </a:r>
            <a:r>
              <a:rPr lang="ko-KR" altLang="ko-KR" sz="2400" dirty="0"/>
              <a:t>사용</a:t>
            </a:r>
          </a:p>
          <a:p>
            <a:pPr lvl="0">
              <a:lnSpc>
                <a:spcPct val="100000"/>
              </a:lnSpc>
              <a:buClr>
                <a:schemeClr val="tx1"/>
              </a:buClr>
            </a:pPr>
            <a:r>
              <a:rPr lang="ko-KR" altLang="ko-KR" sz="2400" dirty="0" err="1">
                <a:solidFill>
                  <a:srgbClr val="00B0F0"/>
                </a:solidFill>
              </a:rPr>
              <a:t>데크</a:t>
            </a:r>
            <a:r>
              <a:rPr lang="ko-KR" altLang="ko-KR" sz="2400" dirty="0" err="1"/>
              <a:t>는</a:t>
            </a:r>
            <a:r>
              <a:rPr lang="ko-KR" altLang="ko-KR" sz="2400" dirty="0"/>
              <a:t> 양쪽 끝에서 삽입과 삭제를 허용하는 자료구조로서 스택과 큐 자료구조를 혼합한 자료구조</a:t>
            </a:r>
          </a:p>
          <a:p>
            <a:pPr lvl="0">
              <a:lnSpc>
                <a:spcPct val="100000"/>
              </a:lnSpc>
            </a:pPr>
            <a:r>
              <a:rPr lang="ko-KR" altLang="ko-KR" sz="2400" dirty="0" err="1"/>
              <a:t>데크는</a:t>
            </a:r>
            <a:r>
              <a:rPr lang="ko-KR" altLang="ko-KR" sz="2400" dirty="0"/>
              <a:t> 스크롤</a:t>
            </a:r>
            <a:r>
              <a:rPr lang="en-US" altLang="ko-KR" sz="2400" dirty="0"/>
              <a:t>, </a:t>
            </a:r>
            <a:r>
              <a:rPr lang="ko-KR" altLang="ko-KR" sz="2400" dirty="0"/>
              <a:t>문서 편집기의</a:t>
            </a:r>
            <a:r>
              <a:rPr lang="en-US" altLang="ko-KR" sz="2400" dirty="0"/>
              <a:t> undo </a:t>
            </a:r>
            <a:r>
              <a:rPr lang="ko-KR" altLang="ko-KR" sz="2400" dirty="0"/>
              <a:t>연산</a:t>
            </a:r>
            <a:r>
              <a:rPr lang="en-US" altLang="ko-KR" sz="2400" dirty="0"/>
              <a:t>, </a:t>
            </a:r>
            <a:r>
              <a:rPr lang="ko-KR" altLang="ko-KR" sz="2400" dirty="0"/>
              <a:t>웹 브라우저의 방문 기록 등에 사용</a:t>
            </a:r>
          </a:p>
        </p:txBody>
      </p:sp>
    </p:spTree>
    <p:extLst>
      <p:ext uri="{BB962C8B-B14F-4D97-AF65-F5344CB8AC3E}">
        <p14:creationId xmlns:p14="http://schemas.microsoft.com/office/powerpoint/2010/main" val="36105290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10ADA8-5942-4821-A59C-EE8589A10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2524125"/>
            <a:ext cx="8429625" cy="180975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212053" y="1468893"/>
            <a:ext cx="4572000" cy="51437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스택</a:t>
            </a: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큐</a:t>
            </a: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800" b="1" err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데크</a:t>
            </a:r>
            <a:r>
              <a:rPr lang="ko-KR" altLang="en-US" sz="2800" b="1" err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</a:t>
            </a:r>
            <a:r>
              <a:rPr lang="ko-KR" altLang="en-US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</a:t>
            </a:r>
            <a:r>
              <a:rPr lang="en-US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시간</a:t>
            </a:r>
            <a:endParaRPr lang="ko-KR" altLang="ko-KR" sz="28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212053" y="3095462"/>
            <a:ext cx="367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  <a:sym typeface="Wingdings 2" panose="05020102010507070707" pitchFamily="18" charset="2"/>
              </a:rPr>
              <a:t>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7359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B0DB0-DB80-4955-8626-E0CC7F2FE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77223"/>
            <a:ext cx="7886700" cy="503554"/>
          </a:xfrm>
        </p:spPr>
        <p:txBody>
          <a:bodyPr/>
          <a:lstStyle/>
          <a:p>
            <a:r>
              <a:rPr lang="ko-KR" altLang="en-US" sz="400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664962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3380</TotalTime>
  <Words>1307</Words>
  <Application>Microsoft Office PowerPoint</Application>
  <PresentationFormat>화면 슬라이드 쇼(4:3)</PresentationFormat>
  <Paragraphs>229</Paragraphs>
  <Slides>51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6" baseType="lpstr">
      <vt:lpstr>新細明體</vt:lpstr>
      <vt:lpstr>굴림</vt:lpstr>
      <vt:lpstr>돋움</vt:lpstr>
      <vt:lpstr>맑은 고딕</vt:lpstr>
      <vt:lpstr>함초롬바탕</vt:lpstr>
      <vt:lpstr>Arial</vt:lpstr>
      <vt:lpstr>Calibri</vt:lpstr>
      <vt:lpstr>Consolas</vt:lpstr>
      <vt:lpstr>Symbol</vt:lpstr>
      <vt:lpstr>Tahoma</vt:lpstr>
      <vt:lpstr>Times New Roman</vt:lpstr>
      <vt:lpstr>Webdings</vt:lpstr>
      <vt:lpstr>Wingdings</vt:lpstr>
      <vt:lpstr>Wingdings 2</vt:lpstr>
      <vt:lpstr>Office 테마</vt:lpstr>
      <vt:lpstr>PowerPoint 프레젠테이션</vt:lpstr>
      <vt:lpstr>목차</vt:lpstr>
      <vt:lpstr>3.1 스택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리스트로 구현한 스택</vt:lpstr>
      <vt:lpstr>PowerPoint 프레젠테이션</vt:lpstr>
      <vt:lpstr>PowerPoint 프레젠테이션</vt:lpstr>
      <vt:lpstr>단순 연결 리스트 스택</vt:lpstr>
      <vt:lpstr>PowerPoint 프레젠테이션</vt:lpstr>
      <vt:lpstr>PowerPoint 프레젠테이션</vt:lpstr>
      <vt:lpstr>PowerPoint 프레젠테이션</vt:lpstr>
      <vt:lpstr>수행 시간</vt:lpstr>
      <vt:lpstr>PowerPoint 프레젠테이션</vt:lpstr>
      <vt:lpstr>컴파일러의 괄호 짝 맞추기</vt:lpstr>
      <vt:lpstr>PowerPoint 프레젠테이션</vt:lpstr>
      <vt:lpstr>PowerPoint 프레젠테이션</vt:lpstr>
      <vt:lpstr>회문 검사</vt:lpstr>
      <vt:lpstr>PowerPoint 프레젠테이션</vt:lpstr>
      <vt:lpstr>PowerPoint 프레젠테이션</vt:lpstr>
      <vt:lpstr>스택의 기타 응용</vt:lpstr>
      <vt:lpstr>수식의 표기법</vt:lpstr>
      <vt:lpstr>PowerPoint 프레젠테이션</vt:lpstr>
      <vt:lpstr>후위 표기 수식 계산</vt:lpstr>
      <vt:lpstr>PowerPoint 프레젠테이션</vt:lpstr>
      <vt:lpstr>중위 표기 수식을 후위 표기로 변환</vt:lpstr>
      <vt:lpstr>PowerPoint 프레젠테이션</vt:lpstr>
      <vt:lpstr>3.3 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큐 자료구조의 응용</vt:lpstr>
      <vt:lpstr>수행 시간</vt:lpstr>
      <vt:lpstr>3.4 데크</vt:lpstr>
      <vt:lpstr>데크의 응용</vt:lpstr>
      <vt:lpstr>PowerPoint 프레젠테이션</vt:lpstr>
      <vt:lpstr>PowerPoint 프레젠테이션</vt:lpstr>
      <vt:lpstr>PowerPoint 프레젠테이션</vt:lpstr>
      <vt:lpstr>PowerPoint 프레젠테이션</vt:lpstr>
      <vt:lpstr>수행 시간</vt:lpstr>
      <vt:lpstr>요약</vt:lpstr>
      <vt:lpstr>PowerPoint 프레젠테이션</vt:lpstr>
      <vt:lpstr>PowerPoint 프레젠테이션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sbyang</dc:creator>
  <cp:lastModifiedBy>DIT2</cp:lastModifiedBy>
  <cp:revision>65</cp:revision>
  <dcterms:created xsi:type="dcterms:W3CDTF">2017-03-16T00:57:55Z</dcterms:created>
  <dcterms:modified xsi:type="dcterms:W3CDTF">2024-05-10T02:48:25Z</dcterms:modified>
</cp:coreProperties>
</file>