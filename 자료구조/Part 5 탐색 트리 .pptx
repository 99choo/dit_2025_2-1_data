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9"/>
  </p:notesMasterIdLst>
  <p:sldIdLst>
    <p:sldId id="533" r:id="rId2"/>
    <p:sldId id="534" r:id="rId3"/>
    <p:sldId id="272" r:id="rId4"/>
    <p:sldId id="518" r:id="rId5"/>
    <p:sldId id="406" r:id="rId6"/>
    <p:sldId id="519" r:id="rId7"/>
    <p:sldId id="405" r:id="rId8"/>
    <p:sldId id="407" r:id="rId9"/>
    <p:sldId id="409" r:id="rId10"/>
    <p:sldId id="408" r:id="rId11"/>
    <p:sldId id="410" r:id="rId12"/>
    <p:sldId id="299" r:id="rId13"/>
    <p:sldId id="414" r:id="rId14"/>
    <p:sldId id="300" r:id="rId15"/>
    <p:sldId id="415" r:id="rId16"/>
    <p:sldId id="416" r:id="rId17"/>
    <p:sldId id="417" r:id="rId18"/>
    <p:sldId id="418" r:id="rId19"/>
    <p:sldId id="419" r:id="rId20"/>
    <p:sldId id="301" r:id="rId21"/>
    <p:sldId id="420" r:id="rId22"/>
    <p:sldId id="520" r:id="rId23"/>
    <p:sldId id="422" r:id="rId24"/>
    <p:sldId id="423" r:id="rId25"/>
    <p:sldId id="424" r:id="rId26"/>
    <p:sldId id="425" r:id="rId27"/>
    <p:sldId id="426" r:id="rId28"/>
    <p:sldId id="303" r:id="rId29"/>
    <p:sldId id="521" r:id="rId30"/>
    <p:sldId id="522" r:id="rId31"/>
    <p:sldId id="523" r:id="rId32"/>
    <p:sldId id="524" r:id="rId33"/>
    <p:sldId id="525" r:id="rId34"/>
    <p:sldId id="535" r:id="rId35"/>
    <p:sldId id="431" r:id="rId36"/>
    <p:sldId id="536" r:id="rId37"/>
    <p:sldId id="433" r:id="rId38"/>
    <p:sldId id="434" r:id="rId39"/>
    <p:sldId id="537" r:id="rId40"/>
    <p:sldId id="538" r:id="rId41"/>
    <p:sldId id="437" r:id="rId42"/>
    <p:sldId id="539" r:id="rId43"/>
    <p:sldId id="540" r:id="rId44"/>
    <p:sldId id="526" r:id="rId45"/>
    <p:sldId id="527" r:id="rId46"/>
    <p:sldId id="322" r:id="rId47"/>
    <p:sldId id="444" r:id="rId48"/>
    <p:sldId id="445" r:id="rId49"/>
    <p:sldId id="449" r:id="rId50"/>
    <p:sldId id="446" r:id="rId51"/>
    <p:sldId id="450" r:id="rId52"/>
    <p:sldId id="447" r:id="rId53"/>
    <p:sldId id="451" r:id="rId54"/>
    <p:sldId id="454" r:id="rId55"/>
    <p:sldId id="455" r:id="rId56"/>
    <p:sldId id="323" r:id="rId57"/>
    <p:sldId id="528" r:id="rId58"/>
    <p:sldId id="529" r:id="rId59"/>
    <p:sldId id="326" r:id="rId60"/>
    <p:sldId id="459" r:id="rId61"/>
    <p:sldId id="460" r:id="rId62"/>
    <p:sldId id="461" r:id="rId63"/>
    <p:sldId id="541" r:id="rId64"/>
    <p:sldId id="463" r:id="rId65"/>
    <p:sldId id="464" r:id="rId66"/>
    <p:sldId id="530" r:id="rId67"/>
    <p:sldId id="542" r:id="rId68"/>
    <p:sldId id="543" r:id="rId69"/>
    <p:sldId id="544" r:id="rId70"/>
    <p:sldId id="467" r:id="rId71"/>
    <p:sldId id="545" r:id="rId72"/>
    <p:sldId id="546" r:id="rId73"/>
    <p:sldId id="531" r:id="rId74"/>
    <p:sldId id="470" r:id="rId75"/>
    <p:sldId id="486" r:id="rId76"/>
    <p:sldId id="487" r:id="rId77"/>
    <p:sldId id="488" r:id="rId78"/>
    <p:sldId id="547" r:id="rId79"/>
    <p:sldId id="490" r:id="rId80"/>
    <p:sldId id="548" r:id="rId81"/>
    <p:sldId id="549" r:id="rId82"/>
    <p:sldId id="550" r:id="rId83"/>
    <p:sldId id="532" r:id="rId84"/>
    <p:sldId id="551" r:id="rId85"/>
    <p:sldId id="505" r:id="rId86"/>
    <p:sldId id="506" r:id="rId87"/>
    <p:sldId id="507" r:id="rId88"/>
    <p:sldId id="552" r:id="rId89"/>
    <p:sldId id="553" r:id="rId90"/>
    <p:sldId id="384" r:id="rId91"/>
    <p:sldId id="385" r:id="rId92"/>
    <p:sldId id="554" r:id="rId93"/>
    <p:sldId id="386" r:id="rId94"/>
    <p:sldId id="387" r:id="rId95"/>
    <p:sldId id="555" r:id="rId96"/>
    <p:sldId id="388" r:id="rId97"/>
    <p:sldId id="389" r:id="rId98"/>
    <p:sldId id="390" r:id="rId99"/>
    <p:sldId id="556" r:id="rId100"/>
    <p:sldId id="557" r:id="rId101"/>
    <p:sldId id="558" r:id="rId102"/>
    <p:sldId id="559" r:id="rId103"/>
    <p:sldId id="560" r:id="rId104"/>
    <p:sldId id="561" r:id="rId105"/>
    <p:sldId id="562" r:id="rId106"/>
    <p:sldId id="563" r:id="rId107"/>
    <p:sldId id="517" r:id="rId10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AAEF"/>
    <a:srgbClr val="11BAEF"/>
    <a:srgbClr val="0E9FCC"/>
    <a:srgbClr val="4BCBF3"/>
    <a:srgbClr val="7ED9F6"/>
    <a:srgbClr val="3333FF"/>
    <a:srgbClr val="339933"/>
    <a:srgbClr val="0076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5256" autoAdjust="0"/>
  </p:normalViewPr>
  <p:slideViewPr>
    <p:cSldViewPr snapToGrid="0">
      <p:cViewPr varScale="1">
        <p:scale>
          <a:sx n="61" d="100"/>
          <a:sy n="61" d="100"/>
        </p:scale>
        <p:origin x="53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2123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notesMaster" Target="notesMasters/notesMaster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67A8DE-E49D-4BB8-951B-F2AA734E58CC}" type="datetimeFigureOut">
              <a:rPr lang="ko-KR" altLang="en-US" smtClean="0"/>
              <a:t>2022-02-24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EFBF89-310C-4018-9261-17A974995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6653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dirty="0">
                <a:solidFill>
                  <a:srgbClr val="3333FF"/>
                </a:solidFill>
              </a:rPr>
              <a:t>일반적인 레드블랙트리</a:t>
            </a:r>
            <a:r>
              <a:rPr lang="ko-KR" altLang="en-US" sz="1200" dirty="0">
                <a:solidFill>
                  <a:srgbClr val="3333FF"/>
                </a:solidFill>
              </a:rPr>
              <a:t>는 부모 포인터</a:t>
            </a:r>
            <a:r>
              <a:rPr lang="en-US" altLang="ko-KR" sz="1200" dirty="0">
                <a:solidFill>
                  <a:srgbClr val="3333FF"/>
                </a:solidFill>
              </a:rPr>
              <a:t>(</a:t>
            </a:r>
            <a:r>
              <a:rPr lang="ko-KR" altLang="en-US" sz="1200" dirty="0">
                <a:solidFill>
                  <a:srgbClr val="3333FF"/>
                </a:solidFill>
              </a:rPr>
              <a:t>레퍼런스</a:t>
            </a:r>
            <a:r>
              <a:rPr lang="en-US" altLang="ko-KR" sz="1200" dirty="0">
                <a:solidFill>
                  <a:srgbClr val="3333FF"/>
                </a:solidFill>
              </a:rPr>
              <a:t>)</a:t>
            </a:r>
            <a:r>
              <a:rPr lang="ko-KR" altLang="en-US" sz="1200" dirty="0">
                <a:solidFill>
                  <a:srgbClr val="3333FF"/>
                </a:solidFill>
              </a:rPr>
              <a:t>를 사용하는 </a:t>
            </a:r>
            <a:r>
              <a:rPr lang="ko-KR" altLang="en-US" sz="1200" dirty="0" err="1">
                <a:solidFill>
                  <a:srgbClr val="3333FF"/>
                </a:solidFill>
              </a:rPr>
              <a:t>비재귀적인</a:t>
            </a:r>
            <a:r>
              <a:rPr lang="ko-KR" altLang="en-US" sz="1200" dirty="0">
                <a:solidFill>
                  <a:srgbClr val="3333FF"/>
                </a:solidFill>
              </a:rPr>
              <a:t> 알고리즘을 구현된다</a:t>
            </a:r>
            <a:r>
              <a:rPr lang="en-US" altLang="ko-KR" sz="1200">
                <a:solidFill>
                  <a:srgbClr val="3333FF"/>
                </a:solidFill>
              </a:rPr>
              <a:t>.</a:t>
            </a:r>
            <a:r>
              <a:rPr lang="ko-KR" altLang="en-US" sz="1200">
                <a:solidFill>
                  <a:srgbClr val="3333FF"/>
                </a:solidFill>
              </a:rPr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EFBF89-310C-4018-9261-17A974995A30}" type="slidenum">
              <a:rPr lang="ko-KR" altLang="en-US" smtClean="0"/>
              <a:t>78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1631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494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71807"/>
            <a:ext cx="7886700" cy="503554"/>
          </a:xfrm>
        </p:spPr>
        <p:txBody>
          <a:bodyPr>
            <a:noAutofit/>
          </a:bodyPr>
          <a:lstStyle>
            <a:lvl1pPr algn="ctr">
              <a:defRPr sz="3200">
                <a:solidFill>
                  <a:srgbClr val="C00000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95663"/>
            <a:ext cx="7886700" cy="5096577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</p:txBody>
      </p:sp>
    </p:spTree>
    <p:extLst>
      <p:ext uri="{BB962C8B-B14F-4D97-AF65-F5344CB8AC3E}">
        <p14:creationId xmlns:p14="http://schemas.microsoft.com/office/powerpoint/2010/main" val="1548942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1040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latinLnBrk="1">
              <a:defRPr kumimoji="1"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fld id="{C77ABBB5-56EF-41C0-AE28-2B8B0B62535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33555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Rectangle 6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latinLnBrk="1">
              <a:defRPr kumimoji="1"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95669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97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86038"/>
            <a:ext cx="7886700" cy="5159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</p:txBody>
      </p:sp>
    </p:spTree>
    <p:extLst>
      <p:ext uri="{BB962C8B-B14F-4D97-AF65-F5344CB8AC3E}">
        <p14:creationId xmlns:p14="http://schemas.microsoft.com/office/powerpoint/2010/main" val="4254335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C00000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b="1" kern="12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3.png"/><Relationship Id="rId7" Type="http://schemas.openxmlformats.org/officeDocument/2006/relationships/image" Target="../media/image2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E8D1FE10-9044-4356-BE17-5FFC45BD653D}"/>
              </a:ext>
            </a:extLst>
          </p:cNvPr>
          <p:cNvSpPr/>
          <p:nvPr/>
        </p:nvSpPr>
        <p:spPr>
          <a:xfrm>
            <a:off x="3259575" y="2613392"/>
            <a:ext cx="2291012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2400"/>
              </a:spcAft>
            </a:pPr>
            <a:r>
              <a:rPr lang="en-US" altLang="ko-KR" sz="4000" b="1">
                <a:solidFill>
                  <a:srgbClr val="C00000"/>
                </a:solidFill>
                <a:latin typeface="Consolas" panose="020B0609020204030204" pitchFamily="49" charset="0"/>
                <a:ea typeface="함초롬바탕" panose="02030604000101010101" pitchFamily="18" charset="-127"/>
                <a:cs typeface="함초롬바탕" panose="02030604000101010101" pitchFamily="18" charset="-127"/>
              </a:rPr>
              <a:t>Part 5</a:t>
            </a:r>
          </a:p>
          <a:p>
            <a:pPr algn="ctr"/>
            <a:r>
              <a:rPr lang="ko-KR" altLang="en-US" sz="40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탐색 트리</a:t>
            </a:r>
            <a:endParaRPr lang="en-US" altLang="ko-KR" sz="40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6971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30092D-7730-4E7B-8CB8-E69BDC606B5B}"/>
              </a:ext>
            </a:extLst>
          </p:cNvPr>
          <p:cNvSpPr>
            <a:spLocks noGrp="1"/>
          </p:cNvSpPr>
          <p:nvPr/>
        </p:nvSpPr>
        <p:spPr>
          <a:xfrm>
            <a:off x="628650" y="941533"/>
            <a:ext cx="7886700" cy="5035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</a:lstStyle>
          <a:p>
            <a:r>
              <a:rPr lang="ko-KR" altLang="en-US"/>
              <a:t>목차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9E09EE-855F-4D0D-92D5-81E3D762240C}"/>
              </a:ext>
            </a:extLst>
          </p:cNvPr>
          <p:cNvSpPr>
            <a:spLocks noGrp="1"/>
          </p:cNvSpPr>
          <p:nvPr/>
        </p:nvSpPr>
        <p:spPr>
          <a:xfrm>
            <a:off x="1465545" y="2138818"/>
            <a:ext cx="5837129" cy="33100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2600" b="1" kern="1200">
                <a:solidFill>
                  <a:schemeClr val="tx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180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400"/>
              <a:t>5.1 </a:t>
            </a:r>
            <a:r>
              <a:rPr lang="ko-KR" altLang="en-US" sz="2400"/>
              <a:t>이진 탐색</a:t>
            </a:r>
            <a:endParaRPr lang="en-US" altLang="ko-KR" sz="2400"/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2400"/>
              <a:t>5.2 </a:t>
            </a:r>
            <a:r>
              <a:rPr lang="ko-KR" altLang="en-US" sz="2400"/>
              <a:t>이진 탐색 트리</a:t>
            </a:r>
            <a:endParaRPr lang="en-US" sz="2400"/>
          </a:p>
          <a:p>
            <a:pPr marL="0" indent="0">
              <a:spcBef>
                <a:spcPts val="0"/>
              </a:spcBef>
              <a:buNone/>
            </a:pPr>
            <a:r>
              <a:rPr lang="en-US" sz="2400"/>
              <a:t>5.3 AVL</a:t>
            </a:r>
            <a:r>
              <a:rPr lang="ko-KR" altLang="en-US" sz="2400"/>
              <a:t> 트리</a:t>
            </a:r>
            <a:endParaRPr lang="en-US" sz="2400"/>
          </a:p>
          <a:p>
            <a:pPr marL="0" indent="0">
              <a:spcBef>
                <a:spcPts val="0"/>
              </a:spcBef>
              <a:buNone/>
            </a:pPr>
            <a:r>
              <a:rPr lang="en-US" sz="2400"/>
              <a:t>5.4 2-3 </a:t>
            </a:r>
            <a:r>
              <a:rPr lang="ko-KR" altLang="en-US" sz="2400"/>
              <a:t>트리</a:t>
            </a:r>
            <a:r>
              <a:rPr lang="en-US" altLang="ko-KR" sz="2400"/>
              <a:t>, </a:t>
            </a:r>
            <a:r>
              <a:rPr lang="ko-KR" altLang="en-US" sz="2400"/>
              <a:t>레드 블랙 트리</a:t>
            </a:r>
            <a:endParaRPr lang="en-US" altLang="ko-KR" sz="2400"/>
          </a:p>
          <a:p>
            <a:pPr marL="0" indent="0">
              <a:spcBef>
                <a:spcPts val="0"/>
              </a:spcBef>
              <a:buNone/>
            </a:pPr>
            <a:r>
              <a:rPr lang="en-US" sz="2400"/>
              <a:t>5.5 </a:t>
            </a:r>
            <a:r>
              <a:rPr lang="en-US" altLang="ko-KR" sz="2400"/>
              <a:t>B-</a:t>
            </a:r>
            <a:r>
              <a:rPr lang="ko-KR" altLang="en-US" sz="2400"/>
              <a:t>트리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02592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653226"/>
            <a:ext cx="7886700" cy="655954"/>
          </a:xfrm>
        </p:spPr>
        <p:txBody>
          <a:bodyPr>
            <a:normAutofit/>
          </a:bodyPr>
          <a:lstStyle/>
          <a:p>
            <a:r>
              <a:rPr lang="ko-KR" altLang="ko-KR" sz="3600"/>
              <a:t>탐색</a:t>
            </a:r>
            <a:r>
              <a:rPr lang="en-US" altLang="ko-KR" sz="3600"/>
              <a:t> </a:t>
            </a:r>
            <a:r>
              <a:rPr lang="ko-KR" altLang="ko-KR" sz="3600"/>
              <a:t>트리</a:t>
            </a:r>
            <a:endParaRPr 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2041742"/>
            <a:ext cx="8318705" cy="4264530"/>
          </a:xfrm>
        </p:spPr>
        <p:txBody>
          <a:bodyPr>
            <a:normAutofit/>
          </a:bodyPr>
          <a:lstStyle/>
          <a:p>
            <a:pPr marL="363538" indent="-363538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lang="ko-KR" altLang="ko-KR" sz="2600" dirty="0"/>
              <a:t>저장된 데이터에 </a:t>
            </a:r>
            <a:r>
              <a:rPr lang="ko-KR" altLang="ko-KR" sz="2600"/>
              <a:t>대해 </a:t>
            </a:r>
            <a:r>
              <a:rPr lang="ko-KR" altLang="en-US" sz="2600"/>
              <a:t>접근</a:t>
            </a:r>
            <a:r>
              <a:rPr lang="en-US" altLang="ko-KR" sz="2600"/>
              <a:t>, </a:t>
            </a:r>
            <a:r>
              <a:rPr lang="ko-KR" altLang="ko-KR" sz="2600"/>
              <a:t>탐색</a:t>
            </a:r>
            <a:r>
              <a:rPr lang="en-US" altLang="ko-KR" sz="2600" dirty="0"/>
              <a:t>, </a:t>
            </a:r>
            <a:r>
              <a:rPr lang="ko-KR" altLang="ko-KR" sz="2600" dirty="0"/>
              <a:t>삽입</a:t>
            </a:r>
            <a:r>
              <a:rPr lang="en-US" altLang="ko-KR" sz="2600" dirty="0"/>
              <a:t>, </a:t>
            </a:r>
            <a:r>
              <a:rPr lang="ko-KR" altLang="ko-KR" sz="2600" dirty="0"/>
              <a:t>삭제</a:t>
            </a:r>
            <a:r>
              <a:rPr lang="en-US" altLang="ko-KR" sz="2600" dirty="0"/>
              <a:t>, </a:t>
            </a:r>
            <a:r>
              <a:rPr lang="ko-KR" altLang="ko-KR" sz="2600" dirty="0"/>
              <a:t>갱신 등의 연산을 수행할 수 있는 자료구조</a:t>
            </a:r>
            <a:endParaRPr lang="en-US" altLang="ko-KR" sz="2600" dirty="0"/>
          </a:p>
          <a:p>
            <a:pPr marL="363538" indent="-363538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lang="ko-KR" altLang="en-US" sz="2600"/>
              <a:t>파이썬 리스트</a:t>
            </a:r>
            <a:r>
              <a:rPr lang="ko-KR" altLang="ko-KR" sz="2600"/>
              <a:t>나 연결</a:t>
            </a:r>
            <a:r>
              <a:rPr lang="en-US" altLang="ko-KR" sz="2600"/>
              <a:t> </a:t>
            </a:r>
            <a:r>
              <a:rPr lang="ko-KR" altLang="ko-KR" sz="2600"/>
              <a:t>리스트</a:t>
            </a:r>
            <a:r>
              <a:rPr lang="en-US" altLang="ko-KR" sz="2600"/>
              <a:t>:</a:t>
            </a:r>
            <a:r>
              <a:rPr lang="ko-KR" altLang="ko-KR" sz="2600"/>
              <a:t> </a:t>
            </a:r>
            <a:r>
              <a:rPr lang="en-US" altLang="ko-KR" sz="2600">
                <a:solidFill>
                  <a:srgbClr val="00B0F0"/>
                </a:solidFill>
              </a:rPr>
              <a:t>O(n) </a:t>
            </a:r>
            <a:r>
              <a:rPr lang="ko-KR" altLang="en-US" sz="2600">
                <a:solidFill>
                  <a:srgbClr val="00B0F0"/>
                </a:solidFill>
              </a:rPr>
              <a:t>시간</a:t>
            </a:r>
            <a:endParaRPr lang="en-US" altLang="ko-KR" sz="2600" dirty="0">
              <a:solidFill>
                <a:srgbClr val="00B0F0"/>
              </a:solidFill>
            </a:endParaRPr>
          </a:p>
          <a:p>
            <a:pPr marL="363538" indent="-363538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lang="ko-KR" altLang="ko-KR" sz="2600"/>
              <a:t>스택</a:t>
            </a:r>
            <a:r>
              <a:rPr lang="en-US" altLang="ko-KR" sz="2600"/>
              <a:t>,</a:t>
            </a:r>
            <a:r>
              <a:rPr lang="ko-KR" altLang="ko-KR" sz="2600"/>
              <a:t> 큐</a:t>
            </a:r>
            <a:r>
              <a:rPr lang="en-US" altLang="ko-KR" sz="2600"/>
              <a:t>:</a:t>
            </a:r>
            <a:r>
              <a:rPr lang="ko-KR" altLang="ko-KR" sz="2600"/>
              <a:t> </a:t>
            </a:r>
            <a:r>
              <a:rPr lang="ko-KR" altLang="ko-KR" sz="2600" dirty="0"/>
              <a:t>특정 작업에 </a:t>
            </a:r>
            <a:r>
              <a:rPr lang="ko-KR" altLang="ko-KR" sz="2600"/>
              <a:t>적합한 자료구조</a:t>
            </a:r>
            <a:endParaRPr lang="en-US" altLang="ko-KR" sz="2600" dirty="0"/>
          </a:p>
          <a:p>
            <a:pPr marL="338137" indent="-3429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lang="ko-KR" altLang="ko-KR" sz="2600"/>
              <a:t>이진</a:t>
            </a:r>
            <a:r>
              <a:rPr lang="en-US" altLang="ko-KR" sz="2600"/>
              <a:t> </a:t>
            </a:r>
            <a:r>
              <a:rPr lang="ko-KR" altLang="ko-KR" sz="2600"/>
              <a:t>탐색</a:t>
            </a:r>
            <a:r>
              <a:rPr lang="en-US" altLang="ko-KR" sz="2600"/>
              <a:t> </a:t>
            </a:r>
            <a:r>
              <a:rPr lang="ko-KR" altLang="ko-KR" sz="2600"/>
              <a:t>트리</a:t>
            </a:r>
            <a:r>
              <a:rPr lang="en-US" altLang="ko-KR" sz="2600"/>
              <a:t>, AVL </a:t>
            </a:r>
            <a:r>
              <a:rPr lang="ko-KR" altLang="ko-KR" sz="2600"/>
              <a:t>트리</a:t>
            </a:r>
            <a:r>
              <a:rPr lang="en-US" altLang="ko-KR" sz="2600"/>
              <a:t>, 2-3 </a:t>
            </a:r>
            <a:r>
              <a:rPr lang="ko-KR" altLang="ko-KR" sz="2600"/>
              <a:t>트리</a:t>
            </a:r>
            <a:r>
              <a:rPr lang="en-US" altLang="ko-KR" sz="2600"/>
              <a:t>, RB </a:t>
            </a:r>
            <a:r>
              <a:rPr lang="ko-KR" altLang="ko-KR" sz="2600"/>
              <a:t>트리</a:t>
            </a:r>
            <a:r>
              <a:rPr lang="en-US" altLang="ko-KR" sz="2600" dirty="0"/>
              <a:t>,</a:t>
            </a:r>
            <a:r>
              <a:rPr lang="ko-KR" altLang="ko-KR" sz="2600" dirty="0"/>
              <a:t> </a:t>
            </a:r>
            <a:r>
              <a:rPr lang="en-US" altLang="ko-KR" sz="2600" dirty="0"/>
              <a:t>B-</a:t>
            </a:r>
            <a:r>
              <a:rPr lang="ko-KR" altLang="ko-KR" sz="2600" dirty="0"/>
              <a:t>트리</a:t>
            </a:r>
          </a:p>
        </p:txBody>
      </p:sp>
    </p:spTree>
    <p:extLst>
      <p:ext uri="{BB962C8B-B14F-4D97-AF65-F5344CB8AC3E}">
        <p14:creationId xmlns:p14="http://schemas.microsoft.com/office/powerpoint/2010/main" val="3665855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6579F0E3-8672-421D-B177-21BCA437E0D8}"/>
              </a:ext>
            </a:extLst>
          </p:cNvPr>
          <p:cNvSpPr/>
          <p:nvPr/>
        </p:nvSpPr>
        <p:spPr>
          <a:xfrm>
            <a:off x="1006765" y="1656400"/>
            <a:ext cx="7508586" cy="9113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/>
              <a:t>5.1 </a:t>
            </a:r>
            <a:r>
              <a:rPr lang="ko-KR" altLang="ko-KR"/>
              <a:t>이진</a:t>
            </a:r>
            <a:r>
              <a:rPr lang="en-US" altLang="ko-KR"/>
              <a:t> </a:t>
            </a:r>
            <a:r>
              <a:rPr lang="ko-KR" altLang="ko-KR"/>
              <a:t>탐색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656399"/>
            <a:ext cx="7886700" cy="4550706"/>
          </a:xfrm>
        </p:spPr>
        <p:txBody>
          <a:bodyPr>
            <a:normAutofit/>
          </a:bodyPr>
          <a:lstStyle/>
          <a:p>
            <a:pPr marL="457200" lvl="1" indent="0">
              <a:lnSpc>
                <a:spcPct val="120000"/>
              </a:lnSpc>
              <a:buNone/>
            </a:pPr>
            <a:r>
              <a:rPr lang="ko-KR" altLang="ko-KR" u="sng"/>
              <a:t>정렬된 </a:t>
            </a:r>
            <a:r>
              <a:rPr lang="ko-KR" altLang="ko-KR" u="sng" dirty="0"/>
              <a:t>데이터</a:t>
            </a:r>
            <a:r>
              <a:rPr lang="ko-KR" altLang="ko-KR" dirty="0"/>
              <a:t>의 중간에 위치한 항목을 기준으로 데이터를 두 부분으로 나누어 가며 특정 항목을 </a:t>
            </a:r>
            <a:r>
              <a:rPr lang="ko-KR" altLang="ko-KR"/>
              <a:t>찾는 탐색</a:t>
            </a:r>
            <a:r>
              <a:rPr lang="en-US" altLang="ko-KR"/>
              <a:t> </a:t>
            </a:r>
            <a:r>
              <a:rPr lang="ko-KR" altLang="ko-KR"/>
              <a:t>방법</a:t>
            </a:r>
            <a:endParaRPr lang="en-US" altLang="ko-KR" dirty="0"/>
          </a:p>
        </p:txBody>
      </p:sp>
      <p:sp>
        <p:nvSpPr>
          <p:cNvPr id="4" name="텍스트 상자 2"/>
          <p:cNvSpPr txBox="1">
            <a:spLocks noChangeArrowheads="1"/>
          </p:cNvSpPr>
          <p:nvPr/>
        </p:nvSpPr>
        <p:spPr bwMode="auto">
          <a:xfrm>
            <a:off x="728797" y="3637849"/>
            <a:ext cx="7686405" cy="2569256"/>
          </a:xfrm>
          <a:prstGeom prst="rect">
            <a:avLst/>
          </a:prstGeom>
          <a:solidFill>
            <a:srgbClr val="EFFC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binary_search(left, right, t):</a:t>
            </a:r>
            <a:endParaRPr lang="ko-KR" sz="2400" dirty="0">
              <a:effectLst/>
              <a:latin typeface="Calibri" panose="020F0502020204030204" pitchFamily="34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[1] </a:t>
            </a:r>
            <a:r>
              <a:rPr lang="en-US" sz="2400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if</a:t>
            </a:r>
            <a:r>
              <a:rPr lang="en-US" sz="2400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left &gt; right: </a:t>
            </a:r>
            <a:r>
              <a:rPr lang="en-US" sz="2400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return</a:t>
            </a:r>
            <a:r>
              <a:rPr lang="en-US" sz="2400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None </a:t>
            </a:r>
            <a:r>
              <a:rPr lang="en-US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# </a:t>
            </a:r>
            <a:r>
              <a:rPr lang="ko-KR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탐색 실패 </a:t>
            </a:r>
            <a:r>
              <a:rPr lang="en-US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즉</a:t>
            </a:r>
            <a:r>
              <a:rPr lang="en-US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, t</a:t>
            </a:r>
            <a:r>
              <a:rPr lang="ko-KR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가 리스트에 없음</a:t>
            </a:r>
            <a:r>
              <a:rPr lang="en-US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endParaRPr lang="ko-KR" sz="2400" dirty="0">
              <a:effectLst/>
              <a:latin typeface="Calibri" panose="020F0502020204030204" pitchFamily="34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[2] mid = (left + right) // 2 	</a:t>
            </a:r>
            <a:r>
              <a:rPr lang="en-US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# </a:t>
            </a:r>
            <a:r>
              <a:rPr lang="ko-KR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중간 항목의 인덱스 계산 </a:t>
            </a:r>
            <a:endParaRPr lang="ko-KR" sz="2400" dirty="0">
              <a:effectLst/>
              <a:latin typeface="Calibri" panose="020F0502020204030204" pitchFamily="34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[3] </a:t>
            </a:r>
            <a:r>
              <a:rPr lang="en-US" sz="2400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if </a:t>
            </a:r>
            <a:r>
              <a:rPr lang="en-US" sz="2400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a[mid] == t: </a:t>
            </a:r>
            <a:r>
              <a:rPr lang="en-US" sz="2400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return </a:t>
            </a:r>
            <a:r>
              <a:rPr lang="en-US" sz="2400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mid  	</a:t>
            </a:r>
            <a:r>
              <a:rPr lang="en-US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# </a:t>
            </a:r>
            <a:r>
              <a:rPr lang="ko-KR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탐색 성공</a:t>
            </a:r>
            <a:endParaRPr lang="ko-KR" sz="2400" dirty="0">
              <a:effectLst/>
              <a:latin typeface="Calibri" panose="020F0502020204030204" pitchFamily="34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[4] </a:t>
            </a:r>
            <a:r>
              <a:rPr lang="en-US" sz="2400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if</a:t>
            </a:r>
            <a:r>
              <a:rPr lang="en-US" sz="2400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a[mid] &gt; t:  binary_search(left, mid-1, t) </a:t>
            </a:r>
            <a:r>
              <a:rPr lang="en-US" sz="24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# </a:t>
            </a:r>
            <a:r>
              <a:rPr lang="ko-KR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앞부분 탐색</a:t>
            </a:r>
            <a:r>
              <a:rPr lang="ko-KR" sz="2400" dirty="0">
                <a:solidFill>
                  <a:srgbClr val="3399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endParaRPr lang="ko-KR" sz="2400" dirty="0">
              <a:effectLst/>
              <a:latin typeface="Calibri" panose="020F0502020204030204" pitchFamily="34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[5] </a:t>
            </a:r>
            <a:r>
              <a:rPr lang="en-US" sz="2400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else</a:t>
            </a:r>
            <a:r>
              <a:rPr lang="en-US" sz="2400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:</a:t>
            </a:r>
            <a:r>
              <a:rPr lang="en-US" sz="2400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binary_search(mid+1, right, t)             </a:t>
            </a:r>
            <a:r>
              <a:rPr lang="en-US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# </a:t>
            </a:r>
            <a:r>
              <a:rPr lang="ko-KR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뒷부분 탐색</a:t>
            </a:r>
            <a:endParaRPr lang="ko-KR" sz="2400" dirty="0">
              <a:effectLst/>
              <a:latin typeface="Calibri" panose="020F0502020204030204" pitchFamily="34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228" y="1679318"/>
            <a:ext cx="557480" cy="56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9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155" y="1783524"/>
            <a:ext cx="7242658" cy="434170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/>
          <p:cNvSpPr/>
          <p:nvPr/>
        </p:nvSpPr>
        <p:spPr>
          <a:xfrm>
            <a:off x="3161877" y="829640"/>
            <a:ext cx="22717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ko-KR" sz="2800" b="1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이진</a:t>
            </a:r>
            <a:r>
              <a:rPr lang="en-US" altLang="ko-KR" sz="2800" b="1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800" b="1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탐색</a:t>
            </a:r>
            <a:r>
              <a:rPr lang="en-US" altLang="ko-KR" sz="2800" b="1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en-US" altLang="ko-KR" sz="28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66</a:t>
            </a:r>
            <a:r>
              <a:rPr lang="en-US" altLang="ko-KR" sz="2800" b="1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</a:t>
            </a:r>
            <a:endParaRPr lang="ko-KR" altLang="ko-KR" sz="2800" b="1" dirty="0">
              <a:solidFill>
                <a:srgbClr val="C0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0182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수행 시간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altLang="ko-KR" sz="2400"/>
              <a:t>T(n) </a:t>
            </a:r>
            <a:r>
              <a:rPr lang="en-US" altLang="ko-KR" sz="2400" dirty="0"/>
              <a:t>=</a:t>
            </a:r>
            <a:r>
              <a:rPr lang="ko-KR" altLang="ko-KR" sz="2400" dirty="0"/>
              <a:t> </a:t>
            </a:r>
            <a:r>
              <a:rPr lang="ko-KR" altLang="en-US" sz="2400" dirty="0"/>
              <a:t>입력 </a:t>
            </a:r>
            <a:r>
              <a:rPr lang="ko-KR" altLang="en-US" sz="2400"/>
              <a:t>크기 </a:t>
            </a:r>
            <a:r>
              <a:rPr lang="en-US" altLang="ko-KR" sz="2400"/>
              <a:t>n</a:t>
            </a:r>
            <a:r>
              <a:rPr lang="ko-KR" altLang="en-US" sz="2400"/>
              <a:t>인</a:t>
            </a:r>
            <a:r>
              <a:rPr lang="ko-KR" altLang="ko-KR" sz="2400"/>
              <a:t> </a:t>
            </a:r>
            <a:r>
              <a:rPr lang="ko-KR" altLang="ko-KR" sz="2400" dirty="0"/>
              <a:t>정렬된 </a:t>
            </a:r>
            <a:r>
              <a:rPr lang="ko-KR" altLang="ko-KR" sz="2400"/>
              <a:t>리스트에서 이진</a:t>
            </a:r>
            <a:r>
              <a:rPr lang="en-US" altLang="ko-KR" sz="2400"/>
              <a:t> </a:t>
            </a:r>
            <a:r>
              <a:rPr lang="ko-KR" altLang="ko-KR" sz="2400"/>
              <a:t>탐색을 하는데 </a:t>
            </a:r>
            <a:r>
              <a:rPr lang="ko-KR" altLang="en-US" sz="2400"/>
              <a:t>필요한</a:t>
            </a:r>
            <a:r>
              <a:rPr lang="en-US" altLang="ko-KR" sz="2400"/>
              <a:t> </a:t>
            </a:r>
            <a:r>
              <a:rPr lang="ko-KR" altLang="en-US" sz="2400"/>
              <a:t> </a:t>
            </a:r>
            <a:r>
              <a:rPr lang="ko-KR" altLang="ko-KR" sz="2400"/>
              <a:t>비교 </a:t>
            </a:r>
            <a:r>
              <a:rPr lang="ko-KR" altLang="ko-KR" sz="2400" dirty="0"/>
              <a:t>횟수</a:t>
            </a:r>
            <a:endParaRPr lang="en-US" altLang="ko-KR" sz="2400" dirty="0"/>
          </a:p>
          <a:p>
            <a:pPr>
              <a:lnSpc>
                <a:spcPct val="100000"/>
              </a:lnSpc>
            </a:pPr>
            <a:r>
              <a:rPr lang="en-US" altLang="ko-KR" sz="2400"/>
              <a:t>1</a:t>
            </a:r>
            <a:r>
              <a:rPr lang="ko-KR" altLang="ko-KR" sz="2400"/>
              <a:t>번의 </a:t>
            </a:r>
            <a:r>
              <a:rPr lang="ko-KR" altLang="en-US" sz="2400"/>
              <a:t>중간 원소와 </a:t>
            </a:r>
            <a:r>
              <a:rPr lang="ko-KR" altLang="ko-KR" sz="2400"/>
              <a:t>비교 후</a:t>
            </a:r>
            <a:r>
              <a:rPr lang="en-US" altLang="ko-KR" sz="2400"/>
              <a:t>,</a:t>
            </a:r>
            <a:r>
              <a:rPr lang="ko-KR" altLang="ko-KR" sz="2400"/>
              <a:t> 리스트의 </a:t>
            </a:r>
            <a:r>
              <a:rPr lang="en-US" altLang="ko-KR" sz="2400"/>
              <a:t>1/2</a:t>
            </a:r>
            <a:r>
              <a:rPr lang="en-US" altLang="ko-KR"/>
              <a:t> </a:t>
            </a:r>
            <a:r>
              <a:rPr lang="en-US" altLang="ko-KR" sz="2400"/>
              <a:t>(</a:t>
            </a:r>
            <a:r>
              <a:rPr lang="ko-KR" altLang="ko-KR" sz="2400"/>
              <a:t>앞부분이나 뒷부분</a:t>
            </a:r>
            <a:r>
              <a:rPr lang="en-US" altLang="ko-KR" sz="2400"/>
              <a:t>)</a:t>
            </a:r>
            <a:r>
              <a:rPr lang="ko-KR" altLang="ko-KR" sz="2400"/>
              <a:t>을 </a:t>
            </a:r>
            <a:r>
              <a:rPr lang="ko-KR" altLang="en-US" sz="2400"/>
              <a:t>순환 </a:t>
            </a:r>
            <a:r>
              <a:rPr lang="ko-KR" altLang="ko-KR" sz="2400"/>
              <a:t>호출하므로 </a:t>
            </a:r>
            <a:endParaRPr lang="ko-KR" altLang="ko-KR" sz="2400" dirty="0"/>
          </a:p>
          <a:p>
            <a:pPr marL="1879600" indent="0">
              <a:buNone/>
            </a:pPr>
            <a:r>
              <a:rPr lang="en-US" altLang="ko-KR" sz="2400"/>
              <a:t>T(n) </a:t>
            </a:r>
            <a:r>
              <a:rPr lang="en-US" altLang="ko-KR" sz="2400" dirty="0"/>
              <a:t>= </a:t>
            </a:r>
            <a:r>
              <a:rPr lang="en-US" altLang="ko-KR" sz="2400"/>
              <a:t>T(n/</a:t>
            </a:r>
            <a:r>
              <a:rPr lang="en-US" altLang="ko-KR" sz="2400" dirty="0"/>
              <a:t>2) + 1</a:t>
            </a:r>
            <a:endParaRPr lang="ko-KR" altLang="ko-KR" sz="2400" dirty="0"/>
          </a:p>
          <a:p>
            <a:pPr marL="1879600" indent="0">
              <a:buNone/>
            </a:pPr>
            <a:r>
              <a:rPr lang="en-US" altLang="ko-KR" sz="2400" dirty="0"/>
              <a:t>T(1) = 1</a:t>
            </a:r>
            <a:endParaRPr lang="ko-KR" altLang="ko-KR" sz="2400" dirty="0"/>
          </a:p>
          <a:p>
            <a:r>
              <a:rPr lang="en-US" altLang="ko-KR" sz="2400"/>
              <a:t>T(n) </a:t>
            </a:r>
            <a:r>
              <a:rPr lang="en-US" altLang="ko-KR" sz="2400" dirty="0"/>
              <a:t>= </a:t>
            </a:r>
            <a:r>
              <a:rPr lang="en-US" altLang="ko-KR" sz="2400"/>
              <a:t>T(n/</a:t>
            </a:r>
            <a:r>
              <a:rPr lang="en-US" altLang="ko-KR" sz="2400" dirty="0"/>
              <a:t>2) + 1 </a:t>
            </a:r>
          </a:p>
          <a:p>
            <a:pPr marL="0" indent="0">
              <a:buNone/>
            </a:pPr>
            <a:r>
              <a:rPr lang="en-US" altLang="ko-KR" sz="2400" dirty="0"/>
              <a:t>            = [</a:t>
            </a:r>
            <a:r>
              <a:rPr lang="en-US" altLang="ko-KR" sz="2400">
                <a:solidFill>
                  <a:srgbClr val="FF0000"/>
                </a:solidFill>
              </a:rPr>
              <a:t>T((n/</a:t>
            </a:r>
            <a:r>
              <a:rPr lang="en-US" altLang="ko-KR" sz="2400" dirty="0">
                <a:solidFill>
                  <a:srgbClr val="FF0000"/>
                </a:solidFill>
              </a:rPr>
              <a:t>2)/2) +1</a:t>
            </a:r>
            <a:r>
              <a:rPr lang="en-US" altLang="ko-KR" sz="2400" dirty="0"/>
              <a:t>] + 1 	=  T(N/2</a:t>
            </a:r>
            <a:r>
              <a:rPr lang="en-US" altLang="ko-KR" sz="2400" baseline="30000" dirty="0"/>
              <a:t>2</a:t>
            </a:r>
            <a:r>
              <a:rPr lang="en-US" altLang="ko-KR" sz="2400" dirty="0"/>
              <a:t>) + 2 </a:t>
            </a:r>
          </a:p>
          <a:p>
            <a:pPr marL="0" indent="0">
              <a:buNone/>
            </a:pPr>
            <a:r>
              <a:rPr lang="en-US" altLang="ko-KR" sz="2400" dirty="0"/>
              <a:t>            = [</a:t>
            </a:r>
            <a:r>
              <a:rPr lang="en-US" altLang="ko-KR" sz="2400">
                <a:solidFill>
                  <a:srgbClr val="FF0000"/>
                </a:solidFill>
              </a:rPr>
              <a:t>T((n/</a:t>
            </a:r>
            <a:r>
              <a:rPr lang="en-US" altLang="ko-KR" sz="2400" dirty="0">
                <a:solidFill>
                  <a:srgbClr val="FF0000"/>
                </a:solidFill>
              </a:rPr>
              <a:t>2)/2</a:t>
            </a:r>
            <a:r>
              <a:rPr lang="en-US" altLang="ko-KR" sz="2400" baseline="30000" dirty="0"/>
              <a:t>2</a:t>
            </a:r>
            <a:r>
              <a:rPr lang="en-US" altLang="ko-KR" sz="2400" dirty="0">
                <a:solidFill>
                  <a:srgbClr val="FF0000"/>
                </a:solidFill>
              </a:rPr>
              <a:t>) +1</a:t>
            </a:r>
            <a:r>
              <a:rPr lang="en-US" altLang="ko-KR" sz="2400" dirty="0"/>
              <a:t>] + 2 	=  T(N/2</a:t>
            </a:r>
            <a:r>
              <a:rPr lang="en-US" altLang="ko-KR" sz="2400" baseline="30000" dirty="0"/>
              <a:t>3</a:t>
            </a:r>
            <a:r>
              <a:rPr lang="en-US" altLang="ko-KR" sz="2400" dirty="0"/>
              <a:t>) + 3 </a:t>
            </a:r>
          </a:p>
          <a:p>
            <a:pPr marL="0" indent="0">
              <a:buNone/>
            </a:pPr>
            <a:r>
              <a:rPr lang="en-US" altLang="ko-KR" sz="2400" dirty="0"/>
              <a:t>            = </a:t>
            </a:r>
            <a:r>
              <a:rPr lang="en-US" altLang="ko-KR" sz="2400" dirty="0">
                <a:sym typeface="MT Extra" panose="05050102010205020202" pitchFamily="18" charset="2"/>
              </a:rPr>
              <a:t></a:t>
            </a:r>
            <a:r>
              <a:rPr lang="en-US" altLang="ko-KR" sz="2400" dirty="0"/>
              <a:t> = </a:t>
            </a:r>
            <a:r>
              <a:rPr lang="en-US" altLang="ko-KR" sz="2400"/>
              <a:t>T(n/</a:t>
            </a:r>
            <a:r>
              <a:rPr lang="en-US" altLang="ko-KR" sz="2400" dirty="0"/>
              <a:t>2</a:t>
            </a:r>
            <a:r>
              <a:rPr lang="en-US" altLang="ko-KR" sz="2400" baseline="30000" dirty="0"/>
              <a:t>k</a:t>
            </a:r>
            <a:r>
              <a:rPr lang="en-US" altLang="ko-KR" sz="2400" dirty="0"/>
              <a:t>) + k </a:t>
            </a:r>
          </a:p>
          <a:p>
            <a:pPr marL="0" indent="0">
              <a:buNone/>
            </a:pPr>
            <a:r>
              <a:rPr lang="en-US" altLang="ko-KR" sz="2400" dirty="0"/>
              <a:t>            = T(1) + k,</a:t>
            </a:r>
            <a:r>
              <a:rPr lang="en-US" altLang="ko-KR" sz="2400" dirty="0">
                <a:solidFill>
                  <a:srgbClr val="3333FF"/>
                </a:solidFill>
              </a:rPr>
              <a:t> </a:t>
            </a:r>
            <a:r>
              <a:rPr lang="en-US" altLang="ko-KR" sz="2400">
                <a:solidFill>
                  <a:srgbClr val="00B0F0"/>
                </a:solidFill>
              </a:rPr>
              <a:t>if n </a:t>
            </a:r>
            <a:r>
              <a:rPr lang="en-US" altLang="ko-KR" sz="2400" dirty="0">
                <a:solidFill>
                  <a:srgbClr val="00B0F0"/>
                </a:solidFill>
              </a:rPr>
              <a:t>= 2</a:t>
            </a:r>
            <a:r>
              <a:rPr lang="en-US" altLang="ko-KR" sz="2400" baseline="30000" dirty="0">
                <a:solidFill>
                  <a:srgbClr val="00B0F0"/>
                </a:solidFill>
              </a:rPr>
              <a:t>k</a:t>
            </a:r>
            <a:r>
              <a:rPr lang="en-US" altLang="ko-KR" sz="2400" dirty="0">
                <a:solidFill>
                  <a:srgbClr val="00B0F0"/>
                </a:solidFill>
              </a:rPr>
              <a:t>,</a:t>
            </a:r>
            <a:r>
              <a:rPr lang="ko-KR" altLang="ko-KR" sz="2400" dirty="0">
                <a:solidFill>
                  <a:srgbClr val="00B0F0"/>
                </a:solidFill>
              </a:rPr>
              <a:t> </a:t>
            </a:r>
            <a:r>
              <a:rPr lang="en-US" altLang="ko-KR" sz="2400" dirty="0">
                <a:solidFill>
                  <a:srgbClr val="00B0F0"/>
                </a:solidFill>
              </a:rPr>
              <a:t>k </a:t>
            </a:r>
            <a:r>
              <a:rPr lang="en-US" altLang="ko-KR" sz="2400">
                <a:solidFill>
                  <a:srgbClr val="00B0F0"/>
                </a:solidFill>
              </a:rPr>
              <a:t>= log</a:t>
            </a:r>
            <a:r>
              <a:rPr lang="en-US" altLang="ko-KR" sz="2400" baseline="-25000">
                <a:solidFill>
                  <a:srgbClr val="00B0F0"/>
                </a:solidFill>
              </a:rPr>
              <a:t>2</a:t>
            </a:r>
            <a:r>
              <a:rPr lang="en-US" altLang="ko-KR" sz="2400">
                <a:solidFill>
                  <a:srgbClr val="00B0F0"/>
                </a:solidFill>
              </a:rPr>
              <a:t>n</a:t>
            </a:r>
            <a:endParaRPr lang="en-US" altLang="ko-KR" sz="2400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altLang="ko-KR" sz="2400" dirty="0"/>
              <a:t>            = 1 </a:t>
            </a:r>
            <a:r>
              <a:rPr lang="en-US" altLang="ko-KR" sz="2400"/>
              <a:t>+ log</a:t>
            </a:r>
            <a:r>
              <a:rPr lang="en-US" altLang="ko-KR" sz="2400" baseline="-25000"/>
              <a:t>2</a:t>
            </a:r>
            <a:r>
              <a:rPr lang="en-US" altLang="ko-KR" sz="2400"/>
              <a:t>n  </a:t>
            </a:r>
            <a:r>
              <a:rPr lang="en-US" altLang="ko-KR" sz="2400" dirty="0"/>
              <a:t>= </a:t>
            </a:r>
            <a:r>
              <a:rPr lang="en-US" altLang="ko-KR" sz="2400" dirty="0">
                <a:solidFill>
                  <a:srgbClr val="00B0F0"/>
                </a:solidFill>
              </a:rPr>
              <a:t>O</a:t>
            </a:r>
            <a:r>
              <a:rPr lang="en-US" altLang="ko-KR" sz="2400">
                <a:solidFill>
                  <a:srgbClr val="00B0F0"/>
                </a:solidFill>
              </a:rPr>
              <a:t>(logn)</a:t>
            </a:r>
            <a:endParaRPr lang="ko-KR" altLang="ko-KR" sz="2400" dirty="0">
              <a:solidFill>
                <a:srgbClr val="00B0F0"/>
              </a:solidFill>
            </a:endParaRPr>
          </a:p>
          <a:p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76244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6863" y="795079"/>
            <a:ext cx="7886700" cy="503554"/>
          </a:xfrm>
        </p:spPr>
        <p:txBody>
          <a:bodyPr/>
          <a:lstStyle/>
          <a:p>
            <a:pPr algn="l"/>
            <a:r>
              <a:rPr lang="en-US" altLang="ko-KR"/>
              <a:t>5.2 </a:t>
            </a:r>
            <a:r>
              <a:rPr lang="ko-KR" altLang="ko-KR"/>
              <a:t>이진</a:t>
            </a:r>
            <a:r>
              <a:rPr lang="en-US" altLang="ko-KR"/>
              <a:t> </a:t>
            </a:r>
            <a:r>
              <a:rPr lang="ko-KR" altLang="ko-KR"/>
              <a:t>탐색</a:t>
            </a:r>
            <a:r>
              <a:rPr lang="en-US" altLang="ko-KR"/>
              <a:t> </a:t>
            </a:r>
            <a:r>
              <a:rPr lang="ko-KR" altLang="ko-KR"/>
              <a:t>트리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52945" y="3139599"/>
            <a:ext cx="7370618" cy="578801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176213" lvl="1" indent="0">
              <a:lnSpc>
                <a:spcPct val="120000"/>
              </a:lnSpc>
              <a:spcAft>
                <a:spcPts val="2400"/>
              </a:spcAft>
              <a:buNone/>
            </a:pPr>
            <a:r>
              <a:rPr lang="ko-KR" altLang="ko-KR" sz="2300"/>
              <a:t>이진</a:t>
            </a:r>
            <a:r>
              <a:rPr lang="en-US" altLang="ko-KR" sz="2300"/>
              <a:t> </a:t>
            </a:r>
            <a:r>
              <a:rPr lang="ko-KR" altLang="ko-KR" sz="2300"/>
              <a:t>탐색 </a:t>
            </a:r>
            <a:r>
              <a:rPr lang="ko-KR" altLang="ko-KR" sz="2300" dirty="0"/>
              <a:t>개념을 트리 형태의 구조에 접목한 자료구조</a:t>
            </a:r>
            <a:endParaRPr lang="en-US" altLang="ko-KR" sz="2300" dirty="0"/>
          </a:p>
        </p:txBody>
      </p:sp>
    </p:spTree>
    <p:extLst>
      <p:ext uri="{BB962C8B-B14F-4D97-AF65-F5344CB8AC3E}">
        <p14:creationId xmlns:p14="http://schemas.microsoft.com/office/powerpoint/2010/main" val="437628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45806" y="448866"/>
            <a:ext cx="8260915" cy="793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20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 형태의 </a:t>
            </a:r>
            <a:r>
              <a:rPr lang="ko-KR" altLang="ko-KR" sz="20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자료구조에서 이진</a:t>
            </a:r>
            <a:r>
              <a:rPr lang="en-US" altLang="ko-KR" sz="20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0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탐색을 </a:t>
            </a:r>
            <a:r>
              <a:rPr lang="ko-KR" altLang="ko-KR" sz="20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수행하기 위해 </a:t>
            </a:r>
            <a:r>
              <a:rPr lang="en-US" altLang="ko-KR" sz="20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1</a:t>
            </a:r>
            <a:r>
              <a:rPr lang="ko-KR" altLang="ko-KR" sz="20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차원 </a:t>
            </a:r>
            <a:r>
              <a:rPr lang="ko-KR" altLang="en-US" sz="20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리스트를</a:t>
            </a:r>
            <a:r>
              <a:rPr lang="ko-KR" altLang="ko-KR" sz="20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단순</a:t>
            </a:r>
            <a:r>
              <a:rPr lang="en-US" altLang="ko-KR" sz="20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0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연결</a:t>
            </a:r>
            <a:r>
              <a:rPr lang="en-US" altLang="ko-KR" sz="20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0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리스트로 </a:t>
            </a:r>
            <a:r>
              <a:rPr lang="ko-KR" altLang="ko-KR" sz="20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만든 후</a:t>
            </a:r>
            <a:r>
              <a:rPr lang="en-US" altLang="ko-KR" sz="20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ko-KR" sz="20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점</a:t>
            </a:r>
            <a:r>
              <a:rPr lang="ko-KR" altLang="en-US" sz="20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차</a:t>
            </a:r>
            <a:r>
              <a:rPr lang="ko-KR" altLang="ko-KR" sz="20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이진</a:t>
            </a:r>
            <a:r>
              <a:rPr lang="en-US" altLang="ko-KR" sz="20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0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 </a:t>
            </a:r>
            <a:r>
              <a:rPr lang="ko-KR" altLang="ko-KR" sz="20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형태로 변환</a:t>
            </a:r>
            <a:r>
              <a:rPr lang="ko-KR" altLang="en-US" sz="20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하</a:t>
            </a:r>
            <a:r>
              <a:rPr lang="ko-KR" altLang="ko-KR" sz="20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는 과정</a:t>
            </a:r>
            <a:endParaRPr lang="ko-KR" altLang="en-US" sz="20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3" name="그림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806" y="1612490"/>
            <a:ext cx="8691717" cy="51029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5605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620037" y="807154"/>
            <a:ext cx="812312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이진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탐색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트리를 </a:t>
            </a:r>
            <a:r>
              <a:rPr lang="ko-KR" altLang="ko-KR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중위</a:t>
            </a:r>
            <a:r>
              <a:rPr lang="en-US" altLang="ko-KR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순회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en-US" altLang="ko-KR" sz="2400" b="1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Inorder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Traversal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하면</a:t>
            </a:r>
            <a:endParaRPr lang="ko-KR" altLang="en-US" sz="32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3" name="그림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875" y="1885984"/>
            <a:ext cx="5993892" cy="45523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59248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339" y="3135072"/>
            <a:ext cx="6654787" cy="3061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71" y="491459"/>
            <a:ext cx="8696325" cy="1057275"/>
          </a:xfrm>
          <a:prstGeom prst="rect">
            <a:avLst/>
          </a:prstGeom>
        </p:spPr>
      </p:pic>
      <p:sp>
        <p:nvSpPr>
          <p:cNvPr id="4" name="위쪽/아래쪽 화살표 3"/>
          <p:cNvSpPr/>
          <p:nvPr/>
        </p:nvSpPr>
        <p:spPr>
          <a:xfrm>
            <a:off x="4227871" y="1992858"/>
            <a:ext cx="432619" cy="698090"/>
          </a:xfrm>
          <a:prstGeom prst="up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8939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645089" y="697273"/>
            <a:ext cx="8073025" cy="19389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63525"/>
            <a:r>
              <a:rPr lang="ko-KR" altLang="ko-KR" sz="2400" b="1">
                <a:solidFill>
                  <a:srgbClr val="7030A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이진</a:t>
            </a:r>
            <a:r>
              <a:rPr lang="en-US" altLang="ko-KR" sz="2400" b="1">
                <a:solidFill>
                  <a:srgbClr val="7030A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solidFill>
                  <a:srgbClr val="7030A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탐색</a:t>
            </a:r>
            <a:r>
              <a:rPr lang="en-US" altLang="ko-KR" sz="2400" b="1">
                <a:solidFill>
                  <a:srgbClr val="7030A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solidFill>
                  <a:srgbClr val="7030A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트리는 이진</a:t>
            </a:r>
            <a:r>
              <a:rPr lang="en-US" altLang="ko-KR" sz="2400" b="1">
                <a:solidFill>
                  <a:srgbClr val="7030A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solidFill>
                  <a:srgbClr val="7030A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트리로서 </a:t>
            </a:r>
            <a:r>
              <a:rPr lang="ko-KR" altLang="ko-KR" sz="2400" b="1" dirty="0">
                <a:solidFill>
                  <a:srgbClr val="7030A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각 노드가 다음과 같은 조건을 만족한다</a:t>
            </a:r>
            <a:r>
              <a:rPr lang="en-US" altLang="ko-KR" sz="2400" b="1" dirty="0">
                <a:solidFill>
                  <a:srgbClr val="7030A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 </a:t>
            </a:r>
          </a:p>
          <a:p>
            <a:pPr marL="800100" lvl="1" indent="-342900">
              <a:buFontTx/>
              <a:buChar char="-"/>
            </a:pP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각 노드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n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 키</a:t>
            </a:r>
            <a:r>
              <a:rPr lang="ko-KR" altLang="en-US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는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n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 왼쪽 서브트리에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있는 </a:t>
            </a:r>
            <a:r>
              <a:rPr lang="ko-KR" altLang="en-US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키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보다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en-US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같거나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크고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n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 오른쪽 서브트리에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있는 키보다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작다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  <a:r>
              <a:rPr lang="en-US" altLang="ko-KR" sz="2400" b="1" dirty="0">
                <a:solidFill>
                  <a:srgbClr val="7030A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2400" b="1">
                <a:solidFill>
                  <a:srgbClr val="3333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[</a:t>
            </a:r>
            <a:r>
              <a:rPr lang="ko-KR" altLang="ko-KR" sz="2400" b="1">
                <a:solidFill>
                  <a:srgbClr val="3333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이진</a:t>
            </a:r>
            <a:r>
              <a:rPr lang="en-US" altLang="ko-KR" sz="2400" b="1">
                <a:solidFill>
                  <a:srgbClr val="3333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solidFill>
                  <a:srgbClr val="3333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탐색</a:t>
            </a:r>
            <a:r>
              <a:rPr lang="en-US" altLang="ko-KR" sz="2400" b="1">
                <a:solidFill>
                  <a:srgbClr val="3333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solidFill>
                  <a:srgbClr val="3333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 </a:t>
            </a:r>
            <a:r>
              <a:rPr lang="ko-KR" altLang="ko-KR" sz="2400" b="1" dirty="0">
                <a:solidFill>
                  <a:srgbClr val="3333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조건</a:t>
            </a:r>
            <a:r>
              <a:rPr lang="en-US" altLang="ko-KR" sz="2400" b="1" dirty="0">
                <a:solidFill>
                  <a:srgbClr val="3333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]</a:t>
            </a:r>
            <a:endParaRPr lang="en-US" altLang="ko-KR" sz="3200" b="1" dirty="0">
              <a:solidFill>
                <a:srgbClr val="3333FF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3" name="그림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212" y="3537634"/>
            <a:ext cx="7322778" cy="187361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직사각형 3"/>
          <p:cNvSpPr/>
          <p:nvPr/>
        </p:nvSpPr>
        <p:spPr>
          <a:xfrm>
            <a:off x="3561587" y="5722036"/>
            <a:ext cx="25875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이진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탐색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</a:t>
            </a:r>
            <a:r>
              <a:rPr lang="ko-KR" altLang="en-US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는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?</a:t>
            </a:r>
            <a:endParaRPr lang="ko-KR" altLang="en-US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146" y="697273"/>
            <a:ext cx="557480" cy="56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109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76" y="862828"/>
            <a:ext cx="8221042" cy="5457172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3057754" y="6383809"/>
            <a:ext cx="24522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ko-KR" altLang="ko-K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프로그램</a:t>
            </a:r>
            <a:r>
              <a:rPr lang="ko-KR" altLang="ko-KR" sz="20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2000" dirty="0">
                <a:ea typeface="Calibri" panose="020F0502020204030204" pitchFamily="34" charset="0"/>
                <a:cs typeface="Times New Roman" panose="02020603050405020304" pitchFamily="18" charset="0"/>
              </a:rPr>
              <a:t>5-1] bst.py</a:t>
            </a:r>
            <a:endParaRPr lang="ko-KR" altLang="en-US" sz="2000" dirty="0"/>
          </a:p>
        </p:txBody>
      </p:sp>
      <p:sp>
        <p:nvSpPr>
          <p:cNvPr id="5" name="직사각형 4"/>
          <p:cNvSpPr/>
          <p:nvPr/>
        </p:nvSpPr>
        <p:spPr>
          <a:xfrm>
            <a:off x="2004498" y="150643"/>
            <a:ext cx="48093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2400"/>
              </a:spcAft>
            </a:pPr>
            <a:r>
              <a:rPr lang="ko-KR" altLang="ko-KR" sz="2400" b="1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이진</a:t>
            </a:r>
            <a:r>
              <a:rPr lang="en-US" altLang="ko-KR" sz="2400" b="1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탐색</a:t>
            </a:r>
            <a:r>
              <a:rPr lang="en-US" altLang="ko-KR" sz="2400" b="1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트리를 </a:t>
            </a:r>
            <a:r>
              <a:rPr lang="ko-KR" altLang="ko-KR" sz="24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위한 </a:t>
            </a:r>
            <a:r>
              <a:rPr lang="en-US" altLang="ko-KR" sz="24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BST </a:t>
            </a:r>
            <a:r>
              <a:rPr lang="ko-KR" altLang="ko-KR" sz="24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클래스</a:t>
            </a:r>
            <a:endParaRPr lang="en-US" altLang="ko-KR" sz="2400" b="1" dirty="0">
              <a:solidFill>
                <a:srgbClr val="C0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4216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3552" y="831731"/>
            <a:ext cx="7886700" cy="503554"/>
          </a:xfrm>
        </p:spPr>
        <p:txBody>
          <a:bodyPr/>
          <a:lstStyle/>
          <a:p>
            <a:pPr algn="l"/>
            <a:r>
              <a:rPr lang="en-US" altLang="ko-KR" dirty="0"/>
              <a:t>5.2.1 </a:t>
            </a:r>
            <a:r>
              <a:rPr lang="ko-KR" altLang="ko-KR" dirty="0"/>
              <a:t>탐색 연산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2150251"/>
            <a:ext cx="7886700" cy="397817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ko-KR" altLang="ko-KR" sz="2400" dirty="0"/>
              <a:t>탐색하고자 하는</a:t>
            </a:r>
            <a:r>
              <a:rPr lang="en-US" altLang="ko-KR" sz="2400" dirty="0"/>
              <a:t> </a:t>
            </a:r>
            <a:r>
              <a:rPr lang="ko-KR" altLang="en-US" sz="2400" dirty="0"/>
              <a:t>키</a:t>
            </a:r>
            <a:r>
              <a:rPr lang="ko-KR" altLang="ko-KR" sz="2400" dirty="0"/>
              <a:t>가 </a:t>
            </a:r>
            <a:r>
              <a:rPr lang="en-US" altLang="ko-KR" sz="2400" dirty="0"/>
              <a:t>k</a:t>
            </a:r>
            <a:r>
              <a:rPr lang="ko-KR" altLang="ko-KR" sz="2400" dirty="0"/>
              <a:t>라면</a:t>
            </a:r>
            <a:r>
              <a:rPr lang="en-US" altLang="ko-KR" sz="2400" dirty="0"/>
              <a:t>, </a:t>
            </a:r>
            <a:r>
              <a:rPr lang="ko-KR" altLang="ko-KR" sz="2400" dirty="0">
                <a:solidFill>
                  <a:srgbClr val="00B0F0"/>
                </a:solidFill>
              </a:rPr>
              <a:t>루트의</a:t>
            </a:r>
            <a:r>
              <a:rPr lang="en-US" altLang="ko-KR" sz="2400" dirty="0">
                <a:solidFill>
                  <a:srgbClr val="00B0F0"/>
                </a:solidFill>
              </a:rPr>
              <a:t> </a:t>
            </a:r>
            <a:r>
              <a:rPr lang="ko-KR" altLang="en-US" sz="2400" dirty="0">
                <a:solidFill>
                  <a:srgbClr val="00B0F0"/>
                </a:solidFill>
              </a:rPr>
              <a:t>키</a:t>
            </a:r>
            <a:r>
              <a:rPr lang="ko-KR" altLang="ko-KR" sz="2400" dirty="0">
                <a:solidFill>
                  <a:srgbClr val="00B0F0"/>
                </a:solidFill>
              </a:rPr>
              <a:t>와 </a:t>
            </a:r>
            <a:r>
              <a:rPr lang="en-US" altLang="ko-KR" sz="2400" dirty="0">
                <a:solidFill>
                  <a:srgbClr val="00B0F0"/>
                </a:solidFill>
              </a:rPr>
              <a:t>k</a:t>
            </a:r>
            <a:r>
              <a:rPr lang="ko-KR" altLang="ko-KR" sz="2400" dirty="0">
                <a:solidFill>
                  <a:srgbClr val="00B0F0"/>
                </a:solidFill>
              </a:rPr>
              <a:t>를 비교</a:t>
            </a:r>
            <a:r>
              <a:rPr lang="ko-KR" altLang="ko-KR" sz="2400" dirty="0"/>
              <a:t>하는 것으로 탐색을 시작</a:t>
            </a:r>
            <a:endParaRPr lang="en-US" altLang="ko-KR" sz="2400" dirty="0"/>
          </a:p>
          <a:p>
            <a:pPr>
              <a:lnSpc>
                <a:spcPct val="120000"/>
              </a:lnSpc>
            </a:pPr>
            <a:r>
              <a:rPr lang="en-US" altLang="ko-KR" sz="2400" dirty="0"/>
              <a:t>k</a:t>
            </a:r>
            <a:r>
              <a:rPr lang="ko-KR" altLang="en-US" sz="2400" dirty="0"/>
              <a:t>가 루트의 키</a:t>
            </a:r>
            <a:r>
              <a:rPr lang="ko-KR" altLang="ko-KR" sz="2400" dirty="0"/>
              <a:t>가 </a:t>
            </a:r>
            <a:r>
              <a:rPr lang="en-US" altLang="ko-KR" sz="2400" dirty="0"/>
              <a:t>k </a:t>
            </a:r>
            <a:r>
              <a:rPr lang="ko-KR" altLang="ko-KR" sz="2400" dirty="0"/>
              <a:t>보다 </a:t>
            </a:r>
            <a:r>
              <a:rPr lang="ko-KR" altLang="en-US" sz="2400" dirty="0">
                <a:solidFill>
                  <a:srgbClr val="00B0F0"/>
                </a:solidFill>
              </a:rPr>
              <a:t>작으면</a:t>
            </a:r>
            <a:r>
              <a:rPr lang="en-US" altLang="ko-KR" sz="2400" dirty="0"/>
              <a:t>, </a:t>
            </a:r>
            <a:r>
              <a:rPr lang="ko-KR" altLang="ko-KR" sz="2400" dirty="0"/>
              <a:t>루트의 왼쪽 서브트리에서</a:t>
            </a:r>
            <a:r>
              <a:rPr lang="en-US" altLang="ko-KR" sz="2400" dirty="0"/>
              <a:t> k</a:t>
            </a:r>
            <a:r>
              <a:rPr lang="ko-KR" altLang="ko-KR" sz="2400" dirty="0"/>
              <a:t>를 찾고</a:t>
            </a:r>
            <a:r>
              <a:rPr lang="en-US" altLang="ko-KR" sz="2400" dirty="0"/>
              <a:t>, </a:t>
            </a:r>
            <a:r>
              <a:rPr lang="ko-KR" altLang="en-US" sz="2400" dirty="0">
                <a:solidFill>
                  <a:srgbClr val="00B0F0"/>
                </a:solidFill>
              </a:rPr>
              <a:t>크면</a:t>
            </a:r>
            <a:r>
              <a:rPr lang="ko-KR" altLang="ko-KR" sz="2400" dirty="0"/>
              <a:t> 루트의 오른쪽 서브트리에서</a:t>
            </a:r>
            <a:r>
              <a:rPr lang="en-US" altLang="ko-KR" sz="2400" dirty="0"/>
              <a:t> k</a:t>
            </a:r>
            <a:r>
              <a:rPr lang="ko-KR" altLang="ko-KR" sz="2400" dirty="0"/>
              <a:t>를 찾</a:t>
            </a:r>
            <a:r>
              <a:rPr lang="ko-KR" altLang="en-US" sz="2400" dirty="0"/>
              <a:t>으며</a:t>
            </a:r>
            <a:r>
              <a:rPr lang="en-US" altLang="ko-KR" sz="2400" dirty="0"/>
              <a:t>, </a:t>
            </a:r>
            <a:r>
              <a:rPr lang="ko-KR" altLang="ko-KR" sz="2400" dirty="0">
                <a:solidFill>
                  <a:srgbClr val="00B0F0"/>
                </a:solidFill>
              </a:rPr>
              <a:t>같으면</a:t>
            </a:r>
            <a:r>
              <a:rPr lang="ko-KR" altLang="ko-KR" sz="2400" dirty="0"/>
              <a:t> 탐색 성공</a:t>
            </a:r>
            <a:endParaRPr lang="en-US" altLang="ko-KR" sz="2400" dirty="0"/>
          </a:p>
          <a:p>
            <a:pPr>
              <a:lnSpc>
                <a:spcPct val="120000"/>
              </a:lnSpc>
            </a:pPr>
            <a:r>
              <a:rPr lang="ko-KR" altLang="ko-KR" sz="2400" dirty="0"/>
              <a:t>왼쪽이나 오른쪽 서브트리에서</a:t>
            </a:r>
            <a:r>
              <a:rPr lang="en-US" altLang="ko-KR" sz="2400" dirty="0"/>
              <a:t> k</a:t>
            </a:r>
            <a:r>
              <a:rPr lang="ko-KR" altLang="ko-KR" sz="2400" dirty="0"/>
              <a:t>를 탐색은 루트에서의 탐색과 동일</a:t>
            </a:r>
          </a:p>
          <a:p>
            <a:pPr>
              <a:lnSpc>
                <a:spcPct val="120000"/>
              </a:lnSpc>
            </a:pP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54839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2" y="1177448"/>
            <a:ext cx="9039720" cy="392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628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767" y="1648151"/>
            <a:ext cx="6708197" cy="4126348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444673" y="558773"/>
            <a:ext cx="405217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ko-KR" altLang="ko-KR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예제</a:t>
            </a:r>
            <a:r>
              <a:rPr lang="en-US" altLang="ko-KR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altLang="ko-KR" sz="3200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2400" dirty="0"/>
              <a:t>40</a:t>
            </a:r>
            <a:r>
              <a:rPr lang="ko-KR" altLang="ko-KR" sz="2400" dirty="0"/>
              <a:t>을 탐색하는 과정</a:t>
            </a:r>
            <a:endParaRPr lang="ko-KR" altLang="en-US" sz="3200" dirty="0"/>
          </a:p>
        </p:txBody>
      </p:sp>
      <p:pic>
        <p:nvPicPr>
          <p:cNvPr id="3" name="그림 2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257" y="2194050"/>
            <a:ext cx="2724412" cy="21775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3731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/>
              <a:t>5.2.2 </a:t>
            </a:r>
            <a:r>
              <a:rPr lang="ko-KR" altLang="ko-KR" dirty="0"/>
              <a:t>삽입 연산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615858"/>
            <a:ext cx="7886700" cy="487638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ko-KR" altLang="en-US" sz="2400" dirty="0"/>
              <a:t>삽</a:t>
            </a:r>
            <a:r>
              <a:rPr lang="ko-KR" altLang="ko-KR" sz="2400" dirty="0"/>
              <a:t>입은 탐색 연산과 거의 동일</a:t>
            </a:r>
            <a:endParaRPr lang="en-US" altLang="ko-KR" sz="2400" dirty="0"/>
          </a:p>
          <a:p>
            <a:pPr>
              <a:lnSpc>
                <a:spcPct val="120000"/>
              </a:lnSpc>
            </a:pPr>
            <a:r>
              <a:rPr lang="ko-KR" altLang="ko-KR" sz="2400" dirty="0"/>
              <a:t>탐색 </a:t>
            </a:r>
            <a:r>
              <a:rPr lang="ko-KR" altLang="en-US" sz="2400" dirty="0"/>
              <a:t>중</a:t>
            </a:r>
            <a:r>
              <a:rPr lang="ko-KR" altLang="ko-KR" sz="2400" dirty="0"/>
              <a:t> </a:t>
            </a:r>
            <a:r>
              <a:rPr lang="en-US" altLang="ko-KR" sz="2400" dirty="0"/>
              <a:t>None</a:t>
            </a:r>
            <a:r>
              <a:rPr lang="ko-KR" altLang="en-US" sz="2400" dirty="0"/>
              <a:t>을 만나면</a:t>
            </a:r>
            <a:r>
              <a:rPr lang="en-US" altLang="ko-KR" sz="2400" dirty="0"/>
              <a:t> </a:t>
            </a:r>
            <a:r>
              <a:rPr lang="ko-KR" altLang="ko-KR" sz="2400" dirty="0">
                <a:solidFill>
                  <a:srgbClr val="3333FF"/>
                </a:solidFill>
              </a:rPr>
              <a:t>새 노드를 </a:t>
            </a:r>
            <a:r>
              <a:rPr lang="ko-KR" altLang="ko-KR" sz="2400">
                <a:solidFill>
                  <a:srgbClr val="3333FF"/>
                </a:solidFill>
              </a:rPr>
              <a:t>생성하</a:t>
            </a:r>
            <a:r>
              <a:rPr lang="ko-KR" altLang="en-US" sz="2400">
                <a:solidFill>
                  <a:srgbClr val="3333FF"/>
                </a:solidFill>
              </a:rPr>
              <a:t>여</a:t>
            </a:r>
            <a:r>
              <a:rPr lang="ko-KR" altLang="ko-KR" sz="2400">
                <a:solidFill>
                  <a:srgbClr val="3333FF"/>
                </a:solidFill>
              </a:rPr>
              <a:t> 부모와 </a:t>
            </a:r>
            <a:r>
              <a:rPr lang="ko-KR" altLang="ko-KR" sz="2400" dirty="0">
                <a:solidFill>
                  <a:srgbClr val="3333FF"/>
                </a:solidFill>
              </a:rPr>
              <a:t>연결</a:t>
            </a:r>
            <a:endParaRPr lang="en-US" altLang="ko-KR" sz="2400" dirty="0"/>
          </a:p>
          <a:p>
            <a:pPr>
              <a:lnSpc>
                <a:spcPct val="120000"/>
              </a:lnSpc>
            </a:pPr>
            <a:r>
              <a:rPr lang="ko-KR" altLang="ko-KR" sz="2400" dirty="0"/>
              <a:t>단</a:t>
            </a:r>
            <a:r>
              <a:rPr lang="en-US" altLang="ko-KR" sz="2400" dirty="0"/>
              <a:t>, </a:t>
            </a:r>
            <a:r>
              <a:rPr lang="ko-KR" altLang="ko-KR" sz="2400" dirty="0"/>
              <a:t>이미 트리에 존재하는 </a:t>
            </a:r>
            <a:r>
              <a:rPr lang="ko-KR" altLang="en-US" sz="2400" dirty="0"/>
              <a:t>키</a:t>
            </a:r>
            <a:r>
              <a:rPr lang="ko-KR" altLang="ko-KR" sz="2400" dirty="0"/>
              <a:t>를 삽입한 경우</a:t>
            </a:r>
            <a:r>
              <a:rPr lang="en-US" altLang="ko-KR" sz="2400" dirty="0"/>
              <a:t>, value</a:t>
            </a:r>
            <a:r>
              <a:rPr lang="ko-KR" altLang="en-US" sz="2400" dirty="0"/>
              <a:t>만</a:t>
            </a:r>
            <a:r>
              <a:rPr lang="ko-KR" altLang="ko-KR" sz="2400" dirty="0"/>
              <a:t> 갱신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35525870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85" y="893132"/>
            <a:ext cx="8859446" cy="465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5087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94460" y="701550"/>
            <a:ext cx="36615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ko-KR" altLang="ko-KR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예제</a:t>
            </a:r>
            <a:r>
              <a:rPr lang="en-US" altLang="ko-KR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altLang="ko-KR" sz="2400" dirty="0"/>
              <a:t>35</a:t>
            </a:r>
            <a:r>
              <a:rPr lang="ko-KR" altLang="ko-KR" sz="2400" dirty="0"/>
              <a:t>를 삽입하는 과정</a:t>
            </a:r>
            <a:endParaRPr lang="ko-KR" altLang="en-US" sz="32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1862137"/>
            <a:ext cx="7524750" cy="313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3601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632" y="1169368"/>
            <a:ext cx="8568952" cy="568863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/>
          <p:cNvSpPr/>
          <p:nvPr/>
        </p:nvSpPr>
        <p:spPr>
          <a:xfrm>
            <a:off x="373632" y="261664"/>
            <a:ext cx="47724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dirty="0">
                <a:ea typeface="Calibri" panose="020F0502020204030204" pitchFamily="34" charset="0"/>
                <a:cs typeface="Times New Roman" panose="02020603050405020304" pitchFamily="18" charset="0"/>
              </a:rPr>
              <a:t>35</a:t>
            </a:r>
            <a:r>
              <a:rPr lang="ko-KR" altLang="ko-KR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를</a:t>
            </a:r>
            <a:r>
              <a:rPr lang="ko-KR" altLang="ko-KR" sz="24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삽입할</a:t>
            </a:r>
            <a:r>
              <a:rPr lang="ko-KR" altLang="ko-KR" sz="24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장소를</a:t>
            </a:r>
            <a:r>
              <a:rPr lang="ko-KR" altLang="ko-KR" sz="24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탐색하는</a:t>
            </a:r>
            <a:r>
              <a:rPr lang="ko-KR" altLang="ko-KR" sz="24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과정</a:t>
            </a:r>
            <a:endParaRPr lang="ko-KR" altLang="en-US" sz="2400" dirty="0"/>
          </a:p>
        </p:txBody>
      </p:sp>
      <p:sp>
        <p:nvSpPr>
          <p:cNvPr id="4" name="직사각형 3"/>
          <p:cNvSpPr/>
          <p:nvPr/>
        </p:nvSpPr>
        <p:spPr>
          <a:xfrm>
            <a:off x="3957955" y="6559998"/>
            <a:ext cx="452284" cy="252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81124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82" y="14287"/>
            <a:ext cx="8296275" cy="6829425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173343" y="274952"/>
            <a:ext cx="2480153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ko-KR" sz="2200" dirty="0">
                <a:solidFill>
                  <a:srgbClr val="3333FF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새</a:t>
            </a:r>
            <a:r>
              <a:rPr lang="ko-KR" altLang="ko-KR" sz="2200" dirty="0">
                <a:solidFill>
                  <a:srgbClr val="3333FF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2200" dirty="0">
                <a:solidFill>
                  <a:srgbClr val="3333FF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노드</a:t>
            </a:r>
            <a:r>
              <a:rPr lang="ko-KR" altLang="ko-KR" sz="2200" dirty="0">
                <a:solidFill>
                  <a:srgbClr val="3333FF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2200" dirty="0">
                <a:solidFill>
                  <a:srgbClr val="3333FF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삽입</a:t>
            </a:r>
            <a:r>
              <a:rPr lang="ko-KR" altLang="ko-KR" sz="2200" dirty="0">
                <a:solidFill>
                  <a:srgbClr val="3333FF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2200" dirty="0">
                <a:solidFill>
                  <a:srgbClr val="3333FF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후</a:t>
            </a:r>
            <a:r>
              <a:rPr lang="ko-KR" altLang="ko-KR" sz="2200" dirty="0">
                <a:solidFill>
                  <a:srgbClr val="3333FF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2200" dirty="0">
                <a:solidFill>
                  <a:srgbClr val="3333FF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루트로</a:t>
            </a:r>
            <a:r>
              <a:rPr lang="ko-KR" altLang="ko-KR" sz="2200" dirty="0">
                <a:solidFill>
                  <a:srgbClr val="3333FF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2200" dirty="0">
                <a:solidFill>
                  <a:srgbClr val="3333FF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거슬러</a:t>
            </a:r>
            <a:r>
              <a:rPr lang="ko-KR" altLang="ko-KR" sz="2200" dirty="0">
                <a:solidFill>
                  <a:srgbClr val="3333FF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2200" dirty="0">
                <a:solidFill>
                  <a:srgbClr val="3333FF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올라가며</a:t>
            </a:r>
            <a:r>
              <a:rPr lang="ko-KR" altLang="ko-KR" sz="2200" dirty="0">
                <a:solidFill>
                  <a:srgbClr val="3333FF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2200" b="1" dirty="0">
                <a:solidFill>
                  <a:srgbClr val="00B0F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재</a:t>
            </a:r>
            <a:r>
              <a:rPr lang="ko-KR" altLang="ko-KR" sz="2200" b="1" dirty="0">
                <a:solidFill>
                  <a:srgbClr val="00B0F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2200" b="1" dirty="0">
                <a:solidFill>
                  <a:srgbClr val="00B0F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연결</a:t>
            </a:r>
            <a:r>
              <a:rPr lang="ko-KR" altLang="ko-KR" sz="2200" dirty="0">
                <a:solidFill>
                  <a:srgbClr val="3333FF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하는</a:t>
            </a:r>
            <a:r>
              <a:rPr lang="ko-KR" altLang="ko-KR" sz="2200" dirty="0">
                <a:solidFill>
                  <a:srgbClr val="3333FF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2200" dirty="0">
                <a:solidFill>
                  <a:srgbClr val="3333FF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과정</a:t>
            </a:r>
            <a:endParaRPr lang="ko-KR" altLang="en-US" sz="2200" dirty="0">
              <a:solidFill>
                <a:srgbClr val="3333FF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925915" y="5929120"/>
            <a:ext cx="543793" cy="2837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399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 dirty="0"/>
              <a:t>5.2.3 </a:t>
            </a:r>
            <a:r>
              <a:rPr lang="ko-KR" altLang="ko-KR" dirty="0"/>
              <a:t>최솟값 찾기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45768"/>
            <a:ext cx="7886700" cy="283813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ko-KR" altLang="ko-KR" sz="2400"/>
              <a:t>최솟값</a:t>
            </a:r>
            <a:r>
              <a:rPr lang="ko-KR" altLang="en-US" sz="2400"/>
              <a:t>은</a:t>
            </a:r>
            <a:r>
              <a:rPr lang="ko-KR" altLang="ko-KR" sz="2400"/>
              <a:t> 루트로부터 왼쪽</a:t>
            </a:r>
            <a:r>
              <a:rPr lang="ko-KR" altLang="en-US" sz="2400"/>
              <a:t>으로</a:t>
            </a:r>
            <a:r>
              <a:rPr lang="ko-KR" altLang="ko-KR" sz="2400"/>
              <a:t> </a:t>
            </a:r>
            <a:r>
              <a:rPr lang="ko-KR" altLang="ko-KR" sz="2400" dirty="0"/>
              <a:t>내려가며</a:t>
            </a:r>
            <a:r>
              <a:rPr lang="en-US" altLang="ko-KR" sz="2400" dirty="0"/>
              <a:t>, None</a:t>
            </a:r>
            <a:r>
              <a:rPr lang="ko-KR" altLang="ko-KR" sz="2400" dirty="0"/>
              <a:t>을 만났을 때</a:t>
            </a:r>
            <a:r>
              <a:rPr lang="en-US" altLang="ko-KR" sz="2400" dirty="0"/>
              <a:t> None</a:t>
            </a:r>
            <a:r>
              <a:rPr lang="ko-KR" altLang="ko-KR" sz="2400" dirty="0"/>
              <a:t>의 부모가 가진 </a:t>
            </a:r>
            <a:r>
              <a:rPr lang="en-US" altLang="ko-KR" sz="2400" dirty="0"/>
              <a:t>value</a:t>
            </a:r>
          </a:p>
          <a:p>
            <a:pPr>
              <a:lnSpc>
                <a:spcPct val="120000"/>
              </a:lnSpc>
            </a:pPr>
            <a:r>
              <a:rPr lang="en-US" altLang="ko-KR" sz="2400" dirty="0"/>
              <a:t>min() </a:t>
            </a:r>
            <a:r>
              <a:rPr lang="ko-KR" altLang="ko-KR" sz="2400" dirty="0" err="1"/>
              <a:t>메소드는</a:t>
            </a:r>
            <a:r>
              <a:rPr lang="en-US" altLang="ko-KR" sz="2400" dirty="0"/>
              <a:t> delete()</a:t>
            </a:r>
            <a:r>
              <a:rPr lang="ko-KR" altLang="ko-KR" sz="2400" dirty="0"/>
              <a:t>에서 사용</a:t>
            </a:r>
            <a:endParaRPr lang="ko-KR" altLang="en-US" sz="24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2B285D2-7717-4A37-88F4-157BAD851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62" y="3338193"/>
            <a:ext cx="8677275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4906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/>
          <p:cNvSpPr/>
          <p:nvPr/>
        </p:nvSpPr>
        <p:spPr>
          <a:xfrm>
            <a:off x="4608004" y="1612831"/>
            <a:ext cx="432048" cy="432048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0" y="1640230"/>
            <a:ext cx="504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50</a:t>
            </a:r>
          </a:p>
        </p:txBody>
      </p:sp>
      <p:sp>
        <p:nvSpPr>
          <p:cNvPr id="4" name="타원 3"/>
          <p:cNvSpPr/>
          <p:nvPr/>
        </p:nvSpPr>
        <p:spPr>
          <a:xfrm>
            <a:off x="5184068" y="2249473"/>
            <a:ext cx="432048" cy="432048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48064" y="2276872"/>
            <a:ext cx="504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80</a:t>
            </a:r>
          </a:p>
        </p:txBody>
      </p:sp>
      <p:sp>
        <p:nvSpPr>
          <p:cNvPr id="6" name="타원 5"/>
          <p:cNvSpPr/>
          <p:nvPr/>
        </p:nvSpPr>
        <p:spPr>
          <a:xfrm>
            <a:off x="3923928" y="2244934"/>
            <a:ext cx="432048" cy="432048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87924" y="2262816"/>
            <a:ext cx="504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30</a:t>
            </a:r>
          </a:p>
        </p:txBody>
      </p:sp>
      <p:sp>
        <p:nvSpPr>
          <p:cNvPr id="8" name="타원 7"/>
          <p:cNvSpPr/>
          <p:nvPr/>
        </p:nvSpPr>
        <p:spPr>
          <a:xfrm>
            <a:off x="3383868" y="3028346"/>
            <a:ext cx="432048" cy="432048"/>
          </a:xfrm>
          <a:prstGeom prst="ellipse">
            <a:avLst/>
          </a:prstGeom>
          <a:solidFill>
            <a:srgbClr val="C3F7FD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47864" y="3055745"/>
            <a:ext cx="504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10" name="타원 9"/>
          <p:cNvSpPr/>
          <p:nvPr/>
        </p:nvSpPr>
        <p:spPr>
          <a:xfrm>
            <a:off x="4283968" y="3037489"/>
            <a:ext cx="432048" cy="432048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47964" y="3055745"/>
            <a:ext cx="504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40</a:t>
            </a:r>
          </a:p>
        </p:txBody>
      </p:sp>
      <p:sp>
        <p:nvSpPr>
          <p:cNvPr id="12" name="타원 11"/>
          <p:cNvSpPr/>
          <p:nvPr/>
        </p:nvSpPr>
        <p:spPr>
          <a:xfrm>
            <a:off x="5688124" y="3118648"/>
            <a:ext cx="432048" cy="432048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52120" y="3136904"/>
            <a:ext cx="504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90</a:t>
            </a:r>
          </a:p>
        </p:txBody>
      </p:sp>
      <p:cxnSp>
        <p:nvCxnSpPr>
          <p:cNvPr id="14" name="직선 연결선 13"/>
          <p:cNvCxnSpPr/>
          <p:nvPr/>
        </p:nvCxnSpPr>
        <p:spPr>
          <a:xfrm flipH="1">
            <a:off x="4301491" y="1972675"/>
            <a:ext cx="324000" cy="360000"/>
          </a:xfrm>
          <a:prstGeom prst="line">
            <a:avLst/>
          </a:prstGeom>
          <a:ln w="38100">
            <a:solidFill>
              <a:srgbClr val="0000CC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>
            <a:stCxn id="2" idx="5"/>
            <a:endCxn id="4" idx="1"/>
          </p:cNvCxnSpPr>
          <p:nvPr/>
        </p:nvCxnSpPr>
        <p:spPr>
          <a:xfrm>
            <a:off x="4976780" y="1981607"/>
            <a:ext cx="270560" cy="33113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 flipH="1">
            <a:off x="3713824" y="2652232"/>
            <a:ext cx="324000" cy="414636"/>
          </a:xfrm>
          <a:prstGeom prst="line">
            <a:avLst/>
          </a:prstGeom>
          <a:ln w="38100">
            <a:solidFill>
              <a:srgbClr val="0000CC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>
            <a:stCxn id="6" idx="5"/>
            <a:endCxn id="10" idx="0"/>
          </p:cNvCxnSpPr>
          <p:nvPr/>
        </p:nvCxnSpPr>
        <p:spPr>
          <a:xfrm>
            <a:off x="4292704" y="2613710"/>
            <a:ext cx="207288" cy="42377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5519152" y="2676982"/>
            <a:ext cx="314305" cy="50039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860692" y="1251122"/>
            <a:ext cx="324000" cy="369332"/>
          </a:xfrm>
          <a:prstGeom prst="rect">
            <a:avLst/>
          </a:prstGeom>
          <a:solidFill>
            <a:srgbClr val="CC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025714" y="1188710"/>
            <a:ext cx="9053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root</a:t>
            </a:r>
          </a:p>
        </p:txBody>
      </p:sp>
      <p:cxnSp>
        <p:nvCxnSpPr>
          <p:cNvPr id="21" name="직선 화살표 연결선 20"/>
          <p:cNvCxnSpPr/>
          <p:nvPr/>
        </p:nvCxnSpPr>
        <p:spPr>
          <a:xfrm>
            <a:off x="4001410" y="1422931"/>
            <a:ext cx="621043" cy="2172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타원 22"/>
          <p:cNvSpPr/>
          <p:nvPr/>
        </p:nvSpPr>
        <p:spPr>
          <a:xfrm>
            <a:off x="3818405" y="3833649"/>
            <a:ext cx="432048" cy="432048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779912" y="3851905"/>
            <a:ext cx="504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15</a:t>
            </a:r>
          </a:p>
        </p:txBody>
      </p:sp>
      <p:cxnSp>
        <p:nvCxnSpPr>
          <p:cNvPr id="26" name="직선 연결선 25"/>
          <p:cNvCxnSpPr/>
          <p:nvPr/>
        </p:nvCxnSpPr>
        <p:spPr>
          <a:xfrm flipH="1">
            <a:off x="3149874" y="3392665"/>
            <a:ext cx="288000" cy="432000"/>
          </a:xfrm>
          <a:prstGeom prst="line">
            <a:avLst/>
          </a:prstGeom>
          <a:ln w="28575">
            <a:solidFill>
              <a:srgbClr val="0000CC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3766351" y="3394567"/>
            <a:ext cx="207288" cy="42377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258011" y="3949373"/>
            <a:ext cx="1783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왼쪽자식이</a:t>
            </a:r>
            <a:r>
              <a:rPr lang="ko-KR" altLang="en-US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None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임</a:t>
            </a:r>
            <a:endParaRPr 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3066619" y="5250976"/>
            <a:ext cx="30107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[</a:t>
            </a:r>
            <a:r>
              <a:rPr lang="ko-KR" alt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그림</a:t>
            </a:r>
            <a:r>
              <a:rPr lang="ko-KR" alt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5-9] min()</a:t>
            </a:r>
            <a:r>
              <a:rPr lang="ko-KR" alt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의</a:t>
            </a:r>
            <a:r>
              <a:rPr lang="ko-KR" alt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수행</a:t>
            </a:r>
            <a:r>
              <a:rPr lang="ko-KR" alt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과정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425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 dirty="0"/>
              <a:t>5.2.4 </a:t>
            </a:r>
            <a:r>
              <a:rPr lang="ko-KR" altLang="ko-KR" dirty="0"/>
              <a:t>최솟값 삭제 연산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696289"/>
            <a:ext cx="7886700" cy="3414332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ko-KR" sz="2400" dirty="0"/>
              <a:t>최솟값을 가진 노드를 삭제하는 것은 최솟값을 가진 노드</a:t>
            </a:r>
            <a:r>
              <a:rPr lang="en-US" altLang="ko-KR" sz="2400" dirty="0"/>
              <a:t> n</a:t>
            </a:r>
            <a:r>
              <a:rPr lang="ko-KR" altLang="en-US" sz="2400" dirty="0"/>
              <a:t>을</a:t>
            </a:r>
            <a:r>
              <a:rPr lang="ko-KR" altLang="ko-KR" sz="2400" dirty="0"/>
              <a:t> 찾아낸 뒤</a:t>
            </a:r>
            <a:r>
              <a:rPr lang="en-US" altLang="ko-KR" sz="2400" dirty="0"/>
              <a:t>, n</a:t>
            </a:r>
            <a:r>
              <a:rPr lang="ko-KR" altLang="ko-KR" sz="2400" dirty="0"/>
              <a:t>의 부모</a:t>
            </a:r>
            <a:r>
              <a:rPr lang="en-US" altLang="ko-KR" sz="2400" dirty="0"/>
              <a:t> p</a:t>
            </a:r>
            <a:r>
              <a:rPr lang="ko-KR" altLang="ko-KR" sz="2400" dirty="0"/>
              <a:t>와 </a:t>
            </a:r>
            <a:r>
              <a:rPr lang="en-US" altLang="ko-KR" sz="2400" dirty="0"/>
              <a:t>n</a:t>
            </a:r>
            <a:r>
              <a:rPr lang="ko-KR" altLang="ko-KR" sz="2400" dirty="0"/>
              <a:t>의 오른쪽 자식</a:t>
            </a:r>
            <a:r>
              <a:rPr lang="en-US" altLang="ko-KR" sz="2400" dirty="0"/>
              <a:t> c</a:t>
            </a:r>
            <a:r>
              <a:rPr lang="ko-KR" altLang="ko-KR" sz="2400" dirty="0"/>
              <a:t>를 연결</a:t>
            </a:r>
            <a:endParaRPr lang="en-US" altLang="ko-KR" sz="2400" dirty="0"/>
          </a:p>
          <a:p>
            <a:pPr>
              <a:lnSpc>
                <a:spcPct val="120000"/>
              </a:lnSpc>
            </a:pPr>
            <a:r>
              <a:rPr lang="en-US" altLang="ko-KR" sz="2400"/>
              <a:t>delete</a:t>
            </a:r>
            <a:r>
              <a:rPr lang="en-US" altLang="ko-KR" sz="2400" dirty="0"/>
              <a:t>_min()</a:t>
            </a:r>
            <a:r>
              <a:rPr lang="ko-KR" altLang="en-US" sz="2400" dirty="0"/>
              <a:t>은</a:t>
            </a:r>
            <a:r>
              <a:rPr lang="ko-KR" altLang="ko-KR" sz="2400" dirty="0"/>
              <a:t> 임의의 </a:t>
            </a:r>
            <a:r>
              <a:rPr lang="en-US" altLang="ko-KR" sz="2400" dirty="0"/>
              <a:t>value</a:t>
            </a:r>
            <a:r>
              <a:rPr lang="ko-KR" altLang="ko-KR" sz="2400" dirty="0"/>
              <a:t>를 가진 노드를 삭제하는 </a:t>
            </a:r>
            <a:r>
              <a:rPr lang="en-US" altLang="ko-KR" sz="2400" dirty="0"/>
              <a:t>delete()</a:t>
            </a:r>
            <a:r>
              <a:rPr lang="ko-KR" altLang="ko-KR" sz="2400" dirty="0"/>
              <a:t>에서 사용</a:t>
            </a:r>
          </a:p>
        </p:txBody>
      </p:sp>
    </p:spTree>
    <p:extLst>
      <p:ext uri="{BB962C8B-B14F-4D97-AF65-F5344CB8AC3E}">
        <p14:creationId xmlns:p14="http://schemas.microsoft.com/office/powerpoint/2010/main" val="39030985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3F8688E-DF97-41AD-A1C3-E9B302D0B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" y="1585912"/>
            <a:ext cx="8858250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1648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750" y="355362"/>
            <a:ext cx="2596305" cy="273856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708" y="3304587"/>
            <a:ext cx="8696325" cy="3305175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4936642" y="1051870"/>
            <a:ext cx="38691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[</a:t>
            </a:r>
            <a:r>
              <a:rPr lang="ko-KR" alt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그림</a:t>
            </a:r>
            <a:r>
              <a:rPr lang="ko-KR" alt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5-10] delete_min()</a:t>
            </a:r>
            <a:r>
              <a:rPr lang="ko-KR" alt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의</a:t>
            </a:r>
            <a:r>
              <a:rPr lang="ko-KR" alt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수행</a:t>
            </a:r>
            <a:r>
              <a:rPr lang="ko-KR" alt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과정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5174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 dirty="0"/>
              <a:t>5.2.5 </a:t>
            </a:r>
            <a:r>
              <a:rPr lang="ko-KR" altLang="ko-KR" dirty="0"/>
              <a:t>삭제 연산</a:t>
            </a:r>
            <a:endParaRPr lang="ko-KR" altLang="ko-KR" dirty="0">
              <a:effectLst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395663"/>
            <a:ext cx="7886700" cy="2449827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40000"/>
              </a:lnSpc>
            </a:pPr>
            <a:r>
              <a:rPr lang="ko-KR" altLang="ko-KR" sz="2500" dirty="0"/>
              <a:t>우선 삭제하고자 하는 노드를 찾은 </a:t>
            </a:r>
            <a:r>
              <a:rPr lang="ko-KR" altLang="ko-KR" sz="2500"/>
              <a:t>후 이진</a:t>
            </a:r>
            <a:r>
              <a:rPr lang="en-US" altLang="ko-KR" sz="2500"/>
              <a:t> </a:t>
            </a:r>
            <a:r>
              <a:rPr lang="ko-KR" altLang="ko-KR" sz="2500"/>
              <a:t>탐색</a:t>
            </a:r>
            <a:r>
              <a:rPr lang="en-US" altLang="ko-KR" sz="2500"/>
              <a:t> </a:t>
            </a:r>
            <a:r>
              <a:rPr lang="ko-KR" altLang="ko-KR" sz="2500"/>
              <a:t>트리 </a:t>
            </a:r>
            <a:r>
              <a:rPr lang="ko-KR" altLang="ko-KR" sz="2500" dirty="0"/>
              <a:t>조건을 만족하도록 삭제된 노드의 부모와 자식</a:t>
            </a:r>
            <a:r>
              <a:rPr lang="en-US" altLang="ko-KR" sz="2500" dirty="0"/>
              <a:t>(</a:t>
            </a:r>
            <a:r>
              <a:rPr lang="ko-KR" altLang="ko-KR" sz="2500" dirty="0"/>
              <a:t>들</a:t>
            </a:r>
            <a:r>
              <a:rPr lang="en-US" altLang="ko-KR" sz="2500" dirty="0"/>
              <a:t>)</a:t>
            </a:r>
            <a:r>
              <a:rPr lang="ko-KR" altLang="ko-KR" sz="2500" dirty="0"/>
              <a:t>을 연결해 주어야</a:t>
            </a:r>
            <a:endParaRPr lang="en-US" altLang="ko-KR" sz="2500" dirty="0"/>
          </a:p>
          <a:p>
            <a:pPr>
              <a:lnSpc>
                <a:spcPct val="140000"/>
              </a:lnSpc>
            </a:pPr>
            <a:r>
              <a:rPr lang="ko-KR" altLang="ko-KR" sz="2500" dirty="0"/>
              <a:t>삭제되는 노드가 자식이 없는 경우</a:t>
            </a:r>
            <a:r>
              <a:rPr lang="en-US" altLang="ko-KR" sz="2500" dirty="0"/>
              <a:t>(case 0), </a:t>
            </a:r>
            <a:r>
              <a:rPr lang="ko-KR" altLang="ko-KR" sz="2500" dirty="0"/>
              <a:t>자식이 하나인 경우</a:t>
            </a:r>
            <a:r>
              <a:rPr lang="en-US" altLang="ko-KR" sz="2500" dirty="0"/>
              <a:t>(case 1), </a:t>
            </a:r>
            <a:r>
              <a:rPr lang="ko-KR" altLang="ko-KR" sz="2500" dirty="0"/>
              <a:t>자식이 둘인 경우</a:t>
            </a:r>
            <a:r>
              <a:rPr lang="en-US" altLang="ko-KR" sz="2500" dirty="0"/>
              <a:t>(case 2)</a:t>
            </a:r>
            <a:r>
              <a:rPr lang="ko-KR" altLang="ko-KR" sz="2500" dirty="0"/>
              <a:t>로 나누어 </a:t>
            </a:r>
            <a:r>
              <a:rPr lang="en-US" altLang="ko-KR" sz="2500" dirty="0"/>
              <a:t>delete </a:t>
            </a:r>
            <a:r>
              <a:rPr lang="ko-KR" altLang="ko-KR" sz="2500" dirty="0"/>
              <a:t>연산을 수행</a:t>
            </a:r>
          </a:p>
          <a:p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1847589" y="6174091"/>
            <a:ext cx="59937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339933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case 0</a:t>
            </a:r>
            <a:r>
              <a:rPr lang="en-US" altLang="ko-KR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		     </a:t>
            </a:r>
            <a:r>
              <a:rPr lang="en-US" altLang="ko-KR" sz="24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case 1	</a:t>
            </a:r>
            <a:r>
              <a:rPr lang="en-US" altLang="ko-KR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altLang="ko-KR" sz="2400" dirty="0">
                <a:solidFill>
                  <a:srgbClr val="3333FF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case 2</a:t>
            </a:r>
            <a:endParaRPr lang="ko-KR" altLang="en-US" sz="2400" dirty="0">
              <a:solidFill>
                <a:srgbClr val="3333FF"/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25" y="4105120"/>
            <a:ext cx="6762750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6235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06887" y="876944"/>
            <a:ext cx="8511435" cy="39187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spcAft>
                <a:spcPts val="30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ko-KR" sz="2400" b="1" dirty="0">
                <a:solidFill>
                  <a:srgbClr val="339933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Case 0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: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삭제</a:t>
            </a:r>
            <a:r>
              <a:rPr lang="ko-KR" altLang="en-US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될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노드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n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 부모가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n</a:t>
            </a:r>
            <a:r>
              <a:rPr lang="ko-KR" altLang="en-US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을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가리키던 레퍼런스를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None</a:t>
            </a:r>
            <a:r>
              <a:rPr lang="ko-KR" altLang="en-US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으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로 만</a:t>
            </a:r>
            <a:r>
              <a:rPr lang="ko-KR" altLang="en-US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든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다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 </a:t>
            </a:r>
          </a:p>
          <a:p>
            <a:pPr marL="342900" indent="-342900">
              <a:lnSpc>
                <a:spcPct val="120000"/>
              </a:lnSpc>
              <a:spcAft>
                <a:spcPts val="30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ko-KR" sz="2400" b="1" dirty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Case 1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: n</a:t>
            </a:r>
            <a:r>
              <a:rPr lang="ko-KR" altLang="en-US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한쪽 자식인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c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만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가지고 있</a:t>
            </a:r>
            <a:r>
              <a:rPr lang="ko-KR" altLang="en-US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으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면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n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 부모와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n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 자식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c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를 직접 연결</a:t>
            </a:r>
          </a:p>
          <a:p>
            <a:pPr marL="342900" indent="-342900">
              <a:lnSpc>
                <a:spcPct val="120000"/>
              </a:lnSpc>
              <a:spcAft>
                <a:spcPts val="30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ko-KR" sz="2400" b="1" dirty="0">
                <a:solidFill>
                  <a:srgbClr val="3333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Case 2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: n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자리에 중위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순회하면서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n</a:t>
            </a:r>
            <a:r>
              <a:rPr lang="ko-KR" altLang="en-US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을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방문하기 직전 노드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en-US" altLang="ko-KR" sz="2400" b="1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Inorder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Predecessor, </a:t>
            </a:r>
            <a:r>
              <a:rPr lang="ko-KR" altLang="ko-KR" sz="2400" b="1" dirty="0">
                <a:solidFill>
                  <a:srgbClr val="3333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중위 </a:t>
            </a:r>
            <a:r>
              <a:rPr lang="ko-KR" altLang="ko-KR" sz="2400" b="1" dirty="0" err="1">
                <a:solidFill>
                  <a:srgbClr val="3333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선행자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또는 직후에 </a:t>
            </a:r>
            <a:r>
              <a:rPr lang="ko-KR" altLang="ko-KR" sz="2400" b="1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방문되는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노드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en-US" altLang="ko-KR" sz="2400" b="1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Inorder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Successor, </a:t>
            </a:r>
            <a:r>
              <a:rPr lang="ko-KR" altLang="ko-KR" sz="2400" b="1" dirty="0">
                <a:solidFill>
                  <a:srgbClr val="3333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중위 </a:t>
            </a:r>
            <a:r>
              <a:rPr lang="ko-KR" altLang="ko-KR" sz="2400" b="1">
                <a:solidFill>
                  <a:srgbClr val="3333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후속자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</a:t>
            </a:r>
            <a:r>
              <a:rPr lang="ko-KR" altLang="en-US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를 이동</a:t>
            </a:r>
            <a:endParaRPr lang="ko-KR" altLang="en-US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67832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FA7ADF4-AD1D-4A2D-9550-4FD40DA63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12" y="385762"/>
            <a:ext cx="8715375" cy="608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7220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직선 연결선 63"/>
          <p:cNvCxnSpPr>
            <a:stCxn id="68" idx="3"/>
          </p:cNvCxnSpPr>
          <p:nvPr/>
        </p:nvCxnSpPr>
        <p:spPr>
          <a:xfrm flipH="1">
            <a:off x="6022449" y="5254105"/>
            <a:ext cx="274318" cy="336509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/>
          <p:cNvCxnSpPr>
            <a:stCxn id="84" idx="5"/>
            <a:endCxn id="85" idx="1"/>
          </p:cNvCxnSpPr>
          <p:nvPr/>
        </p:nvCxnSpPr>
        <p:spPr>
          <a:xfrm>
            <a:off x="7507960" y="2013202"/>
            <a:ext cx="593791" cy="6569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타원 66"/>
          <p:cNvSpPr/>
          <p:nvPr/>
        </p:nvSpPr>
        <p:spPr>
          <a:xfrm>
            <a:off x="5102497" y="3825184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68" name="타원 67"/>
          <p:cNvSpPr/>
          <p:nvPr/>
        </p:nvSpPr>
        <p:spPr>
          <a:xfrm>
            <a:off x="6228230" y="4854642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84" name="타원 83"/>
          <p:cNvSpPr/>
          <p:nvPr/>
        </p:nvSpPr>
        <p:spPr>
          <a:xfrm>
            <a:off x="7108497" y="1613739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85" name="타원 84"/>
          <p:cNvSpPr/>
          <p:nvPr/>
        </p:nvSpPr>
        <p:spPr>
          <a:xfrm>
            <a:off x="8033214" y="2601625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86" name="타원 85"/>
          <p:cNvSpPr/>
          <p:nvPr/>
        </p:nvSpPr>
        <p:spPr>
          <a:xfrm>
            <a:off x="6150069" y="2608788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87" name="타원 86"/>
          <p:cNvSpPr/>
          <p:nvPr/>
        </p:nvSpPr>
        <p:spPr>
          <a:xfrm>
            <a:off x="5666352" y="5514814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cxnSp>
        <p:nvCxnSpPr>
          <p:cNvPr id="89" name="직선 연결선 88"/>
          <p:cNvCxnSpPr>
            <a:stCxn id="67" idx="5"/>
            <a:endCxn id="68" idx="1"/>
          </p:cNvCxnSpPr>
          <p:nvPr/>
        </p:nvCxnSpPr>
        <p:spPr>
          <a:xfrm>
            <a:off x="5501960" y="4224647"/>
            <a:ext cx="794807" cy="69853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7054465" y="1614117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60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191082" y="4846236"/>
            <a:ext cx="550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45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29359" y="5521149"/>
            <a:ext cx="540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35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066545" y="3809373"/>
            <a:ext cx="540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144852" y="2593323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50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030940" y="2605210"/>
            <a:ext cx="512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70</a:t>
            </a:r>
          </a:p>
        </p:txBody>
      </p:sp>
      <p:sp>
        <p:nvSpPr>
          <p:cNvPr id="99" name="TextBox 2"/>
          <p:cNvSpPr txBox="1">
            <a:spLocks noChangeArrowheads="1"/>
          </p:cNvSpPr>
          <p:nvPr/>
        </p:nvSpPr>
        <p:spPr bwMode="auto">
          <a:xfrm>
            <a:off x="3997353" y="4918679"/>
            <a:ext cx="789608" cy="400110"/>
          </a:xfrm>
          <a:prstGeom prst="rect">
            <a:avLst/>
          </a:prstGeom>
          <a:solidFill>
            <a:srgbClr val="C3F7FD"/>
          </a:solidFill>
          <a:ln>
            <a:noFill/>
          </a:ln>
          <a:extLst/>
        </p:spPr>
        <p:txBody>
          <a:bodyPr wrap="square" anchor="ctr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ctr" latinLnBrk="0">
              <a:spcBef>
                <a:spcPct val="0"/>
              </a:spcBef>
              <a:buFontTx/>
              <a:buNone/>
            </a:pPr>
            <a:r>
              <a:rPr lang="en-US" altLang="ko-KR" sz="2000" dirty="0">
                <a:solidFill>
                  <a:srgbClr val="0000CC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None</a:t>
            </a:r>
            <a:endParaRPr lang="ko-KR" altLang="en-US" sz="2000" dirty="0">
              <a:solidFill>
                <a:srgbClr val="0000CC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0" name="직선 연결선 99"/>
          <p:cNvCxnSpPr/>
          <p:nvPr/>
        </p:nvCxnSpPr>
        <p:spPr>
          <a:xfrm flipH="1">
            <a:off x="4601053" y="4230049"/>
            <a:ext cx="580515" cy="62142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/>
          <p:cNvSpPr/>
          <p:nvPr/>
        </p:nvSpPr>
        <p:spPr>
          <a:xfrm>
            <a:off x="2962584" y="5540110"/>
            <a:ext cx="117536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분리됨</a:t>
            </a:r>
            <a:r>
              <a:rPr 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sz="14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60" name="직선 연결선 59"/>
          <p:cNvCxnSpPr/>
          <p:nvPr/>
        </p:nvCxnSpPr>
        <p:spPr>
          <a:xfrm flipH="1">
            <a:off x="5477471" y="3012262"/>
            <a:ext cx="742183" cy="835068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 flipH="1">
            <a:off x="6540708" y="2013202"/>
            <a:ext cx="612000" cy="64800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549138" y="654222"/>
            <a:ext cx="720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root</a:t>
            </a:r>
          </a:p>
        </p:txBody>
      </p:sp>
      <p:sp>
        <p:nvSpPr>
          <p:cNvPr id="70" name="직사각형 69"/>
          <p:cNvSpPr/>
          <p:nvPr/>
        </p:nvSpPr>
        <p:spPr>
          <a:xfrm>
            <a:off x="6314456" y="735718"/>
            <a:ext cx="288000" cy="288000"/>
          </a:xfrm>
          <a:prstGeom prst="rect">
            <a:avLst/>
          </a:prstGeom>
          <a:solidFill>
            <a:srgbClr val="CCFF99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cxnSp>
        <p:nvCxnSpPr>
          <p:cNvPr id="73" name="직선 화살표 연결선 72"/>
          <p:cNvCxnSpPr/>
          <p:nvPr/>
        </p:nvCxnSpPr>
        <p:spPr>
          <a:xfrm>
            <a:off x="6450777" y="900875"/>
            <a:ext cx="742117" cy="72779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오른쪽 화살표 80"/>
          <p:cNvSpPr/>
          <p:nvPr/>
        </p:nvSpPr>
        <p:spPr>
          <a:xfrm rot="18910136">
            <a:off x="5787781" y="3655846"/>
            <a:ext cx="360000" cy="216000"/>
          </a:xfrm>
          <a:prstGeom prst="rightArrow">
            <a:avLst/>
          </a:prstGeom>
          <a:solidFill>
            <a:srgbClr val="FFFF00"/>
          </a:solidFill>
          <a:ln w="3175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83" name="오른쪽 화살표 82"/>
          <p:cNvSpPr/>
          <p:nvPr/>
        </p:nvSpPr>
        <p:spPr>
          <a:xfrm rot="18910136">
            <a:off x="6865141" y="2463814"/>
            <a:ext cx="360000" cy="216000"/>
          </a:xfrm>
          <a:prstGeom prst="rightArrow">
            <a:avLst/>
          </a:prstGeom>
          <a:solidFill>
            <a:srgbClr val="FFFF00"/>
          </a:solidFill>
          <a:ln w="3175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97" name="오른쪽 화살표 96"/>
          <p:cNvSpPr/>
          <p:nvPr/>
        </p:nvSpPr>
        <p:spPr>
          <a:xfrm rot="13197028">
            <a:off x="6528478" y="1535308"/>
            <a:ext cx="392830" cy="216000"/>
          </a:xfrm>
          <a:prstGeom prst="rightArrow">
            <a:avLst/>
          </a:prstGeom>
          <a:solidFill>
            <a:srgbClr val="FFFF00"/>
          </a:solidFill>
          <a:ln w="3175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123" name="오른쪽 화살표 122"/>
          <p:cNvSpPr/>
          <p:nvPr/>
        </p:nvSpPr>
        <p:spPr>
          <a:xfrm rot="18910136">
            <a:off x="4914217" y="4743475"/>
            <a:ext cx="360000" cy="216000"/>
          </a:xfrm>
          <a:prstGeom prst="rightArrow">
            <a:avLst/>
          </a:prstGeom>
          <a:solidFill>
            <a:srgbClr val="FFFF00"/>
          </a:solidFill>
          <a:ln w="3175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88" name="타원 87"/>
          <p:cNvSpPr/>
          <p:nvPr/>
        </p:nvSpPr>
        <p:spPr>
          <a:xfrm>
            <a:off x="4204446" y="5469816"/>
            <a:ext cx="468000" cy="468000"/>
          </a:xfrm>
          <a:prstGeom prst="ellipse">
            <a:avLst/>
          </a:prstGeom>
          <a:solidFill>
            <a:srgbClr val="FCD0F8"/>
          </a:solidFill>
          <a:ln w="3175">
            <a:solidFill>
              <a:srgbClr val="0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4167616" y="5468580"/>
            <a:ext cx="540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136982" y="6389783"/>
            <a:ext cx="50477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[</a:t>
            </a:r>
            <a:r>
              <a:rPr lang="ko-KR" alt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그림</a:t>
            </a:r>
            <a:r>
              <a:rPr lang="ko-KR" alt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5-12] delete(10)</a:t>
            </a:r>
            <a:r>
              <a:rPr lang="ko-KR" alt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이</a:t>
            </a:r>
            <a:r>
              <a:rPr lang="ko-KR" alt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수행되는</a:t>
            </a:r>
            <a:r>
              <a:rPr lang="ko-KR" alt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과정</a:t>
            </a:r>
            <a:r>
              <a:rPr 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(case 0)</a:t>
            </a:r>
            <a:endParaRPr 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1053" y="1162526"/>
            <a:ext cx="4429125" cy="28575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3161" y="2144372"/>
            <a:ext cx="3838575" cy="2286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427" y="3255101"/>
            <a:ext cx="3838575" cy="2286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0792" y="4378059"/>
            <a:ext cx="3838575" cy="2286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27" y="209767"/>
            <a:ext cx="3279100" cy="303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5867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8" name="직선 연결선 127"/>
          <p:cNvCxnSpPr>
            <a:stCxn id="65" idx="3"/>
          </p:cNvCxnSpPr>
          <p:nvPr/>
        </p:nvCxnSpPr>
        <p:spPr>
          <a:xfrm flipH="1">
            <a:off x="5076858" y="3661091"/>
            <a:ext cx="682064" cy="715251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/>
          <p:cNvCxnSpPr/>
          <p:nvPr/>
        </p:nvCxnSpPr>
        <p:spPr>
          <a:xfrm>
            <a:off x="7999511" y="1510464"/>
            <a:ext cx="705611" cy="639855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자유형 108"/>
          <p:cNvSpPr/>
          <p:nvPr/>
        </p:nvSpPr>
        <p:spPr>
          <a:xfrm>
            <a:off x="6073627" y="4243407"/>
            <a:ext cx="1812085" cy="1407781"/>
          </a:xfrm>
          <a:custGeom>
            <a:avLst/>
            <a:gdLst>
              <a:gd name="connsiteX0" fmla="*/ 826917 w 1851075"/>
              <a:gd name="connsiteY0" fmla="*/ 13 h 1657352"/>
              <a:gd name="connsiteX1" fmla="*/ 26817 w 1851075"/>
              <a:gd name="connsiteY1" fmla="*/ 1457338 h 1657352"/>
              <a:gd name="connsiteX2" fmla="*/ 1836567 w 1851075"/>
              <a:gd name="connsiteY2" fmla="*/ 1485913 h 1657352"/>
              <a:gd name="connsiteX3" fmla="*/ 826917 w 1851075"/>
              <a:gd name="connsiteY3" fmla="*/ 13 h 1657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1075" h="1657352">
                <a:moveTo>
                  <a:pt x="826917" y="13"/>
                </a:moveTo>
                <a:cubicBezTo>
                  <a:pt x="525292" y="-4749"/>
                  <a:pt x="-141458" y="1209688"/>
                  <a:pt x="26817" y="1457338"/>
                </a:cubicBezTo>
                <a:cubicBezTo>
                  <a:pt x="195092" y="1704988"/>
                  <a:pt x="1701630" y="1731975"/>
                  <a:pt x="1836567" y="1485913"/>
                </a:cubicBezTo>
                <a:cubicBezTo>
                  <a:pt x="1971504" y="1239851"/>
                  <a:pt x="1128542" y="4775"/>
                  <a:pt x="826917" y="13"/>
                </a:cubicBezTo>
                <a:close/>
              </a:path>
            </a:pathLst>
          </a:custGeom>
          <a:solidFill>
            <a:srgbClr val="FFCC99"/>
          </a:solidFill>
          <a:ln w="19050">
            <a:solidFill>
              <a:srgbClr val="0000C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110" name="자유형 109"/>
          <p:cNvSpPr/>
          <p:nvPr/>
        </p:nvSpPr>
        <p:spPr>
          <a:xfrm>
            <a:off x="862063" y="4061134"/>
            <a:ext cx="1812085" cy="1407781"/>
          </a:xfrm>
          <a:custGeom>
            <a:avLst/>
            <a:gdLst>
              <a:gd name="connsiteX0" fmla="*/ 826917 w 1851075"/>
              <a:gd name="connsiteY0" fmla="*/ 13 h 1657352"/>
              <a:gd name="connsiteX1" fmla="*/ 26817 w 1851075"/>
              <a:gd name="connsiteY1" fmla="*/ 1457338 h 1657352"/>
              <a:gd name="connsiteX2" fmla="*/ 1836567 w 1851075"/>
              <a:gd name="connsiteY2" fmla="*/ 1485913 h 1657352"/>
              <a:gd name="connsiteX3" fmla="*/ 826917 w 1851075"/>
              <a:gd name="connsiteY3" fmla="*/ 13 h 1657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1075" h="1657352">
                <a:moveTo>
                  <a:pt x="826917" y="13"/>
                </a:moveTo>
                <a:cubicBezTo>
                  <a:pt x="525292" y="-4749"/>
                  <a:pt x="-141458" y="1209688"/>
                  <a:pt x="26817" y="1457338"/>
                </a:cubicBezTo>
                <a:cubicBezTo>
                  <a:pt x="195092" y="1704988"/>
                  <a:pt x="1701630" y="1731975"/>
                  <a:pt x="1836567" y="1485913"/>
                </a:cubicBezTo>
                <a:cubicBezTo>
                  <a:pt x="1971504" y="1239851"/>
                  <a:pt x="1128542" y="4775"/>
                  <a:pt x="826917" y="13"/>
                </a:cubicBezTo>
                <a:close/>
              </a:path>
            </a:pathLst>
          </a:custGeom>
          <a:solidFill>
            <a:srgbClr val="FFCC99"/>
          </a:solidFill>
          <a:ln w="19050">
            <a:solidFill>
              <a:srgbClr val="0000C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cxnSp>
        <p:nvCxnSpPr>
          <p:cNvPr id="48" name="직선 연결선 47"/>
          <p:cNvCxnSpPr/>
          <p:nvPr/>
        </p:nvCxnSpPr>
        <p:spPr>
          <a:xfrm flipV="1">
            <a:off x="1719114" y="3795014"/>
            <a:ext cx="336294" cy="405898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>
            <a:stCxn id="23" idx="3"/>
          </p:cNvCxnSpPr>
          <p:nvPr/>
        </p:nvCxnSpPr>
        <p:spPr>
          <a:xfrm flipH="1">
            <a:off x="2407249" y="1432058"/>
            <a:ext cx="405817" cy="439394"/>
          </a:xfrm>
          <a:prstGeom prst="line">
            <a:avLst/>
          </a:prstGeom>
          <a:ln w="38100">
            <a:solidFill>
              <a:srgbClr val="0000CC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타원 3"/>
          <p:cNvSpPr/>
          <p:nvPr/>
        </p:nvSpPr>
        <p:spPr>
          <a:xfrm>
            <a:off x="1232361" y="2580715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21" name="타원 20"/>
          <p:cNvSpPr/>
          <p:nvPr/>
        </p:nvSpPr>
        <p:spPr>
          <a:xfrm>
            <a:off x="1991901" y="3372803"/>
            <a:ext cx="468000" cy="468000"/>
          </a:xfrm>
          <a:prstGeom prst="ellipse">
            <a:avLst/>
          </a:prstGeom>
          <a:solidFill>
            <a:srgbClr val="FCD0F8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23" name="타원 22"/>
          <p:cNvSpPr/>
          <p:nvPr/>
        </p:nvSpPr>
        <p:spPr>
          <a:xfrm>
            <a:off x="2744529" y="1032595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25" name="타원 24"/>
          <p:cNvSpPr/>
          <p:nvPr/>
        </p:nvSpPr>
        <p:spPr>
          <a:xfrm>
            <a:off x="3530630" y="1811622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27" name="타원 26"/>
          <p:cNvSpPr/>
          <p:nvPr/>
        </p:nvSpPr>
        <p:spPr>
          <a:xfrm>
            <a:off x="1991901" y="1796367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34" name="타원 33"/>
          <p:cNvSpPr/>
          <p:nvPr/>
        </p:nvSpPr>
        <p:spPr>
          <a:xfrm>
            <a:off x="1424804" y="4183386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35" name="타원 34"/>
          <p:cNvSpPr/>
          <p:nvPr/>
        </p:nvSpPr>
        <p:spPr>
          <a:xfrm>
            <a:off x="487484" y="3390985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46" name="타원 45"/>
          <p:cNvSpPr/>
          <p:nvPr/>
        </p:nvSpPr>
        <p:spPr>
          <a:xfrm>
            <a:off x="2076839" y="4898917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cxnSp>
        <p:nvCxnSpPr>
          <p:cNvPr id="57" name="직선 연결선 56"/>
          <p:cNvCxnSpPr>
            <a:stCxn id="4" idx="5"/>
            <a:endCxn id="21" idx="1"/>
          </p:cNvCxnSpPr>
          <p:nvPr/>
        </p:nvCxnSpPr>
        <p:spPr>
          <a:xfrm>
            <a:off x="1631824" y="2980178"/>
            <a:ext cx="428614" cy="461162"/>
          </a:xfrm>
          <a:prstGeom prst="line">
            <a:avLst/>
          </a:prstGeom>
          <a:ln w="38100">
            <a:solidFill>
              <a:srgbClr val="0000CC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1815131" y="4593527"/>
            <a:ext cx="324000" cy="384259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2690497" y="1032973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60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40887" y="4887655"/>
            <a:ext cx="536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40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952441" y="3356992"/>
            <a:ext cx="550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45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388852" y="4189721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35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44850" y="3397823"/>
            <a:ext cx="540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96409" y="2564904"/>
            <a:ext cx="540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991901" y="1780785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50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528356" y="1815207"/>
            <a:ext cx="512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70</a:t>
            </a:r>
          </a:p>
        </p:txBody>
      </p:sp>
      <p:cxnSp>
        <p:nvCxnSpPr>
          <p:cNvPr id="43" name="직선 연결선 42"/>
          <p:cNvCxnSpPr/>
          <p:nvPr/>
        </p:nvCxnSpPr>
        <p:spPr>
          <a:xfrm>
            <a:off x="3175191" y="1432058"/>
            <a:ext cx="428614" cy="46116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2"/>
          <p:cNvSpPr txBox="1">
            <a:spLocks noChangeArrowheads="1"/>
          </p:cNvSpPr>
          <p:nvPr/>
        </p:nvSpPr>
        <p:spPr bwMode="auto">
          <a:xfrm>
            <a:off x="2502909" y="4152329"/>
            <a:ext cx="895246" cy="400110"/>
          </a:xfrm>
          <a:prstGeom prst="rect">
            <a:avLst/>
          </a:prstGeom>
          <a:noFill/>
          <a:ln>
            <a:noFill/>
          </a:ln>
          <a:extLst/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ctr" latinLnBrk="0">
              <a:spcBef>
                <a:spcPct val="0"/>
              </a:spcBef>
              <a:buFontTx/>
              <a:buNone/>
            </a:pPr>
            <a:r>
              <a:rPr lang="en-US" altLang="ko-KR" sz="20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None</a:t>
            </a:r>
            <a:endParaRPr lang="ko-KR" altLang="en-US" sz="2000" dirty="0">
              <a:solidFill>
                <a:srgbClr val="FF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58" name="직선 연결선 57"/>
          <p:cNvCxnSpPr/>
          <p:nvPr/>
        </p:nvCxnSpPr>
        <p:spPr>
          <a:xfrm flipH="1" flipV="1">
            <a:off x="2375715" y="3785679"/>
            <a:ext cx="322058" cy="360133"/>
          </a:xfrm>
          <a:prstGeom prst="line">
            <a:avLst/>
          </a:prstGeom>
          <a:ln w="38100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2"/>
          <p:cNvSpPr txBox="1">
            <a:spLocks noChangeArrowheads="1"/>
          </p:cNvSpPr>
          <p:nvPr/>
        </p:nvSpPr>
        <p:spPr bwMode="auto">
          <a:xfrm>
            <a:off x="1141763" y="3378491"/>
            <a:ext cx="94779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ctr" latinLnBrk="0">
              <a:spcBef>
                <a:spcPct val="0"/>
              </a:spcBef>
              <a:buFontTx/>
              <a:buNone/>
            </a:pPr>
            <a:r>
              <a:rPr lang="en-US" altLang="ko-KR" sz="2000" dirty="0">
                <a:solidFill>
                  <a:srgbClr val="0000CC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target</a:t>
            </a:r>
            <a:endParaRPr lang="ko-KR" altLang="en-US" sz="2000" dirty="0">
              <a:solidFill>
                <a:srgbClr val="0000CC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64" name="직선 연결선 63"/>
          <p:cNvCxnSpPr/>
          <p:nvPr/>
        </p:nvCxnSpPr>
        <p:spPr>
          <a:xfrm flipH="1">
            <a:off x="7010577" y="1530098"/>
            <a:ext cx="660014" cy="700068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타원 64"/>
          <p:cNvSpPr/>
          <p:nvPr/>
        </p:nvSpPr>
        <p:spPr>
          <a:xfrm>
            <a:off x="5690385" y="3261628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67" name="타원 66"/>
          <p:cNvSpPr/>
          <p:nvPr/>
        </p:nvSpPr>
        <p:spPr>
          <a:xfrm>
            <a:off x="7588030" y="1145030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84" name="타원 83"/>
          <p:cNvSpPr/>
          <p:nvPr/>
        </p:nvSpPr>
        <p:spPr>
          <a:xfrm>
            <a:off x="6593941" y="2189248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85" name="타원 84"/>
          <p:cNvSpPr/>
          <p:nvPr/>
        </p:nvSpPr>
        <p:spPr>
          <a:xfrm>
            <a:off x="6634274" y="4357440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87" name="타원 86"/>
          <p:cNvSpPr/>
          <p:nvPr/>
        </p:nvSpPr>
        <p:spPr>
          <a:xfrm>
            <a:off x="7241603" y="5049232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7533998" y="1145408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60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205651" y="5037970"/>
            <a:ext cx="536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40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598322" y="4363775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35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654433" y="3245817"/>
            <a:ext cx="540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593941" y="2173666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50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012160" y="188640"/>
            <a:ext cx="720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root</a:t>
            </a:r>
          </a:p>
        </p:txBody>
      </p:sp>
      <p:sp>
        <p:nvSpPr>
          <p:cNvPr id="100" name="직사각형 99"/>
          <p:cNvSpPr/>
          <p:nvPr/>
        </p:nvSpPr>
        <p:spPr>
          <a:xfrm>
            <a:off x="6691252" y="270135"/>
            <a:ext cx="324000" cy="324000"/>
          </a:xfrm>
          <a:prstGeom prst="rect">
            <a:avLst/>
          </a:prstGeom>
          <a:solidFill>
            <a:srgbClr val="CCFF99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cxnSp>
        <p:nvCxnSpPr>
          <p:cNvPr id="101" name="직선 화살표 연결선 100"/>
          <p:cNvCxnSpPr/>
          <p:nvPr/>
        </p:nvCxnSpPr>
        <p:spPr>
          <a:xfrm>
            <a:off x="6913799" y="435293"/>
            <a:ext cx="742117" cy="72779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/>
          <p:cNvCxnSpPr/>
          <p:nvPr/>
        </p:nvCxnSpPr>
        <p:spPr>
          <a:xfrm>
            <a:off x="6060672" y="3672050"/>
            <a:ext cx="694416" cy="75541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/>
          <p:cNvCxnSpPr/>
          <p:nvPr/>
        </p:nvCxnSpPr>
        <p:spPr>
          <a:xfrm>
            <a:off x="7025166" y="4774857"/>
            <a:ext cx="288000" cy="324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1527233" y="404110"/>
            <a:ext cx="720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root</a:t>
            </a:r>
          </a:p>
        </p:txBody>
      </p:sp>
      <p:sp>
        <p:nvSpPr>
          <p:cNvPr id="115" name="직사각형 114"/>
          <p:cNvSpPr/>
          <p:nvPr/>
        </p:nvSpPr>
        <p:spPr>
          <a:xfrm>
            <a:off x="2206325" y="485605"/>
            <a:ext cx="324000" cy="324000"/>
          </a:xfrm>
          <a:prstGeom prst="rect">
            <a:avLst/>
          </a:prstGeom>
          <a:solidFill>
            <a:srgbClr val="CCFF99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cxnSp>
        <p:nvCxnSpPr>
          <p:cNvPr id="116" name="직선 화살표 연결선 115"/>
          <p:cNvCxnSpPr/>
          <p:nvPr/>
        </p:nvCxnSpPr>
        <p:spPr>
          <a:xfrm>
            <a:off x="2407249" y="683200"/>
            <a:ext cx="432000" cy="396000"/>
          </a:xfrm>
          <a:prstGeom prst="straightConnector1">
            <a:avLst/>
          </a:prstGeom>
          <a:ln w="3810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/>
          <p:cNvCxnSpPr/>
          <p:nvPr/>
        </p:nvCxnSpPr>
        <p:spPr>
          <a:xfrm flipH="1">
            <a:off x="1637448" y="2192359"/>
            <a:ext cx="405817" cy="439394"/>
          </a:xfrm>
          <a:prstGeom prst="line">
            <a:avLst/>
          </a:prstGeom>
          <a:ln w="38100">
            <a:solidFill>
              <a:srgbClr val="0000CC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/>
          <p:cNvCxnSpPr/>
          <p:nvPr/>
        </p:nvCxnSpPr>
        <p:spPr>
          <a:xfrm flipH="1">
            <a:off x="862063" y="2989781"/>
            <a:ext cx="432000" cy="43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/>
          <p:cNvCxnSpPr/>
          <p:nvPr/>
        </p:nvCxnSpPr>
        <p:spPr>
          <a:xfrm flipH="1">
            <a:off x="6073627" y="2622170"/>
            <a:ext cx="608243" cy="68407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타원 121"/>
          <p:cNvSpPr/>
          <p:nvPr/>
        </p:nvSpPr>
        <p:spPr>
          <a:xfrm>
            <a:off x="8606722" y="2115465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8604448" y="2119050"/>
            <a:ext cx="512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70</a:t>
            </a:r>
          </a:p>
        </p:txBody>
      </p:sp>
      <p:sp>
        <p:nvSpPr>
          <p:cNvPr id="126" name="타원 125"/>
          <p:cNvSpPr/>
          <p:nvPr/>
        </p:nvSpPr>
        <p:spPr>
          <a:xfrm>
            <a:off x="4702279" y="4345546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4659645" y="4352384"/>
            <a:ext cx="540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146" name="오른쪽 화살표 145"/>
          <p:cNvSpPr/>
          <p:nvPr/>
        </p:nvSpPr>
        <p:spPr>
          <a:xfrm rot="18910136">
            <a:off x="6397579" y="3188231"/>
            <a:ext cx="360000" cy="216000"/>
          </a:xfrm>
          <a:prstGeom prst="rightArrow">
            <a:avLst/>
          </a:prstGeom>
          <a:solidFill>
            <a:srgbClr val="FFFF00"/>
          </a:solidFill>
          <a:ln w="3175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147" name="오른쪽 화살표 146"/>
          <p:cNvSpPr/>
          <p:nvPr/>
        </p:nvSpPr>
        <p:spPr>
          <a:xfrm rot="18910136">
            <a:off x="7336961" y="2056106"/>
            <a:ext cx="360000" cy="216000"/>
          </a:xfrm>
          <a:prstGeom prst="rightArrow">
            <a:avLst/>
          </a:prstGeom>
          <a:solidFill>
            <a:srgbClr val="FFFF00"/>
          </a:solidFill>
          <a:ln w="3175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148" name="오른쪽 화살표 147"/>
          <p:cNvSpPr/>
          <p:nvPr/>
        </p:nvSpPr>
        <p:spPr>
          <a:xfrm rot="13197028">
            <a:off x="7080902" y="1058976"/>
            <a:ext cx="392830" cy="216000"/>
          </a:xfrm>
          <a:prstGeom prst="rightArrow">
            <a:avLst/>
          </a:prstGeom>
          <a:solidFill>
            <a:srgbClr val="FFFF00"/>
          </a:solidFill>
          <a:ln w="3175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149" name="오른쪽 화살표 148"/>
          <p:cNvSpPr/>
          <p:nvPr/>
        </p:nvSpPr>
        <p:spPr>
          <a:xfrm rot="13392115">
            <a:off x="6031112" y="4162050"/>
            <a:ext cx="392830" cy="216000"/>
          </a:xfrm>
          <a:prstGeom prst="rightArrow">
            <a:avLst/>
          </a:prstGeom>
          <a:solidFill>
            <a:srgbClr val="FFFF00"/>
          </a:solidFill>
          <a:ln w="3175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2596814" y="4579546"/>
            <a:ext cx="16663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오른쪽자식이</a:t>
            </a:r>
            <a:endParaRPr lang="en-US" altLang="ko-KR" dirty="0">
              <a:latin typeface="Calibri" panose="020F0502020204030204" pitchFamily="34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ko-KR" dirty="0">
                <a:latin typeface="Calibri" panose="020F0502020204030204" pitchFamily="34" charset="0"/>
                <a:cs typeface="Times New Roman" panose="02020603050405020304" pitchFamily="18" charset="0"/>
              </a:rPr>
              <a:t>None</a:t>
            </a:r>
            <a:r>
              <a:rPr lang="en-US" altLang="ko-KR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인 경우</a:t>
            </a:r>
            <a:endParaRPr lang="en-US" dirty="0">
              <a:latin typeface="Calibri" panose="020F0502020204030204" pitchFamily="34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7537434" y="3499273"/>
            <a:ext cx="13230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분리됨</a:t>
            </a:r>
            <a:r>
              <a:rPr lang="en-US" sz="1600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sz="1400" dirty="0">
              <a:latin typeface="Calibri" panose="020F0502020204030204" pitchFamily="34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86" name="타원 85"/>
          <p:cNvSpPr/>
          <p:nvPr/>
        </p:nvSpPr>
        <p:spPr>
          <a:xfrm>
            <a:off x="7911094" y="3021296"/>
            <a:ext cx="468000" cy="468000"/>
          </a:xfrm>
          <a:prstGeom prst="ellipse">
            <a:avLst/>
          </a:prstGeom>
          <a:solidFill>
            <a:srgbClr val="FCD0F8"/>
          </a:solidFill>
          <a:ln w="3175">
            <a:solidFill>
              <a:srgbClr val="0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7875090" y="3013715"/>
            <a:ext cx="540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45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2055408" y="6266119"/>
            <a:ext cx="57106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[</a:t>
            </a:r>
            <a:r>
              <a:rPr lang="ko-KR" alt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그림</a:t>
            </a:r>
            <a:r>
              <a:rPr lang="ko-KR" alt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5-13] delete(45)</a:t>
            </a:r>
            <a:r>
              <a:rPr lang="ko-KR" alt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가</a:t>
            </a:r>
            <a:r>
              <a:rPr lang="ko-KR" alt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수행되는</a:t>
            </a:r>
            <a:r>
              <a:rPr lang="ko-KR" alt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과정</a:t>
            </a:r>
            <a:r>
              <a:rPr 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(case 1)</a:t>
            </a:r>
            <a:endParaRPr 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9653" y="681229"/>
            <a:ext cx="4429125" cy="28575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2484" y="2813076"/>
            <a:ext cx="3838575" cy="2286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994" y="1653021"/>
            <a:ext cx="3838575" cy="228600"/>
          </a:xfrm>
          <a:prstGeom prst="rect">
            <a:avLst/>
          </a:prstGeom>
        </p:spPr>
      </p:pic>
      <p:pic>
        <p:nvPicPr>
          <p:cNvPr id="73" name="그림 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5591" y="3807170"/>
            <a:ext cx="40767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3489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8" name="직선 연결선 127"/>
          <p:cNvCxnSpPr>
            <a:stCxn id="65" idx="3"/>
          </p:cNvCxnSpPr>
          <p:nvPr/>
        </p:nvCxnSpPr>
        <p:spPr>
          <a:xfrm flipH="1">
            <a:off x="4659766" y="3661091"/>
            <a:ext cx="682064" cy="715251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/>
          <p:cNvCxnSpPr/>
          <p:nvPr/>
        </p:nvCxnSpPr>
        <p:spPr>
          <a:xfrm>
            <a:off x="7582419" y="1510464"/>
            <a:ext cx="705611" cy="639855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자유형 108"/>
          <p:cNvSpPr/>
          <p:nvPr/>
        </p:nvSpPr>
        <p:spPr>
          <a:xfrm>
            <a:off x="5595068" y="4232966"/>
            <a:ext cx="1812085" cy="1407781"/>
          </a:xfrm>
          <a:custGeom>
            <a:avLst/>
            <a:gdLst>
              <a:gd name="connsiteX0" fmla="*/ 826917 w 1851075"/>
              <a:gd name="connsiteY0" fmla="*/ 13 h 1657352"/>
              <a:gd name="connsiteX1" fmla="*/ 26817 w 1851075"/>
              <a:gd name="connsiteY1" fmla="*/ 1457338 h 1657352"/>
              <a:gd name="connsiteX2" fmla="*/ 1836567 w 1851075"/>
              <a:gd name="connsiteY2" fmla="*/ 1485913 h 1657352"/>
              <a:gd name="connsiteX3" fmla="*/ 826917 w 1851075"/>
              <a:gd name="connsiteY3" fmla="*/ 13 h 1657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1075" h="1657352">
                <a:moveTo>
                  <a:pt x="826917" y="13"/>
                </a:moveTo>
                <a:cubicBezTo>
                  <a:pt x="525292" y="-4749"/>
                  <a:pt x="-141458" y="1209688"/>
                  <a:pt x="26817" y="1457338"/>
                </a:cubicBezTo>
                <a:cubicBezTo>
                  <a:pt x="195092" y="1704988"/>
                  <a:pt x="1701630" y="1731975"/>
                  <a:pt x="1836567" y="1485913"/>
                </a:cubicBezTo>
                <a:cubicBezTo>
                  <a:pt x="1971504" y="1239851"/>
                  <a:pt x="1128542" y="4775"/>
                  <a:pt x="826917" y="13"/>
                </a:cubicBezTo>
                <a:close/>
              </a:path>
            </a:pathLst>
          </a:custGeom>
          <a:solidFill>
            <a:srgbClr val="FFCC99"/>
          </a:solidFill>
          <a:ln w="19050">
            <a:solidFill>
              <a:srgbClr val="0000C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110" name="자유형 109"/>
          <p:cNvSpPr/>
          <p:nvPr/>
        </p:nvSpPr>
        <p:spPr>
          <a:xfrm>
            <a:off x="1629695" y="3990169"/>
            <a:ext cx="1812085" cy="1407781"/>
          </a:xfrm>
          <a:custGeom>
            <a:avLst/>
            <a:gdLst>
              <a:gd name="connsiteX0" fmla="*/ 826917 w 1851075"/>
              <a:gd name="connsiteY0" fmla="*/ 13 h 1657352"/>
              <a:gd name="connsiteX1" fmla="*/ 26817 w 1851075"/>
              <a:gd name="connsiteY1" fmla="*/ 1457338 h 1657352"/>
              <a:gd name="connsiteX2" fmla="*/ 1836567 w 1851075"/>
              <a:gd name="connsiteY2" fmla="*/ 1485913 h 1657352"/>
              <a:gd name="connsiteX3" fmla="*/ 826917 w 1851075"/>
              <a:gd name="connsiteY3" fmla="*/ 13 h 1657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1075" h="1657352">
                <a:moveTo>
                  <a:pt x="826917" y="13"/>
                </a:moveTo>
                <a:cubicBezTo>
                  <a:pt x="525292" y="-4749"/>
                  <a:pt x="-141458" y="1209688"/>
                  <a:pt x="26817" y="1457338"/>
                </a:cubicBezTo>
                <a:cubicBezTo>
                  <a:pt x="195092" y="1704988"/>
                  <a:pt x="1701630" y="1731975"/>
                  <a:pt x="1836567" y="1485913"/>
                </a:cubicBezTo>
                <a:cubicBezTo>
                  <a:pt x="1971504" y="1239851"/>
                  <a:pt x="1128542" y="4775"/>
                  <a:pt x="826917" y="13"/>
                </a:cubicBezTo>
                <a:close/>
              </a:path>
            </a:pathLst>
          </a:custGeom>
          <a:solidFill>
            <a:srgbClr val="FFCC99"/>
          </a:solidFill>
          <a:ln w="19050">
            <a:solidFill>
              <a:srgbClr val="0000C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cxnSp>
        <p:nvCxnSpPr>
          <p:cNvPr id="48" name="직선 연결선 47"/>
          <p:cNvCxnSpPr/>
          <p:nvPr/>
        </p:nvCxnSpPr>
        <p:spPr>
          <a:xfrm flipH="1" flipV="1">
            <a:off x="1972480" y="3805808"/>
            <a:ext cx="317001" cy="354534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>
            <a:stCxn id="23" idx="3"/>
          </p:cNvCxnSpPr>
          <p:nvPr/>
        </p:nvCxnSpPr>
        <p:spPr>
          <a:xfrm flipH="1">
            <a:off x="1990157" y="1432058"/>
            <a:ext cx="405817" cy="439394"/>
          </a:xfrm>
          <a:prstGeom prst="line">
            <a:avLst/>
          </a:prstGeom>
          <a:ln w="38100">
            <a:solidFill>
              <a:srgbClr val="0000CC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타원 3"/>
          <p:cNvSpPr/>
          <p:nvPr/>
        </p:nvSpPr>
        <p:spPr>
          <a:xfrm>
            <a:off x="815269" y="2580715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21" name="타원 20"/>
          <p:cNvSpPr/>
          <p:nvPr/>
        </p:nvSpPr>
        <p:spPr>
          <a:xfrm>
            <a:off x="1574809" y="3372803"/>
            <a:ext cx="468000" cy="468000"/>
          </a:xfrm>
          <a:prstGeom prst="ellipse">
            <a:avLst/>
          </a:prstGeom>
          <a:solidFill>
            <a:srgbClr val="FCD0F8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23" name="타원 22"/>
          <p:cNvSpPr/>
          <p:nvPr/>
        </p:nvSpPr>
        <p:spPr>
          <a:xfrm>
            <a:off x="2327437" y="1032595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25" name="타원 24"/>
          <p:cNvSpPr/>
          <p:nvPr/>
        </p:nvSpPr>
        <p:spPr>
          <a:xfrm>
            <a:off x="3113538" y="1811622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27" name="타원 26"/>
          <p:cNvSpPr/>
          <p:nvPr/>
        </p:nvSpPr>
        <p:spPr>
          <a:xfrm>
            <a:off x="1574809" y="1796367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34" name="타원 33"/>
          <p:cNvSpPr/>
          <p:nvPr/>
        </p:nvSpPr>
        <p:spPr>
          <a:xfrm>
            <a:off x="2192436" y="4112421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35" name="타원 34"/>
          <p:cNvSpPr/>
          <p:nvPr/>
        </p:nvSpPr>
        <p:spPr>
          <a:xfrm>
            <a:off x="70392" y="3390985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46" name="타원 45"/>
          <p:cNvSpPr/>
          <p:nvPr/>
        </p:nvSpPr>
        <p:spPr>
          <a:xfrm>
            <a:off x="2844471" y="4827952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cxnSp>
        <p:nvCxnSpPr>
          <p:cNvPr id="57" name="직선 연결선 56"/>
          <p:cNvCxnSpPr>
            <a:stCxn id="4" idx="5"/>
            <a:endCxn id="21" idx="1"/>
          </p:cNvCxnSpPr>
          <p:nvPr/>
        </p:nvCxnSpPr>
        <p:spPr>
          <a:xfrm>
            <a:off x="1214732" y="2980178"/>
            <a:ext cx="428614" cy="461162"/>
          </a:xfrm>
          <a:prstGeom prst="line">
            <a:avLst/>
          </a:prstGeom>
          <a:ln w="38100">
            <a:solidFill>
              <a:srgbClr val="0000CC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2582763" y="4522562"/>
            <a:ext cx="324000" cy="384259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2273405" y="1032973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60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808519" y="4816690"/>
            <a:ext cx="536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45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535349" y="3356992"/>
            <a:ext cx="550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35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56484" y="4118756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40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758" y="3397823"/>
            <a:ext cx="540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9317" y="2564904"/>
            <a:ext cx="540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574809" y="1780785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50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111264" y="1815207"/>
            <a:ext cx="512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70</a:t>
            </a:r>
          </a:p>
        </p:txBody>
      </p:sp>
      <p:cxnSp>
        <p:nvCxnSpPr>
          <p:cNvPr id="43" name="직선 연결선 42"/>
          <p:cNvCxnSpPr/>
          <p:nvPr/>
        </p:nvCxnSpPr>
        <p:spPr>
          <a:xfrm>
            <a:off x="2758099" y="1432058"/>
            <a:ext cx="428614" cy="46116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2"/>
          <p:cNvSpPr txBox="1">
            <a:spLocks noChangeArrowheads="1"/>
          </p:cNvSpPr>
          <p:nvPr/>
        </p:nvSpPr>
        <p:spPr bwMode="auto">
          <a:xfrm>
            <a:off x="847004" y="4130871"/>
            <a:ext cx="830509" cy="400110"/>
          </a:xfrm>
          <a:prstGeom prst="rect">
            <a:avLst/>
          </a:prstGeom>
          <a:noFill/>
          <a:ln>
            <a:noFill/>
          </a:ln>
          <a:extLst/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ctr" latinLnBrk="0">
              <a:spcBef>
                <a:spcPct val="0"/>
              </a:spcBef>
              <a:buFontTx/>
              <a:buNone/>
            </a:pPr>
            <a:r>
              <a:rPr lang="en-US" altLang="ko-KR" sz="2000" dirty="0">
                <a:solidFill>
                  <a:srgbClr val="00B0F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None</a:t>
            </a:r>
            <a:endParaRPr lang="ko-KR" altLang="en-US" sz="2000" dirty="0">
              <a:solidFill>
                <a:srgbClr val="00B0F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58" name="직선 연결선 57"/>
          <p:cNvCxnSpPr/>
          <p:nvPr/>
        </p:nvCxnSpPr>
        <p:spPr>
          <a:xfrm flipH="1">
            <a:off x="1326126" y="3818657"/>
            <a:ext cx="366963" cy="374068"/>
          </a:xfrm>
          <a:prstGeom prst="line">
            <a:avLst/>
          </a:prstGeom>
          <a:ln w="38100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2"/>
          <p:cNvSpPr txBox="1">
            <a:spLocks noChangeArrowheads="1"/>
          </p:cNvSpPr>
          <p:nvPr/>
        </p:nvSpPr>
        <p:spPr bwMode="auto">
          <a:xfrm>
            <a:off x="724671" y="3378491"/>
            <a:ext cx="94779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ctr" latinLnBrk="0">
              <a:spcBef>
                <a:spcPct val="0"/>
              </a:spcBef>
              <a:buFontTx/>
              <a:buNone/>
            </a:pPr>
            <a:r>
              <a:rPr lang="en-US" altLang="ko-KR" sz="2000" dirty="0">
                <a:solidFill>
                  <a:srgbClr val="0000CC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target</a:t>
            </a:r>
            <a:endParaRPr lang="ko-KR" altLang="en-US" sz="2000" dirty="0">
              <a:solidFill>
                <a:srgbClr val="0000CC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64" name="직선 연결선 63"/>
          <p:cNvCxnSpPr/>
          <p:nvPr/>
        </p:nvCxnSpPr>
        <p:spPr>
          <a:xfrm flipH="1">
            <a:off x="6593485" y="1530098"/>
            <a:ext cx="660014" cy="700068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타원 64"/>
          <p:cNvSpPr/>
          <p:nvPr/>
        </p:nvSpPr>
        <p:spPr>
          <a:xfrm>
            <a:off x="5273293" y="3261628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67" name="타원 66"/>
          <p:cNvSpPr/>
          <p:nvPr/>
        </p:nvSpPr>
        <p:spPr>
          <a:xfrm>
            <a:off x="7170938" y="1145030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84" name="타원 83"/>
          <p:cNvSpPr/>
          <p:nvPr/>
        </p:nvSpPr>
        <p:spPr>
          <a:xfrm>
            <a:off x="6176849" y="2189248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85" name="타원 84"/>
          <p:cNvSpPr/>
          <p:nvPr/>
        </p:nvSpPr>
        <p:spPr>
          <a:xfrm>
            <a:off x="6217182" y="4357440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87" name="타원 86"/>
          <p:cNvSpPr/>
          <p:nvPr/>
        </p:nvSpPr>
        <p:spPr>
          <a:xfrm>
            <a:off x="6824511" y="5049232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7116906" y="1145408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60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788559" y="5037970"/>
            <a:ext cx="536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45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181230" y="4363775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40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237341" y="3245817"/>
            <a:ext cx="540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176849" y="2173666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50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595068" y="188640"/>
            <a:ext cx="720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root</a:t>
            </a:r>
          </a:p>
        </p:txBody>
      </p:sp>
      <p:sp>
        <p:nvSpPr>
          <p:cNvPr id="100" name="직사각형 99"/>
          <p:cNvSpPr/>
          <p:nvPr/>
        </p:nvSpPr>
        <p:spPr>
          <a:xfrm>
            <a:off x="6274160" y="270135"/>
            <a:ext cx="324000" cy="324000"/>
          </a:xfrm>
          <a:prstGeom prst="rect">
            <a:avLst/>
          </a:prstGeom>
          <a:solidFill>
            <a:srgbClr val="CCFF99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cxnSp>
        <p:nvCxnSpPr>
          <p:cNvPr id="101" name="직선 화살표 연결선 100"/>
          <p:cNvCxnSpPr/>
          <p:nvPr/>
        </p:nvCxnSpPr>
        <p:spPr>
          <a:xfrm>
            <a:off x="6496707" y="435293"/>
            <a:ext cx="742117" cy="72779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/>
          <p:cNvCxnSpPr/>
          <p:nvPr/>
        </p:nvCxnSpPr>
        <p:spPr>
          <a:xfrm>
            <a:off x="5643580" y="3672050"/>
            <a:ext cx="694416" cy="75541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/>
          <p:cNvCxnSpPr/>
          <p:nvPr/>
        </p:nvCxnSpPr>
        <p:spPr>
          <a:xfrm>
            <a:off x="6608074" y="4774857"/>
            <a:ext cx="288000" cy="324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1110141" y="404110"/>
            <a:ext cx="720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root</a:t>
            </a:r>
          </a:p>
        </p:txBody>
      </p:sp>
      <p:sp>
        <p:nvSpPr>
          <p:cNvPr id="115" name="직사각형 114"/>
          <p:cNvSpPr/>
          <p:nvPr/>
        </p:nvSpPr>
        <p:spPr>
          <a:xfrm>
            <a:off x="1789233" y="485605"/>
            <a:ext cx="324000" cy="324000"/>
          </a:xfrm>
          <a:prstGeom prst="rect">
            <a:avLst/>
          </a:prstGeom>
          <a:solidFill>
            <a:srgbClr val="CCFF99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cxnSp>
        <p:nvCxnSpPr>
          <p:cNvPr id="116" name="직선 화살표 연결선 115"/>
          <p:cNvCxnSpPr/>
          <p:nvPr/>
        </p:nvCxnSpPr>
        <p:spPr>
          <a:xfrm>
            <a:off x="1990157" y="683200"/>
            <a:ext cx="432000" cy="396000"/>
          </a:xfrm>
          <a:prstGeom prst="straightConnector1">
            <a:avLst/>
          </a:prstGeom>
          <a:ln w="3810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/>
          <p:cNvCxnSpPr/>
          <p:nvPr/>
        </p:nvCxnSpPr>
        <p:spPr>
          <a:xfrm flipH="1">
            <a:off x="1220356" y="2192359"/>
            <a:ext cx="405817" cy="439394"/>
          </a:xfrm>
          <a:prstGeom prst="line">
            <a:avLst/>
          </a:prstGeom>
          <a:ln w="38100">
            <a:solidFill>
              <a:srgbClr val="0000CC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/>
          <p:cNvCxnSpPr/>
          <p:nvPr/>
        </p:nvCxnSpPr>
        <p:spPr>
          <a:xfrm flipH="1">
            <a:off x="444971" y="2989781"/>
            <a:ext cx="432000" cy="43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/>
          <p:cNvCxnSpPr/>
          <p:nvPr/>
        </p:nvCxnSpPr>
        <p:spPr>
          <a:xfrm flipH="1">
            <a:off x="5656535" y="2622170"/>
            <a:ext cx="608243" cy="68407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타원 121"/>
          <p:cNvSpPr/>
          <p:nvPr/>
        </p:nvSpPr>
        <p:spPr>
          <a:xfrm>
            <a:off x="8189630" y="2115465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8187356" y="2119050"/>
            <a:ext cx="512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70</a:t>
            </a:r>
          </a:p>
        </p:txBody>
      </p:sp>
      <p:sp>
        <p:nvSpPr>
          <p:cNvPr id="126" name="타원 125"/>
          <p:cNvSpPr/>
          <p:nvPr/>
        </p:nvSpPr>
        <p:spPr>
          <a:xfrm>
            <a:off x="4285187" y="4345546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4242553" y="4352384"/>
            <a:ext cx="540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146" name="오른쪽 화살표 145"/>
          <p:cNvSpPr/>
          <p:nvPr/>
        </p:nvSpPr>
        <p:spPr>
          <a:xfrm rot="18910136">
            <a:off x="5980487" y="3188231"/>
            <a:ext cx="360000" cy="216000"/>
          </a:xfrm>
          <a:prstGeom prst="rightArrow">
            <a:avLst/>
          </a:prstGeom>
          <a:solidFill>
            <a:srgbClr val="FFFF00"/>
          </a:solidFill>
          <a:ln w="3175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147" name="오른쪽 화살표 146"/>
          <p:cNvSpPr/>
          <p:nvPr/>
        </p:nvSpPr>
        <p:spPr>
          <a:xfrm rot="18910136">
            <a:off x="6919869" y="2056106"/>
            <a:ext cx="360000" cy="216000"/>
          </a:xfrm>
          <a:prstGeom prst="rightArrow">
            <a:avLst/>
          </a:prstGeom>
          <a:solidFill>
            <a:srgbClr val="FFFF00"/>
          </a:solidFill>
          <a:ln w="3175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148" name="오른쪽 화살표 147"/>
          <p:cNvSpPr/>
          <p:nvPr/>
        </p:nvSpPr>
        <p:spPr>
          <a:xfrm rot="13473524">
            <a:off x="6663810" y="1058976"/>
            <a:ext cx="392830" cy="216000"/>
          </a:xfrm>
          <a:prstGeom prst="rightArrow">
            <a:avLst/>
          </a:prstGeom>
          <a:solidFill>
            <a:srgbClr val="FFFF00"/>
          </a:solidFill>
          <a:ln w="3175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149" name="오른쪽 화살표 148"/>
          <p:cNvSpPr/>
          <p:nvPr/>
        </p:nvSpPr>
        <p:spPr>
          <a:xfrm rot="13608048">
            <a:off x="5614020" y="4162050"/>
            <a:ext cx="392830" cy="216000"/>
          </a:xfrm>
          <a:prstGeom prst="rightArrow">
            <a:avLst/>
          </a:prstGeom>
          <a:solidFill>
            <a:srgbClr val="FFFF00"/>
          </a:solidFill>
          <a:ln w="3175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49175" y="4487739"/>
            <a:ext cx="1538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왼쪽자식이</a:t>
            </a:r>
            <a:endParaRPr lang="en-US" altLang="ko-KR" dirty="0">
              <a:latin typeface="Calibri" panose="020F0502020204030204" pitchFamily="34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Calibri" panose="020F0502020204030204" pitchFamily="34" charset="0"/>
                <a:cs typeface="Times New Roman" panose="02020603050405020304" pitchFamily="18" charset="0"/>
              </a:rPr>
              <a:t> None</a:t>
            </a:r>
            <a:r>
              <a:rPr lang="en-US" altLang="ko-KR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인 경우</a:t>
            </a:r>
            <a:endParaRPr lang="en-US" dirty="0">
              <a:latin typeface="Calibri" panose="020F0502020204030204" pitchFamily="34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88" name="타원 87"/>
          <p:cNvSpPr/>
          <p:nvPr/>
        </p:nvSpPr>
        <p:spPr>
          <a:xfrm>
            <a:off x="7677325" y="2963363"/>
            <a:ext cx="468000" cy="468000"/>
          </a:xfrm>
          <a:prstGeom prst="ellipse">
            <a:avLst/>
          </a:prstGeom>
          <a:solidFill>
            <a:srgbClr val="FCD0F8"/>
          </a:solidFill>
          <a:ln w="3175">
            <a:solidFill>
              <a:srgbClr val="0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7634691" y="2970201"/>
            <a:ext cx="540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35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2813066" y="6155080"/>
            <a:ext cx="39189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delete(35)</a:t>
            </a:r>
            <a:r>
              <a:rPr lang="ko-KR" alt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가</a:t>
            </a:r>
            <a:r>
              <a:rPr lang="ko-KR" alt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수행되는</a:t>
            </a:r>
            <a:r>
              <a:rPr lang="ko-KR" alt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과정</a:t>
            </a:r>
            <a:r>
              <a:rPr 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(case 1)</a:t>
            </a:r>
            <a:endParaRPr lang="en-US" dirty="0"/>
          </a:p>
        </p:txBody>
      </p:sp>
      <p:sp>
        <p:nvSpPr>
          <p:cNvPr id="92" name="직사각형 91"/>
          <p:cNvSpPr/>
          <p:nvPr/>
        </p:nvSpPr>
        <p:spPr>
          <a:xfrm>
            <a:off x="7243246" y="3517884"/>
            <a:ext cx="13230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분리됨</a:t>
            </a:r>
            <a:r>
              <a:rPr lang="en-US" sz="1600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sz="1400" dirty="0">
              <a:latin typeface="Calibri" panose="020F0502020204030204" pitchFamily="34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510" y="651643"/>
            <a:ext cx="4429125" cy="28575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1199" y="1713720"/>
            <a:ext cx="3838575" cy="2286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2914" y="2773944"/>
            <a:ext cx="3838575" cy="228600"/>
          </a:xfrm>
          <a:prstGeom prst="rect">
            <a:avLst/>
          </a:prstGeom>
        </p:spPr>
      </p:pic>
      <p:pic>
        <p:nvPicPr>
          <p:cNvPr id="73" name="그림 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3724" y="3816102"/>
            <a:ext cx="40767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6704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타원 3"/>
          <p:cNvSpPr/>
          <p:nvPr/>
        </p:nvSpPr>
        <p:spPr>
          <a:xfrm>
            <a:off x="1590298" y="2724731"/>
            <a:ext cx="468000" cy="468000"/>
          </a:xfrm>
          <a:prstGeom prst="ellipse">
            <a:avLst/>
          </a:prstGeom>
          <a:solidFill>
            <a:srgbClr val="FCD0F8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21" name="타원 20"/>
          <p:cNvSpPr/>
          <p:nvPr/>
        </p:nvSpPr>
        <p:spPr>
          <a:xfrm>
            <a:off x="2349838" y="3660835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23" name="타원 22"/>
          <p:cNvSpPr/>
          <p:nvPr/>
        </p:nvSpPr>
        <p:spPr>
          <a:xfrm>
            <a:off x="3102466" y="1176611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25" name="타원 24"/>
          <p:cNvSpPr/>
          <p:nvPr/>
        </p:nvSpPr>
        <p:spPr>
          <a:xfrm>
            <a:off x="3888567" y="1955638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27" name="타원 26"/>
          <p:cNvSpPr/>
          <p:nvPr/>
        </p:nvSpPr>
        <p:spPr>
          <a:xfrm>
            <a:off x="2349838" y="1940383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34" name="타원 33"/>
          <p:cNvSpPr/>
          <p:nvPr/>
        </p:nvSpPr>
        <p:spPr>
          <a:xfrm>
            <a:off x="1554242" y="4452923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35" name="타원 34"/>
          <p:cNvSpPr/>
          <p:nvPr/>
        </p:nvSpPr>
        <p:spPr>
          <a:xfrm>
            <a:off x="689119" y="3660835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44" name="타원 43"/>
          <p:cNvSpPr/>
          <p:nvPr/>
        </p:nvSpPr>
        <p:spPr>
          <a:xfrm>
            <a:off x="870218" y="5137051"/>
            <a:ext cx="468000" cy="468000"/>
          </a:xfrm>
          <a:prstGeom prst="ellipse">
            <a:avLst/>
          </a:prstGeom>
          <a:solidFill>
            <a:srgbClr val="FFFF00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45" name="타원 44"/>
          <p:cNvSpPr/>
          <p:nvPr/>
        </p:nvSpPr>
        <p:spPr>
          <a:xfrm>
            <a:off x="1554242" y="5985336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46" name="타원 45"/>
          <p:cNvSpPr/>
          <p:nvPr/>
        </p:nvSpPr>
        <p:spPr>
          <a:xfrm>
            <a:off x="2274322" y="5168454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cxnSp>
        <p:nvCxnSpPr>
          <p:cNvPr id="51" name="직선 연결선 50"/>
          <p:cNvCxnSpPr/>
          <p:nvPr/>
        </p:nvCxnSpPr>
        <p:spPr>
          <a:xfrm flipH="1">
            <a:off x="1259608" y="4845525"/>
            <a:ext cx="356521" cy="3614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/>
          <p:nvPr/>
        </p:nvCxnSpPr>
        <p:spPr>
          <a:xfrm flipH="1">
            <a:off x="1961069" y="4054657"/>
            <a:ext cx="462437" cy="473987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/>
          <p:cNvCxnSpPr>
            <a:stCxn id="4" idx="5"/>
            <a:endCxn id="21" idx="1"/>
          </p:cNvCxnSpPr>
          <p:nvPr/>
        </p:nvCxnSpPr>
        <p:spPr>
          <a:xfrm>
            <a:off x="1989761" y="3124194"/>
            <a:ext cx="428614" cy="60517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3526833" y="1576074"/>
            <a:ext cx="442164" cy="436594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>
            <a:endCxn id="46" idx="1"/>
          </p:cNvCxnSpPr>
          <p:nvPr/>
        </p:nvCxnSpPr>
        <p:spPr>
          <a:xfrm>
            <a:off x="1965589" y="4852732"/>
            <a:ext cx="377270" cy="384259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>
            <a:endCxn id="45" idx="1"/>
          </p:cNvCxnSpPr>
          <p:nvPr/>
        </p:nvCxnSpPr>
        <p:spPr>
          <a:xfrm>
            <a:off x="1208899" y="5598213"/>
            <a:ext cx="413880" cy="4556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3048434" y="1176989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60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238370" y="5157192"/>
            <a:ext cx="536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40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308474" y="3660332"/>
            <a:ext cx="550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45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511868" y="4442007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35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505261" y="5979331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30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7616" y="3655123"/>
            <a:ext cx="540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2884" y="5133128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25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554878" y="2722361"/>
            <a:ext cx="540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345468" y="1930783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50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86293" y="1959223"/>
            <a:ext cx="512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70</a:t>
            </a:r>
          </a:p>
        </p:txBody>
      </p:sp>
      <p:cxnSp>
        <p:nvCxnSpPr>
          <p:cNvPr id="42" name="직선 연결선 41"/>
          <p:cNvCxnSpPr/>
          <p:nvPr/>
        </p:nvCxnSpPr>
        <p:spPr>
          <a:xfrm flipH="1">
            <a:off x="2728481" y="1581912"/>
            <a:ext cx="438876" cy="445506"/>
          </a:xfrm>
          <a:prstGeom prst="line">
            <a:avLst/>
          </a:prstGeom>
          <a:ln w="38100">
            <a:solidFill>
              <a:srgbClr val="0000CC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 flipH="1">
            <a:off x="1978882" y="2323525"/>
            <a:ext cx="438876" cy="445506"/>
          </a:xfrm>
          <a:prstGeom prst="line">
            <a:avLst/>
          </a:prstGeom>
          <a:ln w="38100">
            <a:solidFill>
              <a:srgbClr val="0000CC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/>
          <p:cNvCxnSpPr/>
          <p:nvPr/>
        </p:nvCxnSpPr>
        <p:spPr>
          <a:xfrm flipH="1">
            <a:off x="1075316" y="3116410"/>
            <a:ext cx="571546" cy="594674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878342" y="541792"/>
            <a:ext cx="720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root</a:t>
            </a:r>
          </a:p>
        </p:txBody>
      </p:sp>
      <p:sp>
        <p:nvSpPr>
          <p:cNvPr id="52" name="직사각형 51"/>
          <p:cNvSpPr/>
          <p:nvPr/>
        </p:nvSpPr>
        <p:spPr>
          <a:xfrm>
            <a:off x="2557434" y="623287"/>
            <a:ext cx="324000" cy="324000"/>
          </a:xfrm>
          <a:prstGeom prst="rect">
            <a:avLst/>
          </a:prstGeom>
          <a:solidFill>
            <a:srgbClr val="CCFF99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cxnSp>
        <p:nvCxnSpPr>
          <p:cNvPr id="55" name="직선 화살표 연결선 54"/>
          <p:cNvCxnSpPr/>
          <p:nvPr/>
        </p:nvCxnSpPr>
        <p:spPr>
          <a:xfrm>
            <a:off x="2758358" y="820882"/>
            <a:ext cx="432000" cy="396000"/>
          </a:xfrm>
          <a:prstGeom prst="straightConnector1">
            <a:avLst/>
          </a:prstGeom>
          <a:ln w="3810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2"/>
          <p:cNvSpPr txBox="1">
            <a:spLocks noChangeArrowheads="1"/>
          </p:cNvSpPr>
          <p:nvPr/>
        </p:nvSpPr>
        <p:spPr bwMode="auto">
          <a:xfrm>
            <a:off x="739360" y="2740459"/>
            <a:ext cx="94779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ctr" latinLnBrk="0">
              <a:spcBef>
                <a:spcPct val="0"/>
              </a:spcBef>
              <a:buFontTx/>
              <a:buNone/>
            </a:pPr>
            <a:r>
              <a:rPr lang="en-US" altLang="ko-KR" sz="2000" dirty="0">
                <a:solidFill>
                  <a:srgbClr val="0066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target</a:t>
            </a:r>
            <a:endParaRPr lang="ko-KR" altLang="en-US" sz="2000" dirty="0">
              <a:solidFill>
                <a:srgbClr val="0066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8" name="타원 87"/>
          <p:cNvSpPr/>
          <p:nvPr/>
        </p:nvSpPr>
        <p:spPr>
          <a:xfrm>
            <a:off x="6359251" y="3609072"/>
            <a:ext cx="468000" cy="468000"/>
          </a:xfrm>
          <a:prstGeom prst="ellipse">
            <a:avLst/>
          </a:prstGeom>
          <a:solidFill>
            <a:srgbClr val="FFFF00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89" name="타원 88"/>
          <p:cNvSpPr/>
          <p:nvPr/>
        </p:nvSpPr>
        <p:spPr>
          <a:xfrm>
            <a:off x="7408172" y="4837757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90" name="타원 89"/>
          <p:cNvSpPr/>
          <p:nvPr/>
        </p:nvSpPr>
        <p:spPr>
          <a:xfrm>
            <a:off x="8230035" y="1589449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91" name="타원 90"/>
          <p:cNvSpPr/>
          <p:nvPr/>
        </p:nvSpPr>
        <p:spPr>
          <a:xfrm>
            <a:off x="9125993" y="2626765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92" name="타원 91"/>
          <p:cNvSpPr/>
          <p:nvPr/>
        </p:nvSpPr>
        <p:spPr>
          <a:xfrm>
            <a:off x="7332295" y="2528952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93" name="타원 92"/>
          <p:cNvSpPr/>
          <p:nvPr/>
        </p:nvSpPr>
        <p:spPr>
          <a:xfrm>
            <a:off x="6747835" y="5461035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94" name="타원 93"/>
          <p:cNvSpPr/>
          <p:nvPr/>
        </p:nvSpPr>
        <p:spPr>
          <a:xfrm>
            <a:off x="5222670" y="4755364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95" name="타원 94"/>
          <p:cNvSpPr/>
          <p:nvPr/>
        </p:nvSpPr>
        <p:spPr>
          <a:xfrm>
            <a:off x="6063811" y="6145163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97" name="타원 96"/>
          <p:cNvSpPr/>
          <p:nvPr/>
        </p:nvSpPr>
        <p:spPr>
          <a:xfrm>
            <a:off x="7467915" y="6176566"/>
            <a:ext cx="468000" cy="468000"/>
          </a:xfrm>
          <a:prstGeom prst="ellipse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cxnSp>
        <p:nvCxnSpPr>
          <p:cNvPr id="98" name="직선 연결선 97"/>
          <p:cNvCxnSpPr/>
          <p:nvPr/>
        </p:nvCxnSpPr>
        <p:spPr>
          <a:xfrm flipH="1">
            <a:off x="6448071" y="5860498"/>
            <a:ext cx="356521" cy="361400"/>
          </a:xfrm>
          <a:prstGeom prst="line">
            <a:avLst/>
          </a:prstGeom>
          <a:ln w="38100">
            <a:solidFill>
              <a:srgbClr val="0000CC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/>
          <p:cNvCxnSpPr/>
          <p:nvPr/>
        </p:nvCxnSpPr>
        <p:spPr>
          <a:xfrm flipH="1">
            <a:off x="7192762" y="5231579"/>
            <a:ext cx="289078" cy="300166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/>
          <p:cNvCxnSpPr>
            <a:endCxn id="89" idx="1"/>
          </p:cNvCxnSpPr>
          <p:nvPr/>
        </p:nvCxnSpPr>
        <p:spPr>
          <a:xfrm>
            <a:off x="6747835" y="4021999"/>
            <a:ext cx="728874" cy="884295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/>
          <p:cNvCxnSpPr>
            <a:endCxn id="97" idx="1"/>
          </p:cNvCxnSpPr>
          <p:nvPr/>
        </p:nvCxnSpPr>
        <p:spPr>
          <a:xfrm>
            <a:off x="7159182" y="5860844"/>
            <a:ext cx="377270" cy="384259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8176003" y="1589827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60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431963" y="6165304"/>
            <a:ext cx="536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40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368712" y="4821946"/>
            <a:ext cx="550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45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711883" y="5467370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35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186666" y="4748335"/>
            <a:ext cx="540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003029" y="6145786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30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320437" y="3598489"/>
            <a:ext cx="540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25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313974" y="2526940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50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123719" y="2630350"/>
            <a:ext cx="512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70</a:t>
            </a:r>
          </a:p>
        </p:txBody>
      </p:sp>
      <p:cxnSp>
        <p:nvCxnSpPr>
          <p:cNvPr id="114" name="직선 연결선 113"/>
          <p:cNvCxnSpPr/>
          <p:nvPr/>
        </p:nvCxnSpPr>
        <p:spPr>
          <a:xfrm flipH="1">
            <a:off x="7710938" y="2012668"/>
            <a:ext cx="597165" cy="603319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/>
          <p:cNvCxnSpPr>
            <a:stCxn id="92" idx="3"/>
          </p:cNvCxnSpPr>
          <p:nvPr/>
        </p:nvCxnSpPr>
        <p:spPr>
          <a:xfrm flipH="1">
            <a:off x="6747835" y="2928415"/>
            <a:ext cx="652997" cy="724957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/>
          <p:cNvCxnSpPr/>
          <p:nvPr/>
        </p:nvCxnSpPr>
        <p:spPr>
          <a:xfrm flipH="1">
            <a:off x="5632446" y="3998546"/>
            <a:ext cx="779815" cy="801915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6541807" y="429227"/>
            <a:ext cx="720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root</a:t>
            </a:r>
          </a:p>
        </p:txBody>
      </p:sp>
      <p:sp>
        <p:nvSpPr>
          <p:cNvPr id="118" name="직사각형 117"/>
          <p:cNvSpPr/>
          <p:nvPr/>
        </p:nvSpPr>
        <p:spPr>
          <a:xfrm>
            <a:off x="7238832" y="499033"/>
            <a:ext cx="324000" cy="324000"/>
          </a:xfrm>
          <a:prstGeom prst="rect">
            <a:avLst/>
          </a:prstGeom>
          <a:solidFill>
            <a:srgbClr val="CCFF99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cxnSp>
        <p:nvCxnSpPr>
          <p:cNvPr id="119" name="직선 화살표 연결선 118"/>
          <p:cNvCxnSpPr/>
          <p:nvPr/>
        </p:nvCxnSpPr>
        <p:spPr>
          <a:xfrm>
            <a:off x="7408172" y="644509"/>
            <a:ext cx="871951" cy="99628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오른쪽 화살표 134"/>
          <p:cNvSpPr/>
          <p:nvPr/>
        </p:nvSpPr>
        <p:spPr>
          <a:xfrm rot="18910136">
            <a:off x="7020017" y="3541317"/>
            <a:ext cx="360000" cy="216000"/>
          </a:xfrm>
          <a:prstGeom prst="rightArrow">
            <a:avLst/>
          </a:prstGeom>
          <a:solidFill>
            <a:srgbClr val="FFFF00"/>
          </a:solidFill>
          <a:ln w="3175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136" name="오른쪽 화살표 135"/>
          <p:cNvSpPr/>
          <p:nvPr/>
        </p:nvSpPr>
        <p:spPr>
          <a:xfrm rot="18910136">
            <a:off x="7980733" y="2494355"/>
            <a:ext cx="360000" cy="216000"/>
          </a:xfrm>
          <a:prstGeom prst="rightArrow">
            <a:avLst/>
          </a:prstGeom>
          <a:solidFill>
            <a:srgbClr val="FFFF00"/>
          </a:solidFill>
          <a:ln w="3175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138" name="오른쪽 화살표 137"/>
          <p:cNvSpPr/>
          <p:nvPr/>
        </p:nvSpPr>
        <p:spPr>
          <a:xfrm rot="13878371">
            <a:off x="7581057" y="1457448"/>
            <a:ext cx="392830" cy="216000"/>
          </a:xfrm>
          <a:prstGeom prst="rightArrow">
            <a:avLst/>
          </a:prstGeom>
          <a:solidFill>
            <a:srgbClr val="FFFF00"/>
          </a:solidFill>
          <a:ln w="3175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686041" y="4868201"/>
            <a:ext cx="3193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n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139" name="직사각형 138"/>
          <p:cNvSpPr/>
          <p:nvPr/>
        </p:nvSpPr>
        <p:spPr>
          <a:xfrm>
            <a:off x="6053075" y="3543406"/>
            <a:ext cx="3193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n</a:t>
            </a:r>
            <a:endParaRPr lang="en-US" sz="2000" dirty="0">
              <a:latin typeface="Calibri" panose="020F0502020204030204" pitchFamily="34" charset="0"/>
            </a:endParaRPr>
          </a:p>
        </p:txBody>
      </p:sp>
      <p:cxnSp>
        <p:nvCxnSpPr>
          <p:cNvPr id="101" name="직선 연결선 100"/>
          <p:cNvCxnSpPr/>
          <p:nvPr/>
        </p:nvCxnSpPr>
        <p:spPr>
          <a:xfrm>
            <a:off x="8654402" y="1988912"/>
            <a:ext cx="602300" cy="681411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/>
        </p:nvSpPr>
        <p:spPr>
          <a:xfrm>
            <a:off x="577188" y="6517268"/>
            <a:ext cx="63697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[</a:t>
            </a:r>
            <a:r>
              <a:rPr lang="ko-KR" alt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그림</a:t>
            </a:r>
            <a:r>
              <a:rPr lang="ko-KR" alt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5-14] delete(20)</a:t>
            </a:r>
            <a:r>
              <a:rPr lang="ko-KR" alt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이</a:t>
            </a:r>
            <a:r>
              <a:rPr lang="ko-KR" alt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수행되는</a:t>
            </a:r>
            <a:r>
              <a:rPr lang="ko-KR" alt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과정</a:t>
            </a:r>
            <a:r>
              <a:rPr 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(case 2)</a:t>
            </a:r>
            <a:endParaRPr 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7244" y="981613"/>
            <a:ext cx="4429125" cy="28575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5045" y="2105235"/>
            <a:ext cx="3838575" cy="2286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1908" y="3049631"/>
            <a:ext cx="3838575" cy="2286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218" y="89828"/>
            <a:ext cx="4076700" cy="2286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7025" y="4474422"/>
            <a:ext cx="4200525" cy="22860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2295" y="4112343"/>
            <a:ext cx="2628900" cy="20955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8905" y="3352837"/>
            <a:ext cx="3124200" cy="22860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6282" y="5289663"/>
            <a:ext cx="3514725" cy="20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9193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3599197" y="5561847"/>
            <a:ext cx="2435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[</a:t>
            </a:r>
            <a:r>
              <a:rPr lang="ko-KR" alt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프로그램</a:t>
            </a:r>
            <a:r>
              <a:rPr lang="ko-KR" alt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5-2] main.py</a:t>
            </a:r>
            <a:endParaRPr 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6291F21-8963-40D2-8418-336D0B6BB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6176"/>
            <a:ext cx="9144000" cy="3925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8724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4E42D26-DA4B-4100-BDAB-25A0E54D68ED}"/>
              </a:ext>
            </a:extLst>
          </p:cNvPr>
          <p:cNvSpPr/>
          <p:nvPr/>
        </p:nvSpPr>
        <p:spPr>
          <a:xfrm>
            <a:off x="2791824" y="1133062"/>
            <a:ext cx="3127779" cy="5143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7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프로그램 수행 결과</a:t>
            </a:r>
            <a:endParaRPr kumimoji="1" 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FA5884E-CA83-4496-9A16-5062113C2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54" y="904427"/>
            <a:ext cx="792000" cy="743007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62571938-0386-44F2-8BBD-C98FE7BD1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5" y="2239590"/>
            <a:ext cx="8960969" cy="256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0125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860114"/>
            <a:ext cx="7886700" cy="503554"/>
          </a:xfrm>
        </p:spPr>
        <p:txBody>
          <a:bodyPr/>
          <a:lstStyle/>
          <a:p>
            <a:r>
              <a:rPr lang="ko-KR" altLang="en-US"/>
              <a:t>수행 시간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2091847"/>
            <a:ext cx="7886700" cy="440039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ko-KR" altLang="ko-KR" sz="2300"/>
              <a:t>이진</a:t>
            </a:r>
            <a:r>
              <a:rPr lang="en-US" altLang="ko-KR" sz="2300"/>
              <a:t> </a:t>
            </a:r>
            <a:r>
              <a:rPr lang="ko-KR" altLang="ko-KR" sz="2300"/>
              <a:t>탐색</a:t>
            </a:r>
            <a:r>
              <a:rPr lang="en-US" altLang="ko-KR" sz="2300"/>
              <a:t> </a:t>
            </a:r>
            <a:r>
              <a:rPr lang="ko-KR" altLang="ko-KR" sz="2300"/>
              <a:t>트리에서 </a:t>
            </a:r>
            <a:r>
              <a:rPr lang="ko-KR" altLang="ko-KR" sz="2300" dirty="0"/>
              <a:t>탐색</a:t>
            </a:r>
            <a:r>
              <a:rPr lang="en-US" altLang="ko-KR" sz="2300" dirty="0"/>
              <a:t>, </a:t>
            </a:r>
            <a:r>
              <a:rPr lang="ko-KR" altLang="ko-KR" sz="2300" dirty="0"/>
              <a:t>삽입</a:t>
            </a:r>
            <a:r>
              <a:rPr lang="en-US" altLang="ko-KR" sz="2300" dirty="0"/>
              <a:t>, </a:t>
            </a:r>
            <a:r>
              <a:rPr lang="ko-KR" altLang="ko-KR" sz="2300" dirty="0"/>
              <a:t>삭제 </a:t>
            </a:r>
            <a:r>
              <a:rPr lang="ko-KR" altLang="ko-KR" sz="2300"/>
              <a:t>연산은 루트에서 </a:t>
            </a:r>
            <a:r>
              <a:rPr lang="ko-KR" altLang="ko-KR" sz="2300" dirty="0"/>
              <a:t>탐색을 시작하여 최악의 경우에 이파리까지 내려가고</a:t>
            </a:r>
            <a:r>
              <a:rPr lang="en-US" altLang="ko-KR" sz="2300" dirty="0"/>
              <a:t>, </a:t>
            </a:r>
            <a:r>
              <a:rPr lang="ko-KR" altLang="ko-KR" sz="2300" dirty="0"/>
              <a:t>삽입과 삭제 연산은 다시 루트까지 </a:t>
            </a:r>
            <a:r>
              <a:rPr lang="ko-KR" altLang="ko-KR" sz="2300"/>
              <a:t>거슬러 올라</a:t>
            </a:r>
            <a:r>
              <a:rPr lang="ko-KR" altLang="en-US" sz="2300"/>
              <a:t>감</a:t>
            </a:r>
            <a:endParaRPr lang="en-US" altLang="ko-KR" sz="2300" dirty="0"/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ko-KR" altLang="ko-KR" sz="2300"/>
              <a:t>트리를 </a:t>
            </a:r>
            <a:r>
              <a:rPr lang="en-US" altLang="ko-KR" sz="2300"/>
              <a:t>1</a:t>
            </a:r>
            <a:r>
              <a:rPr lang="ko-KR" altLang="ko-KR" sz="2300"/>
              <a:t>층 </a:t>
            </a:r>
            <a:r>
              <a:rPr lang="ko-KR" altLang="ko-KR" sz="2300" dirty="0"/>
              <a:t>내려갈 </a:t>
            </a:r>
            <a:r>
              <a:rPr lang="ko-KR" altLang="ko-KR" sz="2300"/>
              <a:t>때는 </a:t>
            </a:r>
            <a:r>
              <a:rPr lang="ko-KR" altLang="en-US" sz="2300"/>
              <a:t>순환 </a:t>
            </a:r>
            <a:r>
              <a:rPr lang="ko-KR" altLang="ko-KR" sz="2300"/>
              <a:t>호출이 </a:t>
            </a:r>
            <a:r>
              <a:rPr lang="ko-KR" altLang="ko-KR" sz="2300" dirty="0"/>
              <a:t>발생하고</a:t>
            </a:r>
            <a:r>
              <a:rPr lang="en-US" altLang="ko-KR" sz="2300"/>
              <a:t>, 1</a:t>
            </a:r>
            <a:r>
              <a:rPr lang="ko-KR" altLang="ko-KR" sz="2300"/>
              <a:t>층을 </a:t>
            </a:r>
            <a:r>
              <a:rPr lang="ko-KR" altLang="ko-KR" sz="2300" dirty="0"/>
              <a:t>올라갈 </a:t>
            </a:r>
            <a:r>
              <a:rPr lang="ko-KR" altLang="ko-KR" sz="2300"/>
              <a:t>때는 </a:t>
            </a:r>
            <a:r>
              <a:rPr lang="ko-KR" altLang="en-US" sz="2300"/>
              <a:t>재연결이</a:t>
            </a:r>
            <a:r>
              <a:rPr lang="ko-KR" altLang="ko-KR" sz="2300"/>
              <a:t> </a:t>
            </a:r>
            <a:r>
              <a:rPr lang="ko-KR" altLang="ko-KR" sz="2300" dirty="0"/>
              <a:t>수행되는데</a:t>
            </a:r>
            <a:r>
              <a:rPr lang="en-US" altLang="ko-KR" sz="2300" dirty="0"/>
              <a:t>, </a:t>
            </a:r>
            <a:r>
              <a:rPr lang="ko-KR" altLang="ko-KR" sz="2300" dirty="0"/>
              <a:t>이들 각각은 </a:t>
            </a:r>
            <a:r>
              <a:rPr lang="en-US" altLang="ko-KR" sz="2300" dirty="0">
                <a:solidFill>
                  <a:srgbClr val="00B0F0"/>
                </a:solidFill>
              </a:rPr>
              <a:t>O(1</a:t>
            </a:r>
            <a:r>
              <a:rPr lang="en-US" altLang="ko-KR" sz="2300">
                <a:solidFill>
                  <a:srgbClr val="00B0F0"/>
                </a:solidFill>
              </a:rPr>
              <a:t>) </a:t>
            </a:r>
            <a:r>
              <a:rPr lang="ko-KR" altLang="ko-KR" sz="2300">
                <a:solidFill>
                  <a:srgbClr val="00B0F0"/>
                </a:solidFill>
              </a:rPr>
              <a:t>시간</a:t>
            </a:r>
            <a:endParaRPr lang="en-US" altLang="ko-KR" sz="2300" dirty="0"/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ko-KR" altLang="en-US" sz="2300"/>
              <a:t>각 </a:t>
            </a:r>
            <a:r>
              <a:rPr lang="ko-KR" altLang="ko-KR" sz="2300"/>
              <a:t>연산의 수행</a:t>
            </a:r>
            <a:r>
              <a:rPr lang="en-US" altLang="ko-KR" sz="2300"/>
              <a:t> </a:t>
            </a:r>
            <a:r>
              <a:rPr lang="ko-KR" altLang="ko-KR" sz="2300"/>
              <a:t>시간은 트리의 </a:t>
            </a:r>
            <a:r>
              <a:rPr lang="ko-KR" altLang="ko-KR" sz="2300" dirty="0">
                <a:solidFill>
                  <a:srgbClr val="00B0F0"/>
                </a:solidFill>
              </a:rPr>
              <a:t>높이</a:t>
            </a:r>
            <a:r>
              <a:rPr lang="en-US" altLang="ko-KR" sz="2300" dirty="0">
                <a:solidFill>
                  <a:srgbClr val="00B0F0"/>
                </a:solidFill>
              </a:rPr>
              <a:t>(h)</a:t>
            </a:r>
            <a:r>
              <a:rPr lang="ko-KR" altLang="ko-KR" sz="2300" dirty="0"/>
              <a:t>에</a:t>
            </a:r>
            <a:r>
              <a:rPr lang="ko-KR" altLang="ko-KR" sz="2300" dirty="0">
                <a:solidFill>
                  <a:srgbClr val="3333FF"/>
                </a:solidFill>
              </a:rPr>
              <a:t> </a:t>
            </a:r>
            <a:r>
              <a:rPr lang="ko-KR" altLang="ko-KR" sz="2300" dirty="0"/>
              <a:t>비례</a:t>
            </a:r>
            <a:r>
              <a:rPr lang="en-US" altLang="ko-KR" sz="2300" dirty="0"/>
              <a:t>,</a:t>
            </a:r>
            <a:r>
              <a:rPr lang="ko-KR" altLang="ko-KR" sz="2300" dirty="0">
                <a:solidFill>
                  <a:srgbClr val="00B0F0"/>
                </a:solidFill>
              </a:rPr>
              <a:t> </a:t>
            </a:r>
            <a:r>
              <a:rPr lang="en-US" altLang="ko-KR" sz="2300" dirty="0">
                <a:solidFill>
                  <a:srgbClr val="00B0F0"/>
                </a:solidFill>
              </a:rPr>
              <a:t>O(h)</a:t>
            </a:r>
            <a:endParaRPr lang="ko-KR" altLang="ko-KR" sz="23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43669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44881" y="949218"/>
            <a:ext cx="791018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n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개의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노드가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있는 이진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탐색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트리의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높이가 가장 낮은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경우는 완전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이진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형태일 때이고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가장 높은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경우는 편향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이진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</a:t>
            </a:r>
            <a:endParaRPr lang="en-US" altLang="ko-KR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342900" indent="-3429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이진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트리의 높이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h:</a:t>
            </a:r>
            <a:endParaRPr lang="ko-KR" altLang="ko-KR" sz="2400" b="1" dirty="0">
              <a:effectLst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765434" y="3056443"/>
            <a:ext cx="3397084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ko-KR" sz="2400" dirty="0">
                <a:latin typeface="Calibri" panose="020F0502020204030204" pitchFamily="34" charset="0"/>
                <a:sym typeface="Symbol" panose="05050102010706020507" pitchFamily="18" charset="2"/>
              </a:rPr>
              <a:t></a:t>
            </a:r>
            <a:r>
              <a:rPr lang="en-US" altLang="ko-KR" sz="2400"/>
              <a:t>log</a:t>
            </a:r>
            <a:r>
              <a:rPr lang="en-US" altLang="ko-KR" sz="2400" baseline="-25000"/>
              <a:t> </a:t>
            </a:r>
            <a:r>
              <a:rPr lang="en-US" altLang="ko-KR" sz="2400"/>
              <a:t>(n+</a:t>
            </a:r>
            <a:r>
              <a:rPr lang="en-US" altLang="ko-KR" sz="2400" dirty="0"/>
              <a:t>1)</a:t>
            </a:r>
            <a:r>
              <a:rPr lang="en-US" altLang="ko-KR" sz="2400" dirty="0">
                <a:latin typeface="Calibri" panose="020F0502020204030204" pitchFamily="34" charset="0"/>
                <a:sym typeface="Symbol" panose="05050102010706020507" pitchFamily="18" charset="2"/>
              </a:rPr>
              <a:t></a:t>
            </a:r>
            <a:r>
              <a:rPr lang="en-US" altLang="ko-KR" sz="2400" dirty="0"/>
              <a:t> </a:t>
            </a:r>
            <a:r>
              <a:rPr lang="en-US" altLang="ko-KR" sz="2400" dirty="0">
                <a:latin typeface="Calibri" panose="020F0502020204030204" pitchFamily="34" charset="0"/>
                <a:sym typeface="Symbol" panose="05050102010706020507" pitchFamily="18" charset="2"/>
              </a:rPr>
              <a:t></a:t>
            </a:r>
            <a:r>
              <a:rPr lang="en-US" altLang="ko-KR" sz="2400" dirty="0"/>
              <a:t> </a:t>
            </a:r>
            <a:r>
              <a:rPr lang="en-US" altLang="ko-KR" sz="2400"/>
              <a:t>log n </a:t>
            </a:r>
            <a:r>
              <a:rPr lang="en-US" altLang="ko-KR" sz="2400" dirty="0"/>
              <a:t>≤ h </a:t>
            </a:r>
            <a:r>
              <a:rPr lang="en-US" altLang="ko-KR" sz="2400"/>
              <a:t>≤ n</a:t>
            </a:r>
            <a:endParaRPr lang="ko-KR" altLang="ko-KR" sz="2400" dirty="0">
              <a:effectLst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544881" y="4182359"/>
            <a:ext cx="801039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Empty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이진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탐색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트리에 랜덤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키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n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개를 삽입</a:t>
            </a:r>
            <a:r>
              <a:rPr lang="ko-KR" altLang="en-US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하면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트리의 높이는 약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1.39 logn</a:t>
            </a:r>
            <a:endParaRPr lang="ko-KR" altLang="ko-KR" sz="2400" b="1" dirty="0">
              <a:solidFill>
                <a:srgbClr val="00B0F0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0633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 dirty="0"/>
              <a:t>5.3 </a:t>
            </a:r>
            <a:r>
              <a:rPr lang="en-US" altLang="ko-KR" dirty="0">
                <a:latin typeface="Consolas" panose="020B0609020204030204" pitchFamily="49" charset="0"/>
              </a:rPr>
              <a:t>AVL</a:t>
            </a:r>
            <a:r>
              <a:rPr lang="ko-KR" altLang="en-US" dirty="0"/>
              <a:t>트리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395663"/>
            <a:ext cx="7886700" cy="2437301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2300" dirty="0"/>
              <a:t>AVL </a:t>
            </a:r>
            <a:r>
              <a:rPr lang="ko-KR" altLang="ko-KR" sz="2300" dirty="0"/>
              <a:t>트리는 트리가 한쪽으로 치우쳐 </a:t>
            </a:r>
            <a:r>
              <a:rPr lang="ko-KR" altLang="ko-KR" sz="2300"/>
              <a:t>자라나는 </a:t>
            </a:r>
            <a:r>
              <a:rPr lang="ko-KR" altLang="en-US" sz="2300"/>
              <a:t>것</a:t>
            </a:r>
            <a:r>
              <a:rPr lang="ko-KR" altLang="ko-KR" sz="2300"/>
              <a:t>을 </a:t>
            </a:r>
            <a:r>
              <a:rPr lang="ko-KR" altLang="ko-KR" sz="2300" dirty="0"/>
              <a:t>방지하여 트리 높이의 균형</a:t>
            </a:r>
            <a:r>
              <a:rPr lang="en-US" altLang="ko-KR" sz="2300" dirty="0"/>
              <a:t>(Balance)</a:t>
            </a:r>
            <a:r>
              <a:rPr lang="ko-KR" altLang="ko-KR" sz="2300"/>
              <a:t>을 유지</a:t>
            </a:r>
            <a:endParaRPr lang="en-US" altLang="ko-KR" sz="2300" dirty="0"/>
          </a:p>
          <a:p>
            <a:pPr>
              <a:lnSpc>
                <a:spcPct val="130000"/>
              </a:lnSpc>
            </a:pPr>
            <a:r>
              <a:rPr lang="ko-KR" altLang="ko-KR" sz="2300" dirty="0"/>
              <a:t>균형</a:t>
            </a:r>
            <a:r>
              <a:rPr lang="en-US" altLang="ko-KR" sz="2300" dirty="0"/>
              <a:t>(Balanced</a:t>
            </a:r>
            <a:r>
              <a:rPr lang="en-US" altLang="ko-KR" sz="2300"/>
              <a:t>) </a:t>
            </a:r>
            <a:r>
              <a:rPr lang="ko-KR" altLang="ko-KR" sz="2300"/>
              <a:t>이진</a:t>
            </a:r>
            <a:r>
              <a:rPr lang="en-US" altLang="ko-KR" sz="2300"/>
              <a:t> </a:t>
            </a:r>
            <a:r>
              <a:rPr lang="ko-KR" altLang="ko-KR" sz="2300"/>
              <a:t>트리</a:t>
            </a:r>
            <a:r>
              <a:rPr lang="en-US" altLang="ko-KR" sz="2300"/>
              <a:t>:</a:t>
            </a:r>
            <a:r>
              <a:rPr lang="ko-KR" altLang="ko-KR" sz="2300"/>
              <a:t> </a:t>
            </a:r>
            <a:r>
              <a:rPr lang="ko-KR" altLang="ko-KR" sz="2300" dirty="0"/>
              <a:t>탐색</a:t>
            </a:r>
            <a:r>
              <a:rPr lang="en-US" altLang="ko-KR" sz="2300" dirty="0"/>
              <a:t>, </a:t>
            </a:r>
            <a:r>
              <a:rPr lang="ko-KR" altLang="ko-KR" sz="2300" dirty="0"/>
              <a:t>삽입</a:t>
            </a:r>
            <a:r>
              <a:rPr lang="en-US" altLang="ko-KR" sz="2300" dirty="0"/>
              <a:t>, </a:t>
            </a:r>
            <a:r>
              <a:rPr lang="ko-KR" altLang="ko-KR" sz="2300" dirty="0"/>
              <a:t>삭제 </a:t>
            </a:r>
            <a:r>
              <a:rPr lang="ko-KR" altLang="ko-KR" sz="2300"/>
              <a:t>연산의 </a:t>
            </a:r>
            <a:r>
              <a:rPr lang="ko-KR" altLang="ko-KR" sz="2300">
                <a:solidFill>
                  <a:srgbClr val="3333FF"/>
                </a:solidFill>
              </a:rPr>
              <a:t>수행</a:t>
            </a:r>
            <a:r>
              <a:rPr lang="en-US" altLang="ko-KR" sz="2300">
                <a:solidFill>
                  <a:srgbClr val="3333FF"/>
                </a:solidFill>
              </a:rPr>
              <a:t> </a:t>
            </a:r>
            <a:r>
              <a:rPr lang="ko-KR" altLang="ko-KR" sz="2300">
                <a:solidFill>
                  <a:srgbClr val="00B0F0"/>
                </a:solidFill>
              </a:rPr>
              <a:t>시간</a:t>
            </a:r>
            <a:r>
              <a:rPr lang="en-US" altLang="ko-KR" sz="2300">
                <a:solidFill>
                  <a:srgbClr val="00B0F0"/>
                </a:solidFill>
              </a:rPr>
              <a:t> </a:t>
            </a:r>
            <a:r>
              <a:rPr lang="en-US" altLang="ko-KR" sz="2300" dirty="0">
                <a:solidFill>
                  <a:srgbClr val="00B0F0"/>
                </a:solidFill>
              </a:rPr>
              <a:t>O</a:t>
            </a:r>
            <a:r>
              <a:rPr lang="en-US" altLang="ko-KR" sz="2300">
                <a:solidFill>
                  <a:srgbClr val="00B0F0"/>
                </a:solidFill>
              </a:rPr>
              <a:t>(logn)</a:t>
            </a:r>
            <a:r>
              <a:rPr lang="ko-KR" altLang="ko-KR" sz="2300" dirty="0">
                <a:solidFill>
                  <a:srgbClr val="00B0F0"/>
                </a:solidFill>
              </a:rPr>
              <a:t>으로 보장</a:t>
            </a:r>
            <a:endParaRPr lang="ko-KR" altLang="en-US" sz="2300" dirty="0">
              <a:solidFill>
                <a:srgbClr val="00B0F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ED93F37-982C-4EE9-AA25-855372359915}"/>
              </a:ext>
            </a:extLst>
          </p:cNvPr>
          <p:cNvSpPr/>
          <p:nvPr/>
        </p:nvSpPr>
        <p:spPr>
          <a:xfrm>
            <a:off x="742949" y="4453682"/>
            <a:ext cx="7947766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R="542925" algn="just">
              <a:spcAft>
                <a:spcPts val="0"/>
              </a:spcAft>
            </a:pPr>
            <a:r>
              <a:rPr lang="en-US" altLang="ko-KR" sz="2400" b="1" dirty="0">
                <a:solidFill>
                  <a:srgbClr val="3333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[</a:t>
            </a:r>
            <a:r>
              <a:rPr lang="ko-KR" altLang="ko-KR" sz="2400" b="1" dirty="0">
                <a:solidFill>
                  <a:srgbClr val="3333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핵심 아이디어</a:t>
            </a:r>
            <a:r>
              <a:rPr lang="en-US" altLang="ko-KR" sz="2400" b="1" dirty="0">
                <a:solidFill>
                  <a:srgbClr val="3333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]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</a:p>
          <a:p>
            <a:pPr marL="354013" marR="542925" algn="just">
              <a:spcAft>
                <a:spcPts val="0"/>
              </a:spcAft>
            </a:pPr>
            <a:r>
              <a:rPr lang="en-US" altLang="ko-KR" sz="2400" b="1">
                <a:solidFill>
                  <a:srgbClr val="339933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AVL </a:t>
            </a:r>
            <a:r>
              <a:rPr lang="ko-KR" altLang="ko-KR" sz="2400" b="1">
                <a:solidFill>
                  <a:srgbClr val="339933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트리는 </a:t>
            </a:r>
            <a:r>
              <a:rPr lang="ko-KR" altLang="ko-KR" sz="2400" b="1" dirty="0">
                <a:solidFill>
                  <a:srgbClr val="339933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삽입이나 삭제로 인해 </a:t>
            </a:r>
            <a:r>
              <a:rPr lang="ko-KR" altLang="ko-KR" sz="2400" b="1">
                <a:solidFill>
                  <a:srgbClr val="339933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균형이 </a:t>
            </a:r>
            <a:r>
              <a:rPr lang="ko-KR" altLang="en-US" sz="2400" b="1">
                <a:solidFill>
                  <a:srgbClr val="339933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어긋나</a:t>
            </a:r>
            <a:r>
              <a:rPr lang="ko-KR" altLang="ko-KR" sz="2400" b="1">
                <a:solidFill>
                  <a:srgbClr val="339933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면 </a:t>
            </a:r>
            <a:r>
              <a:rPr lang="ko-KR" altLang="ko-KR" sz="2400" b="1" dirty="0">
                <a:solidFill>
                  <a:srgbClr val="339933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회전 연산을 통해 트리의 균형을 유지한다</a:t>
            </a:r>
            <a:r>
              <a:rPr lang="en-US" altLang="ko-KR" sz="2400" b="1" dirty="0">
                <a:solidFill>
                  <a:srgbClr val="339933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  <a:endParaRPr lang="ko-KR" altLang="ko-KR" sz="2400" b="1" dirty="0">
              <a:solidFill>
                <a:srgbClr val="339933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F0904C9-C737-4C9C-B240-5A3F2B553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15" y="4072682"/>
            <a:ext cx="4953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5771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852992" y="533465"/>
            <a:ext cx="7678165" cy="15287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40000"/>
              </a:lnSpc>
            </a:pP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986771" y="636781"/>
            <a:ext cx="7922713" cy="13353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542925" algn="just">
              <a:lnSpc>
                <a:spcPct val="120000"/>
              </a:lnSpc>
              <a:spcAft>
                <a:spcPts val="0"/>
              </a:spcAft>
            </a:pPr>
            <a:r>
              <a:rPr lang="en-US" altLang="ko-KR" sz="23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AVL </a:t>
            </a:r>
            <a:r>
              <a:rPr lang="ko-KR" altLang="ko-KR" sz="23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트리는 </a:t>
            </a:r>
            <a:r>
              <a:rPr lang="ko-KR" altLang="ko-KR" sz="23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임의의 노드</a:t>
            </a:r>
            <a:r>
              <a:rPr lang="en-US" altLang="ko-KR" sz="23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x</a:t>
            </a:r>
            <a:r>
              <a:rPr lang="ko-KR" altLang="ko-KR" sz="23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에 대해 </a:t>
            </a:r>
            <a:r>
              <a:rPr lang="en-US" altLang="ko-KR" sz="23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x</a:t>
            </a:r>
            <a:r>
              <a:rPr lang="ko-KR" altLang="ko-KR" sz="23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 왼쪽 </a:t>
            </a:r>
            <a:r>
              <a:rPr lang="ko-KR" altLang="ko-KR" sz="2300" b="1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서브트리의</a:t>
            </a:r>
            <a:r>
              <a:rPr lang="ko-KR" altLang="ko-KR" sz="23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높이와 오른쪽 </a:t>
            </a:r>
            <a:r>
              <a:rPr lang="ko-KR" altLang="ko-KR" sz="2300" b="1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서브트리의</a:t>
            </a:r>
            <a:r>
              <a:rPr lang="ko-KR" altLang="ko-KR" sz="23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높이 차이가 </a:t>
            </a:r>
            <a:r>
              <a:rPr lang="en-US" altLang="ko-KR" sz="23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1</a:t>
            </a:r>
            <a:r>
              <a:rPr lang="ko-KR" altLang="ko-KR" sz="23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을 넘지 </a:t>
            </a:r>
            <a:r>
              <a:rPr lang="ko-KR" altLang="ko-KR" sz="23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않는 이진</a:t>
            </a:r>
            <a:r>
              <a:rPr lang="en-US" altLang="ko-KR" sz="23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3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탐색</a:t>
            </a:r>
            <a:r>
              <a:rPr lang="en-US" altLang="ko-KR" sz="23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3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트리이다</a:t>
            </a:r>
            <a:r>
              <a:rPr lang="en-US" altLang="ko-KR" sz="23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  <a:endParaRPr lang="ko-KR" altLang="ko-KR" sz="2300" b="1" dirty="0">
              <a:effectLst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5" name="그림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979" y="2806447"/>
            <a:ext cx="6336213" cy="160915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직사각형 5"/>
          <p:cNvSpPr/>
          <p:nvPr/>
        </p:nvSpPr>
        <p:spPr>
          <a:xfrm>
            <a:off x="780722" y="4663029"/>
            <a:ext cx="720872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ko-KR" sz="2400" dirty="0"/>
              <a:t>	   (a) 		       (b)		            (c)</a:t>
            </a:r>
            <a:endParaRPr lang="ko-KR" altLang="ko-KR" sz="2400" dirty="0"/>
          </a:p>
          <a:p>
            <a:pPr algn="ctr">
              <a:spcBef>
                <a:spcPts val="2400"/>
              </a:spcBef>
              <a:spcAft>
                <a:spcPts val="0"/>
              </a:spcAft>
            </a:pPr>
            <a:r>
              <a:rPr lang="en-US" altLang="ko-KR" sz="2400"/>
              <a:t>AVL </a:t>
            </a:r>
            <a:r>
              <a:rPr lang="ko-KR" altLang="ko-KR" sz="2400">
                <a:latin typeface="Calibri" panose="020F0502020204030204" pitchFamily="34" charset="0"/>
              </a:rPr>
              <a:t>트리</a:t>
            </a:r>
            <a:r>
              <a:rPr lang="ko-KR" altLang="en-US" sz="2400">
                <a:latin typeface="Calibri" panose="020F0502020204030204" pitchFamily="34" charset="0"/>
              </a:rPr>
              <a:t>는</a:t>
            </a:r>
            <a:r>
              <a:rPr lang="en-US" altLang="ko-KR" sz="2400"/>
              <a:t>?</a:t>
            </a:r>
            <a:endParaRPr lang="ko-KR" altLang="ko-KR" sz="2400" dirty="0">
              <a:effectLst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91" y="558382"/>
            <a:ext cx="557480" cy="56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0427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17270" y="432619"/>
            <a:ext cx="7859812" cy="766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645091" y="625681"/>
            <a:ext cx="77849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rgbClr val="339933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[</a:t>
            </a:r>
            <a:r>
              <a:rPr lang="ko-KR" altLang="ko-KR" sz="2400" b="1" dirty="0">
                <a:solidFill>
                  <a:srgbClr val="339933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정리</a:t>
            </a:r>
            <a:r>
              <a:rPr lang="en-US" altLang="ko-KR" sz="2400" b="1">
                <a:solidFill>
                  <a:srgbClr val="339933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]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n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개의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노드를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가진 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AVL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트리의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높이는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O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(logn)</a:t>
            </a:r>
            <a:endParaRPr lang="ko-KR" altLang="en-US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586232" y="1718367"/>
            <a:ext cx="7784926" cy="1191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60000"/>
              </a:lnSpc>
              <a:spcAft>
                <a:spcPts val="0"/>
              </a:spcAft>
            </a:pP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[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증명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] A(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h) =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높이가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h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인 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AVL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트리를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구성하는 최소의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노드 수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(1) = 1, A(2) = 2, A(3) 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= 4</a:t>
            </a:r>
            <a:endParaRPr lang="ko-KR" altLang="ko-KR" sz="2400" b="1" dirty="0">
              <a:effectLst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8AE17E3-9860-47D5-8466-27861892D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163" y="3429000"/>
            <a:ext cx="7058025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4470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533143" y="1298235"/>
            <a:ext cx="587908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ko-KR" sz="28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28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A(</a:t>
            </a:r>
            <a:r>
              <a:rPr lang="en-US" altLang="ko-KR" sz="2800" b="1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3)</a:t>
            </a:r>
            <a:r>
              <a:rPr lang="ko-KR" altLang="en-US" sz="2800" b="1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</a:t>
            </a:r>
            <a:r>
              <a:rPr lang="ko-KR" altLang="ko-KR" sz="2800" b="1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2800" b="1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점화식</a:t>
            </a:r>
            <a:r>
              <a:rPr lang="ko-KR" altLang="ko-KR" sz="2800" b="1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표현</a:t>
            </a:r>
            <a:endParaRPr lang="ko-KR" altLang="en-US" sz="2800" b="1" dirty="0">
              <a:solidFill>
                <a:srgbClr val="C0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3" name="그림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143" y="2666065"/>
            <a:ext cx="5823811" cy="13686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1102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820454" y="1577661"/>
            <a:ext cx="6770319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A(h) = A(h-1) + A(h-2) + 1, </a:t>
            </a:r>
            <a:r>
              <a:rPr lang="ko-KR" altLang="ko-KR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단</a:t>
            </a:r>
            <a:r>
              <a:rPr lang="en-US" altLang="ko-KR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, A(0)=0, A(1)=1, A(2)=2</a:t>
            </a:r>
            <a:endParaRPr lang="ko-KR" altLang="en-US" sz="2400" dirty="0"/>
          </a:p>
        </p:txBody>
      </p:sp>
      <p:pic>
        <p:nvPicPr>
          <p:cNvPr id="4" name="그림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831" y="2575391"/>
            <a:ext cx="7822504" cy="158325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직사각형 4"/>
          <p:cNvSpPr/>
          <p:nvPr/>
        </p:nvSpPr>
        <p:spPr>
          <a:xfrm>
            <a:off x="2154658" y="4359728"/>
            <a:ext cx="46522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A(h)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와 피보나치 수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F(h)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와의 관계</a:t>
            </a:r>
            <a:endParaRPr lang="ko-KR" altLang="en-US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973822" y="5247290"/>
            <a:ext cx="2603598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sz="2800" dirty="0"/>
              <a:t>A(h) = F(h+2) – 1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9430077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82460" y="695132"/>
            <a:ext cx="787260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피보나치 수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F(h)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Symbol" panose="05050102010706020507" pitchFamily="18" charset="2"/>
              </a:rPr>
              <a:t>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Symbol" panose="05050102010706020507" pitchFamily="18" charset="2"/>
              </a:rPr>
              <a:t></a:t>
            </a:r>
            <a:r>
              <a:rPr lang="en-US" altLang="ko-KR" sz="2400" b="1" baseline="300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h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/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Symbol" panose="05050102010706020507" pitchFamily="18" charset="2"/>
              </a:rPr>
              <a:t>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5,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Symbol" panose="05050102010706020507" pitchFamily="18" charset="2"/>
              </a:rPr>
              <a:t>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= (1+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Symbol" panose="05050102010706020507" pitchFamily="18" charset="2"/>
              </a:rPr>
              <a:t>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5)/2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이므로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</a:p>
          <a:p>
            <a:pPr algn="ctr">
              <a:spcBef>
                <a:spcPts val="2400"/>
              </a:spcBef>
              <a:spcAft>
                <a:spcPts val="0"/>
              </a:spcAft>
            </a:pPr>
            <a:r>
              <a:rPr lang="en-US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A(h) </a:t>
            </a:r>
            <a:r>
              <a:rPr lang="en-US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Symbol" panose="05050102010706020507" pitchFamily="18" charset="2"/>
              </a:rPr>
              <a:t></a:t>
            </a:r>
            <a:r>
              <a:rPr lang="en-US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Symbol" panose="05050102010706020507" pitchFamily="18" charset="2"/>
              </a:rPr>
              <a:t></a:t>
            </a:r>
            <a:r>
              <a:rPr lang="en-US" altLang="ko-KR" sz="2400" b="1" baseline="30000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h+2</a:t>
            </a:r>
            <a:r>
              <a:rPr lang="en-US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/</a:t>
            </a:r>
            <a:r>
              <a:rPr lang="en-US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Symbol" panose="05050102010706020507" pitchFamily="18" charset="2"/>
              </a:rPr>
              <a:t></a:t>
            </a:r>
            <a:r>
              <a:rPr lang="en-US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5–1</a:t>
            </a:r>
          </a:p>
          <a:p>
            <a:pPr algn="just">
              <a:spcAft>
                <a:spcPts val="0"/>
              </a:spcAft>
            </a:pPr>
            <a:endParaRPr lang="en-US" altLang="ko-KR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spcAft>
                <a:spcPts val="0"/>
              </a:spcAft>
            </a:pP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A(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h) =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높이가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h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인 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AVL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트리에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있는 최소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노드 수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</a:p>
          <a:p>
            <a:pPr>
              <a:spcAft>
                <a:spcPts val="0"/>
              </a:spcAft>
            </a:pP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노드 수가 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n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인 임의의 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AVL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트리의 최대 높이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A(h) 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≤ n</a:t>
            </a:r>
            <a:endParaRPr lang="ko-KR" altLang="ko-KR" sz="2400" b="1" dirty="0">
              <a:effectLst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753408" y="3799439"/>
            <a:ext cx="6485351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lang="en-US" altLang="ko-KR" sz="2400" dirty="0"/>
              <a:t>A(h) </a:t>
            </a:r>
            <a:r>
              <a:rPr lang="en-US" altLang="ko-KR" sz="2400" dirty="0">
                <a:latin typeface="Calibri" panose="020F0502020204030204" pitchFamily="34" charset="0"/>
                <a:sym typeface="Symbol" panose="05050102010706020507" pitchFamily="18" charset="2"/>
              </a:rPr>
              <a:t></a:t>
            </a:r>
            <a:r>
              <a:rPr lang="en-US" altLang="ko-KR" sz="2400" dirty="0"/>
              <a:t> </a:t>
            </a:r>
            <a:r>
              <a:rPr lang="en-US" altLang="ko-KR" sz="2400" dirty="0">
                <a:latin typeface="Calibri" panose="020F0502020204030204" pitchFamily="34" charset="0"/>
                <a:sym typeface="Symbol" panose="05050102010706020507" pitchFamily="18" charset="2"/>
              </a:rPr>
              <a:t></a:t>
            </a:r>
            <a:r>
              <a:rPr lang="en-US" altLang="ko-KR" sz="2400" b="1" baseline="30000" dirty="0"/>
              <a:t>h</a:t>
            </a:r>
            <a:r>
              <a:rPr lang="en-US" altLang="ko-KR" sz="2400" baseline="30000" dirty="0"/>
              <a:t>+2</a:t>
            </a:r>
            <a:r>
              <a:rPr lang="en-US" altLang="ko-KR" sz="2400" dirty="0"/>
              <a:t>/</a:t>
            </a:r>
            <a:r>
              <a:rPr lang="en-US" altLang="ko-KR" sz="2400" b="1" dirty="0">
                <a:latin typeface="Calibri" panose="020F0502020204030204" pitchFamily="34" charset="0"/>
                <a:sym typeface="Symbol" panose="05050102010706020507" pitchFamily="18" charset="2"/>
              </a:rPr>
              <a:t></a:t>
            </a:r>
            <a:r>
              <a:rPr lang="en-US" altLang="ko-KR" sz="2400" dirty="0"/>
              <a:t>5 – 1  </a:t>
            </a:r>
            <a:r>
              <a:rPr lang="en-US" altLang="ko-KR" sz="2400"/>
              <a:t>≤  n</a:t>
            </a:r>
            <a:endParaRPr lang="ko-KR" altLang="ko-KR" sz="2400" dirty="0"/>
          </a:p>
          <a:p>
            <a:pPr>
              <a:spcAft>
                <a:spcPts val="1800"/>
              </a:spcAft>
            </a:pPr>
            <a:r>
              <a:rPr lang="en-US" altLang="ko-KR" sz="2400" dirty="0">
                <a:latin typeface="Calibri" panose="020F0502020204030204" pitchFamily="34" charset="0"/>
                <a:sym typeface="Symbol" panose="05050102010706020507" pitchFamily="18" charset="2"/>
              </a:rPr>
              <a:t></a:t>
            </a:r>
            <a:r>
              <a:rPr lang="en-US" altLang="ko-KR" sz="2400" b="1" baseline="30000" dirty="0"/>
              <a:t>h</a:t>
            </a:r>
            <a:r>
              <a:rPr lang="en-US" altLang="ko-KR" sz="2400" baseline="30000" dirty="0"/>
              <a:t>+2</a:t>
            </a:r>
            <a:r>
              <a:rPr lang="en-US" altLang="ko-KR" sz="2400" dirty="0"/>
              <a:t>  ≤ </a:t>
            </a:r>
            <a:r>
              <a:rPr lang="en-US" altLang="ko-KR" sz="2400" b="1" dirty="0">
                <a:latin typeface="Calibri" panose="020F0502020204030204" pitchFamily="34" charset="0"/>
                <a:sym typeface="Symbol" panose="05050102010706020507" pitchFamily="18" charset="2"/>
              </a:rPr>
              <a:t></a:t>
            </a:r>
            <a:r>
              <a:rPr lang="en-US" altLang="ko-KR" sz="2400"/>
              <a:t>5 (n </a:t>
            </a:r>
            <a:r>
              <a:rPr lang="en-US" altLang="ko-KR" sz="2400" dirty="0"/>
              <a:t>+ 1)</a:t>
            </a:r>
            <a:endParaRPr lang="ko-KR" altLang="ko-KR" sz="2400" dirty="0"/>
          </a:p>
          <a:p>
            <a:pPr>
              <a:spcAft>
                <a:spcPts val="1800"/>
              </a:spcAft>
            </a:pPr>
            <a:r>
              <a:rPr lang="en-US" altLang="ko-KR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h  ≤  log</a:t>
            </a:r>
            <a:r>
              <a:rPr lang="en-US" altLang="ko-KR" sz="2400" baseline="-25000" dirty="0">
                <a:latin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  <a:r>
              <a:rPr lang="en-US" altLang="ko-KR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altLang="ko-KR" sz="2400" b="1" dirty="0">
                <a:latin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</a:t>
            </a:r>
            <a:r>
              <a:rPr lang="en-US" altLang="ko-KR" sz="2400">
                <a:latin typeface="Calibri" panose="020F0502020204030204" pitchFamily="34" charset="0"/>
                <a:cs typeface="Times New Roman" panose="02020603050405020304" pitchFamily="18" charset="0"/>
              </a:rPr>
              <a:t>5(n+</a:t>
            </a:r>
            <a:r>
              <a:rPr lang="en-US" altLang="ko-KR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1)) – 2 </a:t>
            </a:r>
            <a:r>
              <a:rPr lang="en-US" altLang="ko-KR" sz="2400">
                <a:latin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</a:t>
            </a:r>
            <a:r>
              <a:rPr lang="en-US" altLang="ko-KR" sz="2400">
                <a:latin typeface="Calibri" panose="020F0502020204030204" pitchFamily="34" charset="0"/>
                <a:cs typeface="Times New Roman" panose="02020603050405020304" pitchFamily="18" charset="0"/>
              </a:rPr>
              <a:t> 1.44logn </a:t>
            </a:r>
            <a:r>
              <a:rPr lang="en-US" altLang="ko-KR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en-US" altLang="ko-KR" sz="2400" dirty="0">
                <a:solidFill>
                  <a:srgbClr val="00B0F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altLang="ko-KR" sz="2400">
                <a:solidFill>
                  <a:srgbClr val="00B0F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(logn) </a:t>
            </a:r>
            <a:endParaRPr lang="ko-KR" altLang="en-US" sz="2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0607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/>
              <a:t>5.3.1</a:t>
            </a:r>
            <a:r>
              <a:rPr lang="en-US" altLang="ko-KR">
                <a:latin typeface="Consolas" panose="020B0609020204030204" pitchFamily="49" charset="0"/>
              </a:rPr>
              <a:t> </a:t>
            </a:r>
            <a:r>
              <a:rPr lang="en-US" altLang="ko-KR"/>
              <a:t>AVL</a:t>
            </a:r>
            <a:r>
              <a:rPr lang="en-US" altLang="ko-KR">
                <a:latin typeface="Consolas" panose="020B0609020204030204" pitchFamily="49" charset="0"/>
              </a:rPr>
              <a:t> </a:t>
            </a:r>
            <a:r>
              <a:rPr lang="ko-KR" altLang="ko-KR"/>
              <a:t>트리의 회전</a:t>
            </a:r>
            <a:r>
              <a:rPr lang="en-US" altLang="ko-KR"/>
              <a:t> </a:t>
            </a:r>
            <a:r>
              <a:rPr lang="ko-KR" altLang="ko-KR"/>
              <a:t>연산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877961"/>
            <a:ext cx="7886700" cy="2684207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ko-KR" sz="2400"/>
              <a:t>AVL </a:t>
            </a:r>
            <a:r>
              <a:rPr lang="ko-KR" altLang="ko-KR" sz="2400"/>
              <a:t>트리에서 </a:t>
            </a:r>
            <a:r>
              <a:rPr lang="ko-KR" altLang="ko-KR" sz="2400" dirty="0"/>
              <a:t>삽입 또는 삭제 연산을 수행할 때 트리의 균형을 유지하기 위해</a:t>
            </a:r>
            <a:r>
              <a:rPr lang="en-US" altLang="ko-KR" sz="2400" dirty="0"/>
              <a:t> LL-</a:t>
            </a:r>
            <a:r>
              <a:rPr lang="ko-KR" altLang="ko-KR" sz="2400" dirty="0"/>
              <a:t>회전</a:t>
            </a:r>
            <a:r>
              <a:rPr lang="en-US" altLang="ko-KR" sz="2400" dirty="0"/>
              <a:t>, RR-</a:t>
            </a:r>
            <a:r>
              <a:rPr lang="ko-KR" altLang="ko-KR" sz="2400" dirty="0"/>
              <a:t>회전</a:t>
            </a:r>
            <a:r>
              <a:rPr lang="en-US" altLang="ko-KR" sz="2400" dirty="0"/>
              <a:t>, LR-</a:t>
            </a:r>
            <a:r>
              <a:rPr lang="ko-KR" altLang="ko-KR" sz="2400" dirty="0"/>
              <a:t>회전</a:t>
            </a:r>
            <a:r>
              <a:rPr lang="en-US" altLang="ko-KR" sz="2400" dirty="0"/>
              <a:t>, </a:t>
            </a:r>
            <a:r>
              <a:rPr lang="en-US" altLang="ko-KR" sz="2400"/>
              <a:t>RL-</a:t>
            </a:r>
            <a:r>
              <a:rPr lang="ko-KR" altLang="ko-KR" sz="2400"/>
              <a:t>회전</a:t>
            </a:r>
            <a:r>
              <a:rPr lang="en-US" altLang="ko-KR" sz="2400"/>
              <a:t> </a:t>
            </a:r>
            <a:r>
              <a:rPr lang="ko-KR" altLang="ko-KR" sz="2400"/>
              <a:t>연산 </a:t>
            </a:r>
            <a:r>
              <a:rPr lang="ko-KR" altLang="ko-KR" sz="2400" dirty="0"/>
              <a:t>사용</a:t>
            </a:r>
            <a:endParaRPr lang="en-US" altLang="ko-KR" sz="24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ko-KR" altLang="ko-KR" sz="2400"/>
              <a:t>회전</a:t>
            </a:r>
            <a:r>
              <a:rPr lang="en-US" altLang="ko-KR" sz="2400"/>
              <a:t> </a:t>
            </a:r>
            <a:r>
              <a:rPr lang="ko-KR" altLang="ko-KR" sz="2400"/>
              <a:t>연산은 </a:t>
            </a:r>
            <a:r>
              <a:rPr lang="en-US" altLang="ko-KR" sz="2400"/>
              <a:t>2</a:t>
            </a:r>
            <a:r>
              <a:rPr lang="ko-KR" altLang="ko-KR" sz="2400"/>
              <a:t>개의 </a:t>
            </a:r>
            <a:r>
              <a:rPr lang="ko-KR" altLang="ko-KR" sz="2400" dirty="0"/>
              <a:t>기본적인 연산으로 구현</a:t>
            </a:r>
            <a:r>
              <a:rPr lang="en-US" altLang="ko-KR" sz="2400" dirty="0"/>
              <a:t> 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ko-KR" sz="2200"/>
              <a:t>rotate_right(), rotate_left()</a:t>
            </a:r>
            <a:endParaRPr lang="ko-KR" altLang="en-US" sz="2200" dirty="0"/>
          </a:p>
        </p:txBody>
      </p:sp>
    </p:spTree>
    <p:extLst>
      <p:ext uri="{BB962C8B-B14F-4D97-AF65-F5344CB8AC3E}">
        <p14:creationId xmlns:p14="http://schemas.microsoft.com/office/powerpoint/2010/main" val="18105770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749300" y="4230128"/>
            <a:ext cx="4587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  <a:sym typeface="Wingdings 2"/>
              </a:rPr>
              <a:t></a:t>
            </a:r>
            <a:endParaRPr lang="en-US" sz="2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846093" y="3622332"/>
            <a:ext cx="4587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  <a:sym typeface="Wingdings 2"/>
              </a:rPr>
              <a:t></a:t>
            </a:r>
            <a:endParaRPr lang="en-US" sz="2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069476" y="3132362"/>
            <a:ext cx="4587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6600"/>
                </a:solidFill>
                <a:latin typeface="Calibri" panose="020F0502020204030204" pitchFamily="34" charset="0"/>
                <a:cs typeface="Times New Roman" panose="02020603050405020304" pitchFamily="18" charset="0"/>
                <a:sym typeface="Wingdings 2"/>
              </a:rPr>
              <a:t></a:t>
            </a:r>
            <a:endParaRPr lang="en-US" sz="2400" dirty="0">
              <a:solidFill>
                <a:srgbClr val="006600"/>
              </a:solidFill>
              <a:latin typeface="Calibri" panose="020F0502020204030204" pitchFamily="34" charset="0"/>
            </a:endParaRPr>
          </a:p>
        </p:txBody>
      </p:sp>
      <p:cxnSp>
        <p:nvCxnSpPr>
          <p:cNvPr id="8" name="직선 연결선 7"/>
          <p:cNvCxnSpPr>
            <a:endCxn id="21" idx="0"/>
          </p:cNvCxnSpPr>
          <p:nvPr/>
        </p:nvCxnSpPr>
        <p:spPr>
          <a:xfrm>
            <a:off x="1929472" y="4459038"/>
            <a:ext cx="456833" cy="44715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타원 10"/>
          <p:cNvSpPr/>
          <p:nvPr/>
        </p:nvSpPr>
        <p:spPr>
          <a:xfrm>
            <a:off x="2429104" y="3580904"/>
            <a:ext cx="432000" cy="432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Calibri" panose="020F050202020403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79000" y="3626551"/>
            <a:ext cx="527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70</a:t>
            </a:r>
          </a:p>
        </p:txBody>
      </p:sp>
      <p:cxnSp>
        <p:nvCxnSpPr>
          <p:cNvPr id="13" name="직선 연결선 12"/>
          <p:cNvCxnSpPr/>
          <p:nvPr/>
        </p:nvCxnSpPr>
        <p:spPr>
          <a:xfrm flipH="1">
            <a:off x="1200937" y="4459038"/>
            <a:ext cx="423065" cy="4584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2816320" y="3943923"/>
            <a:ext cx="452982" cy="36410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flipH="1">
            <a:off x="1946380" y="3917988"/>
            <a:ext cx="519079" cy="256268"/>
          </a:xfrm>
          <a:prstGeom prst="line">
            <a:avLst/>
          </a:prstGeom>
          <a:ln w="9525">
            <a:solidFill>
              <a:srgbClr val="0505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 flipH="1">
            <a:off x="2649368" y="3256607"/>
            <a:ext cx="0" cy="324000"/>
          </a:xfrm>
          <a:prstGeom prst="line">
            <a:avLst/>
          </a:prstGeom>
          <a:ln w="9525">
            <a:solidFill>
              <a:srgbClr val="0505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이등변 삼각형 17"/>
          <p:cNvSpPr/>
          <p:nvPr/>
        </p:nvSpPr>
        <p:spPr>
          <a:xfrm>
            <a:off x="575018" y="4906196"/>
            <a:ext cx="1227926" cy="1039898"/>
          </a:xfrm>
          <a:prstGeom prst="triangle">
            <a:avLst/>
          </a:prstGeom>
          <a:solidFill>
            <a:srgbClr val="FFFF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83260" y="5320169"/>
            <a:ext cx="588723" cy="461665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2400" baseline="-25000" dirty="0" err="1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1</a:t>
            </a:r>
            <a:endParaRPr lang="en-US" sz="2400" baseline="-250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이등변 삼각형 20"/>
          <p:cNvSpPr/>
          <p:nvPr/>
        </p:nvSpPr>
        <p:spPr>
          <a:xfrm>
            <a:off x="1850476" y="4906196"/>
            <a:ext cx="1071658" cy="1039900"/>
          </a:xfrm>
          <a:prstGeom prst="triangl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140336" y="5279875"/>
            <a:ext cx="513801" cy="461666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2400" baseline="-25000" dirty="0" err="1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2</a:t>
            </a:r>
            <a:endParaRPr lang="en-US" sz="2400" baseline="-250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" name="이등변 삼각형 23"/>
          <p:cNvSpPr/>
          <p:nvPr/>
        </p:nvSpPr>
        <p:spPr>
          <a:xfrm>
            <a:off x="2655339" y="4286055"/>
            <a:ext cx="1227926" cy="789500"/>
          </a:xfrm>
          <a:prstGeom prst="triangle">
            <a:avLst/>
          </a:prstGeom>
          <a:solidFill>
            <a:srgbClr val="FF99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969520" y="4565617"/>
            <a:ext cx="588723" cy="461665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2400" baseline="-25000" dirty="0" err="1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3</a:t>
            </a:r>
            <a:endParaRPr lang="en-US" sz="2400" baseline="-250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2802477" y="3341347"/>
            <a:ext cx="27223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99"/>
                </a:solidFill>
                <a:latin typeface="Calibri" panose="020F0502020204030204" pitchFamily="34" charset="0"/>
                <a:cs typeface="Consolas" panose="020B0609020204030204" pitchFamily="49" charset="0"/>
              </a:rPr>
              <a:t>n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1507342" y="3656229"/>
            <a:ext cx="5052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  <a:sym typeface="Wingdings 2"/>
              </a:rPr>
              <a:t></a:t>
            </a:r>
            <a:endParaRPr lang="en-US" sz="28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29" name="직선 연결선 28"/>
          <p:cNvCxnSpPr/>
          <p:nvPr/>
        </p:nvCxnSpPr>
        <p:spPr>
          <a:xfrm flipH="1">
            <a:off x="6818343" y="4484123"/>
            <a:ext cx="469516" cy="303302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타원 29"/>
          <p:cNvSpPr/>
          <p:nvPr/>
        </p:nvSpPr>
        <p:spPr>
          <a:xfrm>
            <a:off x="6248371" y="3562267"/>
            <a:ext cx="432000" cy="432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223319" y="3607914"/>
            <a:ext cx="486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9082" y="4160164"/>
            <a:ext cx="4597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70</a:t>
            </a:r>
          </a:p>
        </p:txBody>
      </p:sp>
      <p:cxnSp>
        <p:nvCxnSpPr>
          <p:cNvPr id="34" name="직선 연결선 33"/>
          <p:cNvCxnSpPr/>
          <p:nvPr/>
        </p:nvCxnSpPr>
        <p:spPr>
          <a:xfrm flipH="1">
            <a:off x="5425216" y="3905024"/>
            <a:ext cx="915105" cy="4549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>
            <a:endCxn id="39" idx="0"/>
          </p:cNvCxnSpPr>
          <p:nvPr/>
        </p:nvCxnSpPr>
        <p:spPr>
          <a:xfrm>
            <a:off x="7618820" y="4455932"/>
            <a:ext cx="595488" cy="34051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 flipH="1" flipV="1">
            <a:off x="6646965" y="3912243"/>
            <a:ext cx="657909" cy="265539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이등변 삼각형 36"/>
          <p:cNvSpPr/>
          <p:nvPr/>
        </p:nvSpPr>
        <p:spPr>
          <a:xfrm>
            <a:off x="6204379" y="4778280"/>
            <a:ext cx="1227926" cy="789500"/>
          </a:xfrm>
          <a:prstGeom prst="triangl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8" name="이등변 삼각형 37"/>
          <p:cNvSpPr/>
          <p:nvPr/>
        </p:nvSpPr>
        <p:spPr>
          <a:xfrm>
            <a:off x="4806453" y="4373452"/>
            <a:ext cx="1227926" cy="1039898"/>
          </a:xfrm>
          <a:prstGeom prst="triangle">
            <a:avLst/>
          </a:prstGeom>
          <a:solidFill>
            <a:srgbClr val="FFFF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9" name="이등변 삼각형 38"/>
          <p:cNvSpPr/>
          <p:nvPr/>
        </p:nvSpPr>
        <p:spPr>
          <a:xfrm>
            <a:off x="7600345" y="4796449"/>
            <a:ext cx="1227926" cy="789500"/>
          </a:xfrm>
          <a:prstGeom prst="triangle">
            <a:avLst/>
          </a:prstGeom>
          <a:solidFill>
            <a:srgbClr val="FF99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cxnSp>
        <p:nvCxnSpPr>
          <p:cNvPr id="40" name="직선 연결선 39"/>
          <p:cNvCxnSpPr/>
          <p:nvPr/>
        </p:nvCxnSpPr>
        <p:spPr>
          <a:xfrm flipH="1">
            <a:off x="6464371" y="3237970"/>
            <a:ext cx="0" cy="32400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114695" y="4787425"/>
            <a:ext cx="588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2400" baseline="-25000" dirty="0" err="1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1</a:t>
            </a:r>
            <a:endParaRPr lang="en-US" sz="2400" baseline="-250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536506" y="5061980"/>
            <a:ext cx="588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2400" baseline="-25000" dirty="0" err="1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2</a:t>
            </a:r>
            <a:endParaRPr lang="en-US" sz="2400" baseline="-250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916564" y="5075555"/>
            <a:ext cx="588723" cy="461665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2400" baseline="-25000" dirty="0" err="1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3</a:t>
            </a:r>
            <a:endParaRPr lang="en-US" sz="2400" baseline="-250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5882769" y="3505704"/>
            <a:ext cx="27223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99"/>
                </a:solidFill>
                <a:latin typeface="Calibri" panose="020F0502020204030204" pitchFamily="34" charset="0"/>
                <a:cs typeface="Consolas" panose="020B0609020204030204" pitchFamily="49" charset="0"/>
              </a:rPr>
              <a:t>x</a:t>
            </a:r>
          </a:p>
        </p:txBody>
      </p:sp>
      <p:sp>
        <p:nvSpPr>
          <p:cNvPr id="45" name="직사각형 44"/>
          <p:cNvSpPr/>
          <p:nvPr/>
        </p:nvSpPr>
        <p:spPr>
          <a:xfrm>
            <a:off x="7660054" y="3977246"/>
            <a:ext cx="27223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99"/>
                </a:solidFill>
                <a:latin typeface="Calibri" panose="020F0502020204030204" pitchFamily="34" charset="0"/>
                <a:cs typeface="Consolas" panose="020B0609020204030204" pitchFamily="49" charset="0"/>
              </a:rPr>
              <a:t>n</a:t>
            </a:r>
          </a:p>
        </p:txBody>
      </p:sp>
      <p:sp>
        <p:nvSpPr>
          <p:cNvPr id="46" name="오른쪽 화살표 45"/>
          <p:cNvSpPr/>
          <p:nvPr/>
        </p:nvSpPr>
        <p:spPr>
          <a:xfrm>
            <a:off x="4271375" y="3892051"/>
            <a:ext cx="514076" cy="493927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5810944" y="2790224"/>
            <a:ext cx="13533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onsolas" panose="020B0609020204030204" pitchFamily="49" charset="0"/>
              </a:rPr>
              <a:t>n = </a:t>
            </a:r>
            <a:r>
              <a:rPr lang="en-US" dirty="0">
                <a:solidFill>
                  <a:srgbClr val="000099"/>
                </a:solidFill>
                <a:latin typeface="Calibri" panose="020F0502020204030204" pitchFamily="34" charset="0"/>
                <a:cs typeface="Consolas" panose="020B0609020204030204" pitchFamily="49" charset="0"/>
              </a:rPr>
              <a:t>return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onsolas" panose="020B0609020204030204" pitchFamily="49" charset="0"/>
              </a:rPr>
              <a:t>x</a:t>
            </a:r>
          </a:p>
        </p:txBody>
      </p:sp>
      <p:sp>
        <p:nvSpPr>
          <p:cNvPr id="49" name="타원 48"/>
          <p:cNvSpPr/>
          <p:nvPr/>
        </p:nvSpPr>
        <p:spPr>
          <a:xfrm>
            <a:off x="7236344" y="4117480"/>
            <a:ext cx="432000" cy="432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222541" y="4159212"/>
            <a:ext cx="486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70</a:t>
            </a:r>
          </a:p>
        </p:txBody>
      </p:sp>
      <p:sp>
        <p:nvSpPr>
          <p:cNvPr id="52" name="타원 51"/>
          <p:cNvSpPr/>
          <p:nvPr/>
        </p:nvSpPr>
        <p:spPr>
          <a:xfrm>
            <a:off x="1553226" y="4101987"/>
            <a:ext cx="432000" cy="432000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528174" y="4147634"/>
            <a:ext cx="486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50</a:t>
            </a:r>
          </a:p>
        </p:txBody>
      </p:sp>
      <p:sp>
        <p:nvSpPr>
          <p:cNvPr id="54" name="직사각형 53"/>
          <p:cNvSpPr/>
          <p:nvPr/>
        </p:nvSpPr>
        <p:spPr>
          <a:xfrm>
            <a:off x="1187624" y="4045424"/>
            <a:ext cx="27223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99"/>
                </a:solidFill>
                <a:latin typeface="Calibri" panose="020F0502020204030204" pitchFamily="34" charset="0"/>
                <a:cs typeface="Consolas" panose="020B0609020204030204" pitchFamily="49" charset="0"/>
              </a:rPr>
              <a:t>x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3465719" y="6309199"/>
            <a:ext cx="269144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[</a:t>
            </a:r>
            <a:r>
              <a:rPr lang="ko-KR" altLang="en-US" sz="2000" dirty="0">
                <a:solidFill>
                  <a:srgbClr val="000000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그림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5-20] rotate_right</a:t>
            </a:r>
            <a:endParaRPr lang="en-US" sz="2000" dirty="0">
              <a:solidFill>
                <a:srgbClr val="00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78" y="571070"/>
            <a:ext cx="8701493" cy="198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6289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379077" y="4141197"/>
            <a:ext cx="505267" cy="523220"/>
          </a:xfrm>
          <a:prstGeom prst="rect">
            <a:avLst/>
          </a:prstGeom>
          <a:ln w="12700">
            <a:noFill/>
          </a:ln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  <a:sym typeface="Wingdings 2"/>
              </a:rPr>
              <a:t></a:t>
            </a:r>
            <a:endParaRPr lang="en-US" sz="28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462393" y="4463424"/>
            <a:ext cx="458780" cy="461665"/>
          </a:xfrm>
          <a:prstGeom prst="rect">
            <a:avLst/>
          </a:prstGeom>
          <a:ln w="12700">
            <a:noFill/>
          </a:ln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  <a:sym typeface="Wingdings 2"/>
              </a:rPr>
              <a:t></a:t>
            </a:r>
            <a:endParaRPr lang="en-US" sz="2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324552" y="3729442"/>
            <a:ext cx="458780" cy="461665"/>
          </a:xfrm>
          <a:prstGeom prst="rect">
            <a:avLst/>
          </a:prstGeom>
          <a:ln w="12700">
            <a:noFill/>
          </a:ln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  <a:sym typeface="Wingdings 2"/>
              </a:rPr>
              <a:t></a:t>
            </a:r>
            <a:endParaRPr lang="en-US" sz="2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7016312" y="3307844"/>
            <a:ext cx="458780" cy="461665"/>
          </a:xfrm>
          <a:prstGeom prst="rect">
            <a:avLst/>
          </a:prstGeom>
          <a:ln w="38100">
            <a:noFill/>
          </a:ln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6600"/>
                </a:solidFill>
                <a:latin typeface="Calibri" panose="020F0502020204030204" pitchFamily="34" charset="0"/>
                <a:cs typeface="Times New Roman" panose="02020603050405020304" pitchFamily="18" charset="0"/>
                <a:sym typeface="Wingdings 2"/>
              </a:rPr>
              <a:t></a:t>
            </a:r>
            <a:endParaRPr lang="en-US" sz="2400" dirty="0">
              <a:solidFill>
                <a:srgbClr val="006600"/>
              </a:solidFill>
              <a:latin typeface="Calibri" panose="020F0502020204030204" pitchFamily="34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6500311" y="2873999"/>
            <a:ext cx="1539889" cy="400110"/>
          </a:xfrm>
          <a:prstGeom prst="rect">
            <a:avLst/>
          </a:prstGeom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cs typeface="Consolas" panose="020B0609020204030204" pitchFamily="49" charset="0"/>
              </a:rPr>
              <a:t>n =</a:t>
            </a:r>
            <a:r>
              <a:rPr lang="en-US" sz="2000" dirty="0">
                <a:solidFill>
                  <a:srgbClr val="3333FF"/>
                </a:solidFill>
                <a:latin typeface="Calibri" panose="020F0502020204030204" pitchFamily="34" charset="0"/>
                <a:cs typeface="Consolas" panose="020B0609020204030204" pitchFamily="49" charset="0"/>
              </a:rPr>
              <a:t> return</a:t>
            </a:r>
            <a:r>
              <a:rPr lang="en-US" sz="2000" dirty="0">
                <a:solidFill>
                  <a:srgbClr val="000099"/>
                </a:solidFill>
                <a:latin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cs typeface="Consolas" panose="020B0609020204030204" pitchFamily="49" charset="0"/>
              </a:rPr>
              <a:t>x</a:t>
            </a:r>
          </a:p>
        </p:txBody>
      </p:sp>
      <p:cxnSp>
        <p:nvCxnSpPr>
          <p:cNvPr id="10" name="직선 연결선 9"/>
          <p:cNvCxnSpPr/>
          <p:nvPr/>
        </p:nvCxnSpPr>
        <p:spPr>
          <a:xfrm flipH="1">
            <a:off x="2459294" y="4582329"/>
            <a:ext cx="497371" cy="30875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타원 10"/>
          <p:cNvSpPr/>
          <p:nvPr/>
        </p:nvSpPr>
        <p:spPr>
          <a:xfrm>
            <a:off x="1889323" y="3665923"/>
            <a:ext cx="432000" cy="432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54562" y="3688597"/>
            <a:ext cx="486141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50</a:t>
            </a:r>
          </a:p>
        </p:txBody>
      </p:sp>
      <p:cxnSp>
        <p:nvCxnSpPr>
          <p:cNvPr id="15" name="직선 연결선 14"/>
          <p:cNvCxnSpPr>
            <a:stCxn id="11" idx="3"/>
          </p:cNvCxnSpPr>
          <p:nvPr/>
        </p:nvCxnSpPr>
        <p:spPr>
          <a:xfrm flipH="1">
            <a:off x="1037483" y="4034658"/>
            <a:ext cx="915105" cy="45497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>
            <a:endCxn id="20" idx="0"/>
          </p:cNvCxnSpPr>
          <p:nvPr/>
        </p:nvCxnSpPr>
        <p:spPr>
          <a:xfrm>
            <a:off x="3320971" y="4517832"/>
            <a:ext cx="452982" cy="3641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 flipH="1" flipV="1">
            <a:off x="2286040" y="3994966"/>
            <a:ext cx="630617" cy="28048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이등변 삼각형 17"/>
          <p:cNvSpPr/>
          <p:nvPr/>
        </p:nvSpPr>
        <p:spPr>
          <a:xfrm>
            <a:off x="1845331" y="4881936"/>
            <a:ext cx="1227926" cy="789500"/>
          </a:xfrm>
          <a:prstGeom prst="triangl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이등변 삼각형 18"/>
          <p:cNvSpPr/>
          <p:nvPr/>
        </p:nvSpPr>
        <p:spPr>
          <a:xfrm>
            <a:off x="447405" y="4477108"/>
            <a:ext cx="1227926" cy="1039898"/>
          </a:xfrm>
          <a:prstGeom prst="triangle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이등변 삼각형 19"/>
          <p:cNvSpPr/>
          <p:nvPr/>
        </p:nvSpPr>
        <p:spPr>
          <a:xfrm>
            <a:off x="3159990" y="4881936"/>
            <a:ext cx="1227926" cy="789500"/>
          </a:xfrm>
          <a:prstGeom prst="triangle">
            <a:avLst/>
          </a:prstGeom>
          <a:solidFill>
            <a:srgbClr val="FF99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cxnSp>
        <p:nvCxnSpPr>
          <p:cNvPr id="21" name="직선 연결선 20"/>
          <p:cNvCxnSpPr>
            <a:endCxn id="11" idx="0"/>
          </p:cNvCxnSpPr>
          <p:nvPr/>
        </p:nvCxnSpPr>
        <p:spPr>
          <a:xfrm flipH="1">
            <a:off x="2105323" y="3278996"/>
            <a:ext cx="0" cy="38692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55647" y="4891081"/>
            <a:ext cx="588723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2400" baseline="-25000" dirty="0" err="1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1</a:t>
            </a:r>
            <a:endParaRPr lang="en-US" sz="2400" baseline="-250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77458" y="5165636"/>
            <a:ext cx="588723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2400" baseline="-25000" dirty="0" err="1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2</a:t>
            </a:r>
            <a:endParaRPr lang="en-US" sz="2400" baseline="-250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474171" y="5161498"/>
            <a:ext cx="588723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2400" baseline="-25000" dirty="0" err="1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3</a:t>
            </a:r>
            <a:endParaRPr lang="en-US" sz="2400" baseline="-250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2962443" y="3821057"/>
            <a:ext cx="272234" cy="461665"/>
          </a:xfrm>
          <a:prstGeom prst="rect">
            <a:avLst/>
          </a:prstGeom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99"/>
                </a:solidFill>
                <a:latin typeface="Calibri" panose="020F0502020204030204" pitchFamily="34" charset="0"/>
                <a:cs typeface="Consolas" panose="020B0609020204030204" pitchFamily="49" charset="0"/>
              </a:rPr>
              <a:t>x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1573485" y="3546535"/>
            <a:ext cx="272234" cy="461665"/>
          </a:xfrm>
          <a:prstGeom prst="rect">
            <a:avLst/>
          </a:prstGeom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99"/>
                </a:solidFill>
                <a:latin typeface="Calibri" panose="020F0502020204030204" pitchFamily="34" charset="0"/>
                <a:cs typeface="Consolas" panose="020B0609020204030204" pitchFamily="49" charset="0"/>
              </a:rPr>
              <a:t>n</a:t>
            </a:r>
          </a:p>
        </p:txBody>
      </p:sp>
      <p:cxnSp>
        <p:nvCxnSpPr>
          <p:cNvPr id="28" name="직선 연결선 27"/>
          <p:cNvCxnSpPr>
            <a:endCxn id="41" idx="0"/>
          </p:cNvCxnSpPr>
          <p:nvPr/>
        </p:nvCxnSpPr>
        <p:spPr>
          <a:xfrm>
            <a:off x="6338624" y="4562694"/>
            <a:ext cx="456833" cy="447158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타원 30"/>
          <p:cNvSpPr/>
          <p:nvPr/>
        </p:nvSpPr>
        <p:spPr>
          <a:xfrm>
            <a:off x="6838256" y="3684560"/>
            <a:ext cx="432000" cy="43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Calibri" panose="020F050202020403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788152" y="3730207"/>
            <a:ext cx="527890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70</a:t>
            </a:r>
          </a:p>
        </p:txBody>
      </p:sp>
      <p:cxnSp>
        <p:nvCxnSpPr>
          <p:cNvPr id="33" name="직선 연결선 32"/>
          <p:cNvCxnSpPr/>
          <p:nvPr/>
        </p:nvCxnSpPr>
        <p:spPr>
          <a:xfrm flipH="1">
            <a:off x="5586122" y="4555217"/>
            <a:ext cx="423065" cy="4584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>
            <a:off x="7225472" y="4047579"/>
            <a:ext cx="452982" cy="3641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>
          <a:xfrm flipH="1">
            <a:off x="6362652" y="4000956"/>
            <a:ext cx="495052" cy="265779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 flipH="1">
            <a:off x="7058520" y="3297633"/>
            <a:ext cx="0" cy="386927"/>
          </a:xfrm>
          <a:prstGeom prst="line">
            <a:avLst/>
          </a:prstGeom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이등변 삼각형 37"/>
          <p:cNvSpPr/>
          <p:nvPr/>
        </p:nvSpPr>
        <p:spPr>
          <a:xfrm>
            <a:off x="4984170" y="5009852"/>
            <a:ext cx="1227926" cy="1039898"/>
          </a:xfrm>
          <a:prstGeom prst="triangle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292412" y="5423825"/>
            <a:ext cx="588723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2400" baseline="-25000" dirty="0" err="1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1</a:t>
            </a:r>
            <a:endParaRPr lang="en-US" sz="2400" baseline="-250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1" name="이등변 삼각형 40"/>
          <p:cNvSpPr/>
          <p:nvPr/>
        </p:nvSpPr>
        <p:spPr>
          <a:xfrm>
            <a:off x="6259628" y="5009852"/>
            <a:ext cx="1071658" cy="1039900"/>
          </a:xfrm>
          <a:prstGeom prst="triangl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549488" y="5383531"/>
            <a:ext cx="513801" cy="461666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2400" baseline="-25000" dirty="0" err="1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2</a:t>
            </a:r>
            <a:endParaRPr lang="en-US" sz="2400" baseline="-250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4" name="이등변 삼각형 43"/>
          <p:cNvSpPr/>
          <p:nvPr/>
        </p:nvSpPr>
        <p:spPr>
          <a:xfrm>
            <a:off x="7064491" y="4389711"/>
            <a:ext cx="1227926" cy="789500"/>
          </a:xfrm>
          <a:prstGeom prst="triangle">
            <a:avLst/>
          </a:prstGeom>
          <a:solidFill>
            <a:srgbClr val="FF99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378672" y="4669273"/>
            <a:ext cx="588723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2400" baseline="-25000" dirty="0" err="1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3</a:t>
            </a:r>
            <a:endParaRPr lang="en-US" sz="2400" baseline="-250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7257661" y="3628961"/>
            <a:ext cx="272234" cy="461665"/>
          </a:xfrm>
          <a:prstGeom prst="rect">
            <a:avLst/>
          </a:prstGeom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99"/>
                </a:solidFill>
                <a:latin typeface="Calibri" panose="020F0502020204030204" pitchFamily="34" charset="0"/>
                <a:cs typeface="Consolas" panose="020B0609020204030204" pitchFamily="49" charset="0"/>
              </a:rPr>
              <a:t>x</a:t>
            </a:r>
          </a:p>
        </p:txBody>
      </p:sp>
      <p:sp>
        <p:nvSpPr>
          <p:cNvPr id="47" name="직사각형 46"/>
          <p:cNvSpPr/>
          <p:nvPr/>
        </p:nvSpPr>
        <p:spPr>
          <a:xfrm>
            <a:off x="5614245" y="4131920"/>
            <a:ext cx="272234" cy="461665"/>
          </a:xfrm>
          <a:prstGeom prst="rect">
            <a:avLst/>
          </a:prstGeom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99"/>
                </a:solidFill>
                <a:latin typeface="Calibri" panose="020F0502020204030204" pitchFamily="34" charset="0"/>
                <a:cs typeface="Consolas" panose="020B0609020204030204" pitchFamily="49" charset="0"/>
              </a:rPr>
              <a:t>n</a:t>
            </a:r>
          </a:p>
        </p:txBody>
      </p:sp>
      <p:sp>
        <p:nvSpPr>
          <p:cNvPr id="48" name="타원 47"/>
          <p:cNvSpPr/>
          <p:nvPr/>
        </p:nvSpPr>
        <p:spPr>
          <a:xfrm>
            <a:off x="2870078" y="4221088"/>
            <a:ext cx="432000" cy="43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Calibri" panose="020F050202020403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819974" y="4266735"/>
            <a:ext cx="527890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70</a:t>
            </a:r>
          </a:p>
        </p:txBody>
      </p:sp>
      <p:sp>
        <p:nvSpPr>
          <p:cNvPr id="50" name="타원 49"/>
          <p:cNvSpPr/>
          <p:nvPr/>
        </p:nvSpPr>
        <p:spPr>
          <a:xfrm>
            <a:off x="5965204" y="4221136"/>
            <a:ext cx="432000" cy="432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938666" y="4240467"/>
            <a:ext cx="486141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50</a:t>
            </a:r>
          </a:p>
        </p:txBody>
      </p:sp>
      <p:sp>
        <p:nvSpPr>
          <p:cNvPr id="52" name="오른쪽 화살표 51"/>
          <p:cNvSpPr/>
          <p:nvPr/>
        </p:nvSpPr>
        <p:spPr>
          <a:xfrm>
            <a:off x="4432883" y="4078625"/>
            <a:ext cx="514076" cy="493927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cxnSp>
        <p:nvCxnSpPr>
          <p:cNvPr id="62" name="직선 연결선 61"/>
          <p:cNvCxnSpPr/>
          <p:nvPr/>
        </p:nvCxnSpPr>
        <p:spPr>
          <a:xfrm flipH="1">
            <a:off x="7058520" y="3297633"/>
            <a:ext cx="0" cy="386927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3320971" y="6149790"/>
            <a:ext cx="25537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[</a:t>
            </a:r>
            <a:r>
              <a:rPr lang="ko-KR" altLang="en-US" sz="2000" dirty="0">
                <a:solidFill>
                  <a:srgbClr val="000000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그림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5-21] rotate_left</a:t>
            </a:r>
            <a:endParaRPr lang="en-US" sz="2000" dirty="0">
              <a:solidFill>
                <a:srgbClr val="00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03" y="555083"/>
            <a:ext cx="8659129" cy="1789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4205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3915" name="AutoShape 14"/>
          <p:cNvCxnSpPr>
            <a:cxnSpLocks noChangeShapeType="1"/>
          </p:cNvCxnSpPr>
          <p:nvPr/>
        </p:nvCxnSpPr>
        <p:spPr bwMode="auto">
          <a:xfrm flipV="1">
            <a:off x="2234377" y="2477775"/>
            <a:ext cx="512621" cy="409495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3928" name="AutoShape 28"/>
          <p:cNvCxnSpPr>
            <a:cxnSpLocks noChangeShapeType="1"/>
            <a:endCxn id="19477" idx="0"/>
          </p:cNvCxnSpPr>
          <p:nvPr/>
        </p:nvCxnSpPr>
        <p:spPr bwMode="auto">
          <a:xfrm flipH="1">
            <a:off x="7469188" y="3640931"/>
            <a:ext cx="394344" cy="756345"/>
          </a:xfrm>
          <a:prstGeom prst="straightConnector1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3917" name="AutoShape 16"/>
          <p:cNvCxnSpPr>
            <a:cxnSpLocks noChangeShapeType="1"/>
          </p:cNvCxnSpPr>
          <p:nvPr/>
        </p:nvCxnSpPr>
        <p:spPr bwMode="auto">
          <a:xfrm flipV="1">
            <a:off x="1310331" y="3158740"/>
            <a:ext cx="576972" cy="484531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460" name="Oval 5"/>
          <p:cNvSpPr>
            <a:spLocks noChangeArrowheads="1"/>
          </p:cNvSpPr>
          <p:nvPr/>
        </p:nvSpPr>
        <p:spPr bwMode="auto">
          <a:xfrm>
            <a:off x="1824038" y="2780928"/>
            <a:ext cx="432000" cy="432000"/>
          </a:xfrm>
          <a:prstGeom prst="ellipse">
            <a:avLst/>
          </a:prstGeom>
          <a:solidFill>
            <a:srgbClr val="FFFF00"/>
          </a:solidFill>
          <a:ln w="9525">
            <a:solidFill>
              <a:srgbClr val="05050B"/>
            </a:solidFill>
            <a:round/>
            <a:headEnd/>
            <a:tailEnd/>
          </a:ln>
          <a:effectLst/>
          <a:extLst/>
        </p:spPr>
        <p:txBody>
          <a:bodyPr anchor="ctr">
            <a:spAutoFit/>
          </a:bodyPr>
          <a:lstStyle/>
          <a:p>
            <a:pPr algn="ctr" eaLnBrk="1" hangingPunct="1">
              <a:defRPr/>
            </a:pPr>
            <a:endParaRPr kumimoji="0" lang="en-US" altLang="en-US" sz="1400" dirty="0">
              <a:solidFill>
                <a:srgbClr val="05050B"/>
              </a:solidFill>
              <a:latin typeface="Calibri" panose="020F0502020204030204" pitchFamily="34" charset="0"/>
            </a:endParaRPr>
          </a:p>
        </p:txBody>
      </p:sp>
      <p:sp>
        <p:nvSpPr>
          <p:cNvPr id="19461" name="Oval 6"/>
          <p:cNvSpPr>
            <a:spLocks noChangeArrowheads="1"/>
          </p:cNvSpPr>
          <p:nvPr/>
        </p:nvSpPr>
        <p:spPr bwMode="auto">
          <a:xfrm>
            <a:off x="941596" y="3570929"/>
            <a:ext cx="432000" cy="432000"/>
          </a:xfrm>
          <a:prstGeom prst="ellipse">
            <a:avLst/>
          </a:prstGeom>
          <a:solidFill>
            <a:srgbClr val="FCAA9A"/>
          </a:solidFill>
          <a:ln w="9525">
            <a:solidFill>
              <a:srgbClr val="04050C"/>
            </a:solidFill>
            <a:round/>
            <a:headEnd/>
            <a:tailEnd/>
          </a:ln>
          <a:effectLst/>
          <a:extLst/>
        </p:spPr>
        <p:txBody>
          <a:bodyPr wrap="none" anchor="ctr">
            <a:spAutoFit/>
          </a:bodyPr>
          <a:lstStyle/>
          <a:p>
            <a:pPr algn="ctr" eaLnBrk="1" hangingPunct="1">
              <a:defRPr/>
            </a:pPr>
            <a:r>
              <a:rPr kumimoji="0" lang="en-US" altLang="ko-KR" dirty="0">
                <a:solidFill>
                  <a:srgbClr val="05050B"/>
                </a:solidFill>
                <a:latin typeface="Calibri" panose="020F0502020204030204" pitchFamily="34" charset="0"/>
              </a:rPr>
              <a:t>10</a:t>
            </a:r>
            <a:endParaRPr kumimoji="0" lang="en-US" altLang="en-US" dirty="0">
              <a:solidFill>
                <a:srgbClr val="05050B"/>
              </a:solidFill>
              <a:latin typeface="Calibri" panose="020F0502020204030204" pitchFamily="34" charset="0"/>
            </a:endParaRPr>
          </a:p>
        </p:txBody>
      </p:sp>
      <p:sp>
        <p:nvSpPr>
          <p:cNvPr id="19462" name="Oval 7"/>
          <p:cNvSpPr>
            <a:spLocks noChangeArrowheads="1"/>
          </p:cNvSpPr>
          <p:nvPr/>
        </p:nvSpPr>
        <p:spPr bwMode="auto">
          <a:xfrm>
            <a:off x="2662238" y="2132013"/>
            <a:ext cx="432000" cy="432000"/>
          </a:xfrm>
          <a:prstGeom prst="ellipse">
            <a:avLst/>
          </a:prstGeom>
          <a:solidFill>
            <a:srgbClr val="99FF99"/>
          </a:solidFill>
          <a:ln w="9525">
            <a:solidFill>
              <a:srgbClr val="05050B"/>
            </a:solidFill>
            <a:round/>
            <a:headEnd/>
            <a:tailEnd/>
          </a:ln>
          <a:effectLst/>
          <a:extLst/>
        </p:spPr>
        <p:txBody>
          <a:bodyPr anchor="ctr">
            <a:spAutoFit/>
          </a:bodyPr>
          <a:lstStyle/>
          <a:p>
            <a:pPr algn="ctr" eaLnBrk="1" hangingPunct="1">
              <a:defRPr/>
            </a:pPr>
            <a:endParaRPr kumimoji="0" lang="en-US" altLang="en-US" sz="1400" dirty="0">
              <a:solidFill>
                <a:srgbClr val="05050B"/>
              </a:solidFill>
              <a:latin typeface="Calibri" panose="020F0502020204030204" pitchFamily="34" charset="0"/>
            </a:endParaRPr>
          </a:p>
        </p:txBody>
      </p:sp>
      <p:sp>
        <p:nvSpPr>
          <p:cNvPr id="19463" name="AutoShape 8"/>
          <p:cNvSpPr>
            <a:spLocks noChangeArrowheads="1"/>
          </p:cNvSpPr>
          <p:nvPr/>
        </p:nvSpPr>
        <p:spPr bwMode="auto">
          <a:xfrm>
            <a:off x="323528" y="4575076"/>
            <a:ext cx="662973" cy="611386"/>
          </a:xfrm>
          <a:prstGeom prst="triangle">
            <a:avLst>
              <a:gd name="adj" fmla="val 50000"/>
            </a:avLst>
          </a:prstGeom>
          <a:solidFill>
            <a:srgbClr val="FCAA9A"/>
          </a:solidFill>
          <a:ln w="9525">
            <a:solidFill>
              <a:srgbClr val="04050C"/>
            </a:solidFill>
            <a:miter lim="800000"/>
            <a:headEnd/>
            <a:tailEnd/>
          </a:ln>
          <a:effectLst/>
          <a:extLst/>
        </p:spPr>
        <p:txBody>
          <a:bodyPr wrap="none" anchor="ctr">
            <a:spAutoFit/>
          </a:bodyPr>
          <a:lstStyle/>
          <a:p>
            <a:pPr algn="ctr" eaLnBrk="1" hangingPunct="1">
              <a:defRPr/>
            </a:pPr>
            <a:r>
              <a:rPr kumimoji="0" lang="en-US" altLang="en-US" sz="1400" dirty="0" err="1">
                <a:solidFill>
                  <a:srgbClr val="05050B"/>
                </a:solidFill>
                <a:latin typeface="Calibri" panose="020F0502020204030204" pitchFamily="34" charset="0"/>
              </a:rPr>
              <a:t>T</a:t>
            </a:r>
            <a:r>
              <a:rPr kumimoji="0" lang="en-US" altLang="en-US" sz="1400" baseline="-25000" dirty="0" err="1">
                <a:solidFill>
                  <a:srgbClr val="05050B"/>
                </a:solidFill>
                <a:latin typeface="Calibri" panose="020F0502020204030204" pitchFamily="34" charset="0"/>
              </a:rPr>
              <a:t>1</a:t>
            </a:r>
            <a:endParaRPr kumimoji="0" lang="en-US" altLang="en-US" sz="1400" dirty="0">
              <a:solidFill>
                <a:srgbClr val="05050B"/>
              </a:solidFill>
              <a:latin typeface="Calibri" panose="020F0502020204030204" pitchFamily="34" charset="0"/>
            </a:endParaRPr>
          </a:p>
        </p:txBody>
      </p:sp>
      <p:sp>
        <p:nvSpPr>
          <p:cNvPr id="19464" name="AutoShape 9"/>
          <p:cNvSpPr>
            <a:spLocks noChangeArrowheads="1"/>
          </p:cNvSpPr>
          <p:nvPr/>
        </p:nvSpPr>
        <p:spPr bwMode="auto">
          <a:xfrm>
            <a:off x="2174634" y="3720339"/>
            <a:ext cx="662973" cy="611386"/>
          </a:xfrm>
          <a:prstGeom prst="triangle">
            <a:avLst>
              <a:gd name="adj" fmla="val 50000"/>
            </a:avLst>
          </a:prstGeom>
          <a:solidFill>
            <a:srgbClr val="FFFF00"/>
          </a:solidFill>
          <a:ln w="9525">
            <a:solidFill>
              <a:srgbClr val="04050C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>
              <a:defRPr/>
            </a:pPr>
            <a:r>
              <a:rPr kumimoji="0" lang="en-US" altLang="en-US" sz="1400" dirty="0" err="1">
                <a:solidFill>
                  <a:srgbClr val="05050B"/>
                </a:solidFill>
                <a:latin typeface="Calibri" panose="020F0502020204030204" pitchFamily="34" charset="0"/>
              </a:rPr>
              <a:t>T</a:t>
            </a:r>
            <a:r>
              <a:rPr kumimoji="0" lang="en-US" altLang="ko-KR" sz="1400" baseline="-25000" dirty="0" err="1">
                <a:solidFill>
                  <a:srgbClr val="05050B"/>
                </a:solidFill>
                <a:latin typeface="Calibri" panose="020F0502020204030204" pitchFamily="34" charset="0"/>
              </a:rPr>
              <a:t>3</a:t>
            </a:r>
            <a:endParaRPr kumimoji="0" lang="en-US" altLang="en-US" sz="1400" dirty="0">
              <a:solidFill>
                <a:srgbClr val="05050B"/>
              </a:solidFill>
              <a:latin typeface="Calibri" panose="020F0502020204030204" pitchFamily="34" charset="0"/>
            </a:endParaRPr>
          </a:p>
        </p:txBody>
      </p:sp>
      <p:sp>
        <p:nvSpPr>
          <p:cNvPr id="19465" name="AutoShape 11"/>
          <p:cNvSpPr>
            <a:spLocks noChangeArrowheads="1"/>
          </p:cNvSpPr>
          <p:nvPr/>
        </p:nvSpPr>
        <p:spPr bwMode="auto">
          <a:xfrm>
            <a:off x="3224042" y="2937885"/>
            <a:ext cx="662973" cy="611386"/>
          </a:xfrm>
          <a:prstGeom prst="triangle">
            <a:avLst>
              <a:gd name="adj" fmla="val 50000"/>
            </a:avLst>
          </a:prstGeom>
          <a:solidFill>
            <a:srgbClr val="99FF99"/>
          </a:solidFill>
          <a:ln w="9525">
            <a:solidFill>
              <a:srgbClr val="04050C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>
              <a:defRPr/>
            </a:pPr>
            <a:r>
              <a:rPr kumimoji="0" lang="en-US" altLang="en-US" sz="1400" dirty="0" err="1">
                <a:solidFill>
                  <a:srgbClr val="05050B"/>
                </a:solidFill>
                <a:latin typeface="Calibri" panose="020F0502020204030204" pitchFamily="34" charset="0"/>
              </a:rPr>
              <a:t>T</a:t>
            </a:r>
            <a:r>
              <a:rPr kumimoji="0" lang="en-US" altLang="en-US" sz="1400" baseline="-25000" dirty="0" err="1">
                <a:solidFill>
                  <a:srgbClr val="05050B"/>
                </a:solidFill>
                <a:latin typeface="Calibri" panose="020F0502020204030204" pitchFamily="34" charset="0"/>
              </a:rPr>
              <a:t>4</a:t>
            </a:r>
            <a:endParaRPr kumimoji="0" lang="en-US" altLang="en-US" sz="1400" dirty="0">
              <a:solidFill>
                <a:srgbClr val="05050B"/>
              </a:solidFill>
              <a:latin typeface="Calibri" panose="020F0502020204030204" pitchFamily="34" charset="0"/>
            </a:endParaRPr>
          </a:p>
        </p:txBody>
      </p:sp>
      <p:cxnSp>
        <p:nvCxnSpPr>
          <p:cNvPr id="123914" name="AutoShape 12"/>
          <p:cNvCxnSpPr>
            <a:cxnSpLocks noChangeShapeType="1"/>
            <a:endCxn id="19465" idx="0"/>
          </p:cNvCxnSpPr>
          <p:nvPr/>
        </p:nvCxnSpPr>
        <p:spPr bwMode="auto">
          <a:xfrm>
            <a:off x="3060421" y="2493484"/>
            <a:ext cx="495108" cy="444401"/>
          </a:xfrm>
          <a:prstGeom prst="straightConnector1">
            <a:avLst/>
          </a:prstGeom>
          <a:noFill/>
          <a:ln w="19050">
            <a:solidFill>
              <a:srgbClr val="05050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3916" name="AutoShape 15"/>
          <p:cNvCxnSpPr>
            <a:cxnSpLocks noChangeShapeType="1"/>
            <a:endCxn id="19464" idx="0"/>
          </p:cNvCxnSpPr>
          <p:nvPr/>
        </p:nvCxnSpPr>
        <p:spPr bwMode="auto">
          <a:xfrm>
            <a:off x="2172594" y="3176687"/>
            <a:ext cx="333527" cy="543652"/>
          </a:xfrm>
          <a:prstGeom prst="straightConnector1">
            <a:avLst/>
          </a:prstGeom>
          <a:noFill/>
          <a:ln w="19050">
            <a:solidFill>
              <a:srgbClr val="05050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3918" name="AutoShape 17"/>
          <p:cNvCxnSpPr>
            <a:cxnSpLocks noChangeShapeType="1"/>
            <a:stCxn id="19461" idx="3"/>
            <a:endCxn id="19463" idx="0"/>
          </p:cNvCxnSpPr>
          <p:nvPr/>
        </p:nvCxnSpPr>
        <p:spPr bwMode="auto">
          <a:xfrm flipH="1">
            <a:off x="655015" y="3939664"/>
            <a:ext cx="349846" cy="635412"/>
          </a:xfrm>
          <a:prstGeom prst="straightConnector1">
            <a:avLst/>
          </a:prstGeom>
          <a:noFill/>
          <a:ln w="19050">
            <a:solidFill>
              <a:srgbClr val="05050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3919" name="AutoShape 18"/>
          <p:cNvCxnSpPr>
            <a:cxnSpLocks noChangeShapeType="1"/>
            <a:stCxn id="19461" idx="5"/>
            <a:endCxn id="19488" idx="0"/>
          </p:cNvCxnSpPr>
          <p:nvPr/>
        </p:nvCxnSpPr>
        <p:spPr bwMode="auto">
          <a:xfrm>
            <a:off x="1310331" y="3939664"/>
            <a:ext cx="327970" cy="656050"/>
          </a:xfrm>
          <a:prstGeom prst="straightConnector1">
            <a:avLst/>
          </a:prstGeom>
          <a:noFill/>
          <a:ln w="19050">
            <a:solidFill>
              <a:srgbClr val="05050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472" name="Oval 20"/>
          <p:cNvSpPr>
            <a:spLocks noChangeArrowheads="1"/>
          </p:cNvSpPr>
          <p:nvPr/>
        </p:nvSpPr>
        <p:spPr bwMode="auto">
          <a:xfrm>
            <a:off x="6533550" y="2356625"/>
            <a:ext cx="432000" cy="432000"/>
          </a:xfrm>
          <a:prstGeom prst="ellipse">
            <a:avLst/>
          </a:prstGeom>
          <a:solidFill>
            <a:srgbClr val="FFFF00"/>
          </a:solidFill>
          <a:ln w="9525">
            <a:solidFill>
              <a:srgbClr val="04050C"/>
            </a:solidFill>
            <a:round/>
            <a:headEnd/>
            <a:tailEnd/>
          </a:ln>
          <a:effectLst/>
          <a:extLst/>
        </p:spPr>
        <p:txBody>
          <a:bodyPr wrap="none" anchor="ctr">
            <a:spAutoFit/>
          </a:bodyPr>
          <a:lstStyle/>
          <a:p>
            <a:pPr algn="ctr" eaLnBrk="1" hangingPunct="1">
              <a:defRPr/>
            </a:pPr>
            <a:r>
              <a:rPr kumimoji="0" lang="en-US" altLang="ko-KR" dirty="0">
                <a:solidFill>
                  <a:srgbClr val="05050B"/>
                </a:solidFill>
                <a:latin typeface="Calibri" panose="020F0502020204030204" pitchFamily="34" charset="0"/>
              </a:rPr>
              <a:t>20</a:t>
            </a:r>
            <a:endParaRPr kumimoji="0" lang="en-US" altLang="en-US" dirty="0">
              <a:solidFill>
                <a:srgbClr val="05050B"/>
              </a:solidFill>
              <a:latin typeface="Calibri" panose="020F0502020204030204" pitchFamily="34" charset="0"/>
            </a:endParaRPr>
          </a:p>
        </p:txBody>
      </p:sp>
      <p:sp>
        <p:nvSpPr>
          <p:cNvPr id="19473" name="Oval 21"/>
          <p:cNvSpPr>
            <a:spLocks noChangeArrowheads="1"/>
          </p:cNvSpPr>
          <p:nvPr/>
        </p:nvSpPr>
        <p:spPr bwMode="auto">
          <a:xfrm>
            <a:off x="5496912" y="3285313"/>
            <a:ext cx="432000" cy="432000"/>
          </a:xfrm>
          <a:prstGeom prst="ellipse">
            <a:avLst/>
          </a:prstGeom>
          <a:solidFill>
            <a:srgbClr val="FCAA9A"/>
          </a:solidFill>
          <a:ln w="9525">
            <a:solidFill>
              <a:srgbClr val="04050C"/>
            </a:solidFill>
            <a:round/>
            <a:headEnd/>
            <a:tailEnd/>
          </a:ln>
          <a:effectLst/>
          <a:extLst/>
        </p:spPr>
        <p:txBody>
          <a:bodyPr wrap="none" anchor="ctr">
            <a:spAutoFit/>
          </a:bodyPr>
          <a:lstStyle/>
          <a:p>
            <a:pPr algn="ctr" eaLnBrk="1" hangingPunct="1">
              <a:defRPr/>
            </a:pPr>
            <a:r>
              <a:rPr kumimoji="0" lang="en-US" altLang="ko-KR" dirty="0">
                <a:solidFill>
                  <a:srgbClr val="05050B"/>
                </a:solidFill>
                <a:latin typeface="Calibri" panose="020F0502020204030204" pitchFamily="34" charset="0"/>
              </a:rPr>
              <a:t>10</a:t>
            </a:r>
            <a:endParaRPr kumimoji="0" lang="en-US" altLang="en-US" dirty="0">
              <a:solidFill>
                <a:srgbClr val="05050B"/>
              </a:solidFill>
              <a:latin typeface="Calibri" panose="020F0502020204030204" pitchFamily="34" charset="0"/>
            </a:endParaRPr>
          </a:p>
        </p:txBody>
      </p:sp>
      <p:sp>
        <p:nvSpPr>
          <p:cNvPr id="19474" name="Oval 22"/>
          <p:cNvSpPr>
            <a:spLocks noChangeArrowheads="1"/>
          </p:cNvSpPr>
          <p:nvPr/>
        </p:nvSpPr>
        <p:spPr bwMode="auto">
          <a:xfrm>
            <a:off x="7611462" y="3299600"/>
            <a:ext cx="432000" cy="432000"/>
          </a:xfrm>
          <a:prstGeom prst="ellipse">
            <a:avLst/>
          </a:prstGeom>
          <a:solidFill>
            <a:srgbClr val="99FF99"/>
          </a:solidFill>
          <a:ln w="9525">
            <a:solidFill>
              <a:srgbClr val="04050C"/>
            </a:solidFill>
            <a:round/>
            <a:headEnd/>
            <a:tailEnd/>
          </a:ln>
          <a:effectLst/>
          <a:extLst/>
        </p:spPr>
        <p:txBody>
          <a:bodyPr wrap="none" anchor="ctr">
            <a:spAutoFit/>
          </a:bodyPr>
          <a:lstStyle/>
          <a:p>
            <a:pPr algn="ctr" eaLnBrk="1" hangingPunct="1">
              <a:defRPr/>
            </a:pPr>
            <a:r>
              <a:rPr kumimoji="0" lang="en-US" altLang="ko-KR" dirty="0">
                <a:solidFill>
                  <a:srgbClr val="05050B"/>
                </a:solidFill>
                <a:latin typeface="Calibri" panose="020F0502020204030204" pitchFamily="34" charset="0"/>
              </a:rPr>
              <a:t>30</a:t>
            </a:r>
            <a:endParaRPr kumimoji="0" lang="en-US" altLang="en-US" dirty="0">
              <a:solidFill>
                <a:srgbClr val="05050B"/>
              </a:solidFill>
              <a:latin typeface="Calibri" panose="020F0502020204030204" pitchFamily="34" charset="0"/>
            </a:endParaRPr>
          </a:p>
        </p:txBody>
      </p:sp>
      <p:sp>
        <p:nvSpPr>
          <p:cNvPr id="19475" name="AutoShape 23"/>
          <p:cNvSpPr>
            <a:spLocks noChangeArrowheads="1"/>
          </p:cNvSpPr>
          <p:nvPr/>
        </p:nvSpPr>
        <p:spPr bwMode="auto">
          <a:xfrm>
            <a:off x="4860032" y="4405214"/>
            <a:ext cx="662973" cy="611386"/>
          </a:xfrm>
          <a:prstGeom prst="triangle">
            <a:avLst>
              <a:gd name="adj" fmla="val 50000"/>
            </a:avLst>
          </a:prstGeom>
          <a:solidFill>
            <a:srgbClr val="FCAA9A"/>
          </a:solidFill>
          <a:ln w="9525">
            <a:solidFill>
              <a:srgbClr val="04050C"/>
            </a:solidFill>
            <a:miter lim="800000"/>
            <a:headEnd/>
            <a:tailEnd/>
          </a:ln>
          <a:effectLst/>
          <a:extLst/>
        </p:spPr>
        <p:txBody>
          <a:bodyPr wrap="none" anchor="ctr">
            <a:spAutoFit/>
          </a:bodyPr>
          <a:lstStyle/>
          <a:p>
            <a:pPr algn="ctr" eaLnBrk="1" hangingPunct="1">
              <a:defRPr/>
            </a:pPr>
            <a:r>
              <a:rPr kumimoji="0" lang="en-US" altLang="en-US" sz="1400" dirty="0" err="1">
                <a:solidFill>
                  <a:srgbClr val="05050B"/>
                </a:solidFill>
                <a:latin typeface="Calibri" panose="020F0502020204030204" pitchFamily="34" charset="0"/>
              </a:rPr>
              <a:t>T</a:t>
            </a:r>
            <a:r>
              <a:rPr kumimoji="0" lang="en-US" altLang="en-US" sz="1400" baseline="-25000" dirty="0" err="1">
                <a:solidFill>
                  <a:srgbClr val="05050B"/>
                </a:solidFill>
                <a:latin typeface="Calibri" panose="020F0502020204030204" pitchFamily="34" charset="0"/>
              </a:rPr>
              <a:t>1</a:t>
            </a:r>
            <a:endParaRPr kumimoji="0" lang="en-US" altLang="en-US" sz="1400" dirty="0">
              <a:solidFill>
                <a:srgbClr val="05050B"/>
              </a:solidFill>
              <a:latin typeface="Calibri" panose="020F0502020204030204" pitchFamily="34" charset="0"/>
            </a:endParaRPr>
          </a:p>
        </p:txBody>
      </p:sp>
      <p:sp>
        <p:nvSpPr>
          <p:cNvPr id="19476" name="AutoShape 24"/>
          <p:cNvSpPr>
            <a:spLocks noChangeArrowheads="1"/>
          </p:cNvSpPr>
          <p:nvPr/>
        </p:nvSpPr>
        <p:spPr bwMode="auto">
          <a:xfrm>
            <a:off x="5962951" y="4400451"/>
            <a:ext cx="662973" cy="611386"/>
          </a:xfrm>
          <a:prstGeom prst="triangle">
            <a:avLst>
              <a:gd name="adj" fmla="val 50000"/>
            </a:avLst>
          </a:prstGeom>
          <a:solidFill>
            <a:srgbClr val="FCAA9A"/>
          </a:solidFill>
          <a:ln w="9525">
            <a:solidFill>
              <a:srgbClr val="04050C"/>
            </a:solidFill>
            <a:miter lim="800000"/>
            <a:headEnd/>
            <a:tailEnd/>
          </a:ln>
          <a:effectLst/>
          <a:extLst/>
        </p:spPr>
        <p:txBody>
          <a:bodyPr wrap="none" anchor="ctr">
            <a:spAutoFit/>
          </a:bodyPr>
          <a:lstStyle/>
          <a:p>
            <a:pPr algn="ctr" eaLnBrk="1" hangingPunct="1">
              <a:defRPr/>
            </a:pPr>
            <a:r>
              <a:rPr kumimoji="0" lang="en-US" altLang="en-US" sz="1400" dirty="0" err="1">
                <a:solidFill>
                  <a:srgbClr val="05050B"/>
                </a:solidFill>
                <a:latin typeface="Calibri" panose="020F0502020204030204" pitchFamily="34" charset="0"/>
              </a:rPr>
              <a:t>T</a:t>
            </a:r>
            <a:r>
              <a:rPr kumimoji="0" lang="en-US" altLang="en-US" sz="1400" baseline="-25000" dirty="0" err="1">
                <a:solidFill>
                  <a:srgbClr val="05050B"/>
                </a:solidFill>
                <a:latin typeface="Calibri" panose="020F0502020204030204" pitchFamily="34" charset="0"/>
              </a:rPr>
              <a:t>2</a:t>
            </a:r>
            <a:endParaRPr kumimoji="0" lang="en-US" altLang="en-US" sz="1400" dirty="0">
              <a:solidFill>
                <a:srgbClr val="05050B"/>
              </a:solidFill>
              <a:latin typeface="Calibri" panose="020F0502020204030204" pitchFamily="34" charset="0"/>
            </a:endParaRPr>
          </a:p>
        </p:txBody>
      </p:sp>
      <p:sp>
        <p:nvSpPr>
          <p:cNvPr id="19477" name="AutoShape 25"/>
          <p:cNvSpPr>
            <a:spLocks noChangeArrowheads="1"/>
          </p:cNvSpPr>
          <p:nvPr/>
        </p:nvSpPr>
        <p:spPr bwMode="auto">
          <a:xfrm>
            <a:off x="7137701" y="4397276"/>
            <a:ext cx="662973" cy="611386"/>
          </a:xfrm>
          <a:prstGeom prst="triangle">
            <a:avLst>
              <a:gd name="adj" fmla="val 50000"/>
            </a:avLst>
          </a:prstGeom>
          <a:solidFill>
            <a:srgbClr val="FFFF00"/>
          </a:solidFill>
          <a:ln w="9525">
            <a:solidFill>
              <a:srgbClr val="04050C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>
              <a:defRPr/>
            </a:pPr>
            <a:r>
              <a:rPr kumimoji="0" lang="en-US" altLang="en-US" sz="1400" dirty="0" err="1">
                <a:solidFill>
                  <a:srgbClr val="05050B"/>
                </a:solidFill>
                <a:latin typeface="Calibri" panose="020F0502020204030204" pitchFamily="34" charset="0"/>
              </a:rPr>
              <a:t>T</a:t>
            </a:r>
            <a:r>
              <a:rPr kumimoji="0" lang="en-US" altLang="en-US" sz="1400" baseline="-25000" dirty="0" err="1">
                <a:solidFill>
                  <a:srgbClr val="05050B"/>
                </a:solidFill>
                <a:latin typeface="Calibri" panose="020F0502020204030204" pitchFamily="34" charset="0"/>
              </a:rPr>
              <a:t>3</a:t>
            </a:r>
            <a:endParaRPr kumimoji="0" lang="en-US" altLang="en-US" sz="1400" dirty="0">
              <a:solidFill>
                <a:srgbClr val="05050B"/>
              </a:solidFill>
              <a:latin typeface="Calibri" panose="020F0502020204030204" pitchFamily="34" charset="0"/>
            </a:endParaRPr>
          </a:p>
        </p:txBody>
      </p:sp>
      <p:sp>
        <p:nvSpPr>
          <p:cNvPr id="19478" name="AutoShape 26"/>
          <p:cNvSpPr>
            <a:spLocks noChangeArrowheads="1"/>
          </p:cNvSpPr>
          <p:nvPr/>
        </p:nvSpPr>
        <p:spPr bwMode="auto">
          <a:xfrm>
            <a:off x="8093376" y="4397276"/>
            <a:ext cx="662973" cy="611386"/>
          </a:xfrm>
          <a:prstGeom prst="triangle">
            <a:avLst>
              <a:gd name="adj" fmla="val 50000"/>
            </a:avLst>
          </a:prstGeom>
          <a:solidFill>
            <a:srgbClr val="99FF99"/>
          </a:solidFill>
          <a:ln w="9525">
            <a:solidFill>
              <a:srgbClr val="04050C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>
              <a:defRPr/>
            </a:pPr>
            <a:r>
              <a:rPr kumimoji="0" lang="en-US" altLang="en-US" sz="1400" dirty="0" err="1">
                <a:solidFill>
                  <a:srgbClr val="05050B"/>
                </a:solidFill>
                <a:latin typeface="Calibri" panose="020F0502020204030204" pitchFamily="34" charset="0"/>
              </a:rPr>
              <a:t>T</a:t>
            </a:r>
            <a:r>
              <a:rPr kumimoji="0" lang="en-US" altLang="en-US" sz="1400" baseline="-25000" dirty="0" err="1">
                <a:solidFill>
                  <a:srgbClr val="05050B"/>
                </a:solidFill>
                <a:latin typeface="Calibri" panose="020F0502020204030204" pitchFamily="34" charset="0"/>
              </a:rPr>
              <a:t>4</a:t>
            </a:r>
            <a:endParaRPr kumimoji="0" lang="en-US" altLang="en-US" sz="1400" dirty="0">
              <a:solidFill>
                <a:srgbClr val="05050B"/>
              </a:solidFill>
              <a:latin typeface="Calibri" panose="020F0502020204030204" pitchFamily="34" charset="0"/>
            </a:endParaRPr>
          </a:p>
        </p:txBody>
      </p:sp>
      <p:cxnSp>
        <p:nvCxnSpPr>
          <p:cNvPr id="123927" name="AutoShape 27"/>
          <p:cNvCxnSpPr>
            <a:cxnSpLocks noChangeShapeType="1"/>
            <a:stCxn id="19474" idx="5"/>
            <a:endCxn id="19478" idx="0"/>
          </p:cNvCxnSpPr>
          <p:nvPr/>
        </p:nvCxnSpPr>
        <p:spPr bwMode="auto">
          <a:xfrm>
            <a:off x="7980197" y="3668335"/>
            <a:ext cx="444666" cy="728941"/>
          </a:xfrm>
          <a:prstGeom prst="straightConnector1">
            <a:avLst/>
          </a:prstGeom>
          <a:noFill/>
          <a:ln w="19050">
            <a:solidFill>
              <a:srgbClr val="04050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3929" name="AutoShape 29"/>
          <p:cNvCxnSpPr>
            <a:cxnSpLocks noChangeShapeType="1"/>
            <a:stCxn id="19472" idx="5"/>
            <a:endCxn id="19474" idx="1"/>
          </p:cNvCxnSpPr>
          <p:nvPr/>
        </p:nvCxnSpPr>
        <p:spPr bwMode="auto">
          <a:xfrm>
            <a:off x="6902285" y="2725360"/>
            <a:ext cx="772442" cy="637505"/>
          </a:xfrm>
          <a:prstGeom prst="straightConnector1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3930" name="AutoShape 30"/>
          <p:cNvCxnSpPr>
            <a:cxnSpLocks noChangeShapeType="1"/>
            <a:stCxn id="19473" idx="5"/>
            <a:endCxn id="19476" idx="0"/>
          </p:cNvCxnSpPr>
          <p:nvPr/>
        </p:nvCxnSpPr>
        <p:spPr bwMode="auto">
          <a:xfrm>
            <a:off x="5865647" y="3654048"/>
            <a:ext cx="428791" cy="746403"/>
          </a:xfrm>
          <a:prstGeom prst="straightConnector1">
            <a:avLst/>
          </a:prstGeom>
          <a:noFill/>
          <a:ln w="19050">
            <a:solidFill>
              <a:srgbClr val="04050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3931" name="AutoShape 31"/>
          <p:cNvCxnSpPr>
            <a:cxnSpLocks noChangeShapeType="1"/>
            <a:stCxn id="19473" idx="7"/>
            <a:endCxn id="19472" idx="3"/>
          </p:cNvCxnSpPr>
          <p:nvPr/>
        </p:nvCxnSpPr>
        <p:spPr bwMode="auto">
          <a:xfrm flipV="1">
            <a:off x="5865647" y="2725360"/>
            <a:ext cx="731168" cy="623218"/>
          </a:xfrm>
          <a:prstGeom prst="straightConnector1">
            <a:avLst/>
          </a:prstGeom>
          <a:noFill/>
          <a:ln w="19050">
            <a:solidFill>
              <a:srgbClr val="04050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3932" name="AutoShape 32"/>
          <p:cNvCxnSpPr>
            <a:cxnSpLocks noChangeShapeType="1"/>
            <a:stCxn id="19473" idx="3"/>
            <a:endCxn id="19475" idx="0"/>
          </p:cNvCxnSpPr>
          <p:nvPr/>
        </p:nvCxnSpPr>
        <p:spPr bwMode="auto">
          <a:xfrm flipH="1">
            <a:off x="5191519" y="3654048"/>
            <a:ext cx="368658" cy="751166"/>
          </a:xfrm>
          <a:prstGeom prst="straightConnector1">
            <a:avLst/>
          </a:prstGeom>
          <a:noFill/>
          <a:ln w="19050">
            <a:solidFill>
              <a:srgbClr val="04050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3933" name="AutoShape 33"/>
          <p:cNvCxnSpPr>
            <a:cxnSpLocks noChangeShapeType="1"/>
            <a:stCxn id="19472" idx="0"/>
          </p:cNvCxnSpPr>
          <p:nvPr/>
        </p:nvCxnSpPr>
        <p:spPr bwMode="auto">
          <a:xfrm flipV="1">
            <a:off x="6749550" y="1990449"/>
            <a:ext cx="0" cy="366176"/>
          </a:xfrm>
          <a:prstGeom prst="straightConnector1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3935" name="AutoShape 72"/>
          <p:cNvSpPr>
            <a:spLocks noChangeArrowheads="1"/>
          </p:cNvSpPr>
          <p:nvPr/>
        </p:nvSpPr>
        <p:spPr bwMode="auto">
          <a:xfrm>
            <a:off x="1808321" y="3284209"/>
            <a:ext cx="1308961" cy="838200"/>
          </a:xfrm>
          <a:prstGeom prst="curvedDownArrow">
            <a:avLst>
              <a:gd name="adj1" fmla="val 25455"/>
              <a:gd name="adj2" fmla="val 50909"/>
              <a:gd name="adj3" fmla="val 33333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ko-KR" altLang="ko-KR" sz="2400">
              <a:solidFill>
                <a:srgbClr val="05050B"/>
              </a:solidFill>
              <a:latin typeface="Calibri" panose="020F0502020204030204" pitchFamily="34" charset="0"/>
            </a:endParaRPr>
          </a:p>
        </p:txBody>
      </p:sp>
      <p:sp>
        <p:nvSpPr>
          <p:cNvPr id="19488" name="AutoShape 73"/>
          <p:cNvSpPr>
            <a:spLocks noChangeArrowheads="1"/>
          </p:cNvSpPr>
          <p:nvPr/>
        </p:nvSpPr>
        <p:spPr bwMode="auto">
          <a:xfrm>
            <a:off x="1306814" y="4595714"/>
            <a:ext cx="662973" cy="611386"/>
          </a:xfrm>
          <a:prstGeom prst="triangle">
            <a:avLst>
              <a:gd name="adj" fmla="val 50000"/>
            </a:avLst>
          </a:prstGeom>
          <a:solidFill>
            <a:srgbClr val="FCAA9A"/>
          </a:solidFill>
          <a:ln w="9525">
            <a:solidFill>
              <a:srgbClr val="04050C"/>
            </a:solidFill>
            <a:miter lim="800000"/>
            <a:headEnd/>
            <a:tailEnd/>
          </a:ln>
          <a:effectLst/>
          <a:extLst/>
        </p:spPr>
        <p:txBody>
          <a:bodyPr wrap="none" anchor="ctr">
            <a:spAutoFit/>
          </a:bodyPr>
          <a:lstStyle/>
          <a:p>
            <a:pPr algn="ctr" eaLnBrk="1" hangingPunct="1">
              <a:defRPr/>
            </a:pPr>
            <a:r>
              <a:rPr kumimoji="0" lang="en-US" altLang="en-US" sz="1400" dirty="0" err="1">
                <a:solidFill>
                  <a:srgbClr val="05050B"/>
                </a:solidFill>
                <a:latin typeface="Calibri" panose="020F0502020204030204" pitchFamily="34" charset="0"/>
              </a:rPr>
              <a:t>T</a:t>
            </a:r>
            <a:r>
              <a:rPr kumimoji="0" lang="en-US" altLang="ko-KR" sz="1400" baseline="-25000" dirty="0" err="1">
                <a:solidFill>
                  <a:srgbClr val="05050B"/>
                </a:solidFill>
                <a:latin typeface="Calibri" panose="020F0502020204030204" pitchFamily="34" charset="0"/>
              </a:rPr>
              <a:t>2</a:t>
            </a:r>
            <a:endParaRPr kumimoji="0" lang="en-US" altLang="en-US" sz="1400" dirty="0">
              <a:solidFill>
                <a:srgbClr val="05050B"/>
              </a:solidFill>
              <a:latin typeface="Calibri" panose="020F0502020204030204" pitchFamily="34" charset="0"/>
            </a:endParaRPr>
          </a:p>
        </p:txBody>
      </p:sp>
      <p:sp>
        <p:nvSpPr>
          <p:cNvPr id="19489" name="Line 77"/>
          <p:cNvSpPr>
            <a:spLocks noChangeShapeType="1"/>
          </p:cNvSpPr>
          <p:nvPr/>
        </p:nvSpPr>
        <p:spPr bwMode="auto">
          <a:xfrm flipV="1">
            <a:off x="2878238" y="1786101"/>
            <a:ext cx="0" cy="345912"/>
          </a:xfrm>
          <a:prstGeom prst="line">
            <a:avLst/>
          </a:prstGeom>
          <a:noFill/>
          <a:ln w="19050">
            <a:solidFill>
              <a:srgbClr val="05050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05050B"/>
              </a:solidFill>
              <a:latin typeface="Calibri" panose="020F0502020204030204" pitchFamily="34" charset="0"/>
            </a:endParaRPr>
          </a:p>
        </p:txBody>
      </p:sp>
      <p:sp>
        <p:nvSpPr>
          <p:cNvPr id="123938" name="Text Box 78"/>
          <p:cNvSpPr txBox="1">
            <a:spLocks noChangeArrowheads="1"/>
          </p:cNvSpPr>
          <p:nvPr/>
        </p:nvSpPr>
        <p:spPr bwMode="auto">
          <a:xfrm>
            <a:off x="2098367" y="1808362"/>
            <a:ext cx="540000" cy="366712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ko-KR" sz="1800">
                <a:solidFill>
                  <a:srgbClr val="05050B"/>
                </a:solidFill>
                <a:latin typeface="Calibri" panose="020F0502020204030204" pitchFamily="34" charset="0"/>
              </a:rPr>
              <a:t>h+2</a:t>
            </a:r>
          </a:p>
        </p:txBody>
      </p:sp>
      <p:sp>
        <p:nvSpPr>
          <p:cNvPr id="123939" name="Text Box 79"/>
          <p:cNvSpPr txBox="1">
            <a:spLocks noChangeArrowheads="1"/>
          </p:cNvSpPr>
          <p:nvPr/>
        </p:nvSpPr>
        <p:spPr bwMode="auto">
          <a:xfrm>
            <a:off x="1211057" y="2478452"/>
            <a:ext cx="576000" cy="366712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ko-KR" sz="1800">
                <a:solidFill>
                  <a:srgbClr val="05050B"/>
                </a:solidFill>
                <a:latin typeface="Calibri" panose="020F0502020204030204" pitchFamily="34" charset="0"/>
              </a:rPr>
              <a:t>h+1</a:t>
            </a:r>
          </a:p>
        </p:txBody>
      </p:sp>
      <p:sp>
        <p:nvSpPr>
          <p:cNvPr id="123940" name="Text Box 80"/>
          <p:cNvSpPr txBox="1">
            <a:spLocks noChangeArrowheads="1"/>
          </p:cNvSpPr>
          <p:nvPr/>
        </p:nvSpPr>
        <p:spPr bwMode="auto">
          <a:xfrm>
            <a:off x="3602360" y="2493484"/>
            <a:ext cx="504000" cy="366712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ko-KR" sz="1800">
                <a:solidFill>
                  <a:srgbClr val="05050B"/>
                </a:solidFill>
                <a:latin typeface="Calibri" panose="020F0502020204030204" pitchFamily="34" charset="0"/>
              </a:rPr>
              <a:t>h-1</a:t>
            </a:r>
          </a:p>
        </p:txBody>
      </p:sp>
      <p:sp>
        <p:nvSpPr>
          <p:cNvPr id="123941" name="Text Box 81"/>
          <p:cNvSpPr txBox="1">
            <a:spLocks noChangeArrowheads="1"/>
          </p:cNvSpPr>
          <p:nvPr/>
        </p:nvSpPr>
        <p:spPr bwMode="auto">
          <a:xfrm>
            <a:off x="603846" y="3425863"/>
            <a:ext cx="288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ko-KR" sz="1800">
                <a:solidFill>
                  <a:srgbClr val="05050B"/>
                </a:solidFill>
                <a:latin typeface="Calibri" panose="020F0502020204030204" pitchFamily="34" charset="0"/>
              </a:rPr>
              <a:t>h</a:t>
            </a:r>
          </a:p>
        </p:txBody>
      </p:sp>
      <p:sp>
        <p:nvSpPr>
          <p:cNvPr id="123942" name="Text Box 82"/>
          <p:cNvSpPr txBox="1">
            <a:spLocks noChangeArrowheads="1"/>
          </p:cNvSpPr>
          <p:nvPr/>
        </p:nvSpPr>
        <p:spPr bwMode="auto">
          <a:xfrm>
            <a:off x="7162800" y="2224088"/>
            <a:ext cx="540000" cy="366712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ko-KR" sz="1800">
                <a:solidFill>
                  <a:srgbClr val="05050B"/>
                </a:solidFill>
                <a:latin typeface="Calibri" panose="020F0502020204030204" pitchFamily="34" charset="0"/>
              </a:rPr>
              <a:t>h+1</a:t>
            </a:r>
          </a:p>
        </p:txBody>
      </p:sp>
      <p:sp>
        <p:nvSpPr>
          <p:cNvPr id="123943" name="Text Box 83"/>
          <p:cNvSpPr txBox="1">
            <a:spLocks noChangeArrowheads="1"/>
          </p:cNvSpPr>
          <p:nvPr/>
        </p:nvSpPr>
        <p:spPr bwMode="auto">
          <a:xfrm>
            <a:off x="5484647" y="2865803"/>
            <a:ext cx="288000" cy="366712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ko-KR" sz="1800">
                <a:solidFill>
                  <a:srgbClr val="05050B"/>
                </a:solidFill>
                <a:latin typeface="Calibri" panose="020F0502020204030204" pitchFamily="34" charset="0"/>
              </a:rPr>
              <a:t>h</a:t>
            </a:r>
          </a:p>
        </p:txBody>
      </p:sp>
      <p:sp>
        <p:nvSpPr>
          <p:cNvPr id="123944" name="Text Box 84"/>
          <p:cNvSpPr txBox="1">
            <a:spLocks noChangeArrowheads="1"/>
          </p:cNvSpPr>
          <p:nvPr/>
        </p:nvSpPr>
        <p:spPr bwMode="auto">
          <a:xfrm>
            <a:off x="8096501" y="2979485"/>
            <a:ext cx="288000" cy="366712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ko-KR" sz="1800">
                <a:solidFill>
                  <a:srgbClr val="05050B"/>
                </a:solidFill>
                <a:latin typeface="Calibri" panose="020F0502020204030204" pitchFamily="34" charset="0"/>
              </a:rPr>
              <a:t>h</a:t>
            </a:r>
          </a:p>
        </p:txBody>
      </p:sp>
      <p:sp>
        <p:nvSpPr>
          <p:cNvPr id="123945" name="Text Box 85"/>
          <p:cNvSpPr txBox="1">
            <a:spLocks noChangeArrowheads="1"/>
          </p:cNvSpPr>
          <p:nvPr/>
        </p:nvSpPr>
        <p:spPr bwMode="auto">
          <a:xfrm>
            <a:off x="102176" y="5302649"/>
            <a:ext cx="223087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ko-KR" sz="1800" dirty="0">
                <a:solidFill>
                  <a:srgbClr val="020202"/>
                </a:solidFill>
                <a:latin typeface="Calibri" panose="020F0502020204030204" pitchFamily="34" charset="0"/>
              </a:rPr>
              <a:t>max(</a:t>
            </a:r>
            <a:r>
              <a:rPr kumimoji="0" lang="en-US" altLang="ko-KR" sz="1800" dirty="0" err="1">
                <a:solidFill>
                  <a:srgbClr val="020202"/>
                </a:solidFill>
                <a:latin typeface="Calibri" panose="020F0502020204030204" pitchFamily="34" charset="0"/>
              </a:rPr>
              <a:t>T</a:t>
            </a:r>
            <a:r>
              <a:rPr kumimoji="0" lang="en-US" altLang="ko-KR" sz="1800" baseline="-25000" dirty="0" err="1">
                <a:solidFill>
                  <a:srgbClr val="020202"/>
                </a:solidFill>
                <a:latin typeface="Calibri" panose="020F0502020204030204" pitchFamily="34" charset="0"/>
              </a:rPr>
              <a:t>1</a:t>
            </a:r>
            <a:r>
              <a:rPr kumimoji="0" lang="en-US" altLang="ko-KR" sz="1800" dirty="0" err="1">
                <a:solidFill>
                  <a:srgbClr val="020202"/>
                </a:solidFill>
                <a:latin typeface="Calibri" panose="020F0502020204030204" pitchFamily="34" charset="0"/>
              </a:rPr>
              <a:t>,T</a:t>
            </a:r>
            <a:r>
              <a:rPr kumimoji="0" lang="en-US" altLang="ko-KR" sz="1800" baseline="-25000" dirty="0" err="1">
                <a:solidFill>
                  <a:srgbClr val="020202"/>
                </a:solidFill>
                <a:latin typeface="Calibri" panose="020F0502020204030204" pitchFamily="34" charset="0"/>
              </a:rPr>
              <a:t>2</a:t>
            </a:r>
            <a:r>
              <a:rPr kumimoji="0" lang="en-US" altLang="ko-KR" sz="1800" dirty="0">
                <a:solidFill>
                  <a:srgbClr val="020202"/>
                </a:solidFill>
                <a:latin typeface="Calibri" panose="020F0502020204030204" pitchFamily="34" charset="0"/>
              </a:rPr>
              <a:t>) = h-1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4799" y="2154106"/>
            <a:ext cx="449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5050B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30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17054" y="2812106"/>
            <a:ext cx="44938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5050B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71" name="AutoShape 834"/>
          <p:cNvSpPr>
            <a:spLocks noChangeArrowheads="1"/>
          </p:cNvSpPr>
          <p:nvPr/>
        </p:nvSpPr>
        <p:spPr bwMode="auto">
          <a:xfrm>
            <a:off x="4141788" y="3720438"/>
            <a:ext cx="609600" cy="381000"/>
          </a:xfrm>
          <a:prstGeom prst="rightArrow">
            <a:avLst>
              <a:gd name="adj1" fmla="val 50000"/>
              <a:gd name="adj2" fmla="val 40000"/>
            </a:avLst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ko-KR" altLang="ko-KR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45" name="Text Box 80"/>
          <p:cNvSpPr txBox="1">
            <a:spLocks noChangeArrowheads="1"/>
          </p:cNvSpPr>
          <p:nvPr/>
        </p:nvSpPr>
        <p:spPr bwMode="auto">
          <a:xfrm>
            <a:off x="2199632" y="4375282"/>
            <a:ext cx="609600" cy="366712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ko-KR" sz="1800">
                <a:solidFill>
                  <a:srgbClr val="05050B"/>
                </a:solidFill>
                <a:latin typeface="Calibri" panose="020F0502020204030204" pitchFamily="34" charset="0"/>
              </a:rPr>
              <a:t>h-1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3891784" y="694725"/>
            <a:ext cx="14879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40458C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LL-</a:t>
            </a:r>
            <a:r>
              <a:rPr lang="ko-KR" altLang="en-US" sz="2800" b="1" dirty="0">
                <a:solidFill>
                  <a:srgbClr val="40458C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회전</a:t>
            </a:r>
            <a:endParaRPr lang="en-US" sz="2800" b="1" dirty="0">
              <a:solidFill>
                <a:srgbClr val="40458C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819410" y="5953710"/>
            <a:ext cx="78639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(a) T</a:t>
            </a:r>
            <a:r>
              <a:rPr lang="en-US" altLang="ko-KR" sz="2000" baseline="-25000" dirty="0">
                <a:latin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altLang="ko-K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600" dirty="0">
                <a:latin typeface="Calibri" panose="020F0502020204030204" pitchFamily="34" charset="0"/>
                <a:cs typeface="Times New Roman" panose="02020603050405020304" pitchFamily="18" charset="0"/>
              </a:rPr>
              <a:t>또는</a:t>
            </a:r>
            <a:r>
              <a:rPr lang="en-US" altLang="ko-K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altLang="ko-KR" sz="2000" baseline="-25000" dirty="0">
                <a:latin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ko-KR" altLang="ko-K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에</a:t>
            </a:r>
            <a:r>
              <a:rPr lang="ko-KR" altLang="ko-KR" sz="20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새</a:t>
            </a:r>
            <a:r>
              <a:rPr lang="ko-KR" altLang="ko-KR" sz="20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노드</a:t>
            </a:r>
            <a:r>
              <a:rPr lang="ko-KR" altLang="ko-KR" sz="20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삽입</a:t>
            </a:r>
            <a:r>
              <a:rPr lang="en-US" altLang="ko-K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                                         (b) LL-</a:t>
            </a:r>
            <a:r>
              <a:rPr lang="ko-KR" altLang="ko-K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회전</a:t>
            </a:r>
            <a:r>
              <a:rPr lang="ko-KR" altLang="ko-KR" sz="20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후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0728473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886" y="2167003"/>
            <a:ext cx="8054235" cy="314403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/>
          <p:cNvSpPr/>
          <p:nvPr/>
        </p:nvSpPr>
        <p:spPr>
          <a:xfrm>
            <a:off x="425886" y="901967"/>
            <a:ext cx="223811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[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예제</a:t>
            </a:r>
            <a:r>
              <a:rPr lang="en-US" altLang="ko-KR" sz="32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] 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LL-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회전</a:t>
            </a:r>
            <a:endParaRPr lang="ko-KR" altLang="en-US" sz="32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53782" y="4338795"/>
            <a:ext cx="72758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3333FF"/>
                </a:solidFill>
              </a:rPr>
              <a:t>None</a:t>
            </a:r>
            <a:endParaRPr lang="ko-KR" altLang="en-US" dirty="0">
              <a:solidFill>
                <a:srgbClr val="3333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5692" y="4154129"/>
            <a:ext cx="72758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3333FF"/>
                </a:solidFill>
              </a:rPr>
              <a:t>None</a:t>
            </a:r>
            <a:endParaRPr lang="ko-KR" altLang="en-US" dirty="0">
              <a:solidFill>
                <a:srgbClr val="3333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15911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827" y="1716066"/>
            <a:ext cx="8129392" cy="380791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/>
          <p:cNvSpPr/>
          <p:nvPr/>
        </p:nvSpPr>
        <p:spPr>
          <a:xfrm>
            <a:off x="3891784" y="694725"/>
            <a:ext cx="15520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40458C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RR-</a:t>
            </a:r>
            <a:r>
              <a:rPr lang="ko-KR" altLang="en-US" sz="2800" b="1" dirty="0">
                <a:solidFill>
                  <a:srgbClr val="40458C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회전</a:t>
            </a:r>
            <a:endParaRPr lang="en-US" sz="2800" b="1" dirty="0">
              <a:solidFill>
                <a:srgbClr val="40458C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949804" y="5621989"/>
            <a:ext cx="819419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ko-KR" sz="20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2000" dirty="0">
                <a:ea typeface="Calibri" panose="020F0502020204030204" pitchFamily="34" charset="0"/>
                <a:cs typeface="Times New Roman" panose="02020603050405020304" pitchFamily="18" charset="0"/>
              </a:rPr>
              <a:t>(a) T</a:t>
            </a:r>
            <a:r>
              <a:rPr lang="en-US" altLang="ko-KR" sz="2000" baseline="-25000" dirty="0"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altLang="ko-KR" sz="20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600" dirty="0">
                <a:latin typeface="Calibri" panose="020F0502020204030204" pitchFamily="34" charset="0"/>
                <a:cs typeface="Times New Roman" panose="02020603050405020304" pitchFamily="18" charset="0"/>
              </a:rPr>
              <a:t>또는</a:t>
            </a:r>
            <a:r>
              <a:rPr lang="en-US" altLang="ko-K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altLang="ko-KR" sz="2000" baseline="-25000" dirty="0">
                <a:latin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ko-KR" altLang="ko-K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에</a:t>
            </a:r>
            <a:r>
              <a:rPr lang="ko-KR" altLang="ko-KR" sz="20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새</a:t>
            </a:r>
            <a:r>
              <a:rPr lang="ko-KR" altLang="ko-KR" sz="20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노드</a:t>
            </a:r>
            <a:r>
              <a:rPr lang="ko-KR" altLang="ko-KR" sz="20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삽입</a:t>
            </a:r>
            <a:r>
              <a:rPr lang="en-US" altLang="ko-K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	                            (b) RR-</a:t>
            </a:r>
            <a:r>
              <a:rPr lang="ko-KR" altLang="ko-K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회전</a:t>
            </a:r>
            <a:r>
              <a:rPr lang="ko-KR" altLang="ko-KR" sz="20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후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529840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406" y="1841326"/>
            <a:ext cx="7716032" cy="320868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/>
          <p:cNvSpPr/>
          <p:nvPr/>
        </p:nvSpPr>
        <p:spPr>
          <a:xfrm>
            <a:off x="425886" y="901967"/>
            <a:ext cx="22701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[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예제</a:t>
            </a:r>
            <a:r>
              <a:rPr lang="en-US" altLang="ko-KR" sz="32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] 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RR-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회전</a:t>
            </a:r>
            <a:endParaRPr lang="ko-KR" altLang="en-US" sz="32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56620" y="4247535"/>
            <a:ext cx="72758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3333FF"/>
                </a:solidFill>
              </a:rPr>
              <a:t>None</a:t>
            </a:r>
            <a:endParaRPr lang="ko-KR" altLang="en-US" dirty="0">
              <a:solidFill>
                <a:srgbClr val="3333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56440" y="3878203"/>
            <a:ext cx="72758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3333FF"/>
                </a:solidFill>
              </a:rPr>
              <a:t>None</a:t>
            </a:r>
            <a:endParaRPr lang="ko-KR" altLang="en-US" dirty="0">
              <a:solidFill>
                <a:srgbClr val="3333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5265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891784" y="694725"/>
            <a:ext cx="15071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40458C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LR-</a:t>
            </a:r>
            <a:r>
              <a:rPr lang="ko-KR" altLang="en-US" sz="2800" b="1" dirty="0">
                <a:solidFill>
                  <a:srgbClr val="40458C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회전</a:t>
            </a:r>
            <a:endParaRPr lang="en-US" sz="2800" b="1" dirty="0">
              <a:solidFill>
                <a:srgbClr val="40458C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3" name="그림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005" y="1920941"/>
            <a:ext cx="7614110" cy="288905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직사각형 3"/>
          <p:cNvSpPr/>
          <p:nvPr/>
        </p:nvSpPr>
        <p:spPr>
          <a:xfrm>
            <a:off x="1243039" y="5003011"/>
            <a:ext cx="778733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(a) T</a:t>
            </a:r>
            <a:r>
              <a:rPr lang="en-US" altLang="ko-KR" sz="2000" baseline="-25000" dirty="0">
                <a:latin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altLang="ko-K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또는</a:t>
            </a:r>
            <a:r>
              <a:rPr lang="en-US" altLang="ko-K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altLang="ko-KR" sz="2000" baseline="-25000" dirty="0">
                <a:latin typeface="Calibri" panose="020F0502020204030204" pitchFamily="34" charset="0"/>
                <a:cs typeface="Times New Roman" panose="02020603050405020304" pitchFamily="18" charset="0"/>
              </a:rPr>
              <a:t>3 </a:t>
            </a:r>
            <a:r>
              <a:rPr lang="ko-KR" altLang="ko-K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에</a:t>
            </a:r>
            <a:r>
              <a:rPr lang="ko-KR" altLang="ko-KR" sz="20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새</a:t>
            </a:r>
            <a:r>
              <a:rPr lang="ko-KR" altLang="ko-KR" sz="20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노드</a:t>
            </a:r>
            <a:r>
              <a:rPr lang="ko-KR" altLang="ko-KR" sz="20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삽입</a:t>
            </a:r>
            <a:r>
              <a:rPr lang="en-US" altLang="ko-K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	               (b) LR-</a:t>
            </a:r>
            <a:r>
              <a:rPr lang="ko-KR" altLang="ko-K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회전</a:t>
            </a:r>
            <a:r>
              <a:rPr lang="ko-KR" altLang="ko-KR" sz="20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후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2564175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25886" y="901967"/>
            <a:ext cx="22541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[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예제</a:t>
            </a:r>
            <a:r>
              <a:rPr lang="en-US" altLang="ko-KR" sz="32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] 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LR-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회전</a:t>
            </a:r>
            <a:endParaRPr lang="ko-KR" altLang="en-US" sz="32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3" name="그림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679" y="2111031"/>
            <a:ext cx="7726546" cy="296201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2654711" y="4375355"/>
            <a:ext cx="72758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3333FF"/>
                </a:solidFill>
              </a:rPr>
              <a:t>None</a:t>
            </a:r>
            <a:endParaRPr lang="ko-KR" altLang="en-US" dirty="0">
              <a:solidFill>
                <a:srgbClr val="3333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91550" y="3515032"/>
            <a:ext cx="72758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3333FF"/>
                </a:solidFill>
              </a:rPr>
              <a:t>None</a:t>
            </a:r>
            <a:endParaRPr lang="ko-KR" altLang="en-US" dirty="0">
              <a:solidFill>
                <a:srgbClr val="3333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4517" y="3145700"/>
            <a:ext cx="72758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3333FF"/>
                </a:solidFill>
              </a:rPr>
              <a:t>None</a:t>
            </a:r>
            <a:endParaRPr lang="ko-KR" altLang="en-US" dirty="0">
              <a:solidFill>
                <a:srgbClr val="3333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3305" y="4210353"/>
            <a:ext cx="72758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3333FF"/>
                </a:solidFill>
              </a:rPr>
              <a:t>None</a:t>
            </a:r>
            <a:endParaRPr lang="ko-KR" altLang="en-US" dirty="0">
              <a:solidFill>
                <a:srgbClr val="3333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45506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891784" y="694725"/>
            <a:ext cx="15071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40458C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RL-</a:t>
            </a:r>
            <a:r>
              <a:rPr lang="ko-KR" altLang="en-US" sz="2800" b="1" dirty="0">
                <a:solidFill>
                  <a:srgbClr val="40458C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회전</a:t>
            </a:r>
            <a:endParaRPr lang="en-US" sz="2800" b="1" dirty="0">
              <a:solidFill>
                <a:srgbClr val="40458C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3" name="그림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778" y="1778696"/>
            <a:ext cx="7603296" cy="321502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직사각형 3"/>
          <p:cNvSpPr/>
          <p:nvPr/>
        </p:nvSpPr>
        <p:spPr>
          <a:xfrm>
            <a:off x="1085725" y="5282185"/>
            <a:ext cx="78037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ko-KR" sz="20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2000" dirty="0">
                <a:ea typeface="Calibri" panose="020F0502020204030204" pitchFamily="34" charset="0"/>
                <a:cs typeface="Times New Roman" panose="02020603050405020304" pitchFamily="18" charset="0"/>
              </a:rPr>
              <a:t>(a) T</a:t>
            </a:r>
            <a:r>
              <a:rPr lang="en-US" altLang="ko-KR" sz="2000" baseline="-25000" dirty="0"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altLang="ko-KR" sz="20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또는</a:t>
            </a:r>
            <a:r>
              <a:rPr lang="en-US" altLang="ko-K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altLang="ko-KR" sz="2000" baseline="-25000" dirty="0">
                <a:latin typeface="Calibri" panose="020F0502020204030204" pitchFamily="34" charset="0"/>
                <a:cs typeface="Times New Roman" panose="02020603050405020304" pitchFamily="18" charset="0"/>
              </a:rPr>
              <a:t>3 </a:t>
            </a:r>
            <a:r>
              <a:rPr lang="ko-KR" altLang="ko-K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에</a:t>
            </a:r>
            <a:r>
              <a:rPr lang="ko-KR" altLang="ko-KR" sz="20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새</a:t>
            </a:r>
            <a:r>
              <a:rPr lang="ko-KR" altLang="ko-KR" sz="20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노드</a:t>
            </a:r>
            <a:r>
              <a:rPr lang="ko-KR" altLang="ko-KR" sz="20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삽입</a:t>
            </a:r>
            <a:r>
              <a:rPr lang="en-US" altLang="ko-K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	              (b) RL-</a:t>
            </a:r>
            <a:r>
              <a:rPr lang="ko-KR" altLang="ko-K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회전</a:t>
            </a:r>
            <a:r>
              <a:rPr lang="ko-KR" altLang="ko-KR" sz="20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후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7623361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25886" y="901967"/>
            <a:ext cx="22541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[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예제</a:t>
            </a:r>
            <a:r>
              <a:rPr lang="en-US" altLang="ko-KR" sz="32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] 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RL-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회전</a:t>
            </a:r>
            <a:endParaRPr lang="ko-KR" altLang="en-US" sz="32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3" name="그림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632" y="2146130"/>
            <a:ext cx="8365905" cy="324006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226143" y="3303639"/>
            <a:ext cx="72758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3333FF"/>
                </a:solidFill>
              </a:rPr>
              <a:t>None</a:t>
            </a:r>
            <a:endParaRPr lang="ko-KR" altLang="en-US" dirty="0">
              <a:solidFill>
                <a:srgbClr val="3333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994788" y="3488305"/>
            <a:ext cx="72758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3333FF"/>
                </a:solidFill>
              </a:rPr>
              <a:t>None</a:t>
            </a:r>
            <a:endParaRPr lang="ko-KR" altLang="en-US" dirty="0">
              <a:solidFill>
                <a:srgbClr val="3333FF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1994" y="4303303"/>
            <a:ext cx="552450" cy="25717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4355" y="4696592"/>
            <a:ext cx="552450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4015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672224"/>
            <a:ext cx="7886700" cy="503554"/>
          </a:xfrm>
        </p:spPr>
        <p:txBody>
          <a:bodyPr/>
          <a:lstStyle/>
          <a:p>
            <a:r>
              <a:rPr lang="en-US" altLang="ko-KR" dirty="0"/>
              <a:t>4</a:t>
            </a:r>
            <a:r>
              <a:rPr lang="ko-KR" altLang="ko-KR" dirty="0"/>
              <a:t>종류의 회전</a:t>
            </a:r>
            <a:r>
              <a:rPr lang="ko-KR" altLang="en-US" dirty="0"/>
              <a:t>의</a:t>
            </a:r>
            <a:r>
              <a:rPr lang="ko-KR" altLang="ko-KR" dirty="0"/>
              <a:t> 공통점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2354893"/>
            <a:ext cx="7886700" cy="276771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ko-KR" altLang="ko-KR" sz="2600" dirty="0"/>
              <a:t>회전 후의 트리들이 </a:t>
            </a:r>
            <a:r>
              <a:rPr lang="ko-KR" altLang="ko-KR" sz="2600"/>
              <a:t>모두 </a:t>
            </a:r>
            <a:r>
              <a:rPr lang="ko-KR" altLang="en-US" sz="2600"/>
              <a:t>같은</a:t>
            </a:r>
            <a:r>
              <a:rPr lang="en-US" altLang="ko-KR" sz="2600"/>
              <a:t> </a:t>
            </a:r>
            <a:r>
              <a:rPr lang="ko-KR" altLang="en-US" sz="2600"/>
              <a:t>모양</a:t>
            </a:r>
            <a:endParaRPr lang="en-US" altLang="ko-KR" sz="2600" dirty="0"/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ko-KR" altLang="ko-KR" sz="2600"/>
              <a:t>각 </a:t>
            </a:r>
            <a:r>
              <a:rPr lang="ko-KR" altLang="ko-KR" sz="2600" dirty="0"/>
              <a:t>회전</a:t>
            </a:r>
            <a:r>
              <a:rPr lang="en-US" altLang="ko-KR" sz="2600" dirty="0"/>
              <a:t> </a:t>
            </a:r>
            <a:r>
              <a:rPr lang="ko-KR" altLang="ko-KR" sz="2600"/>
              <a:t>연산의 수행</a:t>
            </a:r>
            <a:r>
              <a:rPr lang="en-US" altLang="ko-KR" sz="2600"/>
              <a:t> </a:t>
            </a:r>
            <a:r>
              <a:rPr lang="ko-KR" altLang="ko-KR" sz="2600"/>
              <a:t>시간 </a:t>
            </a:r>
            <a:r>
              <a:rPr lang="en-US" altLang="ko-KR" sz="2600" dirty="0"/>
              <a:t>O(1</a:t>
            </a:r>
            <a:r>
              <a:rPr lang="en-US" altLang="ko-KR" sz="2600"/>
              <a:t>)  </a:t>
            </a:r>
            <a:endParaRPr lang="en-US" altLang="ko-KR" sz="2600" dirty="0"/>
          </a:p>
        </p:txBody>
      </p:sp>
    </p:spTree>
    <p:extLst>
      <p:ext uri="{BB962C8B-B14F-4D97-AF65-F5344CB8AC3E}">
        <p14:creationId xmlns:p14="http://schemas.microsoft.com/office/powerpoint/2010/main" val="10357551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 dirty="0"/>
              <a:t>5.3.2 </a:t>
            </a:r>
            <a:r>
              <a:rPr lang="ko-KR" altLang="ko-KR" dirty="0"/>
              <a:t>삽입 연산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682885"/>
            <a:ext cx="7886700" cy="4809355"/>
          </a:xfrm>
        </p:spPr>
        <p:txBody>
          <a:bodyPr/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en-US" altLang="ko-KR" sz="2400"/>
              <a:t>[</a:t>
            </a:r>
            <a:r>
              <a:rPr lang="en-US" altLang="ko-KR" sz="2400" dirty="0"/>
              <a:t>1 </a:t>
            </a:r>
            <a:r>
              <a:rPr lang="ko-KR" altLang="ko-KR" sz="2400" dirty="0"/>
              <a:t>단계</a:t>
            </a:r>
            <a:r>
              <a:rPr lang="en-US" altLang="ko-KR" sz="2400"/>
              <a:t>]</a:t>
            </a:r>
            <a:r>
              <a:rPr lang="ko-KR" altLang="ko-KR" sz="2400"/>
              <a:t> 이진</a:t>
            </a:r>
            <a:r>
              <a:rPr lang="en-US" altLang="ko-KR" sz="2400"/>
              <a:t> </a:t>
            </a:r>
            <a:r>
              <a:rPr lang="ko-KR" altLang="ko-KR" sz="2400"/>
              <a:t>탐색</a:t>
            </a:r>
            <a:r>
              <a:rPr lang="en-US" altLang="ko-KR" sz="2400"/>
              <a:t> </a:t>
            </a:r>
            <a:r>
              <a:rPr lang="ko-KR" altLang="ko-KR" sz="2400"/>
              <a:t>트리의 </a:t>
            </a:r>
            <a:r>
              <a:rPr lang="ko-KR" altLang="ko-KR" sz="2400" dirty="0"/>
              <a:t>삽입과 </a:t>
            </a:r>
            <a:r>
              <a:rPr lang="ko-KR" altLang="ko-KR" sz="2400"/>
              <a:t>동일하게 새 </a:t>
            </a:r>
            <a:r>
              <a:rPr lang="ko-KR" altLang="ko-KR" sz="2400" dirty="0"/>
              <a:t>노드 삽입</a:t>
            </a:r>
            <a:endParaRPr lang="en-US" altLang="ko-KR" sz="2400" dirty="0"/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en-US" altLang="ko-KR" sz="2400" dirty="0"/>
              <a:t>[2 </a:t>
            </a:r>
            <a:r>
              <a:rPr lang="ko-KR" altLang="ko-KR" sz="2400" dirty="0"/>
              <a:t>단계</a:t>
            </a:r>
            <a:r>
              <a:rPr lang="en-US" altLang="ko-KR" sz="2400"/>
              <a:t>]</a:t>
            </a:r>
            <a:r>
              <a:rPr lang="ko-KR" altLang="ko-KR" sz="2400"/>
              <a:t> 새 </a:t>
            </a:r>
            <a:r>
              <a:rPr lang="ko-KR" altLang="ko-KR" sz="2400" dirty="0"/>
              <a:t>노드로부터 루트로 거슬러 올라가며 각 노드의 서브트리 높이 차이를 갱신</a:t>
            </a:r>
            <a:endParaRPr lang="en-US" altLang="ko-KR" sz="2400" dirty="0"/>
          </a:p>
          <a:p>
            <a:pPr lvl="1">
              <a:lnSpc>
                <a:spcPct val="120000"/>
              </a:lnSpc>
              <a:spcAft>
                <a:spcPts val="1200"/>
              </a:spcAft>
              <a:buFontTx/>
              <a:buChar char="-"/>
            </a:pPr>
            <a:r>
              <a:rPr lang="ko-KR" altLang="ko-KR" sz="2400"/>
              <a:t>이때 </a:t>
            </a:r>
            <a:r>
              <a:rPr lang="ko-KR" altLang="ko-KR" sz="2400" dirty="0"/>
              <a:t>가장 먼저 불균형이 발생한 노드를 발견하면</a:t>
            </a:r>
            <a:r>
              <a:rPr lang="en-US" altLang="ko-KR" sz="2400" dirty="0"/>
              <a:t>, </a:t>
            </a:r>
            <a:r>
              <a:rPr lang="ko-KR" altLang="ko-KR" sz="2400" dirty="0"/>
              <a:t>이 노드를 기준으로 새 노드가 어디에 </a:t>
            </a:r>
            <a:r>
              <a:rPr lang="ko-KR" altLang="ko-KR" sz="2400" dirty="0" err="1"/>
              <a:t>삽입되었는</a:t>
            </a:r>
            <a:r>
              <a:rPr lang="ko-KR" altLang="en-US" sz="2400" dirty="0" err="1"/>
              <a:t>지</a:t>
            </a:r>
            <a:r>
              <a:rPr lang="ko-KR" altLang="ko-KR" sz="2400" dirty="0" err="1"/>
              <a:t>에</a:t>
            </a:r>
            <a:r>
              <a:rPr lang="ko-KR" altLang="ko-KR" sz="2400" dirty="0"/>
              <a:t> 따라 </a:t>
            </a:r>
            <a:r>
              <a:rPr lang="ko-KR" altLang="ko-KR" sz="2400"/>
              <a:t>적절한 회전</a:t>
            </a:r>
            <a:r>
              <a:rPr lang="en-US" altLang="ko-KR" sz="2400"/>
              <a:t> </a:t>
            </a:r>
            <a:r>
              <a:rPr lang="ko-KR" altLang="ko-KR" sz="2400"/>
              <a:t>연산을 </a:t>
            </a:r>
            <a:r>
              <a:rPr lang="ko-KR" altLang="ko-KR" sz="2400" dirty="0"/>
              <a:t>수행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483539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611710" y="251825"/>
            <a:ext cx="50449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AVL </a:t>
            </a:r>
            <a:r>
              <a:rPr lang="ko-KR" altLang="ko-KR" sz="24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트리를 위한</a:t>
            </a:r>
            <a:r>
              <a:rPr lang="en-US" altLang="ko-KR" sz="24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Node, AVL </a:t>
            </a:r>
            <a:r>
              <a:rPr lang="ko-KR" altLang="ko-KR" sz="24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클래스</a:t>
            </a:r>
            <a:endParaRPr lang="ko-KR" altLang="en-US" sz="2400" b="1" dirty="0">
              <a:solidFill>
                <a:srgbClr val="C0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2E89D47-EC00-4FCC-8564-8744F624A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740" y="917881"/>
            <a:ext cx="7701485" cy="594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80968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89" y="5245711"/>
            <a:ext cx="8495072" cy="760753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552032" y="4577345"/>
            <a:ext cx="7854337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20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bf(n):</a:t>
            </a:r>
            <a:r>
              <a:rPr lang="ko-KR" altLang="ko-KR" sz="20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20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ko-KR" sz="20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노드 </a:t>
            </a:r>
            <a:r>
              <a:rPr lang="en-US" altLang="ko-KR" sz="20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n</a:t>
            </a:r>
            <a:r>
              <a:rPr lang="ko-KR" altLang="ko-KR" sz="20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 왼쪽 </a:t>
            </a:r>
            <a:r>
              <a:rPr lang="ko-KR" altLang="ko-KR" sz="2000" b="1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서브트리</a:t>
            </a:r>
            <a:r>
              <a:rPr lang="ko-KR" altLang="ko-KR" sz="20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높이</a:t>
            </a:r>
            <a:r>
              <a:rPr lang="en-US" altLang="ko-KR" sz="20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 – (</a:t>
            </a:r>
            <a:r>
              <a:rPr lang="ko-KR" altLang="ko-KR" sz="20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오른쪽 </a:t>
            </a:r>
            <a:r>
              <a:rPr lang="ko-KR" altLang="ko-KR" sz="2000" b="1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서브트리</a:t>
            </a:r>
            <a:r>
              <a:rPr lang="ko-KR" altLang="ko-KR" sz="20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높이</a:t>
            </a:r>
            <a:r>
              <a:rPr lang="en-US" altLang="ko-KR" sz="20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</a:t>
            </a:r>
            <a:r>
              <a:rPr lang="ko-KR" altLang="ko-KR" sz="20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20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반환</a:t>
            </a:r>
            <a:endParaRPr lang="ko-KR" altLang="en-US" sz="20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DD9F59F-CAAC-4AA6-9549-7747228B7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7" y="727945"/>
            <a:ext cx="8963025" cy="34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83563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965" y="1116114"/>
            <a:ext cx="8558179" cy="439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97550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94569" y="588103"/>
            <a:ext cx="81732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95350" indent="-895350"/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[</a:t>
            </a:r>
            <a:r>
              <a:rPr lang="ko-KR" altLang="en-US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예제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] 30, 40, 100, 20, 10, 60, 70, 120, 110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을 </a:t>
            </a:r>
            <a:r>
              <a:rPr lang="ko-KR" altLang="en-US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차례로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삽입</a:t>
            </a:r>
            <a:endParaRPr lang="ko-KR" altLang="en-US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5" name="그림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9" y="2096967"/>
            <a:ext cx="8370122" cy="1898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그림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604" y="4268435"/>
            <a:ext cx="8245297" cy="24956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7764466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34" y="568844"/>
            <a:ext cx="9031266" cy="262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그림 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306" y="3467744"/>
            <a:ext cx="6739003" cy="2857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42274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716489"/>
            <a:ext cx="7886700" cy="503554"/>
          </a:xfrm>
        </p:spPr>
        <p:txBody>
          <a:bodyPr/>
          <a:lstStyle/>
          <a:p>
            <a:pPr algn="l"/>
            <a:r>
              <a:rPr lang="en-US" altLang="ko-KR" dirty="0"/>
              <a:t>5.3.3 </a:t>
            </a:r>
            <a:r>
              <a:rPr lang="ko-KR" altLang="ko-KR" dirty="0"/>
              <a:t>삭제 연산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2A8BA99C-428D-44AF-A820-859ACE66B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78904"/>
            <a:ext cx="7886700" cy="426260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/>
              <a:t>[</a:t>
            </a:r>
            <a:r>
              <a:rPr lang="en-US" altLang="ko-KR" sz="2400" dirty="0"/>
              <a:t>1</a:t>
            </a:r>
            <a:r>
              <a:rPr lang="ko-KR" altLang="ko-KR" sz="2400" dirty="0"/>
              <a:t>단계</a:t>
            </a:r>
            <a:r>
              <a:rPr lang="en-US" altLang="ko-KR" sz="2400"/>
              <a:t>]</a:t>
            </a:r>
            <a:r>
              <a:rPr lang="ko-KR" altLang="ko-KR" sz="2400"/>
              <a:t> 이진</a:t>
            </a:r>
            <a:r>
              <a:rPr lang="en-US" altLang="ko-KR" sz="2400"/>
              <a:t> </a:t>
            </a:r>
            <a:r>
              <a:rPr lang="ko-KR" altLang="ko-KR" sz="2400"/>
              <a:t>탐색</a:t>
            </a:r>
            <a:r>
              <a:rPr lang="en-US" altLang="ko-KR" sz="2400"/>
              <a:t> </a:t>
            </a:r>
            <a:r>
              <a:rPr lang="ko-KR" altLang="ko-KR" sz="2400"/>
              <a:t>트리에서와 </a:t>
            </a:r>
            <a:r>
              <a:rPr lang="ko-KR" altLang="ko-KR" sz="2400" dirty="0"/>
              <a:t>동일한 삭제 연산 수행</a:t>
            </a:r>
            <a:endParaRPr lang="en-US" altLang="ko-KR" sz="2400" dirty="0"/>
          </a:p>
          <a:p>
            <a:pPr>
              <a:lnSpc>
                <a:spcPct val="150000"/>
              </a:lnSpc>
            </a:pPr>
            <a:r>
              <a:rPr lang="en-US" altLang="ko-KR" sz="2400" dirty="0"/>
              <a:t>[2</a:t>
            </a:r>
            <a:r>
              <a:rPr lang="ko-KR" altLang="ko-KR" sz="2400" dirty="0"/>
              <a:t>단계</a:t>
            </a:r>
            <a:r>
              <a:rPr lang="en-US" altLang="ko-KR" sz="2400" dirty="0"/>
              <a:t>]</a:t>
            </a:r>
            <a:r>
              <a:rPr lang="ko-KR" altLang="ko-KR" sz="2400" dirty="0"/>
              <a:t> 삭제된 노드로부터 루트 방향으로 거슬러 올라가며 불균형이 발생한 경우 </a:t>
            </a:r>
            <a:r>
              <a:rPr lang="ko-KR" altLang="ko-KR" sz="2400"/>
              <a:t>적절한 회전</a:t>
            </a:r>
            <a:r>
              <a:rPr lang="en-US" altLang="ko-KR" sz="2400"/>
              <a:t> </a:t>
            </a:r>
            <a:r>
              <a:rPr lang="ko-KR" altLang="ko-KR" sz="2400"/>
              <a:t>연산</a:t>
            </a:r>
            <a:r>
              <a:rPr lang="en-US" altLang="ko-KR" sz="2400"/>
              <a:t> </a:t>
            </a:r>
            <a:r>
              <a:rPr lang="ko-KR" altLang="ko-KR" sz="2400" dirty="0"/>
              <a:t>수행</a:t>
            </a:r>
            <a:endParaRPr lang="en-US" altLang="ko-KR" sz="2400" dirty="0"/>
          </a:p>
          <a:p>
            <a:pPr lvl="1">
              <a:lnSpc>
                <a:spcPct val="150000"/>
              </a:lnSpc>
              <a:buFontTx/>
              <a:buChar char="-"/>
            </a:pPr>
            <a:r>
              <a:rPr lang="ko-KR" altLang="ko-KR" sz="2300"/>
              <a:t>회전</a:t>
            </a:r>
            <a:r>
              <a:rPr lang="en-US" altLang="ko-KR" sz="2300"/>
              <a:t> </a:t>
            </a:r>
            <a:r>
              <a:rPr lang="ko-KR" altLang="ko-KR" sz="2300"/>
              <a:t>연산 </a:t>
            </a:r>
            <a:r>
              <a:rPr lang="ko-KR" altLang="ko-KR" sz="2300" dirty="0"/>
              <a:t>수행 </a:t>
            </a:r>
            <a:r>
              <a:rPr lang="ko-KR" altLang="ko-KR" sz="2300"/>
              <a:t>후에 부모에서 </a:t>
            </a:r>
            <a:r>
              <a:rPr lang="ko-KR" altLang="ko-KR" sz="2300" dirty="0"/>
              <a:t>불균형이 발생할 수 있고</a:t>
            </a:r>
            <a:r>
              <a:rPr lang="en-US" altLang="ko-KR" sz="2300" dirty="0"/>
              <a:t>, </a:t>
            </a:r>
            <a:r>
              <a:rPr lang="ko-KR" altLang="ko-KR" sz="2300" dirty="0"/>
              <a:t>이러한 일이 반복되어 </a:t>
            </a:r>
            <a:r>
              <a:rPr lang="ko-KR" altLang="ko-KR" sz="2300"/>
              <a:t>루트에서 회전</a:t>
            </a:r>
            <a:r>
              <a:rPr lang="en-US" altLang="ko-KR" sz="2300"/>
              <a:t> </a:t>
            </a:r>
            <a:r>
              <a:rPr lang="ko-KR" altLang="ko-KR" sz="2300"/>
              <a:t>연산을 </a:t>
            </a:r>
            <a:r>
              <a:rPr lang="ko-KR" altLang="ko-KR" sz="2300" dirty="0"/>
              <a:t>수행해야 하는 경우도 발생</a:t>
            </a:r>
            <a:endParaRPr lang="en-US" altLang="ko-KR" sz="2300" dirty="0"/>
          </a:p>
        </p:txBody>
      </p:sp>
    </p:spTree>
    <p:extLst>
      <p:ext uri="{BB962C8B-B14F-4D97-AF65-F5344CB8AC3E}">
        <p14:creationId xmlns:p14="http://schemas.microsoft.com/office/powerpoint/2010/main" val="383887683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463641" y="5046774"/>
            <a:ext cx="80667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ko-KR" sz="2000" dirty="0"/>
              <a:t>(a) </a:t>
            </a:r>
            <a:r>
              <a:rPr lang="ko-KR" altLang="ko-KR" sz="2000" dirty="0">
                <a:latin typeface="Calibri" panose="020F0502020204030204" pitchFamily="34" charset="0"/>
              </a:rPr>
              <a:t>삭제</a:t>
            </a:r>
            <a:r>
              <a:rPr lang="ko-KR" altLang="ko-KR" sz="2000" dirty="0"/>
              <a:t> </a:t>
            </a:r>
            <a:r>
              <a:rPr lang="ko-KR" altLang="ko-KR" sz="2000" dirty="0">
                <a:latin typeface="Calibri" panose="020F0502020204030204" pitchFamily="34" charset="0"/>
              </a:rPr>
              <a:t>전</a:t>
            </a:r>
            <a:r>
              <a:rPr lang="en-US" altLang="ko-KR" sz="2000" dirty="0"/>
              <a:t>	</a:t>
            </a:r>
            <a:r>
              <a:rPr lang="en-US" altLang="ko-KR" sz="2000"/>
              <a:t>          </a:t>
            </a:r>
            <a:r>
              <a:rPr lang="en-US" altLang="ko-KR" sz="2000" dirty="0"/>
              <a:t>(b) </a:t>
            </a:r>
            <a:r>
              <a:rPr lang="ko-KR" altLang="ko-KR" sz="2000" dirty="0">
                <a:latin typeface="Calibri" panose="020F0502020204030204" pitchFamily="34" charset="0"/>
              </a:rPr>
              <a:t>삭제</a:t>
            </a:r>
            <a:r>
              <a:rPr lang="ko-KR" altLang="ko-KR" sz="2000" dirty="0"/>
              <a:t> </a:t>
            </a:r>
            <a:r>
              <a:rPr lang="ko-KR" altLang="ko-KR" sz="2000">
                <a:latin typeface="Calibri" panose="020F0502020204030204" pitchFamily="34" charset="0"/>
              </a:rPr>
              <a:t>후</a:t>
            </a:r>
            <a:r>
              <a:rPr lang="ko-KR" altLang="ko-KR" sz="2000"/>
              <a:t> </a:t>
            </a:r>
            <a:r>
              <a:rPr lang="en-US" altLang="ko-KR" sz="2000"/>
              <a:t>40</a:t>
            </a:r>
            <a:r>
              <a:rPr lang="ko-KR" altLang="ko-KR" sz="2000" dirty="0">
                <a:latin typeface="Calibri" panose="020F0502020204030204" pitchFamily="34" charset="0"/>
              </a:rPr>
              <a:t>에서</a:t>
            </a:r>
            <a:r>
              <a:rPr lang="ko-KR" altLang="ko-KR" sz="2000" dirty="0"/>
              <a:t> </a:t>
            </a:r>
            <a:r>
              <a:rPr lang="ko-KR" altLang="ko-KR" sz="2000" dirty="0">
                <a:latin typeface="Calibri" panose="020F0502020204030204" pitchFamily="34" charset="0"/>
              </a:rPr>
              <a:t>불균형</a:t>
            </a:r>
            <a:r>
              <a:rPr lang="ko-KR" altLang="ko-KR" sz="2000" dirty="0"/>
              <a:t> </a:t>
            </a:r>
            <a:r>
              <a:rPr lang="ko-KR" altLang="ko-KR" sz="2000" dirty="0">
                <a:latin typeface="Calibri" panose="020F0502020204030204" pitchFamily="34" charset="0"/>
              </a:rPr>
              <a:t>발생</a:t>
            </a:r>
            <a:endParaRPr lang="ko-KR" altLang="ko-KR" sz="2000" dirty="0"/>
          </a:p>
        </p:txBody>
      </p:sp>
      <p:sp>
        <p:nvSpPr>
          <p:cNvPr id="4" name="직사각형 3"/>
          <p:cNvSpPr/>
          <p:nvPr/>
        </p:nvSpPr>
        <p:spPr>
          <a:xfrm>
            <a:off x="3746519" y="607699"/>
            <a:ext cx="11961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400" b="1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30</a:t>
            </a:r>
            <a:r>
              <a:rPr lang="ko-KR" altLang="ko-KR" sz="2400" b="1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삭제</a:t>
            </a:r>
            <a:endParaRPr lang="ko-KR" altLang="en-US" sz="2400" b="1" dirty="0">
              <a:solidFill>
                <a:srgbClr val="C0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7" name="그림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877961"/>
            <a:ext cx="7148052" cy="26842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6005857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714126" y="522106"/>
            <a:ext cx="7443928" cy="15023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/>
        </p:nvSpPr>
        <p:spPr>
          <a:xfrm>
            <a:off x="494777" y="562471"/>
            <a:ext cx="8223337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0363">
              <a:spcAft>
                <a:spcPts val="1200"/>
              </a:spcAft>
            </a:pPr>
            <a:r>
              <a:rPr lang="en-US" altLang="ko-KR" sz="2400" b="1" dirty="0">
                <a:solidFill>
                  <a:srgbClr val="3333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[</a:t>
            </a:r>
            <a:r>
              <a:rPr lang="ko-KR" altLang="ko-KR" sz="2400" b="1" dirty="0">
                <a:solidFill>
                  <a:srgbClr val="3333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핵심 아이디어</a:t>
            </a:r>
            <a:r>
              <a:rPr lang="en-US" altLang="ko-KR" sz="2400" b="1" dirty="0">
                <a:solidFill>
                  <a:srgbClr val="3333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]</a:t>
            </a:r>
            <a:r>
              <a:rPr lang="en-US" altLang="ko-KR" sz="2400" b="1" dirty="0">
                <a:solidFill>
                  <a:srgbClr val="00B05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</a:p>
          <a:p>
            <a:pPr marL="360363">
              <a:spcAft>
                <a:spcPts val="1800"/>
              </a:spcAft>
            </a:pPr>
            <a:r>
              <a:rPr lang="ko-KR" altLang="ko-KR" sz="2400" b="1" dirty="0">
                <a:solidFill>
                  <a:srgbClr val="007635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삭제 후 불균형이 발생하면 반대쪽에 삽입이 이루어져 불균형이 발생한 것으로 취급</a:t>
            </a:r>
            <a:endParaRPr lang="en-US" altLang="ko-KR" sz="2400" b="1" dirty="0">
              <a:solidFill>
                <a:srgbClr val="007635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삭제된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노드의 부모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= p,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p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 부모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= </a:t>
            </a:r>
            <a:r>
              <a:rPr lang="en-US" altLang="ko-KR" sz="2400" b="1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gp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p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 형제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= s</a:t>
            </a:r>
            <a:endParaRPr lang="en-US" altLang="ko-KR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altLang="ko-KR" sz="2400" b="1" dirty="0">
                <a:solidFill>
                  <a:srgbClr val="339933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</a:t>
            </a:r>
            <a:r>
              <a:rPr lang="ko-KR" altLang="ko-KR" sz="2400" b="1" dirty="0">
                <a:solidFill>
                  <a:srgbClr val="339933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 왼쪽과 오른쪽 </a:t>
            </a:r>
            <a:r>
              <a:rPr lang="ko-KR" altLang="ko-KR" sz="2400" b="1" dirty="0" err="1">
                <a:solidFill>
                  <a:srgbClr val="339933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서브트리</a:t>
            </a:r>
            <a:r>
              <a:rPr lang="ko-KR" altLang="ko-KR" sz="2400" b="1" dirty="0">
                <a:solidFill>
                  <a:srgbClr val="339933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중에서 높은 </a:t>
            </a:r>
            <a:r>
              <a:rPr lang="ko-KR" altLang="ko-KR" sz="2400" b="1" dirty="0" err="1">
                <a:solidFill>
                  <a:srgbClr val="339933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서브트리에</a:t>
            </a:r>
            <a:r>
              <a:rPr lang="ko-KR" altLang="ko-KR" sz="2400" b="1" dirty="0">
                <a:solidFill>
                  <a:srgbClr val="339933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마치 </a:t>
            </a:r>
            <a:r>
              <a:rPr lang="ko-KR" altLang="ko-KR" sz="2400" b="1">
                <a:solidFill>
                  <a:srgbClr val="339933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새 노드</a:t>
            </a:r>
            <a:r>
              <a:rPr lang="ko-KR" altLang="en-US" sz="2400" b="1">
                <a:solidFill>
                  <a:srgbClr val="339933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를</a:t>
            </a:r>
            <a:r>
              <a:rPr lang="ko-KR" altLang="ko-KR" sz="2400" b="1">
                <a:solidFill>
                  <a:srgbClr val="339933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삽입</a:t>
            </a:r>
            <a:r>
              <a:rPr lang="ko-KR" altLang="en-US" sz="2400" b="1">
                <a:solidFill>
                  <a:srgbClr val="339933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한</a:t>
            </a:r>
            <a:r>
              <a:rPr lang="ko-KR" altLang="ko-KR" sz="2400" b="1">
                <a:solidFill>
                  <a:srgbClr val="339933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 dirty="0">
                <a:solidFill>
                  <a:srgbClr val="339933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것으로 간주</a:t>
            </a:r>
            <a:r>
              <a:rPr lang="en-US" altLang="ko-KR" sz="2400" dirty="0"/>
              <a:t> </a:t>
            </a:r>
            <a:endParaRPr lang="ko-KR" altLang="ko-KR" sz="2400" dirty="0"/>
          </a:p>
        </p:txBody>
      </p:sp>
      <p:pic>
        <p:nvPicPr>
          <p:cNvPr id="3" name="그림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777" y="4035423"/>
            <a:ext cx="8123130" cy="204750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직사각형 3"/>
          <p:cNvSpPr/>
          <p:nvPr/>
        </p:nvSpPr>
        <p:spPr>
          <a:xfrm>
            <a:off x="620038" y="6263937"/>
            <a:ext cx="80980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(a) LL-</a:t>
            </a:r>
            <a:r>
              <a:rPr lang="ko-KR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회전</a:t>
            </a:r>
            <a:r>
              <a:rPr lang="en-US" altLang="ko-KR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	    </a:t>
            </a:r>
            <a:r>
              <a:rPr lang="en-US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(b) RR-</a:t>
            </a:r>
            <a:r>
              <a:rPr lang="ko-KR" altLang="ko-KR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회전</a:t>
            </a:r>
            <a:r>
              <a:rPr lang="en-US" altLang="ko-KR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                </a:t>
            </a:r>
            <a:r>
              <a:rPr lang="en-US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(c) LR-</a:t>
            </a:r>
            <a:r>
              <a:rPr lang="ko-KR" altLang="ko-KR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회전</a:t>
            </a:r>
            <a:r>
              <a:rPr lang="en-US" altLang="ko-KR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          </a:t>
            </a:r>
            <a:r>
              <a:rPr lang="en-US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(d) RL-</a:t>
            </a:r>
            <a:r>
              <a:rPr lang="ko-KR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회전</a:t>
            </a:r>
            <a:endParaRPr lang="ko-KR" altLang="en-US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4B98DC9-6A9F-479A-BC41-177872A12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66" y="562471"/>
            <a:ext cx="4953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25534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109" y="1809135"/>
            <a:ext cx="8160774" cy="3333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0537" y="3560814"/>
            <a:ext cx="638175" cy="24765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7B312A1-2DF9-4AC5-86B0-1BD1EB62B749}"/>
              </a:ext>
            </a:extLst>
          </p:cNvPr>
          <p:cNvSpPr/>
          <p:nvPr/>
        </p:nvSpPr>
        <p:spPr>
          <a:xfrm>
            <a:off x="660576" y="904055"/>
            <a:ext cx="25231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[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예제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] 40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삭제</a:t>
            </a:r>
            <a:endParaRPr lang="ko-KR" altLang="en-US" sz="32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469726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811406" y="4721693"/>
            <a:ext cx="77939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457200">
              <a:spcAft>
                <a:spcPts val="0"/>
              </a:spcAft>
            </a:pPr>
            <a:r>
              <a:rPr lang="en-US" altLang="ko-KR" sz="2400" dirty="0"/>
              <a:t>LR-</a:t>
            </a:r>
            <a:r>
              <a:rPr lang="ko-KR" altLang="ko-KR" sz="2400" dirty="0">
                <a:latin typeface="Calibri" panose="020F0502020204030204" pitchFamily="34" charset="0"/>
              </a:rPr>
              <a:t>회전</a:t>
            </a:r>
            <a:r>
              <a:rPr lang="ko-KR" altLang="ko-KR" sz="2400" dirty="0"/>
              <a:t> </a:t>
            </a:r>
            <a:r>
              <a:rPr lang="ko-KR" altLang="ko-KR" sz="2400" dirty="0">
                <a:latin typeface="Calibri" panose="020F0502020204030204" pitchFamily="34" charset="0"/>
              </a:rPr>
              <a:t>후</a:t>
            </a:r>
            <a:r>
              <a:rPr lang="en-US" altLang="ko-KR" sz="2400" dirty="0"/>
              <a:t>	     		       RL-</a:t>
            </a:r>
            <a:r>
              <a:rPr lang="ko-KR" altLang="ko-KR" sz="2400" dirty="0">
                <a:latin typeface="Calibri" panose="020F0502020204030204" pitchFamily="34" charset="0"/>
              </a:rPr>
              <a:t>회전</a:t>
            </a:r>
            <a:r>
              <a:rPr lang="ko-KR" altLang="ko-KR" sz="2400" dirty="0"/>
              <a:t> </a:t>
            </a:r>
            <a:r>
              <a:rPr lang="ko-KR" altLang="ko-KR" sz="2400" dirty="0">
                <a:latin typeface="Calibri" panose="020F0502020204030204" pitchFamily="34" charset="0"/>
              </a:rPr>
              <a:t>후</a:t>
            </a:r>
            <a:endParaRPr lang="ko-KR" altLang="ko-KR" sz="2400" dirty="0">
              <a:effectLst/>
            </a:endParaRPr>
          </a:p>
        </p:txBody>
      </p:sp>
      <p:pic>
        <p:nvPicPr>
          <p:cNvPr id="5" name="그림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697" y="951722"/>
            <a:ext cx="7292258" cy="32466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035653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79413" y="5323927"/>
            <a:ext cx="241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ko-KR" altLang="ko-KR" dirty="0">
                <a:latin typeface="Calibri" panose="020F0502020204030204" pitchFamily="34" charset="0"/>
                <a:cs typeface="Times New Roman" panose="02020603050405020304" pitchFamily="18" charset="0"/>
              </a:rPr>
              <a:t>프로그램</a:t>
            </a:r>
            <a:r>
              <a:rPr lang="ko-KR" altLang="ko-KR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ea typeface="Calibri" panose="020F0502020204030204" pitchFamily="34" charset="0"/>
                <a:cs typeface="Times New Roman" panose="02020603050405020304" pitchFamily="18" charset="0"/>
              </a:rPr>
              <a:t>5-4] main.py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8F2ABB7-9270-4179-AC66-E55D02483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" y="1695450"/>
            <a:ext cx="9115425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90210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886039B-2110-43D6-ABFE-584AE71D7924}"/>
              </a:ext>
            </a:extLst>
          </p:cNvPr>
          <p:cNvSpPr/>
          <p:nvPr/>
        </p:nvSpPr>
        <p:spPr>
          <a:xfrm>
            <a:off x="2791824" y="1133062"/>
            <a:ext cx="3127779" cy="5143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7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프로그램 수행 결과</a:t>
            </a:r>
            <a:endParaRPr kumimoji="1" 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BA89541-7080-4ED1-9DB9-983D954D0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54" y="904427"/>
            <a:ext cx="792000" cy="743007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3B06B4B1-B8CE-44EE-9760-3D2A0BC24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41" y="2601034"/>
            <a:ext cx="8963519" cy="2223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85275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수행 시간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sz="2400"/>
              <a:t>AVL </a:t>
            </a:r>
            <a:r>
              <a:rPr lang="ko-KR" altLang="ko-KR" sz="2400"/>
              <a:t>트리에서의 </a:t>
            </a:r>
            <a:r>
              <a:rPr lang="ko-KR" altLang="ko-KR" sz="2400" dirty="0"/>
              <a:t>탐색</a:t>
            </a:r>
            <a:r>
              <a:rPr lang="en-US" altLang="ko-KR" sz="2400" dirty="0"/>
              <a:t>, </a:t>
            </a:r>
            <a:r>
              <a:rPr lang="ko-KR" altLang="ko-KR" sz="2400" dirty="0"/>
              <a:t>삽입</a:t>
            </a:r>
            <a:r>
              <a:rPr lang="en-US" altLang="ko-KR" sz="2400" dirty="0"/>
              <a:t>, </a:t>
            </a:r>
            <a:r>
              <a:rPr lang="ko-KR" altLang="ko-KR" sz="2400" dirty="0"/>
              <a:t>삭제 연산은 </a:t>
            </a:r>
            <a:r>
              <a:rPr lang="ko-KR" altLang="ko-KR" sz="2400"/>
              <a:t>공통적으로 루트</a:t>
            </a:r>
            <a:r>
              <a:rPr lang="ko-KR" altLang="en-US" sz="2400"/>
              <a:t>에서</a:t>
            </a:r>
            <a:r>
              <a:rPr lang="ko-KR" altLang="ko-KR" sz="2400"/>
              <a:t> </a:t>
            </a:r>
            <a:r>
              <a:rPr lang="ko-KR" altLang="ko-KR" sz="2400" dirty="0"/>
              <a:t>탐색을 </a:t>
            </a:r>
            <a:r>
              <a:rPr lang="ko-KR" altLang="ko-KR" sz="2400"/>
              <a:t>시작하여 최악 경우에 이파리까지 </a:t>
            </a:r>
            <a:r>
              <a:rPr lang="ko-KR" altLang="ko-KR" sz="2400" dirty="0"/>
              <a:t>내려가고</a:t>
            </a:r>
            <a:r>
              <a:rPr lang="en-US" altLang="ko-KR" sz="2400" dirty="0"/>
              <a:t>, </a:t>
            </a:r>
            <a:r>
              <a:rPr lang="ko-KR" altLang="ko-KR" sz="2400" dirty="0"/>
              <a:t>삽입이나 삭제 연산은 다시 루트까지 거슬러 올라가야</a:t>
            </a:r>
            <a:endParaRPr lang="en-US" altLang="ko-KR" sz="2400" dirty="0"/>
          </a:p>
          <a:p>
            <a:pPr>
              <a:lnSpc>
                <a:spcPct val="120000"/>
              </a:lnSpc>
            </a:pPr>
            <a:r>
              <a:rPr lang="ko-KR" altLang="ko-KR" sz="2400"/>
              <a:t>트리를 </a:t>
            </a:r>
            <a:r>
              <a:rPr lang="en-US" altLang="ko-KR" sz="2400"/>
              <a:t>1</a:t>
            </a:r>
            <a:r>
              <a:rPr lang="ko-KR" altLang="ko-KR" sz="2400"/>
              <a:t>층 </a:t>
            </a:r>
            <a:r>
              <a:rPr lang="ko-KR" altLang="ko-KR" sz="2400" dirty="0"/>
              <a:t>내려갈 </a:t>
            </a:r>
            <a:r>
              <a:rPr lang="ko-KR" altLang="ko-KR" sz="2400"/>
              <a:t>때는 </a:t>
            </a:r>
            <a:r>
              <a:rPr lang="ko-KR" altLang="en-US" sz="2400"/>
              <a:t>순환 </a:t>
            </a:r>
            <a:r>
              <a:rPr lang="ko-KR" altLang="ko-KR" sz="2400"/>
              <a:t>호출하며</a:t>
            </a:r>
            <a:r>
              <a:rPr lang="en-US" altLang="ko-KR" sz="2400"/>
              <a:t>, 1</a:t>
            </a:r>
            <a:r>
              <a:rPr lang="ko-KR" altLang="ko-KR" sz="2400"/>
              <a:t>층을 </a:t>
            </a:r>
            <a:r>
              <a:rPr lang="ko-KR" altLang="ko-KR" sz="2400" dirty="0"/>
              <a:t>올라갈 때 불균형이 발생하면 </a:t>
            </a:r>
            <a:r>
              <a:rPr lang="ko-KR" altLang="ko-KR" sz="2400"/>
              <a:t>적절한 회전</a:t>
            </a:r>
            <a:r>
              <a:rPr lang="en-US" altLang="ko-KR" sz="2400"/>
              <a:t> </a:t>
            </a:r>
            <a:r>
              <a:rPr lang="ko-KR" altLang="ko-KR" sz="2400"/>
              <a:t>연산을 수행</a:t>
            </a:r>
            <a:r>
              <a:rPr lang="en-US" altLang="ko-KR" sz="2400"/>
              <a:t>, </a:t>
            </a:r>
            <a:r>
              <a:rPr lang="ko-KR" altLang="ko-KR" sz="2400"/>
              <a:t>각각은 </a:t>
            </a:r>
            <a:r>
              <a:rPr lang="en-US" altLang="ko-KR" sz="2400" dirty="0">
                <a:solidFill>
                  <a:srgbClr val="00B0F0"/>
                </a:solidFill>
              </a:rPr>
              <a:t>O(1</a:t>
            </a:r>
            <a:r>
              <a:rPr lang="en-US" altLang="ko-KR" sz="2400">
                <a:solidFill>
                  <a:srgbClr val="00B0F0"/>
                </a:solidFill>
              </a:rPr>
              <a:t>) </a:t>
            </a:r>
            <a:r>
              <a:rPr lang="ko-KR" altLang="ko-KR" sz="2400">
                <a:solidFill>
                  <a:srgbClr val="00B0F0"/>
                </a:solidFill>
              </a:rPr>
              <a:t>시간</a:t>
            </a:r>
            <a:endParaRPr lang="en-US" altLang="ko-KR" sz="2400" dirty="0">
              <a:solidFill>
                <a:srgbClr val="00B0F0"/>
              </a:solidFill>
            </a:endParaRPr>
          </a:p>
          <a:p>
            <a:pPr>
              <a:lnSpc>
                <a:spcPct val="120000"/>
              </a:lnSpc>
            </a:pPr>
            <a:r>
              <a:rPr lang="ko-KR" altLang="ko-KR" sz="2400" dirty="0"/>
              <a:t>탐색</a:t>
            </a:r>
            <a:r>
              <a:rPr lang="en-US" altLang="ko-KR" sz="2400" dirty="0"/>
              <a:t>, </a:t>
            </a:r>
            <a:r>
              <a:rPr lang="ko-KR" altLang="ko-KR" sz="2400" dirty="0"/>
              <a:t>삽입</a:t>
            </a:r>
            <a:r>
              <a:rPr lang="en-US" altLang="ko-KR" sz="2400" dirty="0"/>
              <a:t>, </a:t>
            </a:r>
            <a:r>
              <a:rPr lang="ko-KR" altLang="ko-KR" sz="2400" dirty="0"/>
              <a:t>삭제 </a:t>
            </a:r>
            <a:r>
              <a:rPr lang="ko-KR" altLang="ko-KR" sz="2400"/>
              <a:t>연산의 </a:t>
            </a:r>
            <a:r>
              <a:rPr lang="ko-KR" altLang="en-US" sz="2400"/>
              <a:t>수행 시간은</a:t>
            </a:r>
            <a:r>
              <a:rPr lang="ko-KR" altLang="ko-KR" sz="2400"/>
              <a:t> 각각</a:t>
            </a:r>
            <a:r>
              <a:rPr lang="en-US" altLang="ko-KR" sz="2400"/>
              <a:t> AVL </a:t>
            </a:r>
            <a:r>
              <a:rPr lang="ko-KR" altLang="en-US" sz="2400"/>
              <a:t>트리</a:t>
            </a:r>
            <a:r>
              <a:rPr lang="ko-KR" altLang="ko-KR" sz="2400"/>
              <a:t>의 높이에 비례</a:t>
            </a:r>
            <a:r>
              <a:rPr lang="en-US" altLang="ko-KR" sz="2400"/>
              <a:t>:</a:t>
            </a:r>
            <a:r>
              <a:rPr lang="ko-KR" altLang="ko-KR" sz="2400"/>
              <a:t> </a:t>
            </a:r>
            <a:r>
              <a:rPr lang="en-US" altLang="ko-KR" sz="2400" dirty="0">
                <a:solidFill>
                  <a:srgbClr val="00B0F0"/>
                </a:solidFill>
              </a:rPr>
              <a:t>O</a:t>
            </a:r>
            <a:r>
              <a:rPr lang="en-US" altLang="ko-KR" sz="2400">
                <a:solidFill>
                  <a:srgbClr val="00B0F0"/>
                </a:solidFill>
              </a:rPr>
              <a:t>(logn)</a:t>
            </a:r>
            <a:endParaRPr lang="ko-KR" altLang="ko-KR" sz="2400" dirty="0">
              <a:solidFill>
                <a:srgbClr val="00B0F0"/>
              </a:solidFill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388395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37744" y="1809490"/>
            <a:ext cx="7897660" cy="2539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다양한 실험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결과에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따르면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AVL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트리는</a:t>
            </a:r>
            <a:r>
              <a:rPr lang="ko-KR" altLang="ko-KR" sz="2400" b="1">
                <a:solidFill>
                  <a:srgbClr val="3333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거의 정렬된 데이터를 삽입한 후에 랜덤 순서로 데이터를 탐색하는 경우 가장 좋은 성능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을 보</a:t>
            </a:r>
            <a:r>
              <a:rPr lang="ko-KR" altLang="en-US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임</a:t>
            </a:r>
            <a:endParaRPr lang="en-US" altLang="ko-KR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342900" indent="-34290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이진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탐색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트리는 </a:t>
            </a:r>
            <a:r>
              <a:rPr lang="ko-KR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랜덤 순서의 데이터를 삽입한 후에 랜덤 순서로 데이터를 탐색하는 경우 가장 좋은 성능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을 보</a:t>
            </a:r>
            <a:r>
              <a:rPr lang="ko-KR" altLang="en-US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임</a:t>
            </a:r>
            <a:endParaRPr lang="ko-KR" altLang="ko-KR" sz="2400" b="1" dirty="0">
              <a:effectLst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18BE4FA-4EA9-4516-9777-E03C56EAF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845" y="533366"/>
            <a:ext cx="864227" cy="928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52644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617722"/>
            <a:ext cx="7886700" cy="503554"/>
          </a:xfrm>
        </p:spPr>
        <p:txBody>
          <a:bodyPr/>
          <a:lstStyle/>
          <a:p>
            <a:pPr algn="l"/>
            <a:r>
              <a:rPr lang="en-US" altLang="ko-KR" dirty="0"/>
              <a:t>5.4 </a:t>
            </a:r>
            <a:r>
              <a:rPr lang="en-US" altLang="ko-KR" dirty="0">
                <a:latin typeface="+mj-ea"/>
              </a:rPr>
              <a:t>2-3</a:t>
            </a:r>
            <a:r>
              <a:rPr lang="en-US" altLang="ko-KR" dirty="0"/>
              <a:t> </a:t>
            </a:r>
            <a:r>
              <a:rPr lang="ko-KR" altLang="ko-KR" dirty="0"/>
              <a:t>트리</a:t>
            </a:r>
            <a:r>
              <a:rPr lang="en-US" altLang="ko-KR"/>
              <a:t>, </a:t>
            </a:r>
            <a:r>
              <a:rPr lang="ko-KR" altLang="en-US"/>
              <a:t>레드 블랙 트리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665962"/>
            <a:ext cx="8299040" cy="482627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altLang="ko-KR" sz="2400" dirty="0"/>
              <a:t>2</a:t>
            </a:r>
            <a:r>
              <a:rPr lang="en-US" altLang="ko-KR" sz="2400" dirty="0">
                <a:latin typeface="Consolas" panose="020B0609020204030204" pitchFamily="49" charset="0"/>
              </a:rPr>
              <a:t>-</a:t>
            </a:r>
            <a:r>
              <a:rPr lang="en-US" altLang="ko-KR" sz="2400" dirty="0"/>
              <a:t>3 </a:t>
            </a:r>
            <a:r>
              <a:rPr lang="ko-KR" altLang="ko-KR" sz="2400" dirty="0"/>
              <a:t>트리는 내부</a:t>
            </a:r>
            <a:r>
              <a:rPr lang="en-US" altLang="ko-KR" sz="2400" dirty="0"/>
              <a:t> </a:t>
            </a:r>
            <a:r>
              <a:rPr lang="ko-KR" altLang="ko-KR" sz="2400" dirty="0"/>
              <a:t>노드의 차수가</a:t>
            </a:r>
            <a:r>
              <a:rPr lang="en-US" altLang="ko-KR" sz="2400" dirty="0"/>
              <a:t> 2 </a:t>
            </a:r>
            <a:r>
              <a:rPr lang="ko-KR" altLang="ko-KR" sz="2000" dirty="0"/>
              <a:t>또는</a:t>
            </a:r>
            <a:r>
              <a:rPr lang="ko-KR" altLang="ko-KR" sz="2400" dirty="0"/>
              <a:t> </a:t>
            </a:r>
            <a:r>
              <a:rPr lang="en-US" altLang="ko-KR" sz="2400" dirty="0"/>
              <a:t>3</a:t>
            </a:r>
            <a:r>
              <a:rPr lang="ko-KR" altLang="ko-KR" sz="2400"/>
              <a:t>인 탐색</a:t>
            </a:r>
            <a:r>
              <a:rPr lang="en-US" altLang="ko-KR" sz="2400"/>
              <a:t> </a:t>
            </a:r>
            <a:r>
              <a:rPr lang="ko-KR" altLang="ko-KR" sz="2400"/>
              <a:t>트리</a:t>
            </a:r>
            <a:endParaRPr lang="en-US" altLang="ko-KR" sz="2400" dirty="0"/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</a:pPr>
            <a:r>
              <a:rPr lang="ko-KR" altLang="ko-KR" sz="2400" dirty="0"/>
              <a:t>차수가 </a:t>
            </a:r>
            <a:r>
              <a:rPr lang="en-US" altLang="ko-KR" sz="2400" dirty="0"/>
              <a:t>2</a:t>
            </a:r>
            <a:r>
              <a:rPr lang="ko-KR" altLang="ko-KR" sz="2400" dirty="0"/>
              <a:t>인 노드</a:t>
            </a:r>
            <a:r>
              <a:rPr lang="en-US" altLang="ko-KR" sz="2400" dirty="0"/>
              <a:t> </a:t>
            </a:r>
            <a:r>
              <a:rPr lang="en-US" altLang="ko-KR" sz="2400" dirty="0">
                <a:latin typeface="Consolas" panose="020B0609020204030204" pitchFamily="49" charset="0"/>
              </a:rPr>
              <a:t>=</a:t>
            </a:r>
            <a:r>
              <a:rPr lang="ko-KR" altLang="ko-KR" sz="2400" dirty="0"/>
              <a:t> </a:t>
            </a:r>
            <a:r>
              <a:rPr lang="en-US" altLang="ko-KR" sz="2400" dirty="0">
                <a:solidFill>
                  <a:srgbClr val="00B0F0"/>
                </a:solidFill>
              </a:rPr>
              <a:t>2-</a:t>
            </a:r>
            <a:r>
              <a:rPr lang="ko-KR" altLang="ko-KR" sz="2400" dirty="0">
                <a:solidFill>
                  <a:srgbClr val="00B0F0"/>
                </a:solidFill>
              </a:rPr>
              <a:t>노드</a:t>
            </a:r>
            <a:r>
              <a:rPr lang="en-US" altLang="ko-KR" sz="2400" dirty="0"/>
              <a:t>, </a:t>
            </a:r>
            <a:r>
              <a:rPr lang="ko-KR" altLang="ko-KR" sz="2400" dirty="0"/>
              <a:t>차수가</a:t>
            </a:r>
            <a:r>
              <a:rPr lang="en-US" altLang="ko-KR" sz="2400" dirty="0"/>
              <a:t> 3</a:t>
            </a:r>
            <a:r>
              <a:rPr lang="ko-KR" altLang="ko-KR" sz="2400" dirty="0"/>
              <a:t>인 노드</a:t>
            </a:r>
            <a:r>
              <a:rPr lang="en-US" altLang="ko-KR" sz="2400" dirty="0"/>
              <a:t> </a:t>
            </a:r>
            <a:r>
              <a:rPr lang="en-US" altLang="ko-KR" sz="2400" dirty="0">
                <a:latin typeface="Consolas" panose="020B0609020204030204" pitchFamily="49" charset="0"/>
              </a:rPr>
              <a:t>=</a:t>
            </a:r>
            <a:r>
              <a:rPr lang="ko-KR" altLang="ko-KR" sz="2400" dirty="0"/>
              <a:t> </a:t>
            </a:r>
            <a:r>
              <a:rPr lang="en-US" altLang="ko-KR" sz="2400" dirty="0">
                <a:solidFill>
                  <a:srgbClr val="00B0F0"/>
                </a:solidFill>
              </a:rPr>
              <a:t>3-</a:t>
            </a:r>
            <a:r>
              <a:rPr lang="ko-KR" altLang="ko-KR" sz="2400" dirty="0">
                <a:solidFill>
                  <a:srgbClr val="00B0F0"/>
                </a:solidFill>
              </a:rPr>
              <a:t>노드</a:t>
            </a:r>
            <a:endParaRPr lang="en-US" altLang="ko-KR" sz="2400" dirty="0">
              <a:solidFill>
                <a:srgbClr val="00B0F0"/>
              </a:solidFill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altLang="ko-KR" sz="2400"/>
              <a:t>2</a:t>
            </a:r>
            <a:r>
              <a:rPr lang="en-US" altLang="ko-KR" sz="2400">
                <a:latin typeface="Consolas" panose="020B0609020204030204" pitchFamily="49" charset="0"/>
              </a:rPr>
              <a:t>-</a:t>
            </a:r>
            <a:r>
              <a:rPr lang="ko-KR" altLang="ko-KR" sz="2400" dirty="0"/>
              <a:t>노드</a:t>
            </a:r>
            <a:r>
              <a:rPr lang="en-US" altLang="ko-KR" sz="2400"/>
              <a:t>:</a:t>
            </a:r>
            <a:r>
              <a:rPr lang="ko-KR" altLang="ko-KR" sz="2400"/>
              <a:t> </a:t>
            </a:r>
            <a:r>
              <a:rPr lang="en-US" altLang="ko-KR" sz="2400"/>
              <a:t>1</a:t>
            </a:r>
            <a:r>
              <a:rPr lang="ko-KR" altLang="ko-KR" sz="2400"/>
              <a:t>개의 키를</a:t>
            </a:r>
            <a:r>
              <a:rPr lang="en-US" altLang="ko-KR" sz="2400"/>
              <a:t>, </a:t>
            </a:r>
            <a:r>
              <a:rPr lang="en-US" altLang="ko-KR" sz="2400" dirty="0"/>
              <a:t>3</a:t>
            </a:r>
            <a:r>
              <a:rPr lang="en-US" altLang="ko-KR" sz="2400" dirty="0">
                <a:latin typeface="Consolas" panose="020B0609020204030204" pitchFamily="49" charset="0"/>
              </a:rPr>
              <a:t>-</a:t>
            </a:r>
            <a:r>
              <a:rPr lang="ko-KR" altLang="ko-KR" sz="2400"/>
              <a:t>노드는 </a:t>
            </a:r>
            <a:r>
              <a:rPr lang="en-US" altLang="ko-KR" sz="2400"/>
              <a:t>2</a:t>
            </a:r>
            <a:r>
              <a:rPr lang="ko-KR" altLang="ko-KR" sz="2400"/>
              <a:t>개의 </a:t>
            </a:r>
            <a:r>
              <a:rPr lang="ko-KR" altLang="ko-KR" sz="2400" dirty="0"/>
              <a:t>키를 가</a:t>
            </a:r>
            <a:r>
              <a:rPr lang="ko-KR" altLang="en-US" sz="2400" dirty="0"/>
              <a:t>짐</a:t>
            </a:r>
            <a:r>
              <a:rPr lang="en-US" altLang="ko-KR" sz="2400" dirty="0"/>
              <a:t> 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altLang="ko-KR" sz="2400" dirty="0"/>
              <a:t>2</a:t>
            </a:r>
            <a:r>
              <a:rPr lang="en-US" altLang="ko-KR" sz="2400" dirty="0">
                <a:latin typeface="Consolas" panose="020B0609020204030204" pitchFamily="49" charset="0"/>
              </a:rPr>
              <a:t>-</a:t>
            </a:r>
            <a:r>
              <a:rPr lang="en-US" altLang="ko-KR" sz="2400" dirty="0"/>
              <a:t>3 </a:t>
            </a:r>
            <a:r>
              <a:rPr lang="ko-KR" altLang="ko-KR" sz="2400" dirty="0"/>
              <a:t>트리는 루트로부터 각 이파리까지 경로의 길이가 같고</a:t>
            </a:r>
            <a:r>
              <a:rPr lang="en-US" altLang="ko-KR" sz="2400" dirty="0"/>
              <a:t>, </a:t>
            </a:r>
            <a:r>
              <a:rPr lang="ko-KR" altLang="ko-KR" sz="2400">
                <a:solidFill>
                  <a:srgbClr val="00B0F0"/>
                </a:solidFill>
              </a:rPr>
              <a:t>모든 이파리</a:t>
            </a:r>
            <a:r>
              <a:rPr lang="ko-KR" altLang="en-US" sz="2400">
                <a:solidFill>
                  <a:srgbClr val="00B0F0"/>
                </a:solidFill>
              </a:rPr>
              <a:t>가</a:t>
            </a:r>
            <a:r>
              <a:rPr lang="ko-KR" altLang="ko-KR" sz="2400">
                <a:solidFill>
                  <a:srgbClr val="00B0F0"/>
                </a:solidFill>
              </a:rPr>
              <a:t> </a:t>
            </a:r>
            <a:r>
              <a:rPr lang="ko-KR" altLang="en-US" sz="2400">
                <a:solidFill>
                  <a:srgbClr val="00B0F0"/>
                </a:solidFill>
              </a:rPr>
              <a:t>같은</a:t>
            </a:r>
            <a:r>
              <a:rPr lang="ko-KR" altLang="ko-KR" sz="2400">
                <a:solidFill>
                  <a:srgbClr val="00B0F0"/>
                </a:solidFill>
              </a:rPr>
              <a:t> </a:t>
            </a:r>
            <a:r>
              <a:rPr lang="ko-KR" altLang="ko-KR" sz="2400" dirty="0">
                <a:solidFill>
                  <a:srgbClr val="00B0F0"/>
                </a:solidFill>
              </a:rPr>
              <a:t>층에</a:t>
            </a:r>
            <a:r>
              <a:rPr lang="ko-KR" altLang="ko-KR" sz="2400" dirty="0"/>
              <a:t> </a:t>
            </a:r>
            <a:r>
              <a:rPr lang="ko-KR" altLang="ko-KR" sz="2400"/>
              <a:t>있는 </a:t>
            </a:r>
            <a:r>
              <a:rPr lang="ko-KR" altLang="ko-KR" sz="2400">
                <a:solidFill>
                  <a:srgbClr val="00B0F0"/>
                </a:solidFill>
              </a:rPr>
              <a:t>완전 균형</a:t>
            </a:r>
            <a:r>
              <a:rPr lang="en-US" altLang="ko-KR" sz="2400">
                <a:solidFill>
                  <a:srgbClr val="00B0F0"/>
                </a:solidFill>
              </a:rPr>
              <a:t> </a:t>
            </a:r>
            <a:r>
              <a:rPr lang="ko-KR" altLang="en-US" sz="2400">
                <a:solidFill>
                  <a:srgbClr val="00B0F0"/>
                </a:solidFill>
              </a:rPr>
              <a:t>탐색 </a:t>
            </a:r>
            <a:r>
              <a:rPr lang="ko-KR" altLang="ko-KR" sz="2400">
                <a:solidFill>
                  <a:srgbClr val="00B0F0"/>
                </a:solidFill>
              </a:rPr>
              <a:t>트리</a:t>
            </a:r>
            <a:endParaRPr lang="en-US" altLang="ko-KR" sz="2400" dirty="0">
              <a:solidFill>
                <a:srgbClr val="00B0F0"/>
              </a:solidFill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altLang="ko-KR" sz="2400" dirty="0"/>
              <a:t>2</a:t>
            </a:r>
            <a:r>
              <a:rPr lang="en-US" altLang="ko-KR" sz="2400" dirty="0">
                <a:latin typeface="Consolas" panose="020B0609020204030204" pitchFamily="49" charset="0"/>
              </a:rPr>
              <a:t>-</a:t>
            </a:r>
            <a:r>
              <a:rPr lang="en-US" altLang="ko-KR" sz="2400" dirty="0"/>
              <a:t>3 </a:t>
            </a:r>
            <a:r>
              <a:rPr lang="ko-KR" altLang="ko-KR" sz="2400" dirty="0"/>
              <a:t>트리가 </a:t>
            </a:r>
            <a:r>
              <a:rPr lang="en-US" altLang="ko-KR" sz="2400" dirty="0"/>
              <a:t>2</a:t>
            </a:r>
            <a:r>
              <a:rPr lang="en-US" altLang="ko-KR" sz="2400" dirty="0">
                <a:latin typeface="Consolas" panose="020B0609020204030204" pitchFamily="49" charset="0"/>
              </a:rPr>
              <a:t>-</a:t>
            </a:r>
            <a:r>
              <a:rPr lang="ko-KR" altLang="ko-KR" sz="2400" dirty="0"/>
              <a:t>노드들만으로 </a:t>
            </a:r>
            <a:r>
              <a:rPr lang="ko-KR" altLang="ko-KR" sz="2400"/>
              <a:t>구성되</a:t>
            </a:r>
            <a:r>
              <a:rPr lang="ko-KR" altLang="en-US" sz="2400"/>
              <a:t>면 </a:t>
            </a:r>
            <a:r>
              <a:rPr lang="ko-KR" altLang="ko-KR" sz="2400"/>
              <a:t>포화</a:t>
            </a:r>
            <a:r>
              <a:rPr lang="en-US" altLang="ko-KR" sz="2400"/>
              <a:t> </a:t>
            </a:r>
            <a:r>
              <a:rPr lang="ko-KR" altLang="ko-KR" sz="2400"/>
              <a:t>이진</a:t>
            </a:r>
            <a:r>
              <a:rPr lang="en-US" altLang="ko-KR" sz="2400"/>
              <a:t> </a:t>
            </a:r>
            <a:r>
              <a:rPr lang="ko-KR" altLang="ko-KR" sz="2400"/>
              <a:t>트리와 </a:t>
            </a:r>
            <a:r>
              <a:rPr lang="ko-KR" altLang="en-US" sz="2400"/>
              <a:t>같음</a:t>
            </a:r>
            <a:endParaRPr lang="ko-KR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64402139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818678" y="1278193"/>
            <a:ext cx="7440105" cy="9720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/>
        </p:nvSpPr>
        <p:spPr>
          <a:xfrm>
            <a:off x="959383" y="1366832"/>
            <a:ext cx="773913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rgbClr val="3333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[</a:t>
            </a:r>
            <a:r>
              <a:rPr lang="ko-KR" altLang="ko-KR" sz="2400" b="1" dirty="0">
                <a:solidFill>
                  <a:srgbClr val="3333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핵심 아이디어</a:t>
            </a:r>
            <a:r>
              <a:rPr lang="en-US" altLang="ko-KR" sz="2400" b="1">
                <a:solidFill>
                  <a:srgbClr val="3333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]</a:t>
            </a:r>
            <a:r>
              <a:rPr lang="en-US" altLang="ko-KR" sz="2400" b="1">
                <a:solidFill>
                  <a:srgbClr val="00B05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2400" b="1">
                <a:solidFill>
                  <a:srgbClr val="007635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2-3 </a:t>
            </a:r>
            <a:r>
              <a:rPr lang="ko-KR" altLang="ko-KR" sz="2400" b="1">
                <a:solidFill>
                  <a:srgbClr val="007635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트리는 </a:t>
            </a:r>
            <a:r>
              <a:rPr lang="ko-KR" altLang="en-US" sz="2400" b="1">
                <a:solidFill>
                  <a:srgbClr val="007635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모든 </a:t>
            </a:r>
            <a:r>
              <a:rPr lang="ko-KR" altLang="ko-KR" sz="2400" b="1">
                <a:solidFill>
                  <a:srgbClr val="007635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이파리</a:t>
            </a:r>
            <a:r>
              <a:rPr lang="ko-KR" altLang="en-US" sz="2400" b="1">
                <a:solidFill>
                  <a:srgbClr val="007635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가 같은</a:t>
            </a:r>
            <a:r>
              <a:rPr lang="ko-KR" altLang="ko-KR" sz="2400" b="1">
                <a:solidFill>
                  <a:srgbClr val="007635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 dirty="0">
                <a:solidFill>
                  <a:srgbClr val="007635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층에 있어야 하므로 트리가 위로 자라나거나 낮아진다</a:t>
            </a:r>
            <a:r>
              <a:rPr lang="en-US" altLang="ko-KR" sz="2400" b="1" dirty="0">
                <a:solidFill>
                  <a:srgbClr val="007635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  <a:endParaRPr lang="ko-KR" altLang="en-US" sz="2400" b="1" dirty="0">
              <a:solidFill>
                <a:srgbClr val="007635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4" name="그림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8220" y="3248420"/>
            <a:ext cx="6427560" cy="2197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5122571-18FB-4B1A-8DBF-41758D12E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95" y="1278193"/>
            <a:ext cx="4953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05439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619408" y="1375302"/>
            <a:ext cx="8073025" cy="4340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2-3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트리에서도 이진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탐색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트리에서의 중위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순회와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유사한 방법으로 </a:t>
            </a:r>
            <a:r>
              <a:rPr lang="ko-KR" altLang="en-US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순회</a:t>
            </a:r>
            <a:endParaRPr lang="en-US" altLang="ko-KR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k</a:t>
            </a:r>
            <a:r>
              <a:rPr lang="en-US" altLang="ko-KR" sz="2400" b="1" baseline="-250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1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과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k</a:t>
            </a:r>
            <a:r>
              <a:rPr lang="en-US" altLang="ko-KR" sz="2400" b="1" baseline="-250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2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를 가진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3-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노드에서는 먼저 노드의 왼쪽 </a:t>
            </a:r>
            <a:r>
              <a:rPr lang="ko-KR" altLang="ko-KR" sz="2400" b="1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서브트리에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있는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모든 노드</a:t>
            </a:r>
            <a:r>
              <a:rPr lang="ko-KR" altLang="en-US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를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방문한 후에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k</a:t>
            </a:r>
            <a:r>
              <a:rPr lang="en-US" altLang="ko-KR" sz="2400" b="1" baseline="-250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1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을 방문하고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이후에 중간 </a:t>
            </a:r>
            <a:r>
              <a:rPr lang="ko-KR" altLang="ko-KR" sz="2400" b="1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서브트리에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있는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모든 노드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방문</a:t>
            </a:r>
            <a:endParaRPr lang="en-US" altLang="ko-KR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다음으로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k</a:t>
            </a:r>
            <a:r>
              <a:rPr lang="en-US" altLang="ko-KR" sz="2400" b="1" baseline="-250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2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를 방문하고 마지막으로 오른쪽 </a:t>
            </a:r>
            <a:r>
              <a:rPr lang="ko-KR" altLang="ko-KR" sz="2400" b="1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서브트리에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있는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모든 노드 방문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endParaRPr lang="en-US" altLang="ko-KR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2-3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트리에서 </a:t>
            </a:r>
            <a:r>
              <a:rPr lang="ko-KR" altLang="ko-KR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중위</a:t>
            </a:r>
            <a:r>
              <a:rPr lang="en-US" altLang="ko-KR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순회</a:t>
            </a:r>
            <a:r>
              <a:rPr lang="ko-KR" altLang="en-US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는</a:t>
            </a:r>
            <a:r>
              <a:rPr lang="ko-KR" altLang="ko-KR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키들</a:t>
            </a:r>
            <a:r>
              <a:rPr lang="ko-KR" altLang="en-US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</a:t>
            </a:r>
            <a:r>
              <a:rPr lang="ko-KR" altLang="ko-KR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정렬</a:t>
            </a:r>
            <a:r>
              <a:rPr lang="en-US" altLang="ko-KR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순서로 방문</a:t>
            </a:r>
            <a:endParaRPr lang="ko-KR" altLang="ko-KR" sz="2400" b="1" dirty="0">
              <a:solidFill>
                <a:srgbClr val="00B0F0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303412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85" y="470963"/>
            <a:ext cx="7937295" cy="2634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그림 2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0765" y="3429000"/>
            <a:ext cx="4197350" cy="23321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직사각형 3"/>
          <p:cNvSpPr/>
          <p:nvPr/>
        </p:nvSpPr>
        <p:spPr>
          <a:xfrm>
            <a:off x="2360765" y="587853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(c)</a:t>
            </a:r>
            <a:endParaRPr lang="ko-KR" altLang="ko-KR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r>
              <a:rPr lang="en-US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[</a:t>
            </a:r>
            <a:r>
              <a:rPr lang="ko-KR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그림</a:t>
            </a:r>
            <a:r>
              <a:rPr lang="en-US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5-32] </a:t>
            </a:r>
            <a:r>
              <a:rPr lang="ko-KR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어느 트리가 </a:t>
            </a:r>
            <a:r>
              <a:rPr lang="en-US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2-3 </a:t>
            </a:r>
            <a:r>
              <a:rPr lang="ko-KR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트리인가</a:t>
            </a:r>
            <a:r>
              <a:rPr lang="en-US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?</a:t>
            </a:r>
            <a:endParaRPr lang="ko-KR" altLang="en-US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36184" y="2921169"/>
            <a:ext cx="639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(a)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903269" y="3223176"/>
            <a:ext cx="639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(b)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529087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 dirty="0"/>
              <a:t>5.3.1 </a:t>
            </a:r>
            <a:r>
              <a:rPr lang="ko-KR" altLang="ko-KR" dirty="0"/>
              <a:t>탐색 연산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ko-KR" altLang="ko-KR" sz="2300" dirty="0"/>
              <a:t>루트에서 시작하여 방문한 노드의 키들과 탐색하고자 하는 키를 비교하며</a:t>
            </a:r>
            <a:r>
              <a:rPr lang="en-US" altLang="ko-KR" sz="2300" dirty="0"/>
              <a:t> </a:t>
            </a:r>
            <a:r>
              <a:rPr lang="ko-KR" altLang="ko-KR" sz="2300" dirty="0"/>
              <a:t>다음 레벨의 노드를 탐색</a:t>
            </a:r>
            <a:endParaRPr lang="en-US" altLang="ko-KR" sz="2300" dirty="0"/>
          </a:p>
          <a:p>
            <a:pPr>
              <a:lnSpc>
                <a:spcPct val="130000"/>
              </a:lnSpc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[</a:t>
            </a:r>
            <a:r>
              <a:rPr lang="ko-KR" altLang="en-US" sz="2400" dirty="0"/>
              <a:t>예제</a:t>
            </a:r>
            <a:r>
              <a:rPr lang="en-US" altLang="ko-KR" sz="2400" dirty="0"/>
              <a:t>] 80 </a:t>
            </a:r>
            <a:r>
              <a:rPr lang="ko-KR" altLang="en-US" sz="2400" dirty="0"/>
              <a:t>탐색</a:t>
            </a:r>
          </a:p>
        </p:txBody>
      </p:sp>
      <p:pic>
        <p:nvPicPr>
          <p:cNvPr id="4" name="그림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387" y="3942735"/>
            <a:ext cx="5519938" cy="22441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2176516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69935" y="1136962"/>
            <a:ext cx="8298492" cy="45840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2-3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트리는 이진탐색트리에 비해 매우 우수한 성능을 보이나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2-3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트리를 실제로</a:t>
            </a:r>
            <a:r>
              <a:rPr lang="ko-KR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구현하기에 다소 </a:t>
            </a:r>
            <a:r>
              <a:rPr lang="ko-KR" altLang="en-US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복잡함</a:t>
            </a:r>
            <a:endParaRPr lang="en-US" altLang="ko-KR" sz="2400" b="1" dirty="0">
              <a:solidFill>
                <a:srgbClr val="00B0F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342900" indent="-342900">
              <a:lnSpc>
                <a:spcPct val="13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구현이 어려운 이유는 노드를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2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개의 타입으로 정의해야 하고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분리 및 통합 연산에서의</a:t>
            </a:r>
            <a:r>
              <a:rPr lang="ko-KR" altLang="ko-KR" sz="2400" b="1" dirty="0">
                <a:solidFill>
                  <a:srgbClr val="3333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다양한 경우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를 고려해야 하기 때문</a:t>
            </a:r>
            <a:endParaRPr lang="en-US" altLang="ko-KR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342900" indent="-342900">
              <a:lnSpc>
                <a:spcPct val="13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3-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노드에서는 키를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2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회 비교하는 것도 고려해야</a:t>
            </a:r>
            <a:endParaRPr lang="en-US" altLang="ko-KR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342900" indent="-342900">
              <a:lnSpc>
                <a:spcPct val="13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2-3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트리는 </a:t>
            </a:r>
            <a:r>
              <a:rPr lang="ko-KR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좌편향</a:t>
            </a:r>
            <a:r>
              <a:rPr lang="en-US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(Left-Leaning</a:t>
            </a:r>
            <a:r>
              <a:rPr lang="en-US" altLang="ko-KR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</a:t>
            </a:r>
            <a:r>
              <a:rPr lang="ko-KR" altLang="ko-KR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레드</a:t>
            </a:r>
            <a:r>
              <a:rPr lang="en-US" altLang="ko-KR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블랙</a:t>
            </a:r>
            <a:r>
              <a:rPr lang="en-US" altLang="ko-KR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트리의 </a:t>
            </a:r>
            <a:r>
              <a:rPr lang="ko-KR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기본 형태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를 제공</a:t>
            </a:r>
            <a:endParaRPr lang="en-US" altLang="ko-KR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499470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2-3-4 </a:t>
            </a:r>
            <a:r>
              <a:rPr lang="ko-KR" altLang="ko-KR" dirty="0"/>
              <a:t>트리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289616"/>
            <a:ext cx="7886700" cy="5096577"/>
          </a:xfrm>
        </p:spPr>
        <p:txBody>
          <a:bodyPr>
            <a:normAutofit lnSpcReduction="10000"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2400"/>
              </a:spcAft>
            </a:pPr>
            <a:r>
              <a:rPr lang="en-US" altLang="ko-KR" sz="2400" dirty="0"/>
              <a:t>2-3 </a:t>
            </a:r>
            <a:r>
              <a:rPr lang="ko-KR" altLang="ko-KR" sz="2400" dirty="0"/>
              <a:t>트리를 확장한 </a:t>
            </a:r>
            <a:r>
              <a:rPr lang="en-US" altLang="ko-KR" sz="2400" dirty="0"/>
              <a:t>2-3-4 </a:t>
            </a:r>
            <a:r>
              <a:rPr lang="ko-KR" altLang="ko-KR" sz="2400" dirty="0"/>
              <a:t>트리는 노드가 자식</a:t>
            </a:r>
            <a:r>
              <a:rPr lang="ko-KR" altLang="en-US" sz="2400" dirty="0"/>
              <a:t>을</a:t>
            </a:r>
            <a:r>
              <a:rPr lang="ko-KR" altLang="ko-KR" sz="2400" dirty="0"/>
              <a:t> </a:t>
            </a:r>
            <a:r>
              <a:rPr lang="en-US" altLang="ko-KR" sz="2400" dirty="0"/>
              <a:t>4</a:t>
            </a:r>
            <a:r>
              <a:rPr lang="ko-KR" altLang="ko-KR" sz="2400" dirty="0"/>
              <a:t>개까지 가질 수 </a:t>
            </a:r>
            <a:r>
              <a:rPr lang="ko-KR" altLang="ko-KR" sz="2400"/>
              <a:t>있는 </a:t>
            </a:r>
            <a:r>
              <a:rPr lang="ko-KR" altLang="ko-KR" sz="2400">
                <a:solidFill>
                  <a:srgbClr val="00B0F0"/>
                </a:solidFill>
              </a:rPr>
              <a:t>완전</a:t>
            </a:r>
            <a:r>
              <a:rPr lang="en-US" altLang="ko-KR" sz="2400">
                <a:solidFill>
                  <a:srgbClr val="00B0F0"/>
                </a:solidFill>
              </a:rPr>
              <a:t> </a:t>
            </a:r>
            <a:r>
              <a:rPr lang="ko-KR" altLang="ko-KR" sz="2400">
                <a:solidFill>
                  <a:srgbClr val="00B0F0"/>
                </a:solidFill>
              </a:rPr>
              <a:t>균형</a:t>
            </a:r>
            <a:r>
              <a:rPr lang="en-US" altLang="ko-KR" sz="2400">
                <a:solidFill>
                  <a:srgbClr val="00B0F0"/>
                </a:solidFill>
              </a:rPr>
              <a:t> </a:t>
            </a:r>
            <a:r>
              <a:rPr lang="ko-KR" altLang="ko-KR" sz="2400">
                <a:solidFill>
                  <a:srgbClr val="00B0F0"/>
                </a:solidFill>
              </a:rPr>
              <a:t>트리</a:t>
            </a:r>
            <a:endParaRPr lang="en-US" altLang="ko-KR" sz="2400" dirty="0">
              <a:solidFill>
                <a:srgbClr val="00B0F0"/>
              </a:solidFill>
            </a:endParaRP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2400"/>
              </a:spcAft>
            </a:pPr>
            <a:r>
              <a:rPr lang="en-US" altLang="ko-KR" sz="2400" dirty="0"/>
              <a:t>2-3-4 </a:t>
            </a:r>
            <a:r>
              <a:rPr lang="ko-KR" altLang="ko-KR" sz="2400" dirty="0"/>
              <a:t>트리의 장점</a:t>
            </a:r>
            <a:r>
              <a:rPr lang="en-US" altLang="ko-KR" sz="2400" dirty="0"/>
              <a:t>:</a:t>
            </a:r>
            <a:r>
              <a:rPr lang="ko-KR" altLang="ko-KR" sz="2400" dirty="0"/>
              <a:t> </a:t>
            </a:r>
            <a:r>
              <a:rPr lang="en-US" altLang="ko-KR" sz="2400" dirty="0"/>
              <a:t>2-3 </a:t>
            </a:r>
            <a:r>
              <a:rPr lang="ko-KR" altLang="ko-KR" sz="2400" dirty="0"/>
              <a:t>트리보다 높이가 낮아 그 만큼 빠른 탐색</a:t>
            </a:r>
            <a:r>
              <a:rPr lang="en-US" altLang="ko-KR" sz="2400" dirty="0"/>
              <a:t>, </a:t>
            </a:r>
            <a:r>
              <a:rPr lang="ko-KR" altLang="ko-KR" sz="2400" dirty="0"/>
              <a:t>삽입</a:t>
            </a:r>
            <a:r>
              <a:rPr lang="en-US" altLang="ko-KR" sz="2400" dirty="0"/>
              <a:t>, </a:t>
            </a:r>
            <a:r>
              <a:rPr lang="ko-KR" altLang="ko-KR" sz="2400" dirty="0"/>
              <a:t>삭제 연산이 수행이 가능</a:t>
            </a:r>
            <a:endParaRPr lang="en-US" altLang="ko-KR" sz="2400" dirty="0"/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2400"/>
              </a:spcAft>
            </a:pPr>
            <a:r>
              <a:rPr lang="en-US" altLang="ko-KR" sz="2400" dirty="0"/>
              <a:t>2-3-4 </a:t>
            </a:r>
            <a:r>
              <a:rPr lang="ko-KR" altLang="ko-KR" sz="2400" dirty="0"/>
              <a:t>트리에서는 삽입 연산을 루트부터 이파리로 내려가며 </a:t>
            </a:r>
            <a:r>
              <a:rPr lang="en-US" altLang="ko-KR" sz="2400" dirty="0"/>
              <a:t>4-</a:t>
            </a:r>
            <a:r>
              <a:rPr lang="ko-KR" altLang="ko-KR" sz="2400" dirty="0"/>
              <a:t>노드를 만날 때마다 </a:t>
            </a:r>
            <a:r>
              <a:rPr lang="ko-KR" altLang="ko-KR" sz="2400" dirty="0">
                <a:solidFill>
                  <a:srgbClr val="00B0F0"/>
                </a:solidFill>
              </a:rPr>
              <a:t>미리 분리 연산을 수행</a:t>
            </a:r>
            <a:r>
              <a:rPr lang="ko-KR" altLang="en-US" sz="2400" dirty="0"/>
              <a:t>할 수 있기</a:t>
            </a:r>
            <a:r>
              <a:rPr lang="ko-KR" altLang="ko-KR" sz="2400" dirty="0"/>
              <a:t> 때문에 다시 이파리부터 위로 올라가며 분리 연산을 수행할 필요가 없고</a:t>
            </a:r>
            <a:r>
              <a:rPr lang="en-US" altLang="ko-KR" sz="2400" dirty="0"/>
              <a:t>, </a:t>
            </a:r>
            <a:r>
              <a:rPr lang="ko-KR" altLang="ko-KR" sz="2400" dirty="0"/>
              <a:t>따라서 보다 효율적인 삽입 연산이 가능</a:t>
            </a:r>
            <a:r>
              <a:rPr lang="en-US" altLang="ko-KR" sz="2400" dirty="0"/>
              <a:t> 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분리 연산은 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  <a:t>B-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트리에서 설명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491643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86383" y="1498223"/>
            <a:ext cx="8194154" cy="34624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삭제 연산도 삽입 연산과 유사하게 루트로부터 이파리 방향으로 내려가며 </a:t>
            </a:r>
            <a:r>
              <a:rPr lang="en-US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2-</a:t>
            </a:r>
            <a:r>
              <a:rPr lang="ko-KR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노드를 만날 때마다 미리 통합 연산을 수행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하므로 키를 삭제한 후 다시 루트 방향으로 올라가며 통합 연산을 수행할 필요 없</a:t>
            </a:r>
            <a:r>
              <a:rPr lang="ko-KR" altLang="en-US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음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</a:t>
            </a:r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en-US" sz="2400" b="1" dirty="0">
                <a:solidFill>
                  <a:schemeClr val="bg1">
                    <a:lumMod val="50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통합 연산은 </a:t>
            </a:r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B-</a:t>
            </a:r>
            <a:r>
              <a:rPr lang="ko-KR" altLang="en-US" sz="2400" b="1" dirty="0">
                <a:solidFill>
                  <a:schemeClr val="bg1">
                    <a:lumMod val="50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트리에서 설명</a:t>
            </a:r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</a:t>
            </a:r>
            <a:endParaRPr lang="en-US" altLang="ko-KR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삽입과 삭제 연산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: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이론적으로는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2-3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트리의 수행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시간과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동일한 </a:t>
            </a:r>
            <a:r>
              <a:rPr lang="en-US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O</a:t>
            </a:r>
            <a:r>
              <a:rPr lang="en-US" altLang="ko-KR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(log</a:t>
            </a:r>
            <a:r>
              <a:rPr lang="en-US" altLang="ko-KR" sz="2400" b="1" baseline="-2500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2</a:t>
            </a:r>
            <a:r>
              <a:rPr lang="en-US" altLang="ko-KR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n)</a:t>
            </a:r>
            <a:endParaRPr lang="ko-KR" altLang="ko-KR" sz="2400" b="1" dirty="0">
              <a:solidFill>
                <a:srgbClr val="00B0F0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9310376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/>
              <a:t>5.4 2 </a:t>
            </a:r>
            <a:r>
              <a:rPr lang="ko-KR" altLang="ko-KR"/>
              <a:t>레드</a:t>
            </a:r>
            <a:r>
              <a:rPr lang="en-US" altLang="ko-KR"/>
              <a:t> </a:t>
            </a:r>
            <a:r>
              <a:rPr lang="ko-KR" altLang="ko-KR"/>
              <a:t>블랙</a:t>
            </a:r>
            <a:r>
              <a:rPr lang="en-US" altLang="ko-KR"/>
              <a:t> </a:t>
            </a:r>
            <a:r>
              <a:rPr lang="ko-KR" altLang="ko-KR"/>
              <a:t>트리</a:t>
            </a:r>
            <a:endParaRPr lang="ko-KR" altLang="ko-KR" dirty="0">
              <a:effectLst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395663"/>
            <a:ext cx="6906469" cy="509657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ko-KR" altLang="ko-KR" sz="2400" dirty="0"/>
              <a:t>노드에 색을 부여하여 트리의 균형을 유지</a:t>
            </a:r>
            <a:endParaRPr lang="en-US" altLang="ko-KR" sz="24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ko-KR" altLang="ko-KR" sz="2400" dirty="0"/>
              <a:t>탐색</a:t>
            </a:r>
            <a:r>
              <a:rPr lang="en-US" altLang="ko-KR" sz="2400" dirty="0"/>
              <a:t>, </a:t>
            </a:r>
            <a:r>
              <a:rPr lang="ko-KR" altLang="ko-KR" sz="2400" dirty="0"/>
              <a:t>삽입</a:t>
            </a:r>
            <a:r>
              <a:rPr lang="en-US" altLang="ko-KR" sz="2400" dirty="0"/>
              <a:t>, </a:t>
            </a:r>
            <a:r>
              <a:rPr lang="ko-KR" altLang="ko-KR" sz="2400" dirty="0"/>
              <a:t>삭제 </a:t>
            </a:r>
            <a:r>
              <a:rPr lang="ko-KR" altLang="ko-KR" sz="2400"/>
              <a:t>연산의 </a:t>
            </a:r>
            <a:r>
              <a:rPr lang="ko-KR" altLang="en-US" sz="2400"/>
              <a:t>수행 시간이</a:t>
            </a:r>
            <a:r>
              <a:rPr lang="ko-KR" altLang="ko-KR" sz="2400"/>
              <a:t> </a:t>
            </a:r>
            <a:r>
              <a:rPr lang="ko-KR" altLang="ko-KR" sz="2400" dirty="0"/>
              <a:t>각각</a:t>
            </a:r>
            <a:r>
              <a:rPr lang="en-US" altLang="ko-KR" sz="2400" dirty="0"/>
              <a:t> O</a:t>
            </a:r>
            <a:r>
              <a:rPr lang="en-US" altLang="ko-KR" sz="2400"/>
              <a:t>(logn)</a:t>
            </a:r>
            <a:r>
              <a:rPr lang="ko-KR" altLang="ko-KR" sz="2400" dirty="0"/>
              <a:t>을 넘지 않는 매우 효율적인 자료구조</a:t>
            </a:r>
            <a:endParaRPr lang="en-US" altLang="ko-KR" sz="24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ko-KR" altLang="ko-KR" sz="2400">
                <a:solidFill>
                  <a:srgbClr val="00B0F0"/>
                </a:solidFill>
              </a:rPr>
              <a:t>일반적인 레드</a:t>
            </a:r>
            <a:r>
              <a:rPr lang="en-US" altLang="ko-KR" sz="2400">
                <a:solidFill>
                  <a:srgbClr val="00B0F0"/>
                </a:solidFill>
              </a:rPr>
              <a:t> </a:t>
            </a:r>
            <a:r>
              <a:rPr lang="ko-KR" altLang="ko-KR" sz="2400">
                <a:solidFill>
                  <a:srgbClr val="00B0F0"/>
                </a:solidFill>
              </a:rPr>
              <a:t>블랙</a:t>
            </a:r>
            <a:r>
              <a:rPr lang="en-US" altLang="ko-KR" sz="2400">
                <a:solidFill>
                  <a:srgbClr val="00B0F0"/>
                </a:solidFill>
              </a:rPr>
              <a:t> </a:t>
            </a:r>
            <a:r>
              <a:rPr lang="ko-KR" altLang="ko-KR" sz="2400">
                <a:solidFill>
                  <a:srgbClr val="00B0F0"/>
                </a:solidFill>
              </a:rPr>
              <a:t>트리</a:t>
            </a:r>
            <a:r>
              <a:rPr lang="en-US" altLang="ko-KR" sz="2400" dirty="0"/>
              <a:t>(Intro. to Algorithms, CLRS):</a:t>
            </a:r>
            <a:r>
              <a:rPr lang="ko-KR" altLang="ko-KR" sz="2400" dirty="0"/>
              <a:t> 삽입이나 삭제를 수행할 때 트리의 균형을 유지하기 위해 </a:t>
            </a:r>
            <a:r>
              <a:rPr lang="ko-KR" altLang="en-US" sz="2400" u="sng" dirty="0"/>
              <a:t>상당히</a:t>
            </a:r>
            <a:r>
              <a:rPr lang="ko-KR" altLang="ko-KR" sz="2400" u="sng" dirty="0"/>
              <a:t> 많은 경우</a:t>
            </a:r>
            <a:r>
              <a:rPr lang="ko-KR" altLang="ko-KR" sz="2400" dirty="0"/>
              <a:t>를 고려해야 </a:t>
            </a:r>
            <a:r>
              <a:rPr lang="ko-KR" altLang="ko-KR" sz="2400"/>
              <a:t>한다는 단점</a:t>
            </a:r>
            <a:r>
              <a:rPr lang="en-US" altLang="ko-KR" sz="2400"/>
              <a:t>, </a:t>
            </a:r>
            <a:r>
              <a:rPr lang="ko-KR" altLang="ko-KR" sz="2400"/>
              <a:t>프로그램</a:t>
            </a:r>
            <a:r>
              <a:rPr lang="ko-KR" altLang="en-US" sz="2400"/>
              <a:t>이 </a:t>
            </a:r>
            <a:r>
              <a:rPr lang="ko-KR" altLang="en-US" sz="2400" dirty="0"/>
              <a:t>복잡하고</a:t>
            </a:r>
            <a:r>
              <a:rPr lang="en-US" altLang="ko-KR" sz="2400"/>
              <a:t>, </a:t>
            </a:r>
            <a:r>
              <a:rPr lang="ko-KR" altLang="en-US" sz="2400"/>
              <a:t>코드 길이도 증가</a:t>
            </a:r>
            <a:r>
              <a:rPr lang="en-US" altLang="ko-KR" sz="2400"/>
              <a:t> </a:t>
            </a:r>
            <a:endParaRPr lang="en-US" altLang="ko-KR" sz="24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ko-KR" altLang="ko-KR" sz="2400" err="1">
                <a:solidFill>
                  <a:srgbClr val="00B0F0"/>
                </a:solidFill>
              </a:rPr>
              <a:t>좌편향</a:t>
            </a:r>
            <a:r>
              <a:rPr lang="ko-KR" altLang="ko-KR" sz="2400">
                <a:solidFill>
                  <a:srgbClr val="00B0F0"/>
                </a:solidFill>
              </a:rPr>
              <a:t> 레드</a:t>
            </a:r>
            <a:r>
              <a:rPr lang="en-US" altLang="ko-KR" sz="2400">
                <a:solidFill>
                  <a:srgbClr val="00B0F0"/>
                </a:solidFill>
              </a:rPr>
              <a:t> </a:t>
            </a:r>
            <a:r>
              <a:rPr lang="ko-KR" altLang="ko-KR" sz="2400">
                <a:solidFill>
                  <a:srgbClr val="00B0F0"/>
                </a:solidFill>
              </a:rPr>
              <a:t>블랙</a:t>
            </a:r>
            <a:r>
              <a:rPr lang="en-US" altLang="ko-KR" sz="2400" dirty="0"/>
              <a:t>(Left-Leaning Red-Black, </a:t>
            </a:r>
            <a:r>
              <a:rPr lang="en-US" altLang="ko-KR" sz="2400"/>
              <a:t>LLRB) </a:t>
            </a:r>
            <a:r>
              <a:rPr lang="ko-KR" altLang="ko-KR" sz="2400">
                <a:solidFill>
                  <a:srgbClr val="00B0F0"/>
                </a:solidFill>
              </a:rPr>
              <a:t>트리</a:t>
            </a:r>
            <a:r>
              <a:rPr lang="en-US" altLang="ko-KR" sz="2400" dirty="0"/>
              <a:t>:</a:t>
            </a:r>
            <a:r>
              <a:rPr lang="ko-KR" altLang="ko-KR" sz="2400" dirty="0"/>
              <a:t> 삽입이나 삭제 시 고려해야 하는 경우의 수가 매우 </a:t>
            </a:r>
            <a:r>
              <a:rPr lang="ko-KR" altLang="ko-KR" sz="2400"/>
              <a:t>적어 </a:t>
            </a:r>
            <a:r>
              <a:rPr lang="ko-KR" altLang="en-US" sz="2400"/>
              <a:t>코드</a:t>
            </a:r>
            <a:r>
              <a:rPr lang="ko-KR" altLang="ko-KR" sz="2400"/>
              <a:t> 길이</a:t>
            </a:r>
            <a:r>
              <a:rPr lang="ko-KR" altLang="en-US" sz="2400"/>
              <a:t>는</a:t>
            </a:r>
            <a:r>
              <a:rPr lang="ko-KR" altLang="ko-KR" sz="2400"/>
              <a:t> 일반 레드</a:t>
            </a:r>
            <a:r>
              <a:rPr lang="en-US" altLang="ko-KR" sz="2400"/>
              <a:t> </a:t>
            </a:r>
            <a:r>
              <a:rPr lang="ko-KR" altLang="ko-KR" sz="2400"/>
              <a:t>블랙</a:t>
            </a:r>
            <a:r>
              <a:rPr lang="en-US" altLang="ko-KR" sz="2400"/>
              <a:t> </a:t>
            </a:r>
            <a:r>
              <a:rPr lang="ko-KR" altLang="ko-KR" sz="2400"/>
              <a:t>트리 </a:t>
            </a:r>
            <a:r>
              <a:rPr lang="ko-KR" altLang="ko-KR" sz="2400" dirty="0"/>
              <a:t>프로그램의</a:t>
            </a:r>
            <a:r>
              <a:rPr lang="en-US" altLang="ko-KR" sz="2400" dirty="0">
                <a:solidFill>
                  <a:srgbClr val="00B0F0"/>
                </a:solidFill>
              </a:rPr>
              <a:t> </a:t>
            </a:r>
            <a:r>
              <a:rPr lang="en-US" altLang="ko-KR" sz="2400" u="sng">
                <a:solidFill>
                  <a:srgbClr val="00B0F0"/>
                </a:solidFill>
              </a:rPr>
              <a:t>1/5</a:t>
            </a:r>
            <a:r>
              <a:rPr lang="ko-KR" altLang="ko-KR" sz="2400" u="sng">
                <a:solidFill>
                  <a:srgbClr val="00B0F0"/>
                </a:solidFill>
              </a:rPr>
              <a:t>정도</a:t>
            </a:r>
            <a:endParaRPr lang="ko-KR" altLang="en-US" sz="2400" dirty="0">
              <a:solidFill>
                <a:srgbClr val="00B0F0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9484" y="3217829"/>
            <a:ext cx="1692000" cy="1926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29512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814193"/>
            <a:ext cx="7886700" cy="567804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altLang="ko-KR" sz="2400" dirty="0"/>
              <a:t>LLRB </a:t>
            </a:r>
            <a:r>
              <a:rPr lang="ko-KR" altLang="ko-KR" sz="2400" dirty="0"/>
              <a:t>트리는 </a:t>
            </a:r>
            <a:r>
              <a:rPr lang="en-US" altLang="ko-KR" sz="2400" dirty="0"/>
              <a:t>AVL </a:t>
            </a:r>
            <a:r>
              <a:rPr lang="ko-KR" altLang="ko-KR" sz="2400" dirty="0"/>
              <a:t>트리</a:t>
            </a:r>
            <a:r>
              <a:rPr lang="en-US" altLang="ko-KR" sz="2400" dirty="0"/>
              <a:t>, 2-3 </a:t>
            </a:r>
            <a:r>
              <a:rPr lang="ko-KR" altLang="ko-KR" sz="2400" dirty="0"/>
              <a:t>트리</a:t>
            </a:r>
            <a:r>
              <a:rPr lang="en-US" altLang="ko-KR" sz="2400" dirty="0"/>
              <a:t>, </a:t>
            </a:r>
            <a:r>
              <a:rPr lang="en-US" altLang="ko-KR" dirty="0"/>
              <a:t>2-3-4 </a:t>
            </a:r>
            <a:r>
              <a:rPr lang="ko-KR" altLang="ko-KR" sz="2400" dirty="0"/>
              <a:t>트리</a:t>
            </a:r>
            <a:r>
              <a:rPr lang="en-US" altLang="ko-KR" sz="2400" dirty="0"/>
              <a:t>, </a:t>
            </a:r>
            <a:r>
              <a:rPr lang="ko-KR" altLang="ko-KR" sz="2400"/>
              <a:t>일반 </a:t>
            </a:r>
            <a:r>
              <a:rPr lang="en-US" altLang="ko-KR" sz="2400"/>
              <a:t>RB </a:t>
            </a:r>
            <a:r>
              <a:rPr lang="ko-KR" altLang="ko-KR" sz="2400"/>
              <a:t>트리보다 </a:t>
            </a:r>
            <a:r>
              <a:rPr lang="ko-KR" altLang="ko-KR" sz="2400" dirty="0"/>
              <a:t>매우 우수한 성능을 </a:t>
            </a:r>
            <a:r>
              <a:rPr lang="ko-KR" altLang="en-US" sz="2400" dirty="0"/>
              <a:t>가짐</a:t>
            </a:r>
            <a:endParaRPr lang="en-US" altLang="ko-KR" sz="24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altLang="ko-KR" sz="2400" dirty="0"/>
              <a:t>Introduction to Algorithms (CLRS)</a:t>
            </a:r>
            <a:r>
              <a:rPr lang="ko-KR" altLang="ko-KR" sz="2400" dirty="0"/>
              <a:t>에 </a:t>
            </a:r>
            <a:r>
              <a:rPr lang="ko-KR" altLang="ko-KR" sz="2400"/>
              <a:t>소개된 </a:t>
            </a:r>
            <a:r>
              <a:rPr lang="en-US" altLang="ko-KR" sz="2400"/>
              <a:t>RB </a:t>
            </a:r>
            <a:r>
              <a:rPr lang="ko-KR" altLang="ko-KR" sz="2400"/>
              <a:t>트리가 </a:t>
            </a:r>
            <a:r>
              <a:rPr lang="ko-KR" altLang="ko-KR" sz="2400" dirty="0"/>
              <a:t>일반적으로 사용</a:t>
            </a:r>
            <a:r>
              <a:rPr lang="ko-KR" altLang="en-US" sz="2400" dirty="0"/>
              <a:t>되며</a:t>
            </a:r>
            <a:r>
              <a:rPr lang="en-US" altLang="ko-KR" sz="2400" dirty="0"/>
              <a:t>, </a:t>
            </a:r>
            <a:r>
              <a:rPr lang="ko-KR" altLang="ko-KR" sz="2400" dirty="0"/>
              <a:t>전문 프로그래머가 프로그램을 작성해도 적어도</a:t>
            </a:r>
            <a:r>
              <a:rPr lang="en-US" altLang="ko-KR" sz="2400" dirty="0"/>
              <a:t> </a:t>
            </a:r>
            <a:r>
              <a:rPr lang="en-US" altLang="ko-KR" sz="2400"/>
              <a:t>400 lines</a:t>
            </a:r>
            <a:endParaRPr lang="ko-KR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87515447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696331" y="1039872"/>
            <a:ext cx="7978440" cy="19331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/>
        </p:nvSpPr>
        <p:spPr>
          <a:xfrm>
            <a:off x="779770" y="1172547"/>
            <a:ext cx="8242362" cy="18004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542925" algn="just">
              <a:spcAft>
                <a:spcPts val="0"/>
              </a:spcAft>
            </a:pPr>
            <a:r>
              <a:rPr lang="en-US" altLang="ko-KR" sz="2400" b="1" dirty="0">
                <a:solidFill>
                  <a:srgbClr val="3333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[</a:t>
            </a:r>
            <a:r>
              <a:rPr lang="ko-KR" altLang="ko-KR" sz="2400" b="1" dirty="0">
                <a:solidFill>
                  <a:srgbClr val="3333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핵심 아이디어</a:t>
            </a:r>
            <a:r>
              <a:rPr lang="en-US" altLang="ko-KR" sz="2400" b="1" dirty="0">
                <a:solidFill>
                  <a:srgbClr val="3333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] </a:t>
            </a:r>
          </a:p>
          <a:p>
            <a:pPr marR="542925" algn="just">
              <a:spcBef>
                <a:spcPts val="1800"/>
              </a:spcBef>
              <a:spcAft>
                <a:spcPts val="0"/>
              </a:spcAft>
            </a:pPr>
            <a:r>
              <a:rPr lang="en-US" altLang="ko-KR" sz="2400" b="1">
                <a:solidFill>
                  <a:srgbClr val="339933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LLRB </a:t>
            </a:r>
            <a:r>
              <a:rPr lang="ko-KR" altLang="ko-KR" sz="2400" b="1">
                <a:solidFill>
                  <a:srgbClr val="339933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트리는 </a:t>
            </a:r>
            <a:r>
              <a:rPr lang="en-US" altLang="ko-KR" sz="2400" b="1">
                <a:solidFill>
                  <a:srgbClr val="339933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2-3 </a:t>
            </a:r>
            <a:r>
              <a:rPr lang="ko-KR" altLang="ko-KR" sz="2400" b="1">
                <a:solidFill>
                  <a:srgbClr val="339933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트리에서 </a:t>
            </a:r>
            <a:r>
              <a:rPr lang="en-US" altLang="ko-KR" sz="2400" b="1" dirty="0">
                <a:solidFill>
                  <a:srgbClr val="339933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3-</a:t>
            </a:r>
            <a:r>
              <a:rPr lang="ko-KR" altLang="ko-KR" sz="2400" b="1" dirty="0">
                <a:solidFill>
                  <a:srgbClr val="339933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노드의 두 개의 키를 두 노드로 분리 저장하고</a:t>
            </a:r>
            <a:r>
              <a:rPr lang="en-US" altLang="ko-KR" sz="2400" b="1" dirty="0">
                <a:solidFill>
                  <a:srgbClr val="339933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en-US" sz="2400" b="1" dirty="0">
                <a:solidFill>
                  <a:srgbClr val="339933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작은</a:t>
            </a:r>
            <a:r>
              <a:rPr lang="en-US" altLang="ko-KR" sz="2400" b="1" dirty="0">
                <a:solidFill>
                  <a:srgbClr val="339933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2400" b="1" dirty="0">
                <a:solidFill>
                  <a:srgbClr val="339933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키</a:t>
            </a:r>
            <a:r>
              <a:rPr lang="ko-KR" altLang="ko-KR" sz="2400" b="1" dirty="0">
                <a:solidFill>
                  <a:srgbClr val="339933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는 </a:t>
            </a:r>
            <a:r>
              <a:rPr lang="ko-KR" altLang="ko-KR" sz="2400" b="1" dirty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레드</a:t>
            </a:r>
            <a:r>
              <a:rPr lang="en-US" altLang="ko-KR" sz="2400" b="1" dirty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</a:t>
            </a:r>
            <a:r>
              <a:rPr lang="ko-KR" altLang="ko-KR" sz="2400" b="1" dirty="0">
                <a:solidFill>
                  <a:srgbClr val="339933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2400" b="1" dirty="0">
                <a:solidFill>
                  <a:srgbClr val="339933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큰 키</a:t>
            </a:r>
            <a:r>
              <a:rPr lang="ko-KR" altLang="ko-KR" sz="2400" b="1" dirty="0">
                <a:solidFill>
                  <a:srgbClr val="339933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는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블랙</a:t>
            </a:r>
            <a:r>
              <a:rPr lang="ko-KR" altLang="ko-KR" sz="2400" b="1" dirty="0">
                <a:solidFill>
                  <a:srgbClr val="339933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으로 만든 형태와 같다</a:t>
            </a:r>
            <a:r>
              <a:rPr lang="en-US" altLang="ko-KR" sz="2400" b="1" dirty="0">
                <a:solidFill>
                  <a:srgbClr val="339933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  <a:endParaRPr lang="ko-KR" altLang="ko-KR" sz="2400" b="1" dirty="0">
              <a:solidFill>
                <a:srgbClr val="339933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3" name="그림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940" y="3518039"/>
            <a:ext cx="8461331" cy="17428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직사각형 3"/>
          <p:cNvSpPr/>
          <p:nvPr/>
        </p:nvSpPr>
        <p:spPr>
          <a:xfrm>
            <a:off x="3092491" y="5805930"/>
            <a:ext cx="35525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ko-KR" sz="20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20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LLRB </a:t>
            </a:r>
            <a:r>
              <a:rPr lang="ko-KR" altLang="ko-KR" sz="20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트리와 </a:t>
            </a:r>
            <a:r>
              <a:rPr lang="en-US" altLang="ko-KR" sz="20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2-3 </a:t>
            </a:r>
            <a:r>
              <a:rPr lang="ko-KR" altLang="ko-KR" sz="20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트리의 </a:t>
            </a:r>
            <a:r>
              <a:rPr lang="ko-KR" altLang="ko-KR" sz="20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관계</a:t>
            </a:r>
            <a:endParaRPr lang="ko-KR" altLang="en-US" sz="20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534D001-F6AD-4399-B5A2-5DC739275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40" y="1038097"/>
            <a:ext cx="4953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34265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683341" y="620475"/>
            <a:ext cx="7664245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LLRB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트리는 개념적으로 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2-3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트리와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같기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때문에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2-3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트리의 장점인 </a:t>
            </a:r>
            <a:r>
              <a:rPr lang="ko-KR" altLang="ko-KR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완전</a:t>
            </a:r>
            <a:r>
              <a:rPr lang="en-US" altLang="ko-KR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균형</a:t>
            </a:r>
            <a:r>
              <a:rPr lang="en-US" altLang="ko-KR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트리의 </a:t>
            </a:r>
            <a:r>
              <a:rPr lang="ko-KR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형태를 내포</a:t>
            </a:r>
            <a:endParaRPr lang="en-US" altLang="ko-KR" sz="2400" b="1" dirty="0">
              <a:solidFill>
                <a:srgbClr val="00B0F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LLRB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트리의 노드는 블랙 또는 레드의 두 가지 색 정보를 가지며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노드와 부모를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연결하는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link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 색은 노드의 색과 </a:t>
            </a:r>
            <a:r>
              <a:rPr lang="ko-KR" altLang="en-US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동일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LLRB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트리에서는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link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 색을 별도로 저장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안함</a:t>
            </a:r>
            <a:endParaRPr lang="en-US" altLang="ko-KR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노드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n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왼쪽 자식</a:t>
            </a:r>
            <a:r>
              <a:rPr lang="ko-KR" altLang="en-US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은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레드이고 그 연결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link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도 레드이며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n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오른쪽 자식</a:t>
            </a:r>
            <a:r>
              <a:rPr lang="ko-KR" altLang="en-US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은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블랙이고 그 연결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link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도 블랙</a:t>
            </a:r>
            <a:endParaRPr lang="ko-KR" altLang="en-US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184" y="4498460"/>
            <a:ext cx="5762625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26666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771831" y="867633"/>
            <a:ext cx="7664245" cy="43849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2400"/>
              </a:spcAft>
            </a:pP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LLRB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트리는 이진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탐색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트리로서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다음의 네 가지 조건을 만족한다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 </a:t>
            </a:r>
            <a:endParaRPr lang="ko-KR" altLang="ko-KR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1200"/>
              </a:spcAft>
              <a:buFont typeface="Symbol" panose="05050102010706020507" pitchFamily="18" charset="2"/>
              <a:buChar char=""/>
            </a:pP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루트와 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None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은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블랙이다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  <a:endParaRPr lang="ko-KR" altLang="ko-KR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342900" marR="452755" lvl="0" indent="-342900" algn="just">
              <a:lnSpc>
                <a:spcPct val="107000"/>
              </a:lnSpc>
              <a:spcAft>
                <a:spcPts val="1200"/>
              </a:spcAft>
              <a:buFont typeface="Symbol" panose="05050102010706020507" pitchFamily="18" charset="2"/>
              <a:buChar char=""/>
            </a:pP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루트로부터 각 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None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까지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2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개의 연속된 레드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link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는 없다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 </a:t>
            </a:r>
            <a:r>
              <a:rPr lang="en-US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연속 레드 </a:t>
            </a:r>
            <a:r>
              <a:rPr lang="en-US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link </a:t>
            </a:r>
            <a:r>
              <a:rPr lang="ko-KR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규칙</a:t>
            </a:r>
            <a:r>
              <a:rPr lang="en-US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</a:t>
            </a:r>
            <a:endParaRPr lang="ko-KR" altLang="ko-KR" sz="2400" b="1" dirty="0">
              <a:solidFill>
                <a:srgbClr val="00B0F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342900" marR="542925" lvl="0" indent="-342900" algn="just">
              <a:lnSpc>
                <a:spcPct val="107000"/>
              </a:lnSpc>
              <a:spcAft>
                <a:spcPts val="1200"/>
              </a:spcAft>
              <a:buFont typeface="Symbol" panose="05050102010706020507" pitchFamily="18" charset="2"/>
              <a:buChar char=""/>
            </a:pP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루트로부터 각 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None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까지의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경로에 있는 블랙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link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수는 모두 같다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  <a:r>
              <a:rPr lang="en-US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(</a:t>
            </a:r>
            <a:r>
              <a:rPr lang="ko-KR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동일 블랙 </a:t>
            </a:r>
            <a:r>
              <a:rPr lang="en-US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link </a:t>
            </a:r>
            <a:r>
              <a:rPr lang="ko-KR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수 </a:t>
            </a:r>
            <a:r>
              <a:rPr lang="ko-KR" altLang="ko-KR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규칙</a:t>
            </a:r>
            <a:r>
              <a:rPr lang="en-US" altLang="ko-KR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</a:t>
            </a:r>
            <a:endParaRPr lang="en-US" altLang="ko-KR" sz="2400" b="1" dirty="0">
              <a:solidFill>
                <a:srgbClr val="00B0F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342900" marR="542925" lvl="0" indent="-342900" algn="just">
              <a:lnSpc>
                <a:spcPct val="107000"/>
              </a:lnSpc>
              <a:spcAft>
                <a:spcPts val="1200"/>
              </a:spcAft>
              <a:buFont typeface="Symbol" panose="05050102010706020507" pitchFamily="18" charset="2"/>
              <a:buChar char=""/>
            </a:pP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레드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link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는 왼쪽으로 기울어져 있다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 </a:t>
            </a:r>
            <a:r>
              <a:rPr lang="en-US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레드 </a:t>
            </a:r>
            <a:r>
              <a:rPr lang="en-US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link </a:t>
            </a:r>
            <a:r>
              <a:rPr lang="ko-KR" altLang="ko-KR" sz="2400" b="1" dirty="0" err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좌편향</a:t>
            </a:r>
            <a:r>
              <a:rPr lang="ko-KR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규칙</a:t>
            </a:r>
            <a:r>
              <a:rPr lang="en-US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</a:t>
            </a:r>
            <a:endParaRPr lang="ko-KR" altLang="en-US" sz="2400" b="1" dirty="0">
              <a:solidFill>
                <a:srgbClr val="00B0F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FB66E5F-3C6B-4350-B3F2-EF7F70871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10" y="867633"/>
            <a:ext cx="432414" cy="43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31271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819" y="323391"/>
            <a:ext cx="8829368" cy="3176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그림 2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267" y="3593833"/>
            <a:ext cx="8280472" cy="294461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직사각형 3"/>
          <p:cNvSpPr/>
          <p:nvPr/>
        </p:nvSpPr>
        <p:spPr>
          <a:xfrm>
            <a:off x="2402009" y="6538451"/>
            <a:ext cx="41040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ko-KR"/>
              <a:t>[</a:t>
            </a:r>
            <a:r>
              <a:rPr lang="ko-KR" altLang="ko-KR" dirty="0">
                <a:latin typeface="Calibri" panose="020F0502020204030204" pitchFamily="34" charset="0"/>
              </a:rPr>
              <a:t>그림</a:t>
            </a:r>
            <a:r>
              <a:rPr lang="en-US" altLang="ko-KR" dirty="0"/>
              <a:t> 5-35] </a:t>
            </a:r>
            <a:r>
              <a:rPr lang="ko-KR" altLang="ko-KR" dirty="0">
                <a:latin typeface="Calibri" panose="020F0502020204030204" pitchFamily="34" charset="0"/>
              </a:rPr>
              <a:t>어떤</a:t>
            </a:r>
            <a:r>
              <a:rPr lang="ko-KR" altLang="ko-KR" dirty="0"/>
              <a:t> </a:t>
            </a:r>
            <a:r>
              <a:rPr lang="ko-KR" altLang="ko-KR" dirty="0">
                <a:latin typeface="Calibri" panose="020F0502020204030204" pitchFamily="34" charset="0"/>
              </a:rPr>
              <a:t>트리가</a:t>
            </a:r>
            <a:r>
              <a:rPr lang="en-US" altLang="ko-KR" dirty="0"/>
              <a:t> LLRB </a:t>
            </a:r>
            <a:r>
              <a:rPr lang="ko-KR" altLang="ko-KR" dirty="0">
                <a:latin typeface="Calibri" panose="020F0502020204030204" pitchFamily="34" charset="0"/>
              </a:rPr>
              <a:t>트리인가</a:t>
            </a:r>
            <a:r>
              <a:rPr lang="en-US" altLang="ko-KR" dirty="0"/>
              <a:t>?</a:t>
            </a:r>
            <a:endParaRPr lang="ko-KR" altLang="ko-KR" dirty="0">
              <a:effectLst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1445" y="403123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(a)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176683" y="323391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(b)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06363" y="3760845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(c)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181601" y="3681113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(d)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720989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839669"/>
            <a:ext cx="7886700" cy="503554"/>
          </a:xfrm>
        </p:spPr>
        <p:txBody>
          <a:bodyPr/>
          <a:lstStyle/>
          <a:p>
            <a:r>
              <a:rPr lang="ko-KR" altLang="en-US" dirty="0"/>
              <a:t>응용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933903"/>
            <a:ext cx="7886700" cy="4558337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ko-KR" altLang="ko-KR"/>
              <a:t>레드</a:t>
            </a:r>
            <a:r>
              <a:rPr lang="en-US" altLang="ko-KR"/>
              <a:t> </a:t>
            </a:r>
            <a:r>
              <a:rPr lang="ko-KR" altLang="ko-KR"/>
              <a:t>블랙</a:t>
            </a:r>
            <a:r>
              <a:rPr lang="en-US" altLang="ko-KR"/>
              <a:t> </a:t>
            </a:r>
            <a:r>
              <a:rPr lang="ko-KR" altLang="ko-KR"/>
              <a:t>트리는 </a:t>
            </a:r>
            <a:r>
              <a:rPr lang="ko-KR" altLang="ko-KR" dirty="0"/>
              <a:t>반드시 </a:t>
            </a:r>
            <a:r>
              <a:rPr lang="ko-KR" altLang="ko-KR" u="sng" dirty="0"/>
              <a:t>제한된 시간 내에</a:t>
            </a:r>
            <a:r>
              <a:rPr lang="ko-KR" altLang="ko-KR" dirty="0"/>
              <a:t> 연산이 수행되어야 하는 경우에 매우 적합한 자료구조</a:t>
            </a:r>
            <a:r>
              <a:rPr lang="en-US" altLang="ko-KR" dirty="0"/>
              <a:t> 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ko-KR" altLang="ko-KR"/>
              <a:t>실제 응용</a:t>
            </a:r>
            <a:r>
              <a:rPr lang="en-US" altLang="ko-KR"/>
              <a:t> </a:t>
            </a:r>
            <a:r>
              <a:rPr lang="ko-KR" altLang="ko-KR"/>
              <a:t>사례로는</a:t>
            </a:r>
            <a:r>
              <a:rPr lang="en-US" altLang="ko-KR"/>
              <a:t> logn </a:t>
            </a:r>
            <a:r>
              <a:rPr lang="ko-KR" altLang="ko-KR" dirty="0"/>
              <a:t>시간보다 조금이라도 </a:t>
            </a:r>
            <a:r>
              <a:rPr lang="ko-KR" altLang="en-US" dirty="0"/>
              <a:t>지체될</a:t>
            </a:r>
            <a:r>
              <a:rPr lang="en-US" altLang="ko-KR" dirty="0"/>
              <a:t> </a:t>
            </a:r>
            <a:r>
              <a:rPr lang="ko-KR" altLang="ko-KR" dirty="0"/>
              <a:t>경우 매우 치명적인 상황을 야기할 수 있는 </a:t>
            </a:r>
            <a:endParaRPr lang="en-US" altLang="ko-KR" dirty="0"/>
          </a:p>
          <a:p>
            <a:pPr lvl="1">
              <a:lnSpc>
                <a:spcPct val="100000"/>
              </a:lnSpc>
              <a:spcAft>
                <a:spcPts val="1200"/>
              </a:spcAft>
              <a:buFontTx/>
              <a:buChar char="-"/>
            </a:pPr>
            <a:r>
              <a:rPr lang="ko-KR" altLang="ko-KR" dirty="0"/>
              <a:t>항공 교통 관제</a:t>
            </a:r>
            <a:r>
              <a:rPr lang="en-US" altLang="ko-KR" dirty="0"/>
              <a:t>(Air Traffic Control)</a:t>
            </a:r>
          </a:p>
          <a:p>
            <a:pPr lvl="1">
              <a:lnSpc>
                <a:spcPct val="100000"/>
              </a:lnSpc>
              <a:spcAft>
                <a:spcPts val="1200"/>
              </a:spcAft>
              <a:buFontTx/>
              <a:buChar char="-"/>
            </a:pPr>
            <a:r>
              <a:rPr lang="ko-KR" altLang="ko-KR" dirty="0"/>
              <a:t>핵발전소의 원자로</a:t>
            </a:r>
            <a:r>
              <a:rPr lang="en-US" altLang="ko-KR" dirty="0"/>
              <a:t>(Nuclear Reactor) </a:t>
            </a:r>
            <a:r>
              <a:rPr lang="ko-KR" altLang="ko-KR" dirty="0"/>
              <a:t>제어</a:t>
            </a:r>
            <a:endParaRPr lang="en-US" altLang="ko-KR" dirty="0"/>
          </a:p>
          <a:p>
            <a:pPr lvl="1">
              <a:lnSpc>
                <a:spcPct val="100000"/>
              </a:lnSpc>
              <a:spcAft>
                <a:spcPts val="1200"/>
              </a:spcAft>
              <a:buFontTx/>
              <a:buChar char="-"/>
            </a:pPr>
            <a:r>
              <a:rPr lang="ko-KR" altLang="ko-KR" dirty="0"/>
              <a:t>심장박동 </a:t>
            </a:r>
            <a:r>
              <a:rPr lang="ko-KR" altLang="ko-KR" dirty="0" err="1"/>
              <a:t>조정장치</a:t>
            </a:r>
            <a:r>
              <a:rPr lang="en-US" altLang="ko-KR" dirty="0"/>
              <a:t>(Pacemakers) </a:t>
            </a:r>
            <a:r>
              <a:rPr lang="ko-KR" altLang="ko-KR" dirty="0"/>
              <a:t>등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15EF02A-24BC-4687-888C-9860BDDCD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4" y="177681"/>
            <a:ext cx="1762125" cy="13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6469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81664" y="1224481"/>
            <a:ext cx="7536426" cy="3180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RB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트리는</a:t>
            </a:r>
            <a:r>
              <a:rPr lang="ko-KR" altLang="ko-KR" sz="2400" b="1">
                <a:solidFill>
                  <a:srgbClr val="3333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자바의 </a:t>
            </a:r>
            <a:r>
              <a:rPr lang="en-US" altLang="ko-KR" sz="2400" b="1" dirty="0" err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java.util.TreeMap</a:t>
            </a:r>
            <a:r>
              <a:rPr lang="ko-KR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과</a:t>
            </a:r>
            <a:r>
              <a:rPr lang="en-US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2400" b="1" dirty="0" err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java.util.TreeSet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 기본 자료구조로 사용되며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</a:p>
          <a:p>
            <a:pPr marL="285750" indent="-285750">
              <a:lnSpc>
                <a:spcPct val="12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C++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표준 라이브러리인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map, </a:t>
            </a:r>
            <a:r>
              <a:rPr lang="en-US" altLang="ko-KR" sz="2400" b="1" dirty="0" err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multimap</a:t>
            </a:r>
            <a:r>
              <a:rPr lang="en-US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set, multiset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에도 사용되고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</a:p>
          <a:p>
            <a:pPr marL="285750" indent="-285750">
              <a:lnSpc>
                <a:spcPct val="12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리눅스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(Linux) </a:t>
            </a:r>
            <a:r>
              <a:rPr lang="ko-KR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운영체제의 스케줄러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에서도 레드블랙트리가 활용</a:t>
            </a:r>
            <a:endParaRPr lang="ko-KR" altLang="en-US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561000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 dirty="0"/>
              <a:t>5.5 B-</a:t>
            </a:r>
            <a:r>
              <a:rPr lang="ko-KR" altLang="ko-KR" dirty="0"/>
              <a:t>트리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lang="ko-KR" altLang="ko-KR" sz="2400" dirty="0"/>
              <a:t>다수의 키를 가진 노드로 구성되어</a:t>
            </a:r>
            <a:r>
              <a:rPr lang="ko-KR" altLang="ko-KR" sz="2400" dirty="0">
                <a:solidFill>
                  <a:srgbClr val="00B0F0"/>
                </a:solidFill>
              </a:rPr>
              <a:t> </a:t>
            </a:r>
            <a:r>
              <a:rPr lang="ko-KR" altLang="ko-KR" sz="2400" dirty="0" err="1">
                <a:solidFill>
                  <a:srgbClr val="00B0F0"/>
                </a:solidFill>
              </a:rPr>
              <a:t>다방향</a:t>
            </a:r>
            <a:r>
              <a:rPr lang="ko-KR" altLang="ko-KR" sz="2400" dirty="0">
                <a:solidFill>
                  <a:srgbClr val="00B0F0"/>
                </a:solidFill>
              </a:rPr>
              <a:t> 탐색</a:t>
            </a:r>
            <a:r>
              <a:rPr lang="en-US" altLang="ko-KR" sz="2400" dirty="0">
                <a:solidFill>
                  <a:srgbClr val="00B0F0"/>
                </a:solidFill>
              </a:rPr>
              <a:t>(Multiway Search)</a:t>
            </a:r>
            <a:r>
              <a:rPr lang="ko-KR" altLang="ko-KR" sz="2400" dirty="0"/>
              <a:t>이 가능한 </a:t>
            </a:r>
            <a:r>
              <a:rPr lang="ko-KR" altLang="ko-KR" sz="2400" dirty="0">
                <a:solidFill>
                  <a:srgbClr val="00B0F0"/>
                </a:solidFill>
              </a:rPr>
              <a:t>균형 트리</a:t>
            </a:r>
            <a:endParaRPr lang="en-US" altLang="ko-KR" sz="2400" dirty="0">
              <a:solidFill>
                <a:srgbClr val="00B0F0"/>
              </a:solidFill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altLang="ko-KR" sz="2400" dirty="0"/>
              <a:t>2-3 </a:t>
            </a:r>
            <a:r>
              <a:rPr lang="ko-KR" altLang="ko-KR" sz="2400" dirty="0"/>
              <a:t>트리는</a:t>
            </a:r>
            <a:r>
              <a:rPr lang="en-US" altLang="ko-KR" sz="2400" dirty="0"/>
              <a:t> B-</a:t>
            </a:r>
            <a:r>
              <a:rPr lang="ko-KR" altLang="ko-KR" sz="2400" dirty="0"/>
              <a:t>트리의 일종으로 노드에 키가 </a:t>
            </a:r>
            <a:r>
              <a:rPr lang="en-US" altLang="ko-KR" sz="2400" dirty="0"/>
              <a:t>2</a:t>
            </a:r>
            <a:r>
              <a:rPr lang="ko-KR" altLang="ko-KR" sz="2400" dirty="0"/>
              <a:t> 개까지 있을 수 있는 트리</a:t>
            </a:r>
            <a:endParaRPr lang="en-US" altLang="ko-KR" sz="2400" dirty="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altLang="ko-KR" sz="2400" dirty="0"/>
              <a:t>B-</a:t>
            </a:r>
            <a:r>
              <a:rPr lang="ko-KR" altLang="ko-KR" sz="2400" dirty="0"/>
              <a:t>트리는 대용량의 데이터를 위해 고안</a:t>
            </a:r>
            <a:r>
              <a:rPr lang="ko-KR" altLang="en-US" sz="2400" dirty="0"/>
              <a:t>되어</a:t>
            </a:r>
            <a:r>
              <a:rPr lang="ko-KR" altLang="ko-KR" sz="2400" dirty="0"/>
              <a:t> 주로 데이터베이스</a:t>
            </a:r>
            <a:r>
              <a:rPr lang="ko-KR" altLang="en-US" sz="2400" dirty="0"/>
              <a:t>에 사용</a:t>
            </a:r>
            <a:endParaRPr lang="en-US" altLang="ko-KR" sz="2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F435387-E2A3-4A8C-BCB3-8023B036FC83}"/>
              </a:ext>
            </a:extLst>
          </p:cNvPr>
          <p:cNvSpPr/>
          <p:nvPr/>
        </p:nvSpPr>
        <p:spPr>
          <a:xfrm>
            <a:off x="619433" y="4707194"/>
            <a:ext cx="8096865" cy="142434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C79FBD0-3E00-4BF0-A105-6A477DEF72F5}"/>
              </a:ext>
            </a:extLst>
          </p:cNvPr>
          <p:cNvSpPr/>
          <p:nvPr/>
        </p:nvSpPr>
        <p:spPr>
          <a:xfrm>
            <a:off x="712838" y="4777319"/>
            <a:ext cx="8096865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3525"/>
            <a:r>
              <a:rPr lang="en-US" altLang="ko-KR" sz="2400" b="1" dirty="0">
                <a:solidFill>
                  <a:srgbClr val="3333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[</a:t>
            </a:r>
            <a:r>
              <a:rPr lang="ko-KR" altLang="ko-KR" sz="2400" b="1" dirty="0">
                <a:solidFill>
                  <a:srgbClr val="3333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핵심아이디어</a:t>
            </a:r>
            <a:r>
              <a:rPr lang="en-US" altLang="ko-KR" sz="2400" b="1" dirty="0">
                <a:solidFill>
                  <a:srgbClr val="3333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]</a:t>
            </a:r>
            <a:r>
              <a:rPr lang="en-US" altLang="ko-KR" sz="2400" b="1" dirty="0">
                <a:solidFill>
                  <a:srgbClr val="339933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</a:p>
          <a:p>
            <a:pPr marL="263525">
              <a:spcBef>
                <a:spcPts val="1200"/>
              </a:spcBef>
            </a:pPr>
            <a:r>
              <a:rPr lang="ko-KR" altLang="ko-KR" sz="2400" b="1" dirty="0">
                <a:solidFill>
                  <a:srgbClr val="339933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노드에 수백에서 수천 개의 키를 저장하여 트리의 높이를 낮추자</a:t>
            </a:r>
            <a:r>
              <a:rPr lang="en-US" altLang="ko-KR" sz="2400" b="1" dirty="0">
                <a:solidFill>
                  <a:srgbClr val="339933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  <a:endParaRPr lang="ko-KR" altLang="en-US" sz="2400" b="1" dirty="0">
              <a:solidFill>
                <a:srgbClr val="339933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264144C-3648-4F76-9C15-FC713A895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" y="4657365"/>
            <a:ext cx="4953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11194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062219" y="707048"/>
            <a:ext cx="7555028" cy="18804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spcAft>
                <a:spcPts val="0"/>
              </a:spcAft>
            </a:pPr>
            <a:r>
              <a:rPr lang="ko-KR" altLang="ko-KR" sz="23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차수가 </a:t>
            </a:r>
            <a:r>
              <a:rPr lang="en-US" altLang="ko-KR" sz="23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M</a:t>
            </a:r>
            <a:r>
              <a:rPr lang="ko-KR" altLang="ko-KR" sz="23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인 </a:t>
            </a:r>
            <a:r>
              <a:rPr lang="en-US" altLang="ko-KR" sz="23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B-</a:t>
            </a:r>
            <a:r>
              <a:rPr lang="ko-KR" altLang="ko-KR" sz="23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트리는</a:t>
            </a:r>
          </a:p>
          <a:p>
            <a:pPr marL="342900" lvl="0" indent="-342900" algn="just">
              <a:lnSpc>
                <a:spcPct val="13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ko-KR" altLang="ko-KR" sz="23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모든 이파리</a:t>
            </a:r>
            <a:r>
              <a:rPr lang="ko-KR" altLang="en-US" sz="23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는</a:t>
            </a:r>
            <a:r>
              <a:rPr lang="ko-KR" altLang="ko-KR" sz="23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3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동일한 깊이를 갖는다</a:t>
            </a:r>
            <a:r>
              <a:rPr lang="en-US" altLang="ko-KR" sz="23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  <a:endParaRPr lang="ko-KR" altLang="ko-KR" sz="23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342900" lvl="0" indent="-342900" algn="just">
              <a:lnSpc>
                <a:spcPct val="13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ko-KR" altLang="ko-KR" sz="23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각 노드</a:t>
            </a:r>
            <a:r>
              <a:rPr lang="en-US" altLang="ko-KR" sz="23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en-US" sz="23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루트 제외</a:t>
            </a:r>
            <a:r>
              <a:rPr lang="en-US" altLang="ko-KR" sz="23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</a:t>
            </a:r>
            <a:r>
              <a:rPr lang="ko-KR" altLang="ko-KR" sz="23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 </a:t>
            </a:r>
            <a:r>
              <a:rPr lang="ko-KR" altLang="ko-KR" sz="23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자식 수는 </a:t>
            </a:r>
            <a:r>
              <a:rPr lang="en-US" altLang="ko-KR" sz="23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Symbol" panose="05050102010706020507" pitchFamily="18" charset="2"/>
              </a:rPr>
              <a:t></a:t>
            </a:r>
            <a:r>
              <a:rPr lang="en-US" altLang="ko-KR" sz="23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M/2</a:t>
            </a:r>
            <a:r>
              <a:rPr lang="en-US" altLang="ko-KR" sz="23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Symbol" panose="05050102010706020507" pitchFamily="18" charset="2"/>
              </a:rPr>
              <a:t></a:t>
            </a:r>
            <a:r>
              <a:rPr lang="en-US" altLang="ko-KR" sz="23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3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이상</a:t>
            </a:r>
            <a:r>
              <a:rPr lang="en-US" altLang="ko-KR" sz="23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M </a:t>
            </a:r>
            <a:r>
              <a:rPr lang="ko-KR" altLang="ko-KR" sz="23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이하이다</a:t>
            </a:r>
            <a:r>
              <a:rPr lang="en-US" altLang="ko-KR" sz="23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</a:p>
          <a:p>
            <a:pPr marL="342900" lvl="0" indent="-342900" algn="just">
              <a:lnSpc>
                <a:spcPct val="13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ko-KR" altLang="ko-KR" sz="23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루트의 자식 수는</a:t>
            </a:r>
            <a:r>
              <a:rPr lang="en-US" altLang="ko-KR" sz="23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2 </a:t>
            </a:r>
            <a:r>
              <a:rPr lang="ko-KR" altLang="ko-KR" sz="23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이상이다</a:t>
            </a:r>
            <a:r>
              <a:rPr lang="en-US" altLang="ko-KR" sz="23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  <a:endParaRPr lang="ko-KR" altLang="en-US" sz="23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3" name="그림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496" y="4201026"/>
            <a:ext cx="7539171" cy="2121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16" y="707048"/>
            <a:ext cx="557480" cy="562505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74571" y="3063337"/>
            <a:ext cx="80554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dirty="0"/>
              <a:t>2-3 </a:t>
            </a:r>
            <a:r>
              <a:rPr lang="ko-KR" altLang="ko-KR" sz="2000" dirty="0"/>
              <a:t>트리</a:t>
            </a:r>
            <a:r>
              <a:rPr lang="ko-KR" altLang="en-US" sz="2000" dirty="0"/>
              <a:t>는 차수가 </a:t>
            </a:r>
            <a:r>
              <a:rPr lang="en-US" altLang="ko-KR" sz="2000" dirty="0"/>
              <a:t>3</a:t>
            </a:r>
            <a:r>
              <a:rPr lang="ko-KR" altLang="en-US" sz="2000" dirty="0"/>
              <a:t>인 </a:t>
            </a:r>
            <a:r>
              <a:rPr lang="en-US" altLang="ko-KR" sz="2000" dirty="0"/>
              <a:t>B-</a:t>
            </a:r>
            <a:r>
              <a:rPr lang="ko-KR" altLang="en-US" sz="2000" dirty="0"/>
              <a:t>트리이고</a:t>
            </a:r>
            <a:r>
              <a:rPr lang="en-US" altLang="ko-KR" sz="2000" dirty="0"/>
              <a:t>, 2-3-4 </a:t>
            </a:r>
            <a:r>
              <a:rPr lang="ko-KR" altLang="en-US" sz="2000" dirty="0"/>
              <a:t>트리는 차수가 </a:t>
            </a:r>
            <a:r>
              <a:rPr lang="en-US" altLang="ko-KR" sz="2000" dirty="0"/>
              <a:t>4</a:t>
            </a:r>
            <a:r>
              <a:rPr lang="ko-KR" altLang="en-US" sz="2000" dirty="0"/>
              <a:t>인 </a:t>
            </a:r>
            <a:r>
              <a:rPr lang="en-US" altLang="ko-KR" sz="2000" dirty="0"/>
              <a:t>B-</a:t>
            </a:r>
            <a:r>
              <a:rPr lang="ko-KR" altLang="en-US" sz="2000" dirty="0"/>
              <a:t>트리이다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518867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Box 27"/>
          <p:cNvSpPr txBox="1">
            <a:spLocks noChangeArrowheads="1"/>
          </p:cNvSpPr>
          <p:nvPr/>
        </p:nvSpPr>
        <p:spPr bwMode="auto">
          <a:xfrm>
            <a:off x="3905126" y="5373216"/>
            <a:ext cx="450850" cy="360363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 dirty="0">
                <a:solidFill>
                  <a:srgbClr val="090A15"/>
                </a:solidFill>
                <a:latin typeface="Calibri" panose="020F0502020204030204" pitchFamily="34" charset="0"/>
              </a:rPr>
              <a:t>45</a:t>
            </a:r>
          </a:p>
        </p:txBody>
      </p:sp>
      <p:sp>
        <p:nvSpPr>
          <p:cNvPr id="131076" name="Line 4"/>
          <p:cNvSpPr>
            <a:spLocks noChangeShapeType="1"/>
          </p:cNvSpPr>
          <p:nvPr/>
        </p:nvSpPr>
        <p:spPr bwMode="auto">
          <a:xfrm flipH="1">
            <a:off x="768277" y="4391818"/>
            <a:ext cx="1139576" cy="9810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131077" name="Line 5"/>
          <p:cNvSpPr>
            <a:spLocks noChangeShapeType="1"/>
          </p:cNvSpPr>
          <p:nvPr/>
        </p:nvSpPr>
        <p:spPr bwMode="auto">
          <a:xfrm flipH="1">
            <a:off x="1858640" y="4458493"/>
            <a:ext cx="481013" cy="10128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131078" name="Line 6"/>
          <p:cNvSpPr>
            <a:spLocks noChangeShapeType="1"/>
          </p:cNvSpPr>
          <p:nvPr/>
        </p:nvSpPr>
        <p:spPr bwMode="auto">
          <a:xfrm>
            <a:off x="2771452" y="4463256"/>
            <a:ext cx="678061" cy="909637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131079" name="Line 7"/>
          <p:cNvSpPr>
            <a:spLocks noChangeShapeType="1"/>
          </p:cNvSpPr>
          <p:nvPr/>
        </p:nvSpPr>
        <p:spPr bwMode="auto">
          <a:xfrm flipH="1">
            <a:off x="5076379" y="4391818"/>
            <a:ext cx="863600" cy="11334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131080" name="Line 8"/>
          <p:cNvSpPr>
            <a:spLocks noChangeShapeType="1"/>
          </p:cNvSpPr>
          <p:nvPr/>
        </p:nvSpPr>
        <p:spPr bwMode="auto">
          <a:xfrm flipH="1">
            <a:off x="6372200" y="4458493"/>
            <a:ext cx="0" cy="1066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131081" name="Line 9"/>
          <p:cNvSpPr>
            <a:spLocks noChangeShapeType="1"/>
          </p:cNvSpPr>
          <p:nvPr/>
        </p:nvSpPr>
        <p:spPr bwMode="auto">
          <a:xfrm>
            <a:off x="6732141" y="4391818"/>
            <a:ext cx="1080219" cy="9810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131082" name="Line 10"/>
          <p:cNvSpPr>
            <a:spLocks noChangeShapeType="1"/>
          </p:cNvSpPr>
          <p:nvPr/>
        </p:nvSpPr>
        <p:spPr bwMode="auto">
          <a:xfrm flipH="1">
            <a:off x="2771774" y="3598068"/>
            <a:ext cx="1539875" cy="47942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131083" name="Line 11"/>
          <p:cNvSpPr>
            <a:spLocks noChangeShapeType="1"/>
          </p:cNvSpPr>
          <p:nvPr/>
        </p:nvSpPr>
        <p:spPr bwMode="auto">
          <a:xfrm>
            <a:off x="4762500" y="3598068"/>
            <a:ext cx="1609279" cy="4794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162828" name="Text Box 12"/>
          <p:cNvSpPr txBox="1">
            <a:spLocks noChangeArrowheads="1"/>
          </p:cNvSpPr>
          <p:nvPr/>
        </p:nvSpPr>
        <p:spPr bwMode="auto">
          <a:xfrm>
            <a:off x="4311650" y="3239293"/>
            <a:ext cx="450850" cy="360363"/>
          </a:xfrm>
          <a:prstGeom prst="rect">
            <a:avLst/>
          </a:prstGeom>
          <a:solidFill>
            <a:srgbClr val="FFFF00"/>
          </a:solidFill>
          <a:ln w="5715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 dirty="0">
                <a:solidFill>
                  <a:srgbClr val="090A15"/>
                </a:solidFill>
                <a:latin typeface="Calibri" panose="020F0502020204030204" pitchFamily="34" charset="0"/>
              </a:rPr>
              <a:t>50</a:t>
            </a:r>
          </a:p>
        </p:txBody>
      </p:sp>
      <p:sp>
        <p:nvSpPr>
          <p:cNvPr id="162829" name="Text Box 13"/>
          <p:cNvSpPr txBox="1">
            <a:spLocks noChangeArrowheads="1"/>
          </p:cNvSpPr>
          <p:nvPr/>
        </p:nvSpPr>
        <p:spPr bwMode="auto">
          <a:xfrm>
            <a:off x="1885628" y="4077493"/>
            <a:ext cx="454025" cy="360363"/>
          </a:xfrm>
          <a:prstGeom prst="rect">
            <a:avLst/>
          </a:prstGeom>
          <a:solidFill>
            <a:srgbClr val="FFFF00"/>
          </a:solidFill>
          <a:ln w="5715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 dirty="0">
                <a:solidFill>
                  <a:srgbClr val="090A15"/>
                </a:solidFill>
                <a:latin typeface="Calibri" panose="020F0502020204030204" pitchFamily="34" charset="0"/>
              </a:rPr>
              <a:t>10</a:t>
            </a:r>
          </a:p>
        </p:txBody>
      </p:sp>
      <p:sp>
        <p:nvSpPr>
          <p:cNvPr id="162830" name="Text Box 14"/>
          <p:cNvSpPr txBox="1">
            <a:spLocks noChangeArrowheads="1"/>
          </p:cNvSpPr>
          <p:nvPr/>
        </p:nvSpPr>
        <p:spPr bwMode="auto">
          <a:xfrm>
            <a:off x="2339653" y="4077493"/>
            <a:ext cx="450850" cy="360363"/>
          </a:xfrm>
          <a:prstGeom prst="rect">
            <a:avLst/>
          </a:prstGeom>
          <a:solidFill>
            <a:srgbClr val="FFFF00"/>
          </a:solidFill>
          <a:ln w="5715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 dirty="0">
                <a:solidFill>
                  <a:srgbClr val="090A15"/>
                </a:solidFill>
                <a:latin typeface="Calibri" panose="020F0502020204030204" pitchFamily="34" charset="0"/>
              </a:rPr>
              <a:t>25</a:t>
            </a:r>
          </a:p>
        </p:txBody>
      </p:sp>
      <p:sp>
        <p:nvSpPr>
          <p:cNvPr id="162831" name="Text Box 15"/>
          <p:cNvSpPr txBox="1">
            <a:spLocks noChangeArrowheads="1"/>
          </p:cNvSpPr>
          <p:nvPr/>
        </p:nvSpPr>
        <p:spPr bwMode="auto">
          <a:xfrm>
            <a:off x="5917754" y="4077493"/>
            <a:ext cx="454025" cy="360363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 dirty="0">
                <a:solidFill>
                  <a:srgbClr val="090A15"/>
                </a:solidFill>
                <a:latin typeface="Calibri" panose="020F0502020204030204" pitchFamily="34" charset="0"/>
              </a:rPr>
              <a:t>65</a:t>
            </a:r>
          </a:p>
        </p:txBody>
      </p:sp>
      <p:sp>
        <p:nvSpPr>
          <p:cNvPr id="162832" name="Text Box 16"/>
          <p:cNvSpPr txBox="1">
            <a:spLocks noChangeArrowheads="1"/>
          </p:cNvSpPr>
          <p:nvPr/>
        </p:nvSpPr>
        <p:spPr bwMode="auto">
          <a:xfrm>
            <a:off x="6371779" y="4077493"/>
            <a:ext cx="452438" cy="360363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 dirty="0">
                <a:solidFill>
                  <a:srgbClr val="090A15"/>
                </a:solidFill>
                <a:latin typeface="Calibri" panose="020F0502020204030204" pitchFamily="34" charset="0"/>
              </a:rPr>
              <a:t>80</a:t>
            </a:r>
          </a:p>
        </p:txBody>
      </p:sp>
      <p:sp>
        <p:nvSpPr>
          <p:cNvPr id="162833" name="Text Box 17"/>
          <p:cNvSpPr txBox="1">
            <a:spLocks noChangeArrowheads="1"/>
          </p:cNvSpPr>
          <p:nvPr/>
        </p:nvSpPr>
        <p:spPr bwMode="auto">
          <a:xfrm>
            <a:off x="323528" y="5372893"/>
            <a:ext cx="454025" cy="360363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>
                <a:solidFill>
                  <a:srgbClr val="090A15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162834" name="Text Box 18"/>
          <p:cNvSpPr txBox="1">
            <a:spLocks noChangeArrowheads="1"/>
          </p:cNvSpPr>
          <p:nvPr/>
        </p:nvSpPr>
        <p:spPr bwMode="auto">
          <a:xfrm>
            <a:off x="777553" y="5372893"/>
            <a:ext cx="452438" cy="360363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 dirty="0">
                <a:solidFill>
                  <a:srgbClr val="090A15"/>
                </a:solidFill>
                <a:latin typeface="Calibri" panose="020F0502020204030204" pitchFamily="34" charset="0"/>
              </a:rPr>
              <a:t>5</a:t>
            </a:r>
          </a:p>
        </p:txBody>
      </p:sp>
      <p:sp>
        <p:nvSpPr>
          <p:cNvPr id="162835" name="Text Box 19"/>
          <p:cNvSpPr txBox="1">
            <a:spLocks noChangeArrowheads="1"/>
          </p:cNvSpPr>
          <p:nvPr/>
        </p:nvSpPr>
        <p:spPr bwMode="auto">
          <a:xfrm>
            <a:off x="1476053" y="5372893"/>
            <a:ext cx="454025" cy="360363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 dirty="0">
                <a:solidFill>
                  <a:srgbClr val="090A15"/>
                </a:solidFill>
                <a:latin typeface="Calibri" panose="020F0502020204030204" pitchFamily="34" charset="0"/>
              </a:rPr>
              <a:t>15</a:t>
            </a:r>
          </a:p>
        </p:txBody>
      </p:sp>
      <p:sp>
        <p:nvSpPr>
          <p:cNvPr id="162836" name="Text Box 20"/>
          <p:cNvSpPr txBox="1">
            <a:spLocks noChangeArrowheads="1"/>
          </p:cNvSpPr>
          <p:nvPr/>
        </p:nvSpPr>
        <p:spPr bwMode="auto">
          <a:xfrm>
            <a:off x="1930078" y="5372893"/>
            <a:ext cx="450850" cy="360363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 dirty="0">
                <a:solidFill>
                  <a:srgbClr val="090A15"/>
                </a:solidFill>
                <a:latin typeface="Calibri" panose="020F0502020204030204" pitchFamily="34" charset="0"/>
              </a:rPr>
              <a:t>20</a:t>
            </a:r>
          </a:p>
        </p:txBody>
      </p:sp>
      <p:sp>
        <p:nvSpPr>
          <p:cNvPr id="162840" name="Text Box 24"/>
          <p:cNvSpPr txBox="1">
            <a:spLocks noChangeArrowheads="1"/>
          </p:cNvSpPr>
          <p:nvPr/>
        </p:nvSpPr>
        <p:spPr bwMode="auto">
          <a:xfrm>
            <a:off x="7122418" y="5372893"/>
            <a:ext cx="454025" cy="360363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 dirty="0">
                <a:solidFill>
                  <a:srgbClr val="090A15"/>
                </a:solidFill>
                <a:latin typeface="Calibri" panose="020F0502020204030204" pitchFamily="34" charset="0"/>
              </a:rPr>
              <a:t>85</a:t>
            </a:r>
          </a:p>
        </p:txBody>
      </p:sp>
      <p:sp>
        <p:nvSpPr>
          <p:cNvPr id="162841" name="Text Box 25"/>
          <p:cNvSpPr txBox="1">
            <a:spLocks noChangeArrowheads="1"/>
          </p:cNvSpPr>
          <p:nvPr/>
        </p:nvSpPr>
        <p:spPr bwMode="auto">
          <a:xfrm>
            <a:off x="7576443" y="5372893"/>
            <a:ext cx="452438" cy="360363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 dirty="0">
                <a:solidFill>
                  <a:srgbClr val="090A15"/>
                </a:solidFill>
                <a:latin typeface="Calibri" panose="020F0502020204030204" pitchFamily="34" charset="0"/>
              </a:rPr>
              <a:t>90</a:t>
            </a:r>
          </a:p>
        </p:txBody>
      </p:sp>
      <p:sp>
        <p:nvSpPr>
          <p:cNvPr id="162842" name="Text Box 26"/>
          <p:cNvSpPr txBox="1">
            <a:spLocks noChangeArrowheads="1"/>
          </p:cNvSpPr>
          <p:nvPr/>
        </p:nvSpPr>
        <p:spPr bwMode="auto">
          <a:xfrm>
            <a:off x="7986018" y="5372893"/>
            <a:ext cx="455613" cy="360363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 dirty="0">
                <a:solidFill>
                  <a:srgbClr val="090A15"/>
                </a:solidFill>
                <a:latin typeface="Calibri" panose="020F0502020204030204" pitchFamily="34" charset="0"/>
              </a:rPr>
              <a:t>95</a:t>
            </a:r>
          </a:p>
        </p:txBody>
      </p:sp>
      <p:sp>
        <p:nvSpPr>
          <p:cNvPr id="162844" name="Text Box 28"/>
          <p:cNvSpPr txBox="1">
            <a:spLocks noChangeArrowheads="1"/>
          </p:cNvSpPr>
          <p:nvPr/>
        </p:nvSpPr>
        <p:spPr bwMode="auto">
          <a:xfrm>
            <a:off x="4716587" y="5372893"/>
            <a:ext cx="454025" cy="360363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 dirty="0">
                <a:solidFill>
                  <a:srgbClr val="090A15"/>
                </a:solidFill>
                <a:latin typeface="Calibri" panose="020F0502020204030204" pitchFamily="34" charset="0"/>
              </a:rPr>
              <a:t>55</a:t>
            </a:r>
          </a:p>
        </p:txBody>
      </p:sp>
      <p:sp>
        <p:nvSpPr>
          <p:cNvPr id="162845" name="Text Box 29"/>
          <p:cNvSpPr txBox="1">
            <a:spLocks noChangeArrowheads="1"/>
          </p:cNvSpPr>
          <p:nvPr/>
        </p:nvSpPr>
        <p:spPr bwMode="auto">
          <a:xfrm>
            <a:off x="5170612" y="5372893"/>
            <a:ext cx="450850" cy="360363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 dirty="0">
                <a:solidFill>
                  <a:srgbClr val="090A15"/>
                </a:solidFill>
                <a:latin typeface="Calibri" panose="020F0502020204030204" pitchFamily="34" charset="0"/>
              </a:rPr>
              <a:t>60</a:t>
            </a:r>
          </a:p>
        </p:txBody>
      </p:sp>
      <p:sp>
        <p:nvSpPr>
          <p:cNvPr id="162846" name="Text Box 30"/>
          <p:cNvSpPr txBox="1">
            <a:spLocks noChangeArrowheads="1"/>
          </p:cNvSpPr>
          <p:nvPr/>
        </p:nvSpPr>
        <p:spPr bwMode="auto">
          <a:xfrm>
            <a:off x="5917754" y="5372893"/>
            <a:ext cx="455613" cy="360363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 dirty="0">
                <a:solidFill>
                  <a:srgbClr val="090A15"/>
                </a:solidFill>
                <a:latin typeface="Calibri" panose="020F0502020204030204" pitchFamily="34" charset="0"/>
              </a:rPr>
              <a:t>70</a:t>
            </a:r>
          </a:p>
        </p:txBody>
      </p:sp>
      <p:sp>
        <p:nvSpPr>
          <p:cNvPr id="162847" name="Text Box 31"/>
          <p:cNvSpPr txBox="1">
            <a:spLocks noChangeArrowheads="1"/>
          </p:cNvSpPr>
          <p:nvPr/>
        </p:nvSpPr>
        <p:spPr bwMode="auto">
          <a:xfrm>
            <a:off x="6373367" y="5372893"/>
            <a:ext cx="450850" cy="360363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 dirty="0">
                <a:solidFill>
                  <a:srgbClr val="090A15"/>
                </a:solidFill>
                <a:latin typeface="Calibri" panose="020F0502020204030204" pitchFamily="34" charset="0"/>
              </a:rPr>
              <a:t>75</a:t>
            </a:r>
          </a:p>
        </p:txBody>
      </p:sp>
      <p:sp>
        <p:nvSpPr>
          <p:cNvPr id="32" name="Text Box 24"/>
          <p:cNvSpPr txBox="1">
            <a:spLocks noChangeArrowheads="1"/>
          </p:cNvSpPr>
          <p:nvPr/>
        </p:nvSpPr>
        <p:spPr bwMode="auto">
          <a:xfrm>
            <a:off x="2585914" y="5373216"/>
            <a:ext cx="454025" cy="360363"/>
          </a:xfrm>
          <a:prstGeom prst="rect">
            <a:avLst/>
          </a:prstGeom>
          <a:solidFill>
            <a:srgbClr val="FFFF00"/>
          </a:solidFill>
          <a:ln w="5715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 dirty="0">
                <a:solidFill>
                  <a:srgbClr val="090A15"/>
                </a:solidFill>
                <a:latin typeface="Calibri" panose="020F0502020204030204" pitchFamily="34" charset="0"/>
              </a:rPr>
              <a:t>30</a:t>
            </a:r>
          </a:p>
        </p:txBody>
      </p:sp>
      <p:sp>
        <p:nvSpPr>
          <p:cNvPr id="33" name="Text Box 25"/>
          <p:cNvSpPr txBox="1">
            <a:spLocks noChangeArrowheads="1"/>
          </p:cNvSpPr>
          <p:nvPr/>
        </p:nvSpPr>
        <p:spPr bwMode="auto">
          <a:xfrm>
            <a:off x="3039939" y="5373216"/>
            <a:ext cx="452438" cy="360363"/>
          </a:xfrm>
          <a:prstGeom prst="rect">
            <a:avLst/>
          </a:prstGeom>
          <a:solidFill>
            <a:srgbClr val="FFFF00"/>
          </a:solidFill>
          <a:ln w="5715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 dirty="0">
                <a:solidFill>
                  <a:srgbClr val="090A15"/>
                </a:solidFill>
                <a:latin typeface="Calibri" panose="020F0502020204030204" pitchFamily="34" charset="0"/>
              </a:rPr>
              <a:t>35</a:t>
            </a:r>
          </a:p>
        </p:txBody>
      </p:sp>
      <p:sp>
        <p:nvSpPr>
          <p:cNvPr id="34" name="Text Box 26"/>
          <p:cNvSpPr txBox="1">
            <a:spLocks noChangeArrowheads="1"/>
          </p:cNvSpPr>
          <p:nvPr/>
        </p:nvSpPr>
        <p:spPr bwMode="auto">
          <a:xfrm>
            <a:off x="3449514" y="5373216"/>
            <a:ext cx="455613" cy="360363"/>
          </a:xfrm>
          <a:prstGeom prst="rect">
            <a:avLst/>
          </a:prstGeom>
          <a:solidFill>
            <a:srgbClr val="FFFF00"/>
          </a:solidFill>
          <a:ln w="5715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 dirty="0">
                <a:solidFill>
                  <a:srgbClr val="090A15"/>
                </a:solidFill>
                <a:latin typeface="Calibri" panose="020F0502020204030204" pitchFamily="34" charset="0"/>
              </a:rPr>
              <a:t>40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549356" y="373797"/>
            <a:ext cx="25539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ko-KR" sz="28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5.5.1 </a:t>
            </a:r>
            <a:r>
              <a:rPr lang="ko-KR" altLang="ko-KR" sz="28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탐색 연산</a:t>
            </a:r>
            <a:endParaRPr lang="ko-KR" altLang="ko-KR" sz="2800" b="1" dirty="0">
              <a:solidFill>
                <a:srgbClr val="C00000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549356" y="1191396"/>
            <a:ext cx="803597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B-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트리에서의 탐색은 </a:t>
            </a:r>
            <a:r>
              <a:rPr lang="ko-KR" altLang="ko-KR" sz="2400" b="1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루트로부터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시작</a:t>
            </a:r>
            <a:endParaRPr lang="en-US" altLang="ko-KR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342900" indent="-3429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방문한 각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노드에서는 탐색하는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키와 노드의 키들을 비교하여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적절한 </a:t>
            </a:r>
            <a:r>
              <a:rPr lang="ko-KR" altLang="ko-KR" sz="2400" b="1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서브트리를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탐색</a:t>
            </a:r>
            <a:endParaRPr lang="en-US" altLang="ko-KR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342900" indent="-3429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단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B-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트리의 노드는 일반적으로 수백 개가 넘는 키를 가지므로 각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노드에서는 </a:t>
            </a:r>
            <a:r>
              <a:rPr lang="ko-KR" altLang="ko-KR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이진</a:t>
            </a:r>
            <a:r>
              <a:rPr lang="en-US" altLang="ko-KR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탐색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을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수행</a:t>
            </a:r>
            <a:endParaRPr lang="ko-KR" altLang="ko-KR" sz="2400" b="1" dirty="0">
              <a:effectLst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436702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651378" y="461805"/>
            <a:ext cx="26132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ko-KR" sz="28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5.5.2 </a:t>
            </a:r>
            <a:r>
              <a:rPr lang="ko-KR" altLang="ko-KR" sz="28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삽입 연산</a:t>
            </a:r>
            <a:endParaRPr lang="ko-KR" altLang="ko-KR" sz="2800" b="1" dirty="0">
              <a:solidFill>
                <a:srgbClr val="C00000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26913" y="1357047"/>
            <a:ext cx="8669603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B-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트리에서의 삽입은 탐색과 동일한 과정을 거쳐 새로운 키가 저장되어야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할 이파리를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찾는다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이파리에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새 키를 수용할 공간이 있다면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노드의 키들이 </a:t>
            </a:r>
            <a:r>
              <a:rPr lang="ko-KR" altLang="ko-KR" sz="2400" b="1" u="sng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정렬</a:t>
            </a:r>
            <a:r>
              <a:rPr lang="en-US" altLang="ko-KR" sz="2400" b="1" u="sng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 u="sng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상태를 유지하도록 새 키를 삽입</a:t>
            </a:r>
            <a:endParaRPr lang="en-US" altLang="ko-KR" sz="2400" b="1" u="sng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342900" indent="-342900">
              <a:lnSpc>
                <a:spcPct val="150000"/>
              </a:lnSpc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이파리가 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M-1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개의 키를 가지고 있으면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M-1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개의 키</a:t>
            </a:r>
            <a:r>
              <a:rPr lang="ko-KR" altLang="en-US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와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새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키 중에서 </a:t>
            </a:r>
            <a:r>
              <a:rPr lang="ko-KR" altLang="ko-KR" sz="2400" b="1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중간값이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되는 키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ko-KR" sz="2400" b="1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중간키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</a:t>
            </a:r>
            <a:r>
              <a:rPr lang="ko-KR" altLang="en-US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를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부모로 올려보내고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남은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M-1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개의 키</a:t>
            </a:r>
            <a:r>
              <a:rPr lang="ko-KR" altLang="en-US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를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1/2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씩 나누어 각각 별도의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노드에 저장</a:t>
            </a:r>
            <a:r>
              <a:rPr lang="ko-KR" altLang="en-US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[</a:t>
            </a:r>
            <a:r>
              <a:rPr lang="ko-KR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분리</a:t>
            </a:r>
            <a:r>
              <a:rPr lang="en-US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(Split) </a:t>
            </a:r>
            <a:r>
              <a:rPr lang="ko-KR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연산</a:t>
            </a:r>
            <a:r>
              <a:rPr lang="en-US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]</a:t>
            </a:r>
            <a:endParaRPr lang="ko-KR" altLang="en-US" sz="2400" b="1" dirty="0">
              <a:solidFill>
                <a:srgbClr val="00B0F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209620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3" name="Text Box 31"/>
          <p:cNvSpPr txBox="1">
            <a:spLocks noChangeArrowheads="1"/>
          </p:cNvSpPr>
          <p:nvPr/>
        </p:nvSpPr>
        <p:spPr bwMode="auto">
          <a:xfrm>
            <a:off x="619918" y="698946"/>
            <a:ext cx="640873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ko-KR" altLang="en-US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삽입</a:t>
            </a:r>
            <a:r>
              <a:rPr kumimoji="0"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45 </a:t>
            </a:r>
          </a:p>
        </p:txBody>
      </p:sp>
      <p:sp>
        <p:nvSpPr>
          <p:cNvPr id="174084" name="Text Box 32"/>
          <p:cNvSpPr txBox="1">
            <a:spLocks noChangeArrowheads="1"/>
          </p:cNvSpPr>
          <p:nvPr/>
        </p:nvSpPr>
        <p:spPr bwMode="auto">
          <a:xfrm>
            <a:off x="4554538" y="1988790"/>
            <a:ext cx="477837" cy="360362"/>
          </a:xfrm>
          <a:prstGeom prst="rect">
            <a:avLst/>
          </a:prstGeom>
          <a:solidFill>
            <a:srgbClr val="FFFF00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20</a:t>
            </a:r>
          </a:p>
        </p:txBody>
      </p:sp>
      <p:sp>
        <p:nvSpPr>
          <p:cNvPr id="174085" name="Text Box 33"/>
          <p:cNvSpPr txBox="1">
            <a:spLocks noChangeArrowheads="1"/>
          </p:cNvSpPr>
          <p:nvPr/>
        </p:nvSpPr>
        <p:spPr bwMode="auto">
          <a:xfrm>
            <a:off x="493713" y="2852390"/>
            <a:ext cx="481012" cy="360362"/>
          </a:xfrm>
          <a:prstGeom prst="rect">
            <a:avLst/>
          </a:prstGeom>
          <a:solidFill>
            <a:srgbClr val="FFFF00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174086" name="Text Box 34"/>
          <p:cNvSpPr txBox="1">
            <a:spLocks noChangeArrowheads="1"/>
          </p:cNvSpPr>
          <p:nvPr/>
        </p:nvSpPr>
        <p:spPr bwMode="auto">
          <a:xfrm>
            <a:off x="974725" y="2852390"/>
            <a:ext cx="477837" cy="360362"/>
          </a:xfrm>
          <a:prstGeom prst="rect">
            <a:avLst/>
          </a:prstGeom>
          <a:solidFill>
            <a:srgbClr val="FFFF00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74087" name="Text Box 35"/>
          <p:cNvSpPr txBox="1">
            <a:spLocks noChangeArrowheads="1"/>
          </p:cNvSpPr>
          <p:nvPr/>
        </p:nvSpPr>
        <p:spPr bwMode="auto">
          <a:xfrm>
            <a:off x="3203575" y="2852390"/>
            <a:ext cx="477837" cy="360362"/>
          </a:xfrm>
          <a:prstGeom prst="rect">
            <a:avLst/>
          </a:prstGeom>
          <a:solidFill>
            <a:srgbClr val="FFFF00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12</a:t>
            </a:r>
          </a:p>
        </p:txBody>
      </p:sp>
      <p:sp>
        <p:nvSpPr>
          <p:cNvPr id="174088" name="Text Box 36"/>
          <p:cNvSpPr txBox="1">
            <a:spLocks noChangeArrowheads="1"/>
          </p:cNvSpPr>
          <p:nvPr/>
        </p:nvSpPr>
        <p:spPr bwMode="auto">
          <a:xfrm>
            <a:off x="4886325" y="2852390"/>
            <a:ext cx="479425" cy="360362"/>
          </a:xfrm>
          <a:prstGeom prst="rect">
            <a:avLst/>
          </a:prstGeom>
          <a:solidFill>
            <a:srgbClr val="FFFF00"/>
          </a:solidFill>
          <a:ln w="5715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25</a:t>
            </a:r>
          </a:p>
        </p:txBody>
      </p:sp>
      <p:sp>
        <p:nvSpPr>
          <p:cNvPr id="174089" name="Text Box 37"/>
          <p:cNvSpPr txBox="1">
            <a:spLocks noChangeArrowheads="1"/>
          </p:cNvSpPr>
          <p:nvPr/>
        </p:nvSpPr>
        <p:spPr bwMode="auto">
          <a:xfrm>
            <a:off x="4122738" y="1988790"/>
            <a:ext cx="477837" cy="360362"/>
          </a:xfrm>
          <a:prstGeom prst="rect">
            <a:avLst/>
          </a:prstGeom>
          <a:solidFill>
            <a:srgbClr val="FFFF00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10</a:t>
            </a:r>
          </a:p>
        </p:txBody>
      </p:sp>
      <p:sp>
        <p:nvSpPr>
          <p:cNvPr id="142346" name="Line 38"/>
          <p:cNvSpPr>
            <a:spLocks noChangeShapeType="1"/>
          </p:cNvSpPr>
          <p:nvPr/>
        </p:nvSpPr>
        <p:spPr bwMode="auto">
          <a:xfrm flipH="1">
            <a:off x="2266950" y="2349153"/>
            <a:ext cx="1898650" cy="5032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142347" name="Line 39"/>
          <p:cNvSpPr>
            <a:spLocks noChangeShapeType="1"/>
          </p:cNvSpPr>
          <p:nvPr/>
        </p:nvSpPr>
        <p:spPr bwMode="auto">
          <a:xfrm flipH="1">
            <a:off x="3949700" y="2349153"/>
            <a:ext cx="649287" cy="5032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174092" name="Text Box 40"/>
          <p:cNvSpPr txBox="1">
            <a:spLocks noChangeArrowheads="1"/>
          </p:cNvSpPr>
          <p:nvPr/>
        </p:nvSpPr>
        <p:spPr bwMode="auto">
          <a:xfrm>
            <a:off x="1863725" y="2852390"/>
            <a:ext cx="477837" cy="360362"/>
          </a:xfrm>
          <a:prstGeom prst="rect">
            <a:avLst/>
          </a:prstGeom>
          <a:solidFill>
            <a:srgbClr val="FFFF00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6</a:t>
            </a:r>
          </a:p>
        </p:txBody>
      </p:sp>
      <p:sp>
        <p:nvSpPr>
          <p:cNvPr id="174093" name="Text Box 41"/>
          <p:cNvSpPr txBox="1">
            <a:spLocks noChangeArrowheads="1"/>
          </p:cNvSpPr>
          <p:nvPr/>
        </p:nvSpPr>
        <p:spPr bwMode="auto">
          <a:xfrm>
            <a:off x="3635375" y="2852390"/>
            <a:ext cx="477837" cy="360362"/>
          </a:xfrm>
          <a:prstGeom prst="rect">
            <a:avLst/>
          </a:prstGeom>
          <a:solidFill>
            <a:srgbClr val="FFFF00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14</a:t>
            </a:r>
          </a:p>
        </p:txBody>
      </p:sp>
      <p:sp>
        <p:nvSpPr>
          <p:cNvPr id="174094" name="Text Box 42"/>
          <p:cNvSpPr txBox="1">
            <a:spLocks noChangeArrowheads="1"/>
          </p:cNvSpPr>
          <p:nvPr/>
        </p:nvSpPr>
        <p:spPr bwMode="auto">
          <a:xfrm>
            <a:off x="6183313" y="2852390"/>
            <a:ext cx="477837" cy="360362"/>
          </a:xfrm>
          <a:prstGeom prst="rect">
            <a:avLst/>
          </a:prstGeom>
          <a:solidFill>
            <a:srgbClr val="FFFF00"/>
          </a:solidFill>
          <a:ln w="5715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40</a:t>
            </a:r>
          </a:p>
        </p:txBody>
      </p:sp>
      <p:sp>
        <p:nvSpPr>
          <p:cNvPr id="142351" name="Line 43"/>
          <p:cNvSpPr>
            <a:spLocks noChangeShapeType="1"/>
          </p:cNvSpPr>
          <p:nvPr/>
        </p:nvSpPr>
        <p:spPr bwMode="auto">
          <a:xfrm>
            <a:off x="5002214" y="2347565"/>
            <a:ext cx="730250" cy="503238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174096" name="Text Box 44"/>
          <p:cNvSpPr txBox="1">
            <a:spLocks noChangeArrowheads="1"/>
          </p:cNvSpPr>
          <p:nvPr/>
        </p:nvSpPr>
        <p:spPr bwMode="auto">
          <a:xfrm>
            <a:off x="2293938" y="2852390"/>
            <a:ext cx="477837" cy="360362"/>
          </a:xfrm>
          <a:prstGeom prst="rect">
            <a:avLst/>
          </a:prstGeom>
          <a:solidFill>
            <a:srgbClr val="FFFF00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7</a:t>
            </a:r>
          </a:p>
        </p:txBody>
      </p:sp>
      <p:sp>
        <p:nvSpPr>
          <p:cNvPr id="174097" name="Text Box 45"/>
          <p:cNvSpPr txBox="1">
            <a:spLocks noChangeArrowheads="1"/>
          </p:cNvSpPr>
          <p:nvPr/>
        </p:nvSpPr>
        <p:spPr bwMode="auto">
          <a:xfrm>
            <a:off x="5011738" y="1988790"/>
            <a:ext cx="477837" cy="360362"/>
          </a:xfrm>
          <a:prstGeom prst="rect">
            <a:avLst/>
          </a:prstGeom>
          <a:solidFill>
            <a:srgbClr val="FFFF00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50</a:t>
            </a:r>
          </a:p>
        </p:txBody>
      </p:sp>
      <p:sp>
        <p:nvSpPr>
          <p:cNvPr id="174098" name="Text Box 46"/>
          <p:cNvSpPr txBox="1">
            <a:spLocks noChangeArrowheads="1"/>
          </p:cNvSpPr>
          <p:nvPr/>
        </p:nvSpPr>
        <p:spPr bwMode="auto">
          <a:xfrm>
            <a:off x="4094163" y="2852390"/>
            <a:ext cx="477837" cy="360362"/>
          </a:xfrm>
          <a:prstGeom prst="rect">
            <a:avLst/>
          </a:prstGeom>
          <a:solidFill>
            <a:srgbClr val="FFFF00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16</a:t>
            </a:r>
          </a:p>
        </p:txBody>
      </p:sp>
      <p:sp>
        <p:nvSpPr>
          <p:cNvPr id="174099" name="Text Box 47"/>
          <p:cNvSpPr txBox="1">
            <a:spLocks noChangeArrowheads="1"/>
          </p:cNvSpPr>
          <p:nvPr/>
        </p:nvSpPr>
        <p:spPr bwMode="auto">
          <a:xfrm>
            <a:off x="7046913" y="2852390"/>
            <a:ext cx="477837" cy="360362"/>
          </a:xfrm>
          <a:prstGeom prst="rect">
            <a:avLst/>
          </a:prstGeom>
          <a:solidFill>
            <a:srgbClr val="FFFF00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55</a:t>
            </a:r>
          </a:p>
        </p:txBody>
      </p:sp>
      <p:sp>
        <p:nvSpPr>
          <p:cNvPr id="174100" name="Text Box 48"/>
          <p:cNvSpPr txBox="1">
            <a:spLocks noChangeArrowheads="1"/>
          </p:cNvSpPr>
          <p:nvPr/>
        </p:nvSpPr>
        <p:spPr bwMode="auto">
          <a:xfrm>
            <a:off x="8342313" y="2852390"/>
            <a:ext cx="477837" cy="360362"/>
          </a:xfrm>
          <a:prstGeom prst="rect">
            <a:avLst/>
          </a:prstGeom>
          <a:solidFill>
            <a:srgbClr val="FFFF00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70</a:t>
            </a:r>
          </a:p>
        </p:txBody>
      </p:sp>
      <p:sp>
        <p:nvSpPr>
          <p:cNvPr id="142357" name="Line 49"/>
          <p:cNvSpPr>
            <a:spLocks noChangeShapeType="1"/>
          </p:cNvSpPr>
          <p:nvPr/>
        </p:nvSpPr>
        <p:spPr bwMode="auto">
          <a:xfrm>
            <a:off x="5462588" y="2349153"/>
            <a:ext cx="2466974" cy="50164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174102" name="Text Box 50"/>
          <p:cNvSpPr txBox="1">
            <a:spLocks noChangeArrowheads="1"/>
          </p:cNvSpPr>
          <p:nvPr/>
        </p:nvSpPr>
        <p:spPr bwMode="auto">
          <a:xfrm>
            <a:off x="3662363" y="1988790"/>
            <a:ext cx="477837" cy="360362"/>
          </a:xfrm>
          <a:prstGeom prst="rect">
            <a:avLst/>
          </a:prstGeom>
          <a:solidFill>
            <a:srgbClr val="FFFF00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5</a:t>
            </a:r>
          </a:p>
        </p:txBody>
      </p:sp>
      <p:sp>
        <p:nvSpPr>
          <p:cNvPr id="142359" name="Line 51"/>
          <p:cNvSpPr>
            <a:spLocks noChangeShapeType="1"/>
          </p:cNvSpPr>
          <p:nvPr/>
        </p:nvSpPr>
        <p:spPr bwMode="auto">
          <a:xfrm flipH="1">
            <a:off x="971550" y="2349153"/>
            <a:ext cx="2762250" cy="5032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174104" name="Text Box 52"/>
          <p:cNvSpPr txBox="1">
            <a:spLocks noChangeArrowheads="1"/>
          </p:cNvSpPr>
          <p:nvPr/>
        </p:nvSpPr>
        <p:spPr bwMode="auto">
          <a:xfrm>
            <a:off x="5318125" y="2852390"/>
            <a:ext cx="477837" cy="360362"/>
          </a:xfrm>
          <a:prstGeom prst="rect">
            <a:avLst/>
          </a:prstGeom>
          <a:solidFill>
            <a:srgbClr val="FFFF00"/>
          </a:solidFill>
          <a:ln w="5715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30</a:t>
            </a:r>
          </a:p>
        </p:txBody>
      </p:sp>
      <p:sp>
        <p:nvSpPr>
          <p:cNvPr id="174105" name="Text Box 53"/>
          <p:cNvSpPr txBox="1">
            <a:spLocks noChangeArrowheads="1"/>
          </p:cNvSpPr>
          <p:nvPr/>
        </p:nvSpPr>
        <p:spPr bwMode="auto">
          <a:xfrm>
            <a:off x="5751513" y="2852390"/>
            <a:ext cx="477837" cy="360362"/>
          </a:xfrm>
          <a:prstGeom prst="rect">
            <a:avLst/>
          </a:prstGeom>
          <a:solidFill>
            <a:srgbClr val="FFFF00"/>
          </a:solidFill>
          <a:ln w="5715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35</a:t>
            </a:r>
          </a:p>
        </p:txBody>
      </p:sp>
      <p:sp>
        <p:nvSpPr>
          <p:cNvPr id="174106" name="Text Box 54"/>
          <p:cNvSpPr txBox="1">
            <a:spLocks noChangeArrowheads="1"/>
          </p:cNvSpPr>
          <p:nvPr/>
        </p:nvSpPr>
        <p:spPr bwMode="auto">
          <a:xfrm>
            <a:off x="7478713" y="2852390"/>
            <a:ext cx="477837" cy="360362"/>
          </a:xfrm>
          <a:prstGeom prst="rect">
            <a:avLst/>
          </a:prstGeom>
          <a:solidFill>
            <a:srgbClr val="FFFF00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60</a:t>
            </a:r>
          </a:p>
        </p:txBody>
      </p:sp>
      <p:sp>
        <p:nvSpPr>
          <p:cNvPr id="174107" name="Text Box 55"/>
          <p:cNvSpPr txBox="1">
            <a:spLocks noChangeArrowheads="1"/>
          </p:cNvSpPr>
          <p:nvPr/>
        </p:nvSpPr>
        <p:spPr bwMode="auto">
          <a:xfrm>
            <a:off x="7910513" y="2852390"/>
            <a:ext cx="477837" cy="360362"/>
          </a:xfrm>
          <a:prstGeom prst="rect">
            <a:avLst/>
          </a:prstGeom>
          <a:solidFill>
            <a:srgbClr val="FFFF00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65</a:t>
            </a:r>
          </a:p>
        </p:txBody>
      </p:sp>
      <p:sp>
        <p:nvSpPr>
          <p:cNvPr id="174108" name="Text Box 56"/>
          <p:cNvSpPr txBox="1">
            <a:spLocks noChangeArrowheads="1"/>
          </p:cNvSpPr>
          <p:nvPr/>
        </p:nvSpPr>
        <p:spPr bwMode="auto">
          <a:xfrm>
            <a:off x="5940425" y="3355628"/>
            <a:ext cx="477837" cy="360362"/>
          </a:xfrm>
          <a:prstGeom prst="rect">
            <a:avLst/>
          </a:prstGeom>
          <a:solidFill>
            <a:srgbClr val="BAFEC0"/>
          </a:solidFill>
          <a:ln w="19050">
            <a:solidFill>
              <a:srgbClr val="05050B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45</a:t>
            </a:r>
          </a:p>
        </p:txBody>
      </p:sp>
      <p:sp>
        <p:nvSpPr>
          <p:cNvPr id="174109" name="Text Box 59"/>
          <p:cNvSpPr txBox="1">
            <a:spLocks noChangeArrowheads="1"/>
          </p:cNvSpPr>
          <p:nvPr/>
        </p:nvSpPr>
        <p:spPr bwMode="auto">
          <a:xfrm>
            <a:off x="4067175" y="4867746"/>
            <a:ext cx="477837" cy="360362"/>
          </a:xfrm>
          <a:prstGeom prst="rect">
            <a:avLst/>
          </a:prstGeom>
          <a:solidFill>
            <a:srgbClr val="FFFF00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20</a:t>
            </a:r>
          </a:p>
        </p:txBody>
      </p:sp>
      <p:sp>
        <p:nvSpPr>
          <p:cNvPr id="174110" name="Text Box 60"/>
          <p:cNvSpPr txBox="1">
            <a:spLocks noChangeArrowheads="1"/>
          </p:cNvSpPr>
          <p:nvPr/>
        </p:nvSpPr>
        <p:spPr bwMode="auto">
          <a:xfrm>
            <a:off x="660400" y="5732934"/>
            <a:ext cx="481012" cy="360362"/>
          </a:xfrm>
          <a:prstGeom prst="rect">
            <a:avLst/>
          </a:prstGeom>
          <a:solidFill>
            <a:srgbClr val="FFFF00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174111" name="Text Box 61"/>
          <p:cNvSpPr txBox="1">
            <a:spLocks noChangeArrowheads="1"/>
          </p:cNvSpPr>
          <p:nvPr/>
        </p:nvSpPr>
        <p:spPr bwMode="auto">
          <a:xfrm>
            <a:off x="1141413" y="5732934"/>
            <a:ext cx="477837" cy="360362"/>
          </a:xfrm>
          <a:prstGeom prst="rect">
            <a:avLst/>
          </a:prstGeom>
          <a:solidFill>
            <a:srgbClr val="FFFF00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74112" name="Text Box 62"/>
          <p:cNvSpPr txBox="1">
            <a:spLocks noChangeArrowheads="1"/>
          </p:cNvSpPr>
          <p:nvPr/>
        </p:nvSpPr>
        <p:spPr bwMode="auto">
          <a:xfrm>
            <a:off x="2914650" y="5732934"/>
            <a:ext cx="477837" cy="360362"/>
          </a:xfrm>
          <a:prstGeom prst="rect">
            <a:avLst/>
          </a:prstGeom>
          <a:solidFill>
            <a:srgbClr val="FFFF00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12</a:t>
            </a:r>
          </a:p>
        </p:txBody>
      </p:sp>
      <p:sp>
        <p:nvSpPr>
          <p:cNvPr id="174113" name="Text Box 63"/>
          <p:cNvSpPr txBox="1">
            <a:spLocks noChangeArrowheads="1"/>
          </p:cNvSpPr>
          <p:nvPr/>
        </p:nvSpPr>
        <p:spPr bwMode="auto">
          <a:xfrm>
            <a:off x="4643438" y="5732934"/>
            <a:ext cx="479425" cy="360362"/>
          </a:xfrm>
          <a:prstGeom prst="rect">
            <a:avLst/>
          </a:prstGeom>
          <a:solidFill>
            <a:srgbClr val="FFFF00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25</a:t>
            </a:r>
          </a:p>
        </p:txBody>
      </p:sp>
      <p:sp>
        <p:nvSpPr>
          <p:cNvPr id="174114" name="Text Box 64"/>
          <p:cNvSpPr txBox="1">
            <a:spLocks noChangeArrowheads="1"/>
          </p:cNvSpPr>
          <p:nvPr/>
        </p:nvSpPr>
        <p:spPr bwMode="auto">
          <a:xfrm>
            <a:off x="2655888" y="4869334"/>
            <a:ext cx="477837" cy="360362"/>
          </a:xfrm>
          <a:prstGeom prst="rect">
            <a:avLst/>
          </a:prstGeom>
          <a:solidFill>
            <a:srgbClr val="FFFF00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10</a:t>
            </a:r>
          </a:p>
        </p:txBody>
      </p:sp>
      <p:sp>
        <p:nvSpPr>
          <p:cNvPr id="142371" name="Line 65"/>
          <p:cNvSpPr>
            <a:spLocks noChangeShapeType="1"/>
          </p:cNvSpPr>
          <p:nvPr/>
        </p:nvSpPr>
        <p:spPr bwMode="auto">
          <a:xfrm flipH="1">
            <a:off x="2266950" y="5228109"/>
            <a:ext cx="431800" cy="5048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142372" name="Line 66"/>
          <p:cNvSpPr>
            <a:spLocks noChangeShapeType="1"/>
          </p:cNvSpPr>
          <p:nvPr/>
        </p:nvSpPr>
        <p:spPr bwMode="auto">
          <a:xfrm>
            <a:off x="3132138" y="5228109"/>
            <a:ext cx="431800" cy="5048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174117" name="Text Box 67"/>
          <p:cNvSpPr txBox="1">
            <a:spLocks noChangeArrowheads="1"/>
          </p:cNvSpPr>
          <p:nvPr/>
        </p:nvSpPr>
        <p:spPr bwMode="auto">
          <a:xfrm>
            <a:off x="1836738" y="5732934"/>
            <a:ext cx="477837" cy="360362"/>
          </a:xfrm>
          <a:prstGeom prst="rect">
            <a:avLst/>
          </a:prstGeom>
          <a:solidFill>
            <a:srgbClr val="FFFF00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6</a:t>
            </a:r>
          </a:p>
        </p:txBody>
      </p:sp>
      <p:sp>
        <p:nvSpPr>
          <p:cNvPr id="174118" name="Text Box 68"/>
          <p:cNvSpPr txBox="1">
            <a:spLocks noChangeArrowheads="1"/>
          </p:cNvSpPr>
          <p:nvPr/>
        </p:nvSpPr>
        <p:spPr bwMode="auto">
          <a:xfrm>
            <a:off x="3346450" y="5732934"/>
            <a:ext cx="477837" cy="360362"/>
          </a:xfrm>
          <a:prstGeom prst="rect">
            <a:avLst/>
          </a:prstGeom>
          <a:solidFill>
            <a:srgbClr val="FFFF00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14</a:t>
            </a:r>
          </a:p>
        </p:txBody>
      </p:sp>
      <p:sp>
        <p:nvSpPr>
          <p:cNvPr id="174119" name="Text Box 69"/>
          <p:cNvSpPr txBox="1">
            <a:spLocks noChangeArrowheads="1"/>
          </p:cNvSpPr>
          <p:nvPr/>
        </p:nvSpPr>
        <p:spPr bwMode="auto">
          <a:xfrm>
            <a:off x="6156325" y="5732934"/>
            <a:ext cx="477837" cy="360362"/>
          </a:xfrm>
          <a:prstGeom prst="rect">
            <a:avLst/>
          </a:prstGeom>
          <a:solidFill>
            <a:srgbClr val="BAFEC0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45</a:t>
            </a:r>
          </a:p>
        </p:txBody>
      </p:sp>
      <p:sp>
        <p:nvSpPr>
          <p:cNvPr id="142376" name="Line 70"/>
          <p:cNvSpPr>
            <a:spLocks noChangeShapeType="1"/>
          </p:cNvSpPr>
          <p:nvPr/>
        </p:nvSpPr>
        <p:spPr bwMode="auto">
          <a:xfrm>
            <a:off x="5795963" y="5228109"/>
            <a:ext cx="382264" cy="5048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174121" name="Text Box 71"/>
          <p:cNvSpPr txBox="1">
            <a:spLocks noChangeArrowheads="1"/>
          </p:cNvSpPr>
          <p:nvPr/>
        </p:nvSpPr>
        <p:spPr bwMode="auto">
          <a:xfrm>
            <a:off x="2266950" y="5732934"/>
            <a:ext cx="477837" cy="360362"/>
          </a:xfrm>
          <a:prstGeom prst="rect">
            <a:avLst/>
          </a:prstGeom>
          <a:solidFill>
            <a:srgbClr val="FFFF00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7</a:t>
            </a:r>
          </a:p>
        </p:txBody>
      </p:sp>
      <p:sp>
        <p:nvSpPr>
          <p:cNvPr id="174122" name="Text Box 72"/>
          <p:cNvSpPr txBox="1">
            <a:spLocks noChangeArrowheads="1"/>
          </p:cNvSpPr>
          <p:nvPr/>
        </p:nvSpPr>
        <p:spPr bwMode="auto">
          <a:xfrm>
            <a:off x="5749925" y="4869334"/>
            <a:ext cx="477837" cy="360362"/>
          </a:xfrm>
          <a:prstGeom prst="rect">
            <a:avLst/>
          </a:prstGeom>
          <a:solidFill>
            <a:srgbClr val="E8EEFE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50</a:t>
            </a:r>
          </a:p>
        </p:txBody>
      </p:sp>
      <p:sp>
        <p:nvSpPr>
          <p:cNvPr id="174123" name="Text Box 73"/>
          <p:cNvSpPr txBox="1">
            <a:spLocks noChangeArrowheads="1"/>
          </p:cNvSpPr>
          <p:nvPr/>
        </p:nvSpPr>
        <p:spPr bwMode="auto">
          <a:xfrm>
            <a:off x="3805238" y="5732934"/>
            <a:ext cx="477837" cy="360362"/>
          </a:xfrm>
          <a:prstGeom prst="rect">
            <a:avLst/>
          </a:prstGeom>
          <a:solidFill>
            <a:srgbClr val="FFFF00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16</a:t>
            </a:r>
          </a:p>
        </p:txBody>
      </p:sp>
      <p:sp>
        <p:nvSpPr>
          <p:cNvPr id="142382" name="Line 76"/>
          <p:cNvSpPr>
            <a:spLocks noChangeShapeType="1"/>
          </p:cNvSpPr>
          <p:nvPr/>
        </p:nvSpPr>
        <p:spPr bwMode="auto">
          <a:xfrm>
            <a:off x="6227762" y="5228109"/>
            <a:ext cx="1679575" cy="5048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174127" name="Text Box 77"/>
          <p:cNvSpPr txBox="1">
            <a:spLocks noChangeArrowheads="1"/>
          </p:cNvSpPr>
          <p:nvPr/>
        </p:nvSpPr>
        <p:spPr bwMode="auto">
          <a:xfrm>
            <a:off x="2195513" y="4869334"/>
            <a:ext cx="477837" cy="360362"/>
          </a:xfrm>
          <a:prstGeom prst="rect">
            <a:avLst/>
          </a:prstGeom>
          <a:solidFill>
            <a:srgbClr val="FFFF00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5</a:t>
            </a:r>
          </a:p>
        </p:txBody>
      </p:sp>
      <p:sp>
        <p:nvSpPr>
          <p:cNvPr id="142384" name="Line 78"/>
          <p:cNvSpPr>
            <a:spLocks noChangeShapeType="1"/>
          </p:cNvSpPr>
          <p:nvPr/>
        </p:nvSpPr>
        <p:spPr bwMode="auto">
          <a:xfrm flipH="1">
            <a:off x="1114425" y="5228109"/>
            <a:ext cx="1081087" cy="5048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174129" name="Text Box 79"/>
          <p:cNvSpPr txBox="1">
            <a:spLocks noChangeArrowheads="1"/>
          </p:cNvSpPr>
          <p:nvPr/>
        </p:nvSpPr>
        <p:spPr bwMode="auto">
          <a:xfrm>
            <a:off x="5075238" y="5732934"/>
            <a:ext cx="477837" cy="360362"/>
          </a:xfrm>
          <a:prstGeom prst="rect">
            <a:avLst/>
          </a:prstGeom>
          <a:solidFill>
            <a:srgbClr val="FFFF00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30</a:t>
            </a:r>
          </a:p>
        </p:txBody>
      </p:sp>
      <p:sp>
        <p:nvSpPr>
          <p:cNvPr id="174130" name="Text Box 80"/>
          <p:cNvSpPr txBox="1">
            <a:spLocks noChangeArrowheads="1"/>
          </p:cNvSpPr>
          <p:nvPr/>
        </p:nvSpPr>
        <p:spPr bwMode="auto">
          <a:xfrm>
            <a:off x="5724525" y="5732934"/>
            <a:ext cx="477837" cy="360362"/>
          </a:xfrm>
          <a:prstGeom prst="rect">
            <a:avLst/>
          </a:prstGeom>
          <a:solidFill>
            <a:srgbClr val="FFFF00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40</a:t>
            </a:r>
          </a:p>
        </p:txBody>
      </p:sp>
      <p:sp>
        <p:nvSpPr>
          <p:cNvPr id="174133" name="Text Box 83"/>
          <p:cNvSpPr txBox="1">
            <a:spLocks noChangeArrowheads="1"/>
          </p:cNvSpPr>
          <p:nvPr/>
        </p:nvSpPr>
        <p:spPr bwMode="auto">
          <a:xfrm>
            <a:off x="5291138" y="4867746"/>
            <a:ext cx="477837" cy="360362"/>
          </a:xfrm>
          <a:prstGeom prst="rect">
            <a:avLst/>
          </a:prstGeom>
          <a:solidFill>
            <a:srgbClr val="FFCCFF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35</a:t>
            </a:r>
          </a:p>
        </p:txBody>
      </p:sp>
      <p:sp>
        <p:nvSpPr>
          <p:cNvPr id="142390" name="Line 84"/>
          <p:cNvSpPr>
            <a:spLocks noChangeShapeType="1"/>
          </p:cNvSpPr>
          <p:nvPr/>
        </p:nvSpPr>
        <p:spPr bwMode="auto">
          <a:xfrm flipH="1">
            <a:off x="5075238" y="5228109"/>
            <a:ext cx="215900" cy="5048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56" name="Text Box 47"/>
          <p:cNvSpPr txBox="1">
            <a:spLocks noChangeArrowheads="1"/>
          </p:cNvSpPr>
          <p:nvPr/>
        </p:nvSpPr>
        <p:spPr bwMode="auto">
          <a:xfrm>
            <a:off x="7047235" y="5732934"/>
            <a:ext cx="477837" cy="360362"/>
          </a:xfrm>
          <a:prstGeom prst="rect">
            <a:avLst/>
          </a:prstGeom>
          <a:solidFill>
            <a:srgbClr val="FFFF00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55</a:t>
            </a:r>
          </a:p>
        </p:txBody>
      </p:sp>
      <p:sp>
        <p:nvSpPr>
          <p:cNvPr id="57" name="Text Box 48"/>
          <p:cNvSpPr txBox="1">
            <a:spLocks noChangeArrowheads="1"/>
          </p:cNvSpPr>
          <p:nvPr/>
        </p:nvSpPr>
        <p:spPr bwMode="auto">
          <a:xfrm>
            <a:off x="8342635" y="5732934"/>
            <a:ext cx="477837" cy="360362"/>
          </a:xfrm>
          <a:prstGeom prst="rect">
            <a:avLst/>
          </a:prstGeom>
          <a:solidFill>
            <a:srgbClr val="FFFF00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70</a:t>
            </a:r>
          </a:p>
        </p:txBody>
      </p:sp>
      <p:sp>
        <p:nvSpPr>
          <p:cNvPr id="58" name="Text Box 54"/>
          <p:cNvSpPr txBox="1">
            <a:spLocks noChangeArrowheads="1"/>
          </p:cNvSpPr>
          <p:nvPr/>
        </p:nvSpPr>
        <p:spPr bwMode="auto">
          <a:xfrm>
            <a:off x="7479035" y="5732934"/>
            <a:ext cx="477837" cy="360362"/>
          </a:xfrm>
          <a:prstGeom prst="rect">
            <a:avLst/>
          </a:prstGeom>
          <a:solidFill>
            <a:srgbClr val="FFFF00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60</a:t>
            </a:r>
          </a:p>
        </p:txBody>
      </p:sp>
      <p:sp>
        <p:nvSpPr>
          <p:cNvPr id="59" name="Text Box 55"/>
          <p:cNvSpPr txBox="1">
            <a:spLocks noChangeArrowheads="1"/>
          </p:cNvSpPr>
          <p:nvPr/>
        </p:nvSpPr>
        <p:spPr bwMode="auto">
          <a:xfrm>
            <a:off x="7910835" y="5732934"/>
            <a:ext cx="477837" cy="360362"/>
          </a:xfrm>
          <a:prstGeom prst="rect">
            <a:avLst/>
          </a:prstGeom>
          <a:solidFill>
            <a:srgbClr val="FFFF00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65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57762" y="4482341"/>
            <a:ext cx="1144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latinLnBrk="1" hangingPunct="1"/>
            <a:r>
              <a:rPr lang="ko-KR" altLang="en-US" dirty="0">
                <a:solidFill>
                  <a:srgbClr val="FF0000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중간키</a:t>
            </a:r>
            <a:endParaRPr lang="en-US" dirty="0">
              <a:solidFill>
                <a:srgbClr val="FF0000"/>
              </a:solidFill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545736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650568" y="1328509"/>
            <a:ext cx="7917085" cy="2136963"/>
            <a:chOff x="660400" y="3452277"/>
            <a:chExt cx="7917085" cy="2136963"/>
          </a:xfrm>
        </p:grpSpPr>
        <p:sp>
          <p:nvSpPr>
            <p:cNvPr id="174109" name="Text Box 59"/>
            <p:cNvSpPr txBox="1">
              <a:spLocks noChangeArrowheads="1"/>
            </p:cNvSpPr>
            <p:nvPr/>
          </p:nvSpPr>
          <p:spPr bwMode="auto">
            <a:xfrm>
              <a:off x="4053428" y="3452277"/>
              <a:ext cx="477837" cy="360362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2D03C9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ko-KR" sz="2000" dirty="0">
                  <a:solidFill>
                    <a:srgbClr val="090A15"/>
                  </a:solidFill>
                  <a:latin typeface="Times New Roman" panose="02020603050405020304" pitchFamily="18" charset="0"/>
                </a:rPr>
                <a:t>20</a:t>
              </a:r>
            </a:p>
          </p:txBody>
        </p:sp>
        <p:sp>
          <p:nvSpPr>
            <p:cNvPr id="174110" name="Text Box 60"/>
            <p:cNvSpPr txBox="1">
              <a:spLocks noChangeArrowheads="1"/>
            </p:cNvSpPr>
            <p:nvPr/>
          </p:nvSpPr>
          <p:spPr bwMode="auto">
            <a:xfrm>
              <a:off x="660400" y="5228878"/>
              <a:ext cx="481012" cy="360362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2D03C9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ko-KR" sz="2000">
                  <a:solidFill>
                    <a:srgbClr val="090A15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74111" name="Text Box 61"/>
            <p:cNvSpPr txBox="1">
              <a:spLocks noChangeArrowheads="1"/>
            </p:cNvSpPr>
            <p:nvPr/>
          </p:nvSpPr>
          <p:spPr bwMode="auto">
            <a:xfrm>
              <a:off x="1141413" y="5228878"/>
              <a:ext cx="477837" cy="360362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2D03C9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ko-KR" sz="2000">
                  <a:solidFill>
                    <a:srgbClr val="090A15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74112" name="Text Box 62"/>
            <p:cNvSpPr txBox="1">
              <a:spLocks noChangeArrowheads="1"/>
            </p:cNvSpPr>
            <p:nvPr/>
          </p:nvSpPr>
          <p:spPr bwMode="auto">
            <a:xfrm>
              <a:off x="2914650" y="5228878"/>
              <a:ext cx="477837" cy="360362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2D03C9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ko-KR" sz="2000">
                  <a:solidFill>
                    <a:srgbClr val="090A15"/>
                  </a:solidFill>
                  <a:latin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174113" name="Text Box 63"/>
            <p:cNvSpPr txBox="1">
              <a:spLocks noChangeArrowheads="1"/>
            </p:cNvSpPr>
            <p:nvPr/>
          </p:nvSpPr>
          <p:spPr bwMode="auto">
            <a:xfrm>
              <a:off x="4643438" y="5228878"/>
              <a:ext cx="479425" cy="360362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2D03C9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ko-KR" sz="2000">
                  <a:solidFill>
                    <a:srgbClr val="090A15"/>
                  </a:solidFill>
                  <a:latin typeface="Times New Roman" panose="02020603050405020304" pitchFamily="18" charset="0"/>
                </a:rPr>
                <a:t>25</a:t>
              </a:r>
            </a:p>
          </p:txBody>
        </p:sp>
        <p:sp>
          <p:nvSpPr>
            <p:cNvPr id="174114" name="Text Box 64"/>
            <p:cNvSpPr txBox="1">
              <a:spLocks noChangeArrowheads="1"/>
            </p:cNvSpPr>
            <p:nvPr/>
          </p:nvSpPr>
          <p:spPr bwMode="auto">
            <a:xfrm>
              <a:off x="2243137" y="4363690"/>
              <a:ext cx="477837" cy="360362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2D03C9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ko-KR" sz="2000" dirty="0">
                  <a:solidFill>
                    <a:srgbClr val="090A15"/>
                  </a:solidFill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42371" name="Line 65"/>
            <p:cNvSpPr>
              <a:spLocks noChangeShapeType="1"/>
            </p:cNvSpPr>
            <p:nvPr/>
          </p:nvSpPr>
          <p:spPr bwMode="auto">
            <a:xfrm flipH="1">
              <a:off x="2266950" y="4724053"/>
              <a:ext cx="0" cy="5048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kumimoji="0" lang="en-US" sz="2400">
                <a:solidFill>
                  <a:srgbClr val="40458C"/>
                </a:solidFill>
                <a:latin typeface="Tahoma" pitchFamily="34" charset="0"/>
              </a:endParaRPr>
            </a:p>
          </p:txBody>
        </p:sp>
        <p:sp>
          <p:nvSpPr>
            <p:cNvPr id="142372" name="Line 66"/>
            <p:cNvSpPr>
              <a:spLocks noChangeShapeType="1"/>
            </p:cNvSpPr>
            <p:nvPr/>
          </p:nvSpPr>
          <p:spPr bwMode="auto">
            <a:xfrm>
              <a:off x="2719386" y="4709577"/>
              <a:ext cx="844552" cy="5193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kumimoji="0" lang="en-US" sz="2400">
                <a:solidFill>
                  <a:srgbClr val="40458C"/>
                </a:solidFill>
                <a:latin typeface="Tahoma" pitchFamily="34" charset="0"/>
              </a:endParaRPr>
            </a:p>
          </p:txBody>
        </p:sp>
        <p:sp>
          <p:nvSpPr>
            <p:cNvPr id="174117" name="Text Box 67"/>
            <p:cNvSpPr txBox="1">
              <a:spLocks noChangeArrowheads="1"/>
            </p:cNvSpPr>
            <p:nvPr/>
          </p:nvSpPr>
          <p:spPr bwMode="auto">
            <a:xfrm>
              <a:off x="1836738" y="5228878"/>
              <a:ext cx="477837" cy="360362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2D03C9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ko-KR" sz="2000" dirty="0">
                  <a:solidFill>
                    <a:srgbClr val="090A15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74118" name="Text Box 68"/>
            <p:cNvSpPr txBox="1">
              <a:spLocks noChangeArrowheads="1"/>
            </p:cNvSpPr>
            <p:nvPr/>
          </p:nvSpPr>
          <p:spPr bwMode="auto">
            <a:xfrm>
              <a:off x="3346450" y="5228878"/>
              <a:ext cx="477837" cy="360362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2D03C9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ko-KR" sz="2000">
                  <a:solidFill>
                    <a:srgbClr val="090A15"/>
                  </a:solidFill>
                  <a:latin typeface="Times New Roman" panose="02020603050405020304" pitchFamily="18" charset="0"/>
                </a:rPr>
                <a:t>14</a:t>
              </a:r>
            </a:p>
          </p:txBody>
        </p:sp>
        <p:sp>
          <p:nvSpPr>
            <p:cNvPr id="174119" name="Text Box 69"/>
            <p:cNvSpPr txBox="1">
              <a:spLocks noChangeArrowheads="1"/>
            </p:cNvSpPr>
            <p:nvPr/>
          </p:nvSpPr>
          <p:spPr bwMode="auto">
            <a:xfrm>
              <a:off x="6161118" y="5228878"/>
              <a:ext cx="477837" cy="360362"/>
            </a:xfrm>
            <a:prstGeom prst="rect">
              <a:avLst/>
            </a:prstGeom>
            <a:solidFill>
              <a:srgbClr val="BAFEC0"/>
            </a:solidFill>
            <a:ln w="19050">
              <a:solidFill>
                <a:srgbClr val="2D03C9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ko-KR" sz="2000" dirty="0">
                  <a:solidFill>
                    <a:srgbClr val="090A15"/>
                  </a:solidFill>
                  <a:latin typeface="Times New Roman" panose="02020603050405020304" pitchFamily="18" charset="0"/>
                </a:rPr>
                <a:t>45</a:t>
              </a:r>
            </a:p>
          </p:txBody>
        </p:sp>
        <p:sp>
          <p:nvSpPr>
            <p:cNvPr id="142376" name="Line 70"/>
            <p:cNvSpPr>
              <a:spLocks noChangeShapeType="1"/>
            </p:cNvSpPr>
            <p:nvPr/>
          </p:nvSpPr>
          <p:spPr bwMode="auto">
            <a:xfrm flipH="1">
              <a:off x="6201445" y="4709577"/>
              <a:ext cx="0" cy="51930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kumimoji="0" lang="en-US" sz="2400">
                <a:solidFill>
                  <a:srgbClr val="40458C"/>
                </a:solidFill>
                <a:latin typeface="Tahoma" pitchFamily="34" charset="0"/>
              </a:endParaRPr>
            </a:p>
          </p:txBody>
        </p:sp>
        <p:sp>
          <p:nvSpPr>
            <p:cNvPr id="174121" name="Text Box 71"/>
            <p:cNvSpPr txBox="1">
              <a:spLocks noChangeArrowheads="1"/>
            </p:cNvSpPr>
            <p:nvPr/>
          </p:nvSpPr>
          <p:spPr bwMode="auto">
            <a:xfrm>
              <a:off x="2266950" y="5228878"/>
              <a:ext cx="477837" cy="360362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2D03C9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ko-KR" sz="2000">
                  <a:solidFill>
                    <a:srgbClr val="090A15"/>
                  </a:solidFill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74122" name="Text Box 72"/>
            <p:cNvSpPr txBox="1">
              <a:spLocks noChangeArrowheads="1"/>
            </p:cNvSpPr>
            <p:nvPr/>
          </p:nvSpPr>
          <p:spPr bwMode="auto">
            <a:xfrm>
              <a:off x="6182395" y="4365278"/>
              <a:ext cx="477837" cy="360362"/>
            </a:xfrm>
            <a:prstGeom prst="rect">
              <a:avLst/>
            </a:prstGeom>
            <a:solidFill>
              <a:srgbClr val="E8EEFE"/>
            </a:solidFill>
            <a:ln w="19050">
              <a:solidFill>
                <a:srgbClr val="2D03C9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ko-KR" sz="2000" dirty="0">
                  <a:solidFill>
                    <a:srgbClr val="090A15"/>
                  </a:solidFill>
                  <a:latin typeface="Times New Roman" panose="02020603050405020304" pitchFamily="18" charset="0"/>
                </a:rPr>
                <a:t>50</a:t>
              </a:r>
            </a:p>
          </p:txBody>
        </p:sp>
        <p:sp>
          <p:nvSpPr>
            <p:cNvPr id="174123" name="Text Box 73"/>
            <p:cNvSpPr txBox="1">
              <a:spLocks noChangeArrowheads="1"/>
            </p:cNvSpPr>
            <p:nvPr/>
          </p:nvSpPr>
          <p:spPr bwMode="auto">
            <a:xfrm>
              <a:off x="3805238" y="5228878"/>
              <a:ext cx="477837" cy="360362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2D03C9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ko-KR" sz="2000">
                  <a:solidFill>
                    <a:srgbClr val="090A15"/>
                  </a:solidFill>
                  <a:latin typeface="Times New Roman" panose="02020603050405020304" pitchFamily="18" charset="0"/>
                </a:rPr>
                <a:t>16</a:t>
              </a:r>
            </a:p>
          </p:txBody>
        </p:sp>
        <p:sp>
          <p:nvSpPr>
            <p:cNvPr id="142382" name="Line 76"/>
            <p:cNvSpPr>
              <a:spLocks noChangeShapeType="1"/>
            </p:cNvSpPr>
            <p:nvPr/>
          </p:nvSpPr>
          <p:spPr bwMode="auto">
            <a:xfrm>
              <a:off x="6633245" y="4709577"/>
              <a:ext cx="1034603" cy="51930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kumimoji="0" lang="en-US" sz="2400">
                <a:solidFill>
                  <a:srgbClr val="40458C"/>
                </a:solidFill>
                <a:latin typeface="Tahoma" pitchFamily="34" charset="0"/>
              </a:endParaRPr>
            </a:p>
          </p:txBody>
        </p:sp>
        <p:sp>
          <p:nvSpPr>
            <p:cNvPr id="174127" name="Text Box 77"/>
            <p:cNvSpPr txBox="1">
              <a:spLocks noChangeArrowheads="1"/>
            </p:cNvSpPr>
            <p:nvPr/>
          </p:nvSpPr>
          <p:spPr bwMode="auto">
            <a:xfrm>
              <a:off x="1782762" y="4363690"/>
              <a:ext cx="477837" cy="360362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2D03C9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ko-KR" sz="2000" dirty="0">
                  <a:solidFill>
                    <a:srgbClr val="090A15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42384" name="Line 78"/>
            <p:cNvSpPr>
              <a:spLocks noChangeShapeType="1"/>
            </p:cNvSpPr>
            <p:nvPr/>
          </p:nvSpPr>
          <p:spPr bwMode="auto">
            <a:xfrm flipH="1">
              <a:off x="1114425" y="4709577"/>
              <a:ext cx="659632" cy="51930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kumimoji="0" lang="en-US" sz="2400">
                <a:solidFill>
                  <a:srgbClr val="40458C"/>
                </a:solidFill>
                <a:latin typeface="Tahoma" pitchFamily="34" charset="0"/>
              </a:endParaRPr>
            </a:p>
          </p:txBody>
        </p:sp>
        <p:sp>
          <p:nvSpPr>
            <p:cNvPr id="174129" name="Text Box 79"/>
            <p:cNvSpPr txBox="1">
              <a:spLocks noChangeArrowheads="1"/>
            </p:cNvSpPr>
            <p:nvPr/>
          </p:nvSpPr>
          <p:spPr bwMode="auto">
            <a:xfrm>
              <a:off x="5075238" y="5228878"/>
              <a:ext cx="477837" cy="360362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2D03C9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ko-KR" sz="2000" dirty="0">
                  <a:solidFill>
                    <a:srgbClr val="090A15"/>
                  </a:solidFill>
                  <a:latin typeface="Times New Roman" panose="02020603050405020304" pitchFamily="18" charset="0"/>
                </a:rPr>
                <a:t>30</a:t>
              </a:r>
            </a:p>
          </p:txBody>
        </p:sp>
        <p:sp>
          <p:nvSpPr>
            <p:cNvPr id="174130" name="Text Box 80"/>
            <p:cNvSpPr txBox="1">
              <a:spLocks noChangeArrowheads="1"/>
            </p:cNvSpPr>
            <p:nvPr/>
          </p:nvSpPr>
          <p:spPr bwMode="auto">
            <a:xfrm>
              <a:off x="5729318" y="5228878"/>
              <a:ext cx="477837" cy="360362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2D03C9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ko-KR" sz="2000" dirty="0">
                  <a:solidFill>
                    <a:srgbClr val="090A15"/>
                  </a:solidFill>
                  <a:latin typeface="Times New Roman" panose="02020603050405020304" pitchFamily="18" charset="0"/>
                </a:rPr>
                <a:t>40</a:t>
              </a:r>
            </a:p>
          </p:txBody>
        </p:sp>
        <p:sp>
          <p:nvSpPr>
            <p:cNvPr id="174133" name="Text Box 83"/>
            <p:cNvSpPr txBox="1">
              <a:spLocks noChangeArrowheads="1"/>
            </p:cNvSpPr>
            <p:nvPr/>
          </p:nvSpPr>
          <p:spPr bwMode="auto">
            <a:xfrm>
              <a:off x="5723608" y="4363690"/>
              <a:ext cx="477837" cy="360362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rgbClr val="2D03C9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ko-KR" sz="2000" dirty="0">
                  <a:solidFill>
                    <a:srgbClr val="090A15"/>
                  </a:solidFill>
                  <a:latin typeface="Times New Roman" panose="02020603050405020304" pitchFamily="18" charset="0"/>
                </a:rPr>
                <a:t>35</a:t>
              </a:r>
            </a:p>
          </p:txBody>
        </p:sp>
        <p:sp>
          <p:nvSpPr>
            <p:cNvPr id="142390" name="Line 84"/>
            <p:cNvSpPr>
              <a:spLocks noChangeShapeType="1"/>
            </p:cNvSpPr>
            <p:nvPr/>
          </p:nvSpPr>
          <p:spPr bwMode="auto">
            <a:xfrm flipH="1">
              <a:off x="5075238" y="4709577"/>
              <a:ext cx="644202" cy="5193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kumimoji="0" lang="en-US" sz="2400">
                <a:solidFill>
                  <a:srgbClr val="40458C"/>
                </a:solidFill>
                <a:latin typeface="Tahoma" pitchFamily="34" charset="0"/>
              </a:endParaRPr>
            </a:p>
          </p:txBody>
        </p:sp>
        <p:sp>
          <p:nvSpPr>
            <p:cNvPr id="56" name="Text Box 47"/>
            <p:cNvSpPr txBox="1">
              <a:spLocks noChangeArrowheads="1"/>
            </p:cNvSpPr>
            <p:nvPr/>
          </p:nvSpPr>
          <p:spPr bwMode="auto">
            <a:xfrm>
              <a:off x="6804248" y="5228878"/>
              <a:ext cx="477837" cy="360362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2D03C9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ko-KR" sz="2000" dirty="0">
                  <a:solidFill>
                    <a:srgbClr val="090A15"/>
                  </a:solidFill>
                  <a:latin typeface="Times New Roman" panose="02020603050405020304" pitchFamily="18" charset="0"/>
                </a:rPr>
                <a:t>55</a:t>
              </a:r>
            </a:p>
          </p:txBody>
        </p:sp>
        <p:sp>
          <p:nvSpPr>
            <p:cNvPr id="57" name="Text Box 48"/>
            <p:cNvSpPr txBox="1">
              <a:spLocks noChangeArrowheads="1"/>
            </p:cNvSpPr>
            <p:nvPr/>
          </p:nvSpPr>
          <p:spPr bwMode="auto">
            <a:xfrm>
              <a:off x="8099648" y="5228878"/>
              <a:ext cx="477837" cy="360362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2D03C9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ko-KR" sz="2000" dirty="0">
                  <a:solidFill>
                    <a:srgbClr val="090A15"/>
                  </a:solidFill>
                  <a:latin typeface="Times New Roman" panose="02020603050405020304" pitchFamily="18" charset="0"/>
                </a:rPr>
                <a:t>70</a:t>
              </a:r>
            </a:p>
          </p:txBody>
        </p:sp>
        <p:sp>
          <p:nvSpPr>
            <p:cNvPr id="58" name="Text Box 54"/>
            <p:cNvSpPr txBox="1">
              <a:spLocks noChangeArrowheads="1"/>
            </p:cNvSpPr>
            <p:nvPr/>
          </p:nvSpPr>
          <p:spPr bwMode="auto">
            <a:xfrm>
              <a:off x="7236048" y="5228878"/>
              <a:ext cx="477837" cy="360362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2D03C9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ko-KR" sz="2000" dirty="0">
                  <a:solidFill>
                    <a:srgbClr val="090A15"/>
                  </a:solidFill>
                  <a:latin typeface="Times New Roman" panose="02020603050405020304" pitchFamily="18" charset="0"/>
                </a:rPr>
                <a:t>60</a:t>
              </a:r>
            </a:p>
          </p:txBody>
        </p:sp>
        <p:sp>
          <p:nvSpPr>
            <p:cNvPr id="59" name="Text Box 55"/>
            <p:cNvSpPr txBox="1">
              <a:spLocks noChangeArrowheads="1"/>
            </p:cNvSpPr>
            <p:nvPr/>
          </p:nvSpPr>
          <p:spPr bwMode="auto">
            <a:xfrm>
              <a:off x="7667848" y="5228878"/>
              <a:ext cx="477837" cy="360362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2D03C9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ko-KR" sz="2000" dirty="0">
                  <a:solidFill>
                    <a:srgbClr val="090A15"/>
                  </a:solidFill>
                  <a:latin typeface="Times New Roman" panose="02020603050405020304" pitchFamily="18" charset="0"/>
                </a:rPr>
                <a:t>65</a:t>
              </a:r>
            </a:p>
          </p:txBody>
        </p:sp>
        <p:sp>
          <p:nvSpPr>
            <p:cNvPr id="55" name="Line 76"/>
            <p:cNvSpPr>
              <a:spLocks noChangeShapeType="1"/>
            </p:cNvSpPr>
            <p:nvPr/>
          </p:nvSpPr>
          <p:spPr bwMode="auto">
            <a:xfrm>
              <a:off x="4531266" y="3812638"/>
              <a:ext cx="1237710" cy="549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kumimoji="0" lang="en-US" sz="2400">
                <a:solidFill>
                  <a:srgbClr val="40458C"/>
                </a:solidFill>
                <a:latin typeface="Tahoma" pitchFamily="34" charset="0"/>
              </a:endParaRPr>
            </a:p>
          </p:txBody>
        </p:sp>
        <p:sp>
          <p:nvSpPr>
            <p:cNvPr id="60" name="Line 78"/>
            <p:cNvSpPr>
              <a:spLocks noChangeShapeType="1"/>
            </p:cNvSpPr>
            <p:nvPr/>
          </p:nvSpPr>
          <p:spPr bwMode="auto">
            <a:xfrm flipH="1">
              <a:off x="2243135" y="3812638"/>
              <a:ext cx="1810291" cy="53657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kumimoji="0" lang="en-US" sz="2400">
                <a:solidFill>
                  <a:srgbClr val="40458C"/>
                </a:solidFill>
                <a:latin typeface="Tahom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319356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69217" y="813342"/>
            <a:ext cx="25539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5.5.3 </a:t>
            </a:r>
            <a:r>
              <a:rPr lang="ko-KR" altLang="ko-KR" sz="28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삭제 연산</a:t>
            </a:r>
            <a:endParaRPr lang="ko-KR" altLang="en-US" sz="2800" b="1" dirty="0">
              <a:solidFill>
                <a:srgbClr val="C0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569217" y="2147381"/>
            <a:ext cx="8315642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B-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트리에서의 삭제는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항상 이파리에서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이루어진다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삭제할 키가 </a:t>
            </a:r>
            <a:r>
              <a:rPr lang="ko-KR" altLang="en-US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내부 노드에 있으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면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중위 </a:t>
            </a:r>
            <a:r>
              <a:rPr lang="ko-KR" altLang="ko-KR" sz="2400" b="1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선행자나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중위 </a:t>
            </a:r>
            <a:r>
              <a:rPr lang="ko-KR" altLang="ko-KR" sz="2400" b="1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후속자를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삭제할 키와 교환한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후에 이파리에서 삭제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수행</a:t>
            </a:r>
            <a:endParaRPr lang="en-US" altLang="ko-KR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342900" indent="-342900"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삭제는 </a:t>
            </a:r>
            <a:r>
              <a:rPr lang="ko-KR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이동</a:t>
            </a:r>
            <a:r>
              <a:rPr lang="en-US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(Transfer) </a:t>
            </a:r>
            <a:r>
              <a:rPr lang="ko-KR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연산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과 </a:t>
            </a:r>
            <a:r>
              <a:rPr lang="ko-KR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통합</a:t>
            </a:r>
            <a:r>
              <a:rPr lang="en-US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(Fusion) </a:t>
            </a:r>
            <a:r>
              <a:rPr lang="ko-KR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연산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을 사용</a:t>
            </a:r>
          </a:p>
          <a:p>
            <a:pPr marL="342900" indent="-342900"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이동 연산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: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이파리에서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키가 삭제된 후에 키의 수가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Symbol" panose="05050102010706020507" pitchFamily="18" charset="2"/>
              </a:rPr>
              <a:t>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M/2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Symbol" panose="05050102010706020507" pitchFamily="18" charset="2"/>
              </a:rPr>
              <a:t>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-1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보다 작으면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자식 수가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Symbol" panose="05050102010706020507" pitchFamily="18" charset="2"/>
              </a:rPr>
              <a:t>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M/2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Symbol" panose="05050102010706020507" pitchFamily="18" charset="2"/>
              </a:rPr>
              <a:t>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보다 작게 되어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B-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 조건을 위반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이때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노드의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좌우의 형제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중에서 도움을 줄 수 있는 </a:t>
            </a:r>
            <a:r>
              <a:rPr lang="ko-KR" altLang="ko-KR" sz="2400" b="1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노드로부터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1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개의 키를 부모를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통해 이동</a:t>
            </a:r>
            <a:endParaRPr lang="ko-KR" altLang="en-US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699604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755576" y="836712"/>
            <a:ext cx="7852618" cy="2136963"/>
            <a:chOff x="679822" y="1484784"/>
            <a:chExt cx="7852618" cy="2136963"/>
          </a:xfrm>
        </p:grpSpPr>
        <p:sp>
          <p:nvSpPr>
            <p:cNvPr id="174109" name="Text Box 59"/>
            <p:cNvSpPr txBox="1">
              <a:spLocks noChangeArrowheads="1"/>
            </p:cNvSpPr>
            <p:nvPr/>
          </p:nvSpPr>
          <p:spPr bwMode="auto">
            <a:xfrm>
              <a:off x="4004588" y="1484784"/>
              <a:ext cx="477837" cy="3603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2D03C9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ko-KR" sz="2000" dirty="0">
                  <a:solidFill>
                    <a:srgbClr val="090A15"/>
                  </a:solidFill>
                  <a:latin typeface="Calibri" panose="020F0502020204030204" pitchFamily="34" charset="0"/>
                </a:rPr>
                <a:t>20</a:t>
              </a:r>
            </a:p>
          </p:txBody>
        </p:sp>
        <p:sp>
          <p:nvSpPr>
            <p:cNvPr id="174110" name="Text Box 60"/>
            <p:cNvSpPr txBox="1">
              <a:spLocks noChangeArrowheads="1"/>
            </p:cNvSpPr>
            <p:nvPr/>
          </p:nvSpPr>
          <p:spPr bwMode="auto">
            <a:xfrm>
              <a:off x="679822" y="3261385"/>
              <a:ext cx="412750" cy="3603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2D03C9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ko-KR" sz="2000">
                  <a:solidFill>
                    <a:srgbClr val="090A15"/>
                  </a:solidFill>
                  <a:latin typeface="Calibri" panose="020F0502020204030204" pitchFamily="34" charset="0"/>
                </a:rPr>
                <a:t>1</a:t>
              </a:r>
            </a:p>
          </p:txBody>
        </p:sp>
        <p:sp>
          <p:nvSpPr>
            <p:cNvPr id="174111" name="Text Box 61"/>
            <p:cNvSpPr txBox="1">
              <a:spLocks noChangeArrowheads="1"/>
            </p:cNvSpPr>
            <p:nvPr/>
          </p:nvSpPr>
          <p:spPr bwMode="auto">
            <a:xfrm>
              <a:off x="1092574" y="3261385"/>
              <a:ext cx="412750" cy="3603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2D03C9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ko-KR" sz="2000">
                  <a:solidFill>
                    <a:srgbClr val="090A15"/>
                  </a:solidFill>
                  <a:latin typeface="Calibri" panose="020F0502020204030204" pitchFamily="34" charset="0"/>
                </a:rPr>
                <a:t>2</a:t>
              </a:r>
            </a:p>
          </p:txBody>
        </p:sp>
        <p:sp>
          <p:nvSpPr>
            <p:cNvPr id="174112" name="Text Box 62"/>
            <p:cNvSpPr txBox="1">
              <a:spLocks noChangeArrowheads="1"/>
            </p:cNvSpPr>
            <p:nvPr/>
          </p:nvSpPr>
          <p:spPr bwMode="auto">
            <a:xfrm>
              <a:off x="2865810" y="3261385"/>
              <a:ext cx="477837" cy="3603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2D03C9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ko-KR" sz="2000">
                  <a:solidFill>
                    <a:srgbClr val="090A15"/>
                  </a:solidFill>
                  <a:latin typeface="Calibri" panose="020F0502020204030204" pitchFamily="34" charset="0"/>
                </a:rPr>
                <a:t>12</a:t>
              </a:r>
            </a:p>
          </p:txBody>
        </p:sp>
        <p:sp>
          <p:nvSpPr>
            <p:cNvPr id="174113" name="Text Box 63"/>
            <p:cNvSpPr txBox="1">
              <a:spLocks noChangeArrowheads="1"/>
            </p:cNvSpPr>
            <p:nvPr/>
          </p:nvSpPr>
          <p:spPr bwMode="auto">
            <a:xfrm>
              <a:off x="4594598" y="3261385"/>
              <a:ext cx="479425" cy="3603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2D03C9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ko-KR" sz="2000">
                  <a:solidFill>
                    <a:srgbClr val="090A15"/>
                  </a:solidFill>
                  <a:latin typeface="Calibri" panose="020F0502020204030204" pitchFamily="34" charset="0"/>
                </a:rPr>
                <a:t>25</a:t>
              </a:r>
            </a:p>
          </p:txBody>
        </p:sp>
        <p:sp>
          <p:nvSpPr>
            <p:cNvPr id="174114" name="Text Box 64"/>
            <p:cNvSpPr txBox="1">
              <a:spLocks noChangeArrowheads="1"/>
            </p:cNvSpPr>
            <p:nvPr/>
          </p:nvSpPr>
          <p:spPr bwMode="auto">
            <a:xfrm>
              <a:off x="2194297" y="2396197"/>
              <a:ext cx="477837" cy="3603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2D03C9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ko-KR" sz="2000" dirty="0">
                  <a:solidFill>
                    <a:srgbClr val="090A15"/>
                  </a:solidFill>
                  <a:latin typeface="Calibri" panose="020F0502020204030204" pitchFamily="34" charset="0"/>
                </a:rPr>
                <a:t>10</a:t>
              </a:r>
            </a:p>
          </p:txBody>
        </p:sp>
        <p:sp>
          <p:nvSpPr>
            <p:cNvPr id="142371" name="Line 65"/>
            <p:cNvSpPr>
              <a:spLocks noChangeShapeType="1"/>
            </p:cNvSpPr>
            <p:nvPr/>
          </p:nvSpPr>
          <p:spPr bwMode="auto">
            <a:xfrm flipH="1">
              <a:off x="2211759" y="2749321"/>
              <a:ext cx="0" cy="5048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kumimoji="0" lang="en-US" sz="2400">
                <a:solidFill>
                  <a:srgbClr val="40458C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42372" name="Line 66"/>
            <p:cNvSpPr>
              <a:spLocks noChangeShapeType="1"/>
            </p:cNvSpPr>
            <p:nvPr/>
          </p:nvSpPr>
          <p:spPr bwMode="auto">
            <a:xfrm>
              <a:off x="2670546" y="2742084"/>
              <a:ext cx="844552" cy="5193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kumimoji="0" lang="en-US" sz="2400">
                <a:solidFill>
                  <a:srgbClr val="40458C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74117" name="Text Box 67"/>
            <p:cNvSpPr txBox="1">
              <a:spLocks noChangeArrowheads="1"/>
            </p:cNvSpPr>
            <p:nvPr/>
          </p:nvSpPr>
          <p:spPr bwMode="auto">
            <a:xfrm>
              <a:off x="1787899" y="3261385"/>
              <a:ext cx="426044" cy="3603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2D03C9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ko-KR" sz="2000" dirty="0">
                  <a:solidFill>
                    <a:srgbClr val="090A15"/>
                  </a:solidFill>
                  <a:latin typeface="Calibri" panose="020F0502020204030204" pitchFamily="34" charset="0"/>
                </a:rPr>
                <a:t>6</a:t>
              </a:r>
            </a:p>
          </p:txBody>
        </p:sp>
        <p:sp>
          <p:nvSpPr>
            <p:cNvPr id="174118" name="Text Box 68"/>
            <p:cNvSpPr txBox="1">
              <a:spLocks noChangeArrowheads="1"/>
            </p:cNvSpPr>
            <p:nvPr/>
          </p:nvSpPr>
          <p:spPr bwMode="auto">
            <a:xfrm>
              <a:off x="3297610" y="3261385"/>
              <a:ext cx="477837" cy="3603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2D03C9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ko-KR" sz="2000">
                  <a:solidFill>
                    <a:srgbClr val="090A15"/>
                  </a:solidFill>
                  <a:latin typeface="Calibri" panose="020F0502020204030204" pitchFamily="34" charset="0"/>
                </a:rPr>
                <a:t>14</a:t>
              </a:r>
            </a:p>
          </p:txBody>
        </p:sp>
        <p:sp>
          <p:nvSpPr>
            <p:cNvPr id="174119" name="Text Box 69"/>
            <p:cNvSpPr txBox="1">
              <a:spLocks noChangeArrowheads="1"/>
            </p:cNvSpPr>
            <p:nvPr/>
          </p:nvSpPr>
          <p:spPr bwMode="auto">
            <a:xfrm>
              <a:off x="6152605" y="3261385"/>
              <a:ext cx="468000" cy="3603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2D03C9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ko-KR" sz="2000" dirty="0">
                  <a:solidFill>
                    <a:srgbClr val="090A15"/>
                  </a:solidFill>
                  <a:latin typeface="Calibri" panose="020F0502020204030204" pitchFamily="34" charset="0"/>
                </a:rPr>
                <a:t>45</a:t>
              </a:r>
            </a:p>
          </p:txBody>
        </p:sp>
        <p:sp>
          <p:nvSpPr>
            <p:cNvPr id="142376" name="Line 70"/>
            <p:cNvSpPr>
              <a:spLocks noChangeShapeType="1"/>
            </p:cNvSpPr>
            <p:nvPr/>
          </p:nvSpPr>
          <p:spPr bwMode="auto">
            <a:xfrm flipH="1">
              <a:off x="6152605" y="2742084"/>
              <a:ext cx="0" cy="51930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kumimoji="0" lang="en-US" sz="2400">
                <a:solidFill>
                  <a:srgbClr val="40458C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74121" name="Text Box 71"/>
            <p:cNvSpPr txBox="1">
              <a:spLocks noChangeArrowheads="1"/>
            </p:cNvSpPr>
            <p:nvPr/>
          </p:nvSpPr>
          <p:spPr bwMode="auto">
            <a:xfrm>
              <a:off x="2213943" y="3261385"/>
              <a:ext cx="446725" cy="3603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2D03C9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ko-KR" sz="2000">
                  <a:solidFill>
                    <a:srgbClr val="090A15"/>
                  </a:solidFill>
                  <a:latin typeface="Calibri" panose="020F0502020204030204" pitchFamily="34" charset="0"/>
                </a:rPr>
                <a:t>7</a:t>
              </a:r>
            </a:p>
          </p:txBody>
        </p:sp>
        <p:sp>
          <p:nvSpPr>
            <p:cNvPr id="174122" name="Text Box 72"/>
            <p:cNvSpPr txBox="1">
              <a:spLocks noChangeArrowheads="1"/>
            </p:cNvSpPr>
            <p:nvPr/>
          </p:nvSpPr>
          <p:spPr bwMode="auto">
            <a:xfrm>
              <a:off x="6133555" y="2397785"/>
              <a:ext cx="477837" cy="3603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2D03C9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ko-KR" sz="2000" dirty="0">
                  <a:solidFill>
                    <a:srgbClr val="090A15"/>
                  </a:solidFill>
                  <a:latin typeface="Calibri" panose="020F0502020204030204" pitchFamily="34" charset="0"/>
                </a:rPr>
                <a:t>50</a:t>
              </a:r>
            </a:p>
          </p:txBody>
        </p:sp>
        <p:sp>
          <p:nvSpPr>
            <p:cNvPr id="174123" name="Text Box 73"/>
            <p:cNvSpPr txBox="1">
              <a:spLocks noChangeArrowheads="1"/>
            </p:cNvSpPr>
            <p:nvPr/>
          </p:nvSpPr>
          <p:spPr bwMode="auto">
            <a:xfrm>
              <a:off x="3756398" y="3261385"/>
              <a:ext cx="477837" cy="3603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2D03C9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ko-KR" sz="2000">
                  <a:solidFill>
                    <a:srgbClr val="090A15"/>
                  </a:solidFill>
                  <a:latin typeface="Calibri" panose="020F0502020204030204" pitchFamily="34" charset="0"/>
                </a:rPr>
                <a:t>16</a:t>
              </a:r>
            </a:p>
          </p:txBody>
        </p:sp>
        <p:sp>
          <p:nvSpPr>
            <p:cNvPr id="142382" name="Line 76"/>
            <p:cNvSpPr>
              <a:spLocks noChangeShapeType="1"/>
            </p:cNvSpPr>
            <p:nvPr/>
          </p:nvSpPr>
          <p:spPr bwMode="auto">
            <a:xfrm>
              <a:off x="6615560" y="2749321"/>
              <a:ext cx="1003448" cy="5120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kumimoji="0" lang="en-US" sz="2400">
                <a:solidFill>
                  <a:srgbClr val="40458C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74127" name="Text Box 77"/>
            <p:cNvSpPr txBox="1">
              <a:spLocks noChangeArrowheads="1"/>
            </p:cNvSpPr>
            <p:nvPr/>
          </p:nvSpPr>
          <p:spPr bwMode="auto">
            <a:xfrm>
              <a:off x="1733922" y="2396197"/>
              <a:ext cx="477837" cy="360362"/>
            </a:xfrm>
            <a:prstGeom prst="rect">
              <a:avLst/>
            </a:prstGeom>
            <a:solidFill>
              <a:srgbClr val="00FFFF"/>
            </a:solidFill>
            <a:ln w="19050">
              <a:solidFill>
                <a:srgbClr val="2D03C9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ko-KR" sz="2000" dirty="0">
                  <a:solidFill>
                    <a:srgbClr val="090A15"/>
                  </a:solidFill>
                  <a:latin typeface="Calibri" panose="020F0502020204030204" pitchFamily="34" charset="0"/>
                </a:rPr>
                <a:t>5</a:t>
              </a:r>
            </a:p>
          </p:txBody>
        </p:sp>
        <p:sp>
          <p:nvSpPr>
            <p:cNvPr id="142384" name="Line 78"/>
            <p:cNvSpPr>
              <a:spLocks noChangeShapeType="1"/>
            </p:cNvSpPr>
            <p:nvPr/>
          </p:nvSpPr>
          <p:spPr bwMode="auto">
            <a:xfrm flipH="1">
              <a:off x="1092571" y="2742084"/>
              <a:ext cx="632645" cy="51930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kumimoji="0" lang="en-US" sz="2400">
                <a:solidFill>
                  <a:srgbClr val="40458C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74129" name="Text Box 79"/>
            <p:cNvSpPr txBox="1">
              <a:spLocks noChangeArrowheads="1"/>
            </p:cNvSpPr>
            <p:nvPr/>
          </p:nvSpPr>
          <p:spPr bwMode="auto">
            <a:xfrm>
              <a:off x="5026398" y="3261385"/>
              <a:ext cx="477837" cy="3603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2D03C9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ko-KR" sz="2000" dirty="0">
                  <a:solidFill>
                    <a:srgbClr val="090A15"/>
                  </a:solidFill>
                  <a:latin typeface="Calibri" panose="020F0502020204030204" pitchFamily="34" charset="0"/>
                </a:rPr>
                <a:t>30</a:t>
              </a:r>
            </a:p>
          </p:txBody>
        </p:sp>
        <p:sp>
          <p:nvSpPr>
            <p:cNvPr id="174130" name="Text Box 80"/>
            <p:cNvSpPr txBox="1">
              <a:spLocks noChangeArrowheads="1"/>
            </p:cNvSpPr>
            <p:nvPr/>
          </p:nvSpPr>
          <p:spPr bwMode="auto">
            <a:xfrm>
              <a:off x="5680479" y="3261385"/>
              <a:ext cx="472126" cy="3603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2D03C9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ko-KR" sz="2000" dirty="0">
                  <a:solidFill>
                    <a:srgbClr val="090A15"/>
                  </a:solidFill>
                  <a:latin typeface="Calibri" panose="020F0502020204030204" pitchFamily="34" charset="0"/>
                </a:rPr>
                <a:t>40</a:t>
              </a:r>
            </a:p>
          </p:txBody>
        </p:sp>
        <p:sp>
          <p:nvSpPr>
            <p:cNvPr id="174133" name="Text Box 83"/>
            <p:cNvSpPr txBox="1">
              <a:spLocks noChangeArrowheads="1"/>
            </p:cNvSpPr>
            <p:nvPr/>
          </p:nvSpPr>
          <p:spPr bwMode="auto">
            <a:xfrm>
              <a:off x="5674768" y="2396197"/>
              <a:ext cx="477837" cy="3603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2D03C9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ko-KR" sz="2000" dirty="0">
                  <a:solidFill>
                    <a:srgbClr val="090A15"/>
                  </a:solidFill>
                  <a:latin typeface="Calibri" panose="020F0502020204030204" pitchFamily="34" charset="0"/>
                </a:rPr>
                <a:t>35</a:t>
              </a:r>
            </a:p>
          </p:txBody>
        </p:sp>
        <p:sp>
          <p:nvSpPr>
            <p:cNvPr id="142390" name="Line 84"/>
            <p:cNvSpPr>
              <a:spLocks noChangeShapeType="1"/>
            </p:cNvSpPr>
            <p:nvPr/>
          </p:nvSpPr>
          <p:spPr bwMode="auto">
            <a:xfrm flipH="1">
              <a:off x="5026398" y="2742084"/>
              <a:ext cx="644202" cy="5193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kumimoji="0" lang="en-US" sz="2400">
                <a:solidFill>
                  <a:srgbClr val="40458C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6" name="Text Box 47"/>
            <p:cNvSpPr txBox="1">
              <a:spLocks noChangeArrowheads="1"/>
            </p:cNvSpPr>
            <p:nvPr/>
          </p:nvSpPr>
          <p:spPr bwMode="auto">
            <a:xfrm>
              <a:off x="6755408" y="3261385"/>
              <a:ext cx="477837" cy="3603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2D03C9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ko-KR" sz="2000" dirty="0">
                  <a:solidFill>
                    <a:srgbClr val="090A15"/>
                  </a:solidFill>
                  <a:latin typeface="Calibri" panose="020F0502020204030204" pitchFamily="34" charset="0"/>
                </a:rPr>
                <a:t>55</a:t>
              </a:r>
            </a:p>
          </p:txBody>
        </p:sp>
        <p:sp>
          <p:nvSpPr>
            <p:cNvPr id="57" name="Text Box 48"/>
            <p:cNvSpPr txBox="1">
              <a:spLocks noChangeArrowheads="1"/>
            </p:cNvSpPr>
            <p:nvPr/>
          </p:nvSpPr>
          <p:spPr bwMode="auto">
            <a:xfrm>
              <a:off x="8050808" y="3261385"/>
              <a:ext cx="481632" cy="3603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2D03C9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ko-KR" sz="2000" dirty="0">
                  <a:solidFill>
                    <a:srgbClr val="090A15"/>
                  </a:solidFill>
                  <a:latin typeface="Calibri" panose="020F0502020204030204" pitchFamily="34" charset="0"/>
                </a:rPr>
                <a:t>70</a:t>
              </a:r>
            </a:p>
          </p:txBody>
        </p:sp>
        <p:sp>
          <p:nvSpPr>
            <p:cNvPr id="58" name="Text Box 54"/>
            <p:cNvSpPr txBox="1">
              <a:spLocks noChangeArrowheads="1"/>
            </p:cNvSpPr>
            <p:nvPr/>
          </p:nvSpPr>
          <p:spPr bwMode="auto">
            <a:xfrm>
              <a:off x="7187208" y="3261385"/>
              <a:ext cx="477837" cy="3603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2D03C9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ko-KR" sz="2000" dirty="0">
                  <a:solidFill>
                    <a:srgbClr val="090A15"/>
                  </a:solidFill>
                  <a:latin typeface="Calibri" panose="020F0502020204030204" pitchFamily="34" charset="0"/>
                </a:rPr>
                <a:t>60</a:t>
              </a:r>
            </a:p>
          </p:txBody>
        </p:sp>
        <p:sp>
          <p:nvSpPr>
            <p:cNvPr id="59" name="Text Box 55"/>
            <p:cNvSpPr txBox="1">
              <a:spLocks noChangeArrowheads="1"/>
            </p:cNvSpPr>
            <p:nvPr/>
          </p:nvSpPr>
          <p:spPr bwMode="auto">
            <a:xfrm>
              <a:off x="7619009" y="3261385"/>
              <a:ext cx="462953" cy="3603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2D03C9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ko-KR" sz="2000" dirty="0">
                  <a:solidFill>
                    <a:srgbClr val="090A15"/>
                  </a:solidFill>
                  <a:latin typeface="Calibri" panose="020F0502020204030204" pitchFamily="34" charset="0"/>
                </a:rPr>
                <a:t>65</a:t>
              </a:r>
            </a:p>
          </p:txBody>
        </p:sp>
        <p:sp>
          <p:nvSpPr>
            <p:cNvPr id="55" name="Line 76"/>
            <p:cNvSpPr>
              <a:spLocks noChangeShapeType="1"/>
            </p:cNvSpPr>
            <p:nvPr/>
          </p:nvSpPr>
          <p:spPr bwMode="auto">
            <a:xfrm>
              <a:off x="4482425" y="1845145"/>
              <a:ext cx="1646961" cy="5494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kumimoji="0" lang="en-US" sz="2400">
                <a:solidFill>
                  <a:srgbClr val="40458C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60" name="Line 78"/>
            <p:cNvSpPr>
              <a:spLocks noChangeShapeType="1"/>
            </p:cNvSpPr>
            <p:nvPr/>
          </p:nvSpPr>
          <p:spPr bwMode="auto">
            <a:xfrm flipH="1">
              <a:off x="2194295" y="1845145"/>
              <a:ext cx="1810291" cy="53657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kumimoji="0" lang="en-US" sz="2400">
                <a:solidFill>
                  <a:srgbClr val="40458C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32" name="직사각형 31"/>
          <p:cNvSpPr/>
          <p:nvPr/>
        </p:nvSpPr>
        <p:spPr>
          <a:xfrm>
            <a:off x="608662" y="331632"/>
            <a:ext cx="26324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5</a:t>
            </a:r>
            <a:r>
              <a:rPr lang="ko-KR" altLang="en-US" sz="24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를 삭제하는 과정</a:t>
            </a:r>
            <a:endParaRPr lang="en-US" sz="2400" b="1" dirty="0">
              <a:solidFill>
                <a:srgbClr val="C0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35" name="Text Box 59"/>
          <p:cNvSpPr txBox="1">
            <a:spLocks noChangeArrowheads="1"/>
          </p:cNvSpPr>
          <p:nvPr/>
        </p:nvSpPr>
        <p:spPr bwMode="auto">
          <a:xfrm>
            <a:off x="3956636" y="3668908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20</a:t>
            </a:r>
          </a:p>
        </p:txBody>
      </p:sp>
      <p:sp>
        <p:nvSpPr>
          <p:cNvPr id="36" name="Text Box 60"/>
          <p:cNvSpPr txBox="1">
            <a:spLocks noChangeArrowheads="1"/>
          </p:cNvSpPr>
          <p:nvPr/>
        </p:nvSpPr>
        <p:spPr bwMode="auto">
          <a:xfrm>
            <a:off x="631870" y="5445509"/>
            <a:ext cx="412750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37" name="Text Box 61"/>
          <p:cNvSpPr txBox="1">
            <a:spLocks noChangeArrowheads="1"/>
          </p:cNvSpPr>
          <p:nvPr/>
        </p:nvSpPr>
        <p:spPr bwMode="auto">
          <a:xfrm>
            <a:off x="1044622" y="5445509"/>
            <a:ext cx="412750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38" name="Text Box 62"/>
          <p:cNvSpPr txBox="1">
            <a:spLocks noChangeArrowheads="1"/>
          </p:cNvSpPr>
          <p:nvPr/>
        </p:nvSpPr>
        <p:spPr bwMode="auto">
          <a:xfrm>
            <a:off x="2817858" y="5445509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12</a:t>
            </a:r>
          </a:p>
        </p:txBody>
      </p:sp>
      <p:sp>
        <p:nvSpPr>
          <p:cNvPr id="39" name="Text Box 63"/>
          <p:cNvSpPr txBox="1">
            <a:spLocks noChangeArrowheads="1"/>
          </p:cNvSpPr>
          <p:nvPr/>
        </p:nvSpPr>
        <p:spPr bwMode="auto">
          <a:xfrm>
            <a:off x="4546646" y="5445509"/>
            <a:ext cx="479425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25</a:t>
            </a:r>
          </a:p>
        </p:txBody>
      </p:sp>
      <p:sp>
        <p:nvSpPr>
          <p:cNvPr id="40" name="Text Box 64"/>
          <p:cNvSpPr txBox="1">
            <a:spLocks noChangeArrowheads="1"/>
          </p:cNvSpPr>
          <p:nvPr/>
        </p:nvSpPr>
        <p:spPr bwMode="auto">
          <a:xfrm>
            <a:off x="2146345" y="4580321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10</a:t>
            </a:r>
          </a:p>
        </p:txBody>
      </p:sp>
      <p:sp>
        <p:nvSpPr>
          <p:cNvPr id="41" name="Line 65"/>
          <p:cNvSpPr>
            <a:spLocks noChangeShapeType="1"/>
          </p:cNvSpPr>
          <p:nvPr/>
        </p:nvSpPr>
        <p:spPr bwMode="auto">
          <a:xfrm flipH="1">
            <a:off x="2163807" y="4933445"/>
            <a:ext cx="0" cy="5048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42" name="Line 66"/>
          <p:cNvSpPr>
            <a:spLocks noChangeShapeType="1"/>
          </p:cNvSpPr>
          <p:nvPr/>
        </p:nvSpPr>
        <p:spPr bwMode="auto">
          <a:xfrm>
            <a:off x="2622594" y="4926208"/>
            <a:ext cx="844552" cy="51930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43" name="Text Box 67"/>
          <p:cNvSpPr txBox="1">
            <a:spLocks noChangeArrowheads="1"/>
          </p:cNvSpPr>
          <p:nvPr/>
        </p:nvSpPr>
        <p:spPr bwMode="auto">
          <a:xfrm>
            <a:off x="1739947" y="5445509"/>
            <a:ext cx="426044" cy="360362"/>
          </a:xfrm>
          <a:prstGeom prst="rect">
            <a:avLst/>
          </a:prstGeom>
          <a:solidFill>
            <a:srgbClr val="00FFFF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5</a:t>
            </a:r>
          </a:p>
        </p:txBody>
      </p:sp>
      <p:sp>
        <p:nvSpPr>
          <p:cNvPr id="44" name="Text Box 68"/>
          <p:cNvSpPr txBox="1">
            <a:spLocks noChangeArrowheads="1"/>
          </p:cNvSpPr>
          <p:nvPr/>
        </p:nvSpPr>
        <p:spPr bwMode="auto">
          <a:xfrm>
            <a:off x="3249658" y="5445509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14</a:t>
            </a:r>
          </a:p>
        </p:txBody>
      </p:sp>
      <p:sp>
        <p:nvSpPr>
          <p:cNvPr id="45" name="Text Box 69"/>
          <p:cNvSpPr txBox="1">
            <a:spLocks noChangeArrowheads="1"/>
          </p:cNvSpPr>
          <p:nvPr/>
        </p:nvSpPr>
        <p:spPr bwMode="auto">
          <a:xfrm>
            <a:off x="6104653" y="5445509"/>
            <a:ext cx="468000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45</a:t>
            </a:r>
          </a:p>
        </p:txBody>
      </p:sp>
      <p:sp>
        <p:nvSpPr>
          <p:cNvPr id="46" name="Line 70"/>
          <p:cNvSpPr>
            <a:spLocks noChangeShapeType="1"/>
          </p:cNvSpPr>
          <p:nvPr/>
        </p:nvSpPr>
        <p:spPr bwMode="auto">
          <a:xfrm flipH="1">
            <a:off x="6104653" y="4926208"/>
            <a:ext cx="0" cy="51930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47" name="Text Box 71"/>
          <p:cNvSpPr txBox="1">
            <a:spLocks noChangeArrowheads="1"/>
          </p:cNvSpPr>
          <p:nvPr/>
        </p:nvSpPr>
        <p:spPr bwMode="auto">
          <a:xfrm>
            <a:off x="2165991" y="5445509"/>
            <a:ext cx="446725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7</a:t>
            </a:r>
          </a:p>
        </p:txBody>
      </p:sp>
      <p:sp>
        <p:nvSpPr>
          <p:cNvPr id="48" name="Text Box 72"/>
          <p:cNvSpPr txBox="1">
            <a:spLocks noChangeArrowheads="1"/>
          </p:cNvSpPr>
          <p:nvPr/>
        </p:nvSpPr>
        <p:spPr bwMode="auto">
          <a:xfrm>
            <a:off x="6085603" y="4581909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50</a:t>
            </a:r>
          </a:p>
        </p:txBody>
      </p:sp>
      <p:sp>
        <p:nvSpPr>
          <p:cNvPr id="49" name="Text Box 73"/>
          <p:cNvSpPr txBox="1">
            <a:spLocks noChangeArrowheads="1"/>
          </p:cNvSpPr>
          <p:nvPr/>
        </p:nvSpPr>
        <p:spPr bwMode="auto">
          <a:xfrm>
            <a:off x="3708446" y="5445509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16</a:t>
            </a:r>
          </a:p>
        </p:txBody>
      </p:sp>
      <p:sp>
        <p:nvSpPr>
          <p:cNvPr id="50" name="Line 76"/>
          <p:cNvSpPr>
            <a:spLocks noChangeShapeType="1"/>
          </p:cNvSpPr>
          <p:nvPr/>
        </p:nvSpPr>
        <p:spPr bwMode="auto">
          <a:xfrm>
            <a:off x="6567608" y="4933445"/>
            <a:ext cx="1003448" cy="51206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51" name="Text Box 77"/>
          <p:cNvSpPr txBox="1">
            <a:spLocks noChangeArrowheads="1"/>
          </p:cNvSpPr>
          <p:nvPr/>
        </p:nvSpPr>
        <p:spPr bwMode="auto">
          <a:xfrm>
            <a:off x="1685970" y="4580321"/>
            <a:ext cx="477837" cy="360362"/>
          </a:xfrm>
          <a:prstGeom prst="rect">
            <a:avLst/>
          </a:prstGeom>
          <a:solidFill>
            <a:srgbClr val="FFFF00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6</a:t>
            </a:r>
          </a:p>
        </p:txBody>
      </p:sp>
      <p:sp>
        <p:nvSpPr>
          <p:cNvPr id="52" name="Line 78"/>
          <p:cNvSpPr>
            <a:spLocks noChangeShapeType="1"/>
          </p:cNvSpPr>
          <p:nvPr/>
        </p:nvSpPr>
        <p:spPr bwMode="auto">
          <a:xfrm flipH="1">
            <a:off x="1044619" y="4926208"/>
            <a:ext cx="632645" cy="51930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53" name="Text Box 79"/>
          <p:cNvSpPr txBox="1">
            <a:spLocks noChangeArrowheads="1"/>
          </p:cNvSpPr>
          <p:nvPr/>
        </p:nvSpPr>
        <p:spPr bwMode="auto">
          <a:xfrm>
            <a:off x="4978446" y="5445509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30</a:t>
            </a:r>
          </a:p>
        </p:txBody>
      </p:sp>
      <p:sp>
        <p:nvSpPr>
          <p:cNvPr id="54" name="Text Box 80"/>
          <p:cNvSpPr txBox="1">
            <a:spLocks noChangeArrowheads="1"/>
          </p:cNvSpPr>
          <p:nvPr/>
        </p:nvSpPr>
        <p:spPr bwMode="auto">
          <a:xfrm>
            <a:off x="5632527" y="5445509"/>
            <a:ext cx="472126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40</a:t>
            </a:r>
          </a:p>
        </p:txBody>
      </p:sp>
      <p:sp>
        <p:nvSpPr>
          <p:cNvPr id="61" name="Text Box 83"/>
          <p:cNvSpPr txBox="1">
            <a:spLocks noChangeArrowheads="1"/>
          </p:cNvSpPr>
          <p:nvPr/>
        </p:nvSpPr>
        <p:spPr bwMode="auto">
          <a:xfrm>
            <a:off x="5626816" y="4580321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35</a:t>
            </a:r>
          </a:p>
        </p:txBody>
      </p:sp>
      <p:sp>
        <p:nvSpPr>
          <p:cNvPr id="62" name="Line 84"/>
          <p:cNvSpPr>
            <a:spLocks noChangeShapeType="1"/>
          </p:cNvSpPr>
          <p:nvPr/>
        </p:nvSpPr>
        <p:spPr bwMode="auto">
          <a:xfrm flipH="1">
            <a:off x="4978446" y="4926208"/>
            <a:ext cx="644202" cy="51930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63" name="Text Box 47"/>
          <p:cNvSpPr txBox="1">
            <a:spLocks noChangeArrowheads="1"/>
          </p:cNvSpPr>
          <p:nvPr/>
        </p:nvSpPr>
        <p:spPr bwMode="auto">
          <a:xfrm>
            <a:off x="6707456" y="5445509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55</a:t>
            </a:r>
          </a:p>
        </p:txBody>
      </p:sp>
      <p:sp>
        <p:nvSpPr>
          <p:cNvPr id="64" name="Text Box 48"/>
          <p:cNvSpPr txBox="1">
            <a:spLocks noChangeArrowheads="1"/>
          </p:cNvSpPr>
          <p:nvPr/>
        </p:nvSpPr>
        <p:spPr bwMode="auto">
          <a:xfrm>
            <a:off x="8002856" y="5445509"/>
            <a:ext cx="481632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70</a:t>
            </a:r>
          </a:p>
        </p:txBody>
      </p:sp>
      <p:sp>
        <p:nvSpPr>
          <p:cNvPr id="65" name="Text Box 54"/>
          <p:cNvSpPr txBox="1">
            <a:spLocks noChangeArrowheads="1"/>
          </p:cNvSpPr>
          <p:nvPr/>
        </p:nvSpPr>
        <p:spPr bwMode="auto">
          <a:xfrm>
            <a:off x="7139256" y="5445509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60</a:t>
            </a:r>
          </a:p>
        </p:txBody>
      </p:sp>
      <p:sp>
        <p:nvSpPr>
          <p:cNvPr id="66" name="Text Box 55"/>
          <p:cNvSpPr txBox="1">
            <a:spLocks noChangeArrowheads="1"/>
          </p:cNvSpPr>
          <p:nvPr/>
        </p:nvSpPr>
        <p:spPr bwMode="auto">
          <a:xfrm>
            <a:off x="7571057" y="5445509"/>
            <a:ext cx="462953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65</a:t>
            </a:r>
          </a:p>
        </p:txBody>
      </p:sp>
      <p:sp>
        <p:nvSpPr>
          <p:cNvPr id="67" name="Line 76"/>
          <p:cNvSpPr>
            <a:spLocks noChangeShapeType="1"/>
          </p:cNvSpPr>
          <p:nvPr/>
        </p:nvSpPr>
        <p:spPr bwMode="auto">
          <a:xfrm>
            <a:off x="4434473" y="4029269"/>
            <a:ext cx="1646961" cy="54946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68" name="Line 78"/>
          <p:cNvSpPr>
            <a:spLocks noChangeShapeType="1"/>
          </p:cNvSpPr>
          <p:nvPr/>
        </p:nvSpPr>
        <p:spPr bwMode="auto">
          <a:xfrm flipH="1">
            <a:off x="2146343" y="4029269"/>
            <a:ext cx="1810291" cy="53657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16854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자유형 32"/>
          <p:cNvSpPr/>
          <p:nvPr/>
        </p:nvSpPr>
        <p:spPr bwMode="auto">
          <a:xfrm>
            <a:off x="2355694" y="2168460"/>
            <a:ext cx="599440" cy="396424"/>
          </a:xfrm>
          <a:custGeom>
            <a:avLst/>
            <a:gdLst>
              <a:gd name="connsiteX0" fmla="*/ 599440 w 599440"/>
              <a:gd name="connsiteY0" fmla="*/ 396424 h 396424"/>
              <a:gd name="connsiteX1" fmla="*/ 101600 w 599440"/>
              <a:gd name="connsiteY1" fmla="*/ 184 h 396424"/>
              <a:gd name="connsiteX2" fmla="*/ 0 w 599440"/>
              <a:gd name="connsiteY2" fmla="*/ 355784 h 396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9440" h="396424">
                <a:moveTo>
                  <a:pt x="599440" y="396424"/>
                </a:moveTo>
                <a:cubicBezTo>
                  <a:pt x="400473" y="201690"/>
                  <a:pt x="201507" y="6957"/>
                  <a:pt x="101600" y="184"/>
                </a:cubicBezTo>
                <a:cubicBezTo>
                  <a:pt x="1693" y="-6589"/>
                  <a:pt x="846" y="174597"/>
                  <a:pt x="0" y="355784"/>
                </a:cubicBezTo>
              </a:path>
            </a:pathLst>
          </a:cu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endParaRPr kumimoji="0" lang="en-US" sz="2400">
              <a:solidFill>
                <a:srgbClr val="40458C"/>
              </a:solidFill>
              <a:latin typeface="Tahoma" pitchFamily="34" charset="0"/>
            </a:endParaRPr>
          </a:p>
        </p:txBody>
      </p:sp>
      <p:sp>
        <p:nvSpPr>
          <p:cNvPr id="63" name="Freeform 57"/>
          <p:cNvSpPr>
            <a:spLocks/>
          </p:cNvSpPr>
          <p:nvPr/>
        </p:nvSpPr>
        <p:spPr bwMode="auto">
          <a:xfrm>
            <a:off x="1136454" y="2923965"/>
            <a:ext cx="812800" cy="673100"/>
          </a:xfrm>
          <a:custGeom>
            <a:avLst/>
            <a:gdLst>
              <a:gd name="T0" fmla="*/ 488 w 512"/>
              <a:gd name="T1" fmla="*/ 0 h 424"/>
              <a:gd name="T2" fmla="*/ 416 w 512"/>
              <a:gd name="T3" fmla="*/ 136 h 424"/>
              <a:gd name="T4" fmla="*/ 464 w 512"/>
              <a:gd name="T5" fmla="*/ 144 h 424"/>
              <a:gd name="T6" fmla="*/ 400 w 512"/>
              <a:gd name="T7" fmla="*/ 264 h 424"/>
              <a:gd name="T8" fmla="*/ 360 w 512"/>
              <a:gd name="T9" fmla="*/ 256 h 424"/>
              <a:gd name="T10" fmla="*/ 392 w 512"/>
              <a:gd name="T11" fmla="*/ 224 h 424"/>
              <a:gd name="T12" fmla="*/ 384 w 512"/>
              <a:gd name="T13" fmla="*/ 312 h 424"/>
              <a:gd name="T14" fmla="*/ 144 w 512"/>
              <a:gd name="T15" fmla="*/ 392 h 424"/>
              <a:gd name="T16" fmla="*/ 0 w 512"/>
              <a:gd name="T17" fmla="*/ 424 h 42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12" h="424">
                <a:moveTo>
                  <a:pt x="488" y="0"/>
                </a:moveTo>
                <a:cubicBezTo>
                  <a:pt x="481" y="105"/>
                  <a:pt x="512" y="152"/>
                  <a:pt x="416" y="136"/>
                </a:cubicBezTo>
                <a:cubicBezTo>
                  <a:pt x="441" y="99"/>
                  <a:pt x="450" y="103"/>
                  <a:pt x="464" y="144"/>
                </a:cubicBezTo>
                <a:cubicBezTo>
                  <a:pt x="457" y="202"/>
                  <a:pt x="460" y="244"/>
                  <a:pt x="400" y="264"/>
                </a:cubicBezTo>
                <a:cubicBezTo>
                  <a:pt x="387" y="261"/>
                  <a:pt x="370" y="266"/>
                  <a:pt x="360" y="256"/>
                </a:cubicBezTo>
                <a:cubicBezTo>
                  <a:pt x="340" y="236"/>
                  <a:pt x="378" y="229"/>
                  <a:pt x="392" y="224"/>
                </a:cubicBezTo>
                <a:cubicBezTo>
                  <a:pt x="399" y="245"/>
                  <a:pt x="405" y="296"/>
                  <a:pt x="384" y="312"/>
                </a:cubicBezTo>
                <a:cubicBezTo>
                  <a:pt x="316" y="365"/>
                  <a:pt x="228" y="382"/>
                  <a:pt x="144" y="392"/>
                </a:cubicBezTo>
                <a:cubicBezTo>
                  <a:pt x="134" y="393"/>
                  <a:pt x="0" y="402"/>
                  <a:pt x="0" y="424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Tahoma" pitchFamily="34" charset="0"/>
            </a:endParaRPr>
          </a:p>
        </p:txBody>
      </p:sp>
      <p:sp>
        <p:nvSpPr>
          <p:cNvPr id="62" name="Text Box 59"/>
          <p:cNvSpPr txBox="1">
            <a:spLocks noChangeArrowheads="1"/>
          </p:cNvSpPr>
          <p:nvPr/>
        </p:nvSpPr>
        <p:spPr bwMode="auto">
          <a:xfrm>
            <a:off x="3955799" y="819078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20</a:t>
            </a:r>
          </a:p>
        </p:txBody>
      </p:sp>
      <p:sp>
        <p:nvSpPr>
          <p:cNvPr id="64" name="Text Box 60"/>
          <p:cNvSpPr txBox="1">
            <a:spLocks noChangeArrowheads="1"/>
          </p:cNvSpPr>
          <p:nvPr/>
        </p:nvSpPr>
        <p:spPr bwMode="auto">
          <a:xfrm>
            <a:off x="631033" y="2595679"/>
            <a:ext cx="412750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65" name="Text Box 61"/>
          <p:cNvSpPr txBox="1">
            <a:spLocks noChangeArrowheads="1"/>
          </p:cNvSpPr>
          <p:nvPr/>
        </p:nvSpPr>
        <p:spPr bwMode="auto">
          <a:xfrm>
            <a:off x="1043785" y="2595679"/>
            <a:ext cx="412750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66" name="Text Box 62"/>
          <p:cNvSpPr txBox="1">
            <a:spLocks noChangeArrowheads="1"/>
          </p:cNvSpPr>
          <p:nvPr/>
        </p:nvSpPr>
        <p:spPr bwMode="auto">
          <a:xfrm>
            <a:off x="2817021" y="2595679"/>
            <a:ext cx="477837" cy="360362"/>
          </a:xfrm>
          <a:prstGeom prst="rect">
            <a:avLst/>
          </a:prstGeom>
          <a:solidFill>
            <a:srgbClr val="CCFF99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12</a:t>
            </a:r>
          </a:p>
        </p:txBody>
      </p:sp>
      <p:sp>
        <p:nvSpPr>
          <p:cNvPr id="67" name="Text Box 63"/>
          <p:cNvSpPr txBox="1">
            <a:spLocks noChangeArrowheads="1"/>
          </p:cNvSpPr>
          <p:nvPr/>
        </p:nvSpPr>
        <p:spPr bwMode="auto">
          <a:xfrm>
            <a:off x="4545809" y="2595679"/>
            <a:ext cx="479425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25</a:t>
            </a:r>
          </a:p>
        </p:txBody>
      </p:sp>
      <p:sp>
        <p:nvSpPr>
          <p:cNvPr id="68" name="Text Box 64"/>
          <p:cNvSpPr txBox="1">
            <a:spLocks noChangeArrowheads="1"/>
          </p:cNvSpPr>
          <p:nvPr/>
        </p:nvSpPr>
        <p:spPr bwMode="auto">
          <a:xfrm>
            <a:off x="2145508" y="1730491"/>
            <a:ext cx="477837" cy="360362"/>
          </a:xfrm>
          <a:prstGeom prst="rect">
            <a:avLst/>
          </a:prstGeom>
          <a:solidFill>
            <a:srgbClr val="FCD0F8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10</a:t>
            </a:r>
          </a:p>
        </p:txBody>
      </p:sp>
      <p:sp>
        <p:nvSpPr>
          <p:cNvPr id="69" name="Line 65"/>
          <p:cNvSpPr>
            <a:spLocks noChangeShapeType="1"/>
          </p:cNvSpPr>
          <p:nvPr/>
        </p:nvSpPr>
        <p:spPr bwMode="auto">
          <a:xfrm flipH="1">
            <a:off x="2162970" y="2083615"/>
            <a:ext cx="0" cy="5048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70" name="Line 66"/>
          <p:cNvSpPr>
            <a:spLocks noChangeShapeType="1"/>
          </p:cNvSpPr>
          <p:nvPr/>
        </p:nvSpPr>
        <p:spPr bwMode="auto">
          <a:xfrm>
            <a:off x="2621757" y="2076378"/>
            <a:ext cx="844552" cy="51930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71" name="Text Box 67"/>
          <p:cNvSpPr txBox="1">
            <a:spLocks noChangeArrowheads="1"/>
          </p:cNvSpPr>
          <p:nvPr/>
        </p:nvSpPr>
        <p:spPr bwMode="auto">
          <a:xfrm>
            <a:off x="1739110" y="2595679"/>
            <a:ext cx="426044" cy="360362"/>
          </a:xfrm>
          <a:prstGeom prst="rect">
            <a:avLst/>
          </a:prstGeom>
          <a:solidFill>
            <a:srgbClr val="00FFFF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5</a:t>
            </a:r>
          </a:p>
        </p:txBody>
      </p:sp>
      <p:sp>
        <p:nvSpPr>
          <p:cNvPr id="72" name="Text Box 68"/>
          <p:cNvSpPr txBox="1">
            <a:spLocks noChangeArrowheads="1"/>
          </p:cNvSpPr>
          <p:nvPr/>
        </p:nvSpPr>
        <p:spPr bwMode="auto">
          <a:xfrm>
            <a:off x="3248821" y="2595679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14</a:t>
            </a:r>
          </a:p>
        </p:txBody>
      </p:sp>
      <p:sp>
        <p:nvSpPr>
          <p:cNvPr id="73" name="Text Box 69"/>
          <p:cNvSpPr txBox="1">
            <a:spLocks noChangeArrowheads="1"/>
          </p:cNvSpPr>
          <p:nvPr/>
        </p:nvSpPr>
        <p:spPr bwMode="auto">
          <a:xfrm>
            <a:off x="6103816" y="2595679"/>
            <a:ext cx="468000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45</a:t>
            </a:r>
          </a:p>
        </p:txBody>
      </p:sp>
      <p:sp>
        <p:nvSpPr>
          <p:cNvPr id="74" name="Line 70"/>
          <p:cNvSpPr>
            <a:spLocks noChangeShapeType="1"/>
          </p:cNvSpPr>
          <p:nvPr/>
        </p:nvSpPr>
        <p:spPr bwMode="auto">
          <a:xfrm flipH="1">
            <a:off x="6103816" y="2076378"/>
            <a:ext cx="0" cy="51930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75" name="Text Box 71"/>
          <p:cNvSpPr txBox="1">
            <a:spLocks noChangeArrowheads="1"/>
          </p:cNvSpPr>
          <p:nvPr/>
        </p:nvSpPr>
        <p:spPr bwMode="auto">
          <a:xfrm>
            <a:off x="2165154" y="2595679"/>
            <a:ext cx="446725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7</a:t>
            </a:r>
          </a:p>
        </p:txBody>
      </p:sp>
      <p:sp>
        <p:nvSpPr>
          <p:cNvPr id="76" name="Text Box 72"/>
          <p:cNvSpPr txBox="1">
            <a:spLocks noChangeArrowheads="1"/>
          </p:cNvSpPr>
          <p:nvPr/>
        </p:nvSpPr>
        <p:spPr bwMode="auto">
          <a:xfrm>
            <a:off x="6084766" y="1732079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50</a:t>
            </a:r>
          </a:p>
        </p:txBody>
      </p:sp>
      <p:sp>
        <p:nvSpPr>
          <p:cNvPr id="77" name="Text Box 73"/>
          <p:cNvSpPr txBox="1">
            <a:spLocks noChangeArrowheads="1"/>
          </p:cNvSpPr>
          <p:nvPr/>
        </p:nvSpPr>
        <p:spPr bwMode="auto">
          <a:xfrm>
            <a:off x="3707609" y="2595679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16</a:t>
            </a:r>
          </a:p>
        </p:txBody>
      </p:sp>
      <p:sp>
        <p:nvSpPr>
          <p:cNvPr id="78" name="Line 76"/>
          <p:cNvSpPr>
            <a:spLocks noChangeShapeType="1"/>
          </p:cNvSpPr>
          <p:nvPr/>
        </p:nvSpPr>
        <p:spPr bwMode="auto">
          <a:xfrm>
            <a:off x="6566771" y="2083615"/>
            <a:ext cx="1003448" cy="51206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79" name="Text Box 77"/>
          <p:cNvSpPr txBox="1">
            <a:spLocks noChangeArrowheads="1"/>
          </p:cNvSpPr>
          <p:nvPr/>
        </p:nvSpPr>
        <p:spPr bwMode="auto">
          <a:xfrm>
            <a:off x="1685133" y="1730491"/>
            <a:ext cx="477837" cy="360362"/>
          </a:xfrm>
          <a:prstGeom prst="rect">
            <a:avLst/>
          </a:prstGeom>
          <a:solidFill>
            <a:srgbClr val="FFFF00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6</a:t>
            </a:r>
          </a:p>
        </p:txBody>
      </p:sp>
      <p:sp>
        <p:nvSpPr>
          <p:cNvPr id="80" name="Line 78"/>
          <p:cNvSpPr>
            <a:spLocks noChangeShapeType="1"/>
          </p:cNvSpPr>
          <p:nvPr/>
        </p:nvSpPr>
        <p:spPr bwMode="auto">
          <a:xfrm flipH="1">
            <a:off x="1043782" y="2076378"/>
            <a:ext cx="632645" cy="51930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81" name="Text Box 79"/>
          <p:cNvSpPr txBox="1">
            <a:spLocks noChangeArrowheads="1"/>
          </p:cNvSpPr>
          <p:nvPr/>
        </p:nvSpPr>
        <p:spPr bwMode="auto">
          <a:xfrm>
            <a:off x="4977609" y="2595679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30</a:t>
            </a:r>
          </a:p>
        </p:txBody>
      </p:sp>
      <p:sp>
        <p:nvSpPr>
          <p:cNvPr id="82" name="Text Box 80"/>
          <p:cNvSpPr txBox="1">
            <a:spLocks noChangeArrowheads="1"/>
          </p:cNvSpPr>
          <p:nvPr/>
        </p:nvSpPr>
        <p:spPr bwMode="auto">
          <a:xfrm>
            <a:off x="5631690" y="2595679"/>
            <a:ext cx="472126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40</a:t>
            </a:r>
          </a:p>
        </p:txBody>
      </p:sp>
      <p:sp>
        <p:nvSpPr>
          <p:cNvPr id="83" name="Text Box 83"/>
          <p:cNvSpPr txBox="1">
            <a:spLocks noChangeArrowheads="1"/>
          </p:cNvSpPr>
          <p:nvPr/>
        </p:nvSpPr>
        <p:spPr bwMode="auto">
          <a:xfrm>
            <a:off x="5625979" y="1730491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35</a:t>
            </a:r>
          </a:p>
        </p:txBody>
      </p:sp>
      <p:sp>
        <p:nvSpPr>
          <p:cNvPr id="84" name="Line 84"/>
          <p:cNvSpPr>
            <a:spLocks noChangeShapeType="1"/>
          </p:cNvSpPr>
          <p:nvPr/>
        </p:nvSpPr>
        <p:spPr bwMode="auto">
          <a:xfrm flipH="1">
            <a:off x="4977609" y="2076378"/>
            <a:ext cx="644202" cy="51930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85" name="Text Box 47"/>
          <p:cNvSpPr txBox="1">
            <a:spLocks noChangeArrowheads="1"/>
          </p:cNvSpPr>
          <p:nvPr/>
        </p:nvSpPr>
        <p:spPr bwMode="auto">
          <a:xfrm>
            <a:off x="6706619" y="2595679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55</a:t>
            </a:r>
          </a:p>
        </p:txBody>
      </p:sp>
      <p:sp>
        <p:nvSpPr>
          <p:cNvPr id="86" name="Text Box 48"/>
          <p:cNvSpPr txBox="1">
            <a:spLocks noChangeArrowheads="1"/>
          </p:cNvSpPr>
          <p:nvPr/>
        </p:nvSpPr>
        <p:spPr bwMode="auto">
          <a:xfrm>
            <a:off x="8002019" y="2595679"/>
            <a:ext cx="481632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70</a:t>
            </a:r>
          </a:p>
        </p:txBody>
      </p:sp>
      <p:sp>
        <p:nvSpPr>
          <p:cNvPr id="87" name="Text Box 54"/>
          <p:cNvSpPr txBox="1">
            <a:spLocks noChangeArrowheads="1"/>
          </p:cNvSpPr>
          <p:nvPr/>
        </p:nvSpPr>
        <p:spPr bwMode="auto">
          <a:xfrm>
            <a:off x="7138419" y="2595679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60</a:t>
            </a:r>
          </a:p>
        </p:txBody>
      </p:sp>
      <p:sp>
        <p:nvSpPr>
          <p:cNvPr id="88" name="Text Box 55"/>
          <p:cNvSpPr txBox="1">
            <a:spLocks noChangeArrowheads="1"/>
          </p:cNvSpPr>
          <p:nvPr/>
        </p:nvSpPr>
        <p:spPr bwMode="auto">
          <a:xfrm>
            <a:off x="7570220" y="2595679"/>
            <a:ext cx="462953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65</a:t>
            </a:r>
          </a:p>
        </p:txBody>
      </p:sp>
      <p:sp>
        <p:nvSpPr>
          <p:cNvPr id="89" name="Line 76"/>
          <p:cNvSpPr>
            <a:spLocks noChangeShapeType="1"/>
          </p:cNvSpPr>
          <p:nvPr/>
        </p:nvSpPr>
        <p:spPr bwMode="auto">
          <a:xfrm>
            <a:off x="4433636" y="1179439"/>
            <a:ext cx="1646961" cy="54946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90" name="Line 78"/>
          <p:cNvSpPr>
            <a:spLocks noChangeShapeType="1"/>
          </p:cNvSpPr>
          <p:nvPr/>
        </p:nvSpPr>
        <p:spPr bwMode="auto">
          <a:xfrm flipH="1">
            <a:off x="2145506" y="1179439"/>
            <a:ext cx="1810291" cy="53657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92" name="Text Box 59"/>
          <p:cNvSpPr txBox="1">
            <a:spLocks noChangeArrowheads="1"/>
          </p:cNvSpPr>
          <p:nvPr/>
        </p:nvSpPr>
        <p:spPr bwMode="auto">
          <a:xfrm>
            <a:off x="4003424" y="3565067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20</a:t>
            </a:r>
          </a:p>
        </p:txBody>
      </p:sp>
      <p:sp>
        <p:nvSpPr>
          <p:cNvPr id="93" name="Text Box 60"/>
          <p:cNvSpPr txBox="1">
            <a:spLocks noChangeArrowheads="1"/>
          </p:cNvSpPr>
          <p:nvPr/>
        </p:nvSpPr>
        <p:spPr bwMode="auto">
          <a:xfrm>
            <a:off x="678658" y="5341668"/>
            <a:ext cx="412750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94" name="Text Box 61"/>
          <p:cNvSpPr txBox="1">
            <a:spLocks noChangeArrowheads="1"/>
          </p:cNvSpPr>
          <p:nvPr/>
        </p:nvSpPr>
        <p:spPr bwMode="auto">
          <a:xfrm>
            <a:off x="1091410" y="5341668"/>
            <a:ext cx="412750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96" name="Text Box 63"/>
          <p:cNvSpPr txBox="1">
            <a:spLocks noChangeArrowheads="1"/>
          </p:cNvSpPr>
          <p:nvPr/>
        </p:nvSpPr>
        <p:spPr bwMode="auto">
          <a:xfrm>
            <a:off x="4593434" y="5341668"/>
            <a:ext cx="479425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25</a:t>
            </a:r>
          </a:p>
        </p:txBody>
      </p:sp>
      <p:sp>
        <p:nvSpPr>
          <p:cNvPr id="97" name="Text Box 64"/>
          <p:cNvSpPr txBox="1">
            <a:spLocks noChangeArrowheads="1"/>
          </p:cNvSpPr>
          <p:nvPr/>
        </p:nvSpPr>
        <p:spPr bwMode="auto">
          <a:xfrm>
            <a:off x="2193133" y="4476480"/>
            <a:ext cx="477837" cy="360362"/>
          </a:xfrm>
          <a:prstGeom prst="rect">
            <a:avLst/>
          </a:prstGeom>
          <a:solidFill>
            <a:srgbClr val="CCFF99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12</a:t>
            </a:r>
          </a:p>
        </p:txBody>
      </p:sp>
      <p:sp>
        <p:nvSpPr>
          <p:cNvPr id="98" name="Line 65"/>
          <p:cNvSpPr>
            <a:spLocks noChangeShapeType="1"/>
          </p:cNvSpPr>
          <p:nvPr/>
        </p:nvSpPr>
        <p:spPr bwMode="auto">
          <a:xfrm flipH="1">
            <a:off x="2210595" y="4829604"/>
            <a:ext cx="0" cy="5048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99" name="Line 66"/>
          <p:cNvSpPr>
            <a:spLocks noChangeShapeType="1"/>
          </p:cNvSpPr>
          <p:nvPr/>
        </p:nvSpPr>
        <p:spPr bwMode="auto">
          <a:xfrm>
            <a:off x="2669382" y="4822367"/>
            <a:ext cx="844552" cy="51930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100" name="Text Box 67"/>
          <p:cNvSpPr txBox="1">
            <a:spLocks noChangeArrowheads="1"/>
          </p:cNvSpPr>
          <p:nvPr/>
        </p:nvSpPr>
        <p:spPr bwMode="auto">
          <a:xfrm>
            <a:off x="1786735" y="5341668"/>
            <a:ext cx="426044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7</a:t>
            </a:r>
          </a:p>
        </p:txBody>
      </p:sp>
      <p:sp>
        <p:nvSpPr>
          <p:cNvPr id="101" name="Text Box 68"/>
          <p:cNvSpPr txBox="1">
            <a:spLocks noChangeArrowheads="1"/>
          </p:cNvSpPr>
          <p:nvPr/>
        </p:nvSpPr>
        <p:spPr bwMode="auto">
          <a:xfrm>
            <a:off x="3059832" y="5341668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14</a:t>
            </a:r>
          </a:p>
        </p:txBody>
      </p:sp>
      <p:sp>
        <p:nvSpPr>
          <p:cNvPr id="102" name="Text Box 69"/>
          <p:cNvSpPr txBox="1">
            <a:spLocks noChangeArrowheads="1"/>
          </p:cNvSpPr>
          <p:nvPr/>
        </p:nvSpPr>
        <p:spPr bwMode="auto">
          <a:xfrm>
            <a:off x="6151441" y="5341668"/>
            <a:ext cx="468000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45</a:t>
            </a:r>
          </a:p>
        </p:txBody>
      </p:sp>
      <p:sp>
        <p:nvSpPr>
          <p:cNvPr id="103" name="Line 70"/>
          <p:cNvSpPr>
            <a:spLocks noChangeShapeType="1"/>
          </p:cNvSpPr>
          <p:nvPr/>
        </p:nvSpPr>
        <p:spPr bwMode="auto">
          <a:xfrm flipH="1">
            <a:off x="6151441" y="4822367"/>
            <a:ext cx="0" cy="51930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104" name="Text Box 71"/>
          <p:cNvSpPr txBox="1">
            <a:spLocks noChangeArrowheads="1"/>
          </p:cNvSpPr>
          <p:nvPr/>
        </p:nvSpPr>
        <p:spPr bwMode="auto">
          <a:xfrm>
            <a:off x="2212779" y="5341668"/>
            <a:ext cx="446725" cy="360362"/>
          </a:xfrm>
          <a:prstGeom prst="rect">
            <a:avLst/>
          </a:prstGeom>
          <a:solidFill>
            <a:srgbClr val="FCD0F8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10</a:t>
            </a:r>
          </a:p>
        </p:txBody>
      </p:sp>
      <p:sp>
        <p:nvSpPr>
          <p:cNvPr id="105" name="Text Box 72"/>
          <p:cNvSpPr txBox="1">
            <a:spLocks noChangeArrowheads="1"/>
          </p:cNvSpPr>
          <p:nvPr/>
        </p:nvSpPr>
        <p:spPr bwMode="auto">
          <a:xfrm>
            <a:off x="6132391" y="4478068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50</a:t>
            </a:r>
          </a:p>
        </p:txBody>
      </p:sp>
      <p:sp>
        <p:nvSpPr>
          <p:cNvPr id="106" name="Text Box 73"/>
          <p:cNvSpPr txBox="1">
            <a:spLocks noChangeArrowheads="1"/>
          </p:cNvSpPr>
          <p:nvPr/>
        </p:nvSpPr>
        <p:spPr bwMode="auto">
          <a:xfrm>
            <a:off x="3518620" y="5341668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16</a:t>
            </a:r>
          </a:p>
        </p:txBody>
      </p:sp>
      <p:sp>
        <p:nvSpPr>
          <p:cNvPr id="107" name="Line 76"/>
          <p:cNvSpPr>
            <a:spLocks noChangeShapeType="1"/>
          </p:cNvSpPr>
          <p:nvPr/>
        </p:nvSpPr>
        <p:spPr bwMode="auto">
          <a:xfrm>
            <a:off x="6614396" y="4829604"/>
            <a:ext cx="1003448" cy="51206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108" name="Text Box 77"/>
          <p:cNvSpPr txBox="1">
            <a:spLocks noChangeArrowheads="1"/>
          </p:cNvSpPr>
          <p:nvPr/>
        </p:nvSpPr>
        <p:spPr bwMode="auto">
          <a:xfrm>
            <a:off x="1732758" y="4476480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6</a:t>
            </a:r>
          </a:p>
        </p:txBody>
      </p:sp>
      <p:sp>
        <p:nvSpPr>
          <p:cNvPr id="109" name="Line 78"/>
          <p:cNvSpPr>
            <a:spLocks noChangeShapeType="1"/>
          </p:cNvSpPr>
          <p:nvPr/>
        </p:nvSpPr>
        <p:spPr bwMode="auto">
          <a:xfrm flipH="1">
            <a:off x="1091407" y="4822367"/>
            <a:ext cx="632645" cy="51930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110" name="Text Box 79"/>
          <p:cNvSpPr txBox="1">
            <a:spLocks noChangeArrowheads="1"/>
          </p:cNvSpPr>
          <p:nvPr/>
        </p:nvSpPr>
        <p:spPr bwMode="auto">
          <a:xfrm>
            <a:off x="5025234" y="5341668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30</a:t>
            </a:r>
          </a:p>
        </p:txBody>
      </p:sp>
      <p:sp>
        <p:nvSpPr>
          <p:cNvPr id="111" name="Text Box 80"/>
          <p:cNvSpPr txBox="1">
            <a:spLocks noChangeArrowheads="1"/>
          </p:cNvSpPr>
          <p:nvPr/>
        </p:nvSpPr>
        <p:spPr bwMode="auto">
          <a:xfrm>
            <a:off x="5679315" y="5341668"/>
            <a:ext cx="472126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40</a:t>
            </a:r>
          </a:p>
        </p:txBody>
      </p:sp>
      <p:sp>
        <p:nvSpPr>
          <p:cNvPr id="112" name="Text Box 83"/>
          <p:cNvSpPr txBox="1">
            <a:spLocks noChangeArrowheads="1"/>
          </p:cNvSpPr>
          <p:nvPr/>
        </p:nvSpPr>
        <p:spPr bwMode="auto">
          <a:xfrm>
            <a:off x="5673604" y="4476480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35</a:t>
            </a:r>
          </a:p>
        </p:txBody>
      </p:sp>
      <p:sp>
        <p:nvSpPr>
          <p:cNvPr id="113" name="Line 84"/>
          <p:cNvSpPr>
            <a:spLocks noChangeShapeType="1"/>
          </p:cNvSpPr>
          <p:nvPr/>
        </p:nvSpPr>
        <p:spPr bwMode="auto">
          <a:xfrm flipH="1">
            <a:off x="5025234" y="4822367"/>
            <a:ext cx="644202" cy="51930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114" name="Text Box 47"/>
          <p:cNvSpPr txBox="1">
            <a:spLocks noChangeArrowheads="1"/>
          </p:cNvSpPr>
          <p:nvPr/>
        </p:nvSpPr>
        <p:spPr bwMode="auto">
          <a:xfrm>
            <a:off x="6754244" y="5341668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55</a:t>
            </a:r>
          </a:p>
        </p:txBody>
      </p:sp>
      <p:sp>
        <p:nvSpPr>
          <p:cNvPr id="115" name="Text Box 48"/>
          <p:cNvSpPr txBox="1">
            <a:spLocks noChangeArrowheads="1"/>
          </p:cNvSpPr>
          <p:nvPr/>
        </p:nvSpPr>
        <p:spPr bwMode="auto">
          <a:xfrm>
            <a:off x="8049644" y="5341668"/>
            <a:ext cx="481632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70</a:t>
            </a:r>
          </a:p>
        </p:txBody>
      </p:sp>
      <p:sp>
        <p:nvSpPr>
          <p:cNvPr id="116" name="Text Box 54"/>
          <p:cNvSpPr txBox="1">
            <a:spLocks noChangeArrowheads="1"/>
          </p:cNvSpPr>
          <p:nvPr/>
        </p:nvSpPr>
        <p:spPr bwMode="auto">
          <a:xfrm>
            <a:off x="7186044" y="5341668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60</a:t>
            </a:r>
          </a:p>
        </p:txBody>
      </p:sp>
      <p:sp>
        <p:nvSpPr>
          <p:cNvPr id="117" name="Text Box 55"/>
          <p:cNvSpPr txBox="1">
            <a:spLocks noChangeArrowheads="1"/>
          </p:cNvSpPr>
          <p:nvPr/>
        </p:nvSpPr>
        <p:spPr bwMode="auto">
          <a:xfrm>
            <a:off x="7617845" y="5341668"/>
            <a:ext cx="462953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65</a:t>
            </a:r>
          </a:p>
        </p:txBody>
      </p:sp>
      <p:sp>
        <p:nvSpPr>
          <p:cNvPr id="118" name="Line 76"/>
          <p:cNvSpPr>
            <a:spLocks noChangeShapeType="1"/>
          </p:cNvSpPr>
          <p:nvPr/>
        </p:nvSpPr>
        <p:spPr bwMode="auto">
          <a:xfrm>
            <a:off x="4481261" y="3925428"/>
            <a:ext cx="1646961" cy="54946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119" name="Line 78"/>
          <p:cNvSpPr>
            <a:spLocks noChangeShapeType="1"/>
          </p:cNvSpPr>
          <p:nvPr/>
        </p:nvSpPr>
        <p:spPr bwMode="auto">
          <a:xfrm flipH="1">
            <a:off x="2193131" y="3925428"/>
            <a:ext cx="1810291" cy="53657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92821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688730" y="2189191"/>
            <a:ext cx="7467600" cy="2068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07000"/>
              </a:lnSpc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통합 연산</a:t>
            </a:r>
            <a:r>
              <a:rPr lang="en-US" altLang="ko-KR" sz="2400" b="1" dirty="0">
                <a:solidFill>
                  <a:srgbClr val="3366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: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키가 삭제된 후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underflow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가 발생한 노드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x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에 대해 이동 연산이 불가능한 경우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노드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x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와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그의 형제를 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1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개의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노드로 통합하고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노드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x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와 형제의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분기점 역할을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하던 부모의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키를 통합된 노드로 끌어내리는 연산</a:t>
            </a:r>
          </a:p>
        </p:txBody>
      </p:sp>
    </p:spTree>
    <p:extLst>
      <p:ext uri="{BB962C8B-B14F-4D97-AF65-F5344CB8AC3E}">
        <p14:creationId xmlns:p14="http://schemas.microsoft.com/office/powerpoint/2010/main" val="86481409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9"/>
          <p:cNvSpPr txBox="1">
            <a:spLocks noChangeArrowheads="1"/>
          </p:cNvSpPr>
          <p:nvPr/>
        </p:nvSpPr>
        <p:spPr bwMode="auto">
          <a:xfrm>
            <a:off x="4094162" y="994278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20</a:t>
            </a:r>
          </a:p>
        </p:txBody>
      </p:sp>
      <p:sp>
        <p:nvSpPr>
          <p:cNvPr id="4" name="Text Box 60"/>
          <p:cNvSpPr txBox="1">
            <a:spLocks noChangeArrowheads="1"/>
          </p:cNvSpPr>
          <p:nvPr/>
        </p:nvSpPr>
        <p:spPr bwMode="auto">
          <a:xfrm>
            <a:off x="701134" y="2770879"/>
            <a:ext cx="481012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5" name="Text Box 61"/>
          <p:cNvSpPr txBox="1">
            <a:spLocks noChangeArrowheads="1"/>
          </p:cNvSpPr>
          <p:nvPr/>
        </p:nvSpPr>
        <p:spPr bwMode="auto">
          <a:xfrm>
            <a:off x="1182147" y="2770879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6" name="Text Box 63"/>
          <p:cNvSpPr txBox="1">
            <a:spLocks noChangeArrowheads="1"/>
          </p:cNvSpPr>
          <p:nvPr/>
        </p:nvSpPr>
        <p:spPr bwMode="auto">
          <a:xfrm>
            <a:off x="4684172" y="2770879"/>
            <a:ext cx="479425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25</a:t>
            </a:r>
          </a:p>
        </p:txBody>
      </p:sp>
      <p:sp>
        <p:nvSpPr>
          <p:cNvPr id="7" name="Text Box 64"/>
          <p:cNvSpPr txBox="1">
            <a:spLocks noChangeArrowheads="1"/>
          </p:cNvSpPr>
          <p:nvPr/>
        </p:nvSpPr>
        <p:spPr bwMode="auto">
          <a:xfrm>
            <a:off x="2283871" y="1905691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12</a:t>
            </a:r>
          </a:p>
        </p:txBody>
      </p:sp>
      <p:sp>
        <p:nvSpPr>
          <p:cNvPr id="8" name="Line 65"/>
          <p:cNvSpPr>
            <a:spLocks noChangeShapeType="1"/>
          </p:cNvSpPr>
          <p:nvPr/>
        </p:nvSpPr>
        <p:spPr bwMode="auto">
          <a:xfrm flipH="1">
            <a:off x="2307684" y="2266054"/>
            <a:ext cx="0" cy="504825"/>
          </a:xfrm>
          <a:prstGeom prst="lin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9" name="Line 66"/>
          <p:cNvSpPr>
            <a:spLocks noChangeShapeType="1"/>
          </p:cNvSpPr>
          <p:nvPr/>
        </p:nvSpPr>
        <p:spPr bwMode="auto">
          <a:xfrm>
            <a:off x="2760120" y="2251578"/>
            <a:ext cx="704057" cy="519300"/>
          </a:xfrm>
          <a:prstGeom prst="lin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 Box 67"/>
          <p:cNvSpPr txBox="1">
            <a:spLocks noChangeArrowheads="1"/>
          </p:cNvSpPr>
          <p:nvPr/>
        </p:nvSpPr>
        <p:spPr bwMode="auto">
          <a:xfrm>
            <a:off x="1877472" y="2770879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7</a:t>
            </a:r>
          </a:p>
        </p:txBody>
      </p:sp>
      <p:sp>
        <p:nvSpPr>
          <p:cNvPr id="11" name="Text Box 68"/>
          <p:cNvSpPr txBox="1">
            <a:spLocks noChangeArrowheads="1"/>
          </p:cNvSpPr>
          <p:nvPr/>
        </p:nvSpPr>
        <p:spPr bwMode="auto">
          <a:xfrm>
            <a:off x="3005390" y="2770879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14</a:t>
            </a:r>
          </a:p>
        </p:txBody>
      </p:sp>
      <p:sp>
        <p:nvSpPr>
          <p:cNvPr id="12" name="Text Box 69"/>
          <p:cNvSpPr txBox="1">
            <a:spLocks noChangeArrowheads="1"/>
          </p:cNvSpPr>
          <p:nvPr/>
        </p:nvSpPr>
        <p:spPr bwMode="auto">
          <a:xfrm>
            <a:off x="6201852" y="2770879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45</a:t>
            </a:r>
          </a:p>
        </p:txBody>
      </p:sp>
      <p:sp>
        <p:nvSpPr>
          <p:cNvPr id="13" name="Line 70"/>
          <p:cNvSpPr>
            <a:spLocks noChangeShapeType="1"/>
          </p:cNvSpPr>
          <p:nvPr/>
        </p:nvSpPr>
        <p:spPr bwMode="auto">
          <a:xfrm flipH="1">
            <a:off x="6242179" y="2251578"/>
            <a:ext cx="0" cy="519301"/>
          </a:xfrm>
          <a:prstGeom prst="lin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 Box 71"/>
          <p:cNvSpPr txBox="1">
            <a:spLocks noChangeArrowheads="1"/>
          </p:cNvSpPr>
          <p:nvPr/>
        </p:nvSpPr>
        <p:spPr bwMode="auto">
          <a:xfrm>
            <a:off x="2307684" y="2770879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10</a:t>
            </a:r>
          </a:p>
        </p:txBody>
      </p:sp>
      <p:sp>
        <p:nvSpPr>
          <p:cNvPr id="15" name="Text Box 72"/>
          <p:cNvSpPr txBox="1">
            <a:spLocks noChangeArrowheads="1"/>
          </p:cNvSpPr>
          <p:nvPr/>
        </p:nvSpPr>
        <p:spPr bwMode="auto">
          <a:xfrm>
            <a:off x="6223129" y="1907279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50</a:t>
            </a:r>
          </a:p>
        </p:txBody>
      </p:sp>
      <p:sp>
        <p:nvSpPr>
          <p:cNvPr id="16" name="Text Box 73"/>
          <p:cNvSpPr txBox="1">
            <a:spLocks noChangeArrowheads="1"/>
          </p:cNvSpPr>
          <p:nvPr/>
        </p:nvSpPr>
        <p:spPr bwMode="auto">
          <a:xfrm>
            <a:off x="3464178" y="2770879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16</a:t>
            </a:r>
          </a:p>
        </p:txBody>
      </p:sp>
      <p:sp>
        <p:nvSpPr>
          <p:cNvPr id="17" name="Line 76"/>
          <p:cNvSpPr>
            <a:spLocks noChangeShapeType="1"/>
          </p:cNvSpPr>
          <p:nvPr/>
        </p:nvSpPr>
        <p:spPr bwMode="auto">
          <a:xfrm>
            <a:off x="6673979" y="2251578"/>
            <a:ext cx="1034603" cy="519301"/>
          </a:xfrm>
          <a:prstGeom prst="lin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Text Box 77"/>
          <p:cNvSpPr txBox="1">
            <a:spLocks noChangeArrowheads="1"/>
          </p:cNvSpPr>
          <p:nvPr/>
        </p:nvSpPr>
        <p:spPr bwMode="auto">
          <a:xfrm>
            <a:off x="1823496" y="1905691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5</a:t>
            </a:r>
          </a:p>
        </p:txBody>
      </p:sp>
      <p:sp>
        <p:nvSpPr>
          <p:cNvPr id="19" name="Line 78"/>
          <p:cNvSpPr>
            <a:spLocks noChangeShapeType="1"/>
          </p:cNvSpPr>
          <p:nvPr/>
        </p:nvSpPr>
        <p:spPr bwMode="auto">
          <a:xfrm flipH="1">
            <a:off x="1155159" y="2251578"/>
            <a:ext cx="659632" cy="519301"/>
          </a:xfrm>
          <a:prstGeom prst="lin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Text Box 79"/>
          <p:cNvSpPr txBox="1">
            <a:spLocks noChangeArrowheads="1"/>
          </p:cNvSpPr>
          <p:nvPr/>
        </p:nvSpPr>
        <p:spPr bwMode="auto">
          <a:xfrm>
            <a:off x="5115972" y="2770879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30</a:t>
            </a:r>
          </a:p>
        </p:txBody>
      </p:sp>
      <p:sp>
        <p:nvSpPr>
          <p:cNvPr id="21" name="Text Box 80"/>
          <p:cNvSpPr txBox="1">
            <a:spLocks noChangeArrowheads="1"/>
          </p:cNvSpPr>
          <p:nvPr/>
        </p:nvSpPr>
        <p:spPr bwMode="auto">
          <a:xfrm>
            <a:off x="5770052" y="2770879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40</a:t>
            </a:r>
          </a:p>
        </p:txBody>
      </p:sp>
      <p:sp>
        <p:nvSpPr>
          <p:cNvPr id="22" name="Text Box 83"/>
          <p:cNvSpPr txBox="1">
            <a:spLocks noChangeArrowheads="1"/>
          </p:cNvSpPr>
          <p:nvPr/>
        </p:nvSpPr>
        <p:spPr bwMode="auto">
          <a:xfrm>
            <a:off x="5764342" y="1905691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35</a:t>
            </a:r>
          </a:p>
        </p:txBody>
      </p:sp>
      <p:sp>
        <p:nvSpPr>
          <p:cNvPr id="23" name="Line 84"/>
          <p:cNvSpPr>
            <a:spLocks noChangeShapeType="1"/>
          </p:cNvSpPr>
          <p:nvPr/>
        </p:nvSpPr>
        <p:spPr bwMode="auto">
          <a:xfrm flipH="1">
            <a:off x="5115972" y="2251578"/>
            <a:ext cx="644202" cy="519302"/>
          </a:xfrm>
          <a:prstGeom prst="lin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Text Box 47"/>
          <p:cNvSpPr txBox="1">
            <a:spLocks noChangeArrowheads="1"/>
          </p:cNvSpPr>
          <p:nvPr/>
        </p:nvSpPr>
        <p:spPr bwMode="auto">
          <a:xfrm>
            <a:off x="6844982" y="2770879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55</a:t>
            </a:r>
          </a:p>
        </p:txBody>
      </p:sp>
      <p:sp>
        <p:nvSpPr>
          <p:cNvPr id="25" name="Text Box 48"/>
          <p:cNvSpPr txBox="1">
            <a:spLocks noChangeArrowheads="1"/>
          </p:cNvSpPr>
          <p:nvPr/>
        </p:nvSpPr>
        <p:spPr bwMode="auto">
          <a:xfrm>
            <a:off x="8140382" y="2770879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70</a:t>
            </a:r>
          </a:p>
        </p:txBody>
      </p:sp>
      <p:sp>
        <p:nvSpPr>
          <p:cNvPr id="26" name="Text Box 54"/>
          <p:cNvSpPr txBox="1">
            <a:spLocks noChangeArrowheads="1"/>
          </p:cNvSpPr>
          <p:nvPr/>
        </p:nvSpPr>
        <p:spPr bwMode="auto">
          <a:xfrm>
            <a:off x="7276782" y="2770879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60</a:t>
            </a:r>
          </a:p>
        </p:txBody>
      </p:sp>
      <p:sp>
        <p:nvSpPr>
          <p:cNvPr id="27" name="Text Box 55"/>
          <p:cNvSpPr txBox="1">
            <a:spLocks noChangeArrowheads="1"/>
          </p:cNvSpPr>
          <p:nvPr/>
        </p:nvSpPr>
        <p:spPr bwMode="auto">
          <a:xfrm>
            <a:off x="7708582" y="2770879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65</a:t>
            </a:r>
          </a:p>
        </p:txBody>
      </p:sp>
      <p:sp>
        <p:nvSpPr>
          <p:cNvPr id="28" name="Line 76"/>
          <p:cNvSpPr>
            <a:spLocks noChangeShapeType="1"/>
          </p:cNvSpPr>
          <p:nvPr/>
        </p:nvSpPr>
        <p:spPr bwMode="auto">
          <a:xfrm>
            <a:off x="4572000" y="1354639"/>
            <a:ext cx="1629852" cy="549464"/>
          </a:xfrm>
          <a:prstGeom prst="lin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Line 78"/>
          <p:cNvSpPr>
            <a:spLocks noChangeShapeType="1"/>
          </p:cNvSpPr>
          <p:nvPr/>
        </p:nvSpPr>
        <p:spPr bwMode="auto">
          <a:xfrm flipH="1">
            <a:off x="2283869" y="1354639"/>
            <a:ext cx="1810291" cy="536577"/>
          </a:xfrm>
          <a:prstGeom prst="lin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57" name="Freeform 57"/>
          <p:cNvSpPr>
            <a:spLocks/>
          </p:cNvSpPr>
          <p:nvPr/>
        </p:nvSpPr>
        <p:spPr bwMode="auto">
          <a:xfrm>
            <a:off x="1351763" y="5992703"/>
            <a:ext cx="722455" cy="432082"/>
          </a:xfrm>
          <a:custGeom>
            <a:avLst/>
            <a:gdLst>
              <a:gd name="T0" fmla="*/ 488 w 512"/>
              <a:gd name="T1" fmla="*/ 0 h 424"/>
              <a:gd name="T2" fmla="*/ 416 w 512"/>
              <a:gd name="T3" fmla="*/ 136 h 424"/>
              <a:gd name="T4" fmla="*/ 464 w 512"/>
              <a:gd name="T5" fmla="*/ 144 h 424"/>
              <a:gd name="T6" fmla="*/ 400 w 512"/>
              <a:gd name="T7" fmla="*/ 264 h 424"/>
              <a:gd name="T8" fmla="*/ 360 w 512"/>
              <a:gd name="T9" fmla="*/ 256 h 424"/>
              <a:gd name="T10" fmla="*/ 392 w 512"/>
              <a:gd name="T11" fmla="*/ 224 h 424"/>
              <a:gd name="T12" fmla="*/ 384 w 512"/>
              <a:gd name="T13" fmla="*/ 312 h 424"/>
              <a:gd name="T14" fmla="*/ 144 w 512"/>
              <a:gd name="T15" fmla="*/ 392 h 424"/>
              <a:gd name="T16" fmla="*/ 0 w 512"/>
              <a:gd name="T17" fmla="*/ 424 h 42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12" h="424">
                <a:moveTo>
                  <a:pt x="488" y="0"/>
                </a:moveTo>
                <a:cubicBezTo>
                  <a:pt x="481" y="105"/>
                  <a:pt x="512" y="152"/>
                  <a:pt x="416" y="136"/>
                </a:cubicBezTo>
                <a:cubicBezTo>
                  <a:pt x="441" y="99"/>
                  <a:pt x="450" y="103"/>
                  <a:pt x="464" y="144"/>
                </a:cubicBezTo>
                <a:cubicBezTo>
                  <a:pt x="457" y="202"/>
                  <a:pt x="460" y="244"/>
                  <a:pt x="400" y="264"/>
                </a:cubicBezTo>
                <a:cubicBezTo>
                  <a:pt x="387" y="261"/>
                  <a:pt x="370" y="266"/>
                  <a:pt x="360" y="256"/>
                </a:cubicBezTo>
                <a:cubicBezTo>
                  <a:pt x="340" y="236"/>
                  <a:pt x="378" y="229"/>
                  <a:pt x="392" y="224"/>
                </a:cubicBezTo>
                <a:cubicBezTo>
                  <a:pt x="399" y="245"/>
                  <a:pt x="405" y="296"/>
                  <a:pt x="384" y="312"/>
                </a:cubicBezTo>
                <a:cubicBezTo>
                  <a:pt x="316" y="365"/>
                  <a:pt x="228" y="382"/>
                  <a:pt x="144" y="392"/>
                </a:cubicBezTo>
                <a:cubicBezTo>
                  <a:pt x="134" y="393"/>
                  <a:pt x="0" y="402"/>
                  <a:pt x="0" y="424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Tahoma" pitchFamily="34" charset="0"/>
            </a:endParaRPr>
          </a:p>
        </p:txBody>
      </p:sp>
      <p:sp>
        <p:nvSpPr>
          <p:cNvPr id="58" name="자유형 57"/>
          <p:cNvSpPr/>
          <p:nvPr/>
        </p:nvSpPr>
        <p:spPr bwMode="auto">
          <a:xfrm>
            <a:off x="2490458" y="5206364"/>
            <a:ext cx="599440" cy="396424"/>
          </a:xfrm>
          <a:custGeom>
            <a:avLst/>
            <a:gdLst>
              <a:gd name="connsiteX0" fmla="*/ 599440 w 599440"/>
              <a:gd name="connsiteY0" fmla="*/ 396424 h 396424"/>
              <a:gd name="connsiteX1" fmla="*/ 101600 w 599440"/>
              <a:gd name="connsiteY1" fmla="*/ 184 h 396424"/>
              <a:gd name="connsiteX2" fmla="*/ 0 w 599440"/>
              <a:gd name="connsiteY2" fmla="*/ 355784 h 396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9440" h="396424">
                <a:moveTo>
                  <a:pt x="599440" y="396424"/>
                </a:moveTo>
                <a:cubicBezTo>
                  <a:pt x="400473" y="201690"/>
                  <a:pt x="201507" y="6957"/>
                  <a:pt x="101600" y="184"/>
                </a:cubicBezTo>
                <a:cubicBezTo>
                  <a:pt x="1693" y="-6589"/>
                  <a:pt x="846" y="174597"/>
                  <a:pt x="0" y="355784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endParaRPr kumimoji="0" lang="en-US" sz="2400">
              <a:solidFill>
                <a:srgbClr val="40458C"/>
              </a:solidFill>
              <a:latin typeface="Tahoma" pitchFamily="34" charset="0"/>
            </a:endParaRPr>
          </a:p>
        </p:txBody>
      </p:sp>
      <p:sp>
        <p:nvSpPr>
          <p:cNvPr id="59" name="자유형 58"/>
          <p:cNvSpPr/>
          <p:nvPr/>
        </p:nvSpPr>
        <p:spPr bwMode="auto">
          <a:xfrm flipH="1">
            <a:off x="1423753" y="5177237"/>
            <a:ext cx="601200" cy="396000"/>
          </a:xfrm>
          <a:custGeom>
            <a:avLst/>
            <a:gdLst>
              <a:gd name="connsiteX0" fmla="*/ 599440 w 599440"/>
              <a:gd name="connsiteY0" fmla="*/ 396424 h 396424"/>
              <a:gd name="connsiteX1" fmla="*/ 101600 w 599440"/>
              <a:gd name="connsiteY1" fmla="*/ 184 h 396424"/>
              <a:gd name="connsiteX2" fmla="*/ 0 w 599440"/>
              <a:gd name="connsiteY2" fmla="*/ 355784 h 396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9440" h="396424">
                <a:moveTo>
                  <a:pt x="599440" y="396424"/>
                </a:moveTo>
                <a:cubicBezTo>
                  <a:pt x="400473" y="201690"/>
                  <a:pt x="201507" y="6957"/>
                  <a:pt x="101600" y="184"/>
                </a:cubicBezTo>
                <a:cubicBezTo>
                  <a:pt x="1693" y="-6589"/>
                  <a:pt x="846" y="174597"/>
                  <a:pt x="0" y="355784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endParaRPr kumimoji="0" lang="en-US" sz="2400">
              <a:solidFill>
                <a:srgbClr val="40458C"/>
              </a:solidFill>
              <a:latin typeface="Tahoma" pitchFamily="34" charset="0"/>
            </a:endParaRPr>
          </a:p>
        </p:txBody>
      </p:sp>
      <p:cxnSp>
        <p:nvCxnSpPr>
          <p:cNvPr id="64" name="직선 연결선 63"/>
          <p:cNvCxnSpPr/>
          <p:nvPr/>
        </p:nvCxnSpPr>
        <p:spPr bwMode="auto">
          <a:xfrm>
            <a:off x="1658578" y="5243095"/>
            <a:ext cx="180000" cy="216000"/>
          </a:xfrm>
          <a:prstGeom prst="line">
            <a:avLst/>
          </a:prstGeom>
          <a:noFill/>
          <a:ln w="38100" cap="flat" cmpd="sng" algn="ctr">
            <a:solidFill>
              <a:srgbClr val="05050B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직선 연결선 64"/>
          <p:cNvCxnSpPr/>
          <p:nvPr/>
        </p:nvCxnSpPr>
        <p:spPr bwMode="auto">
          <a:xfrm flipH="1">
            <a:off x="1653786" y="5243095"/>
            <a:ext cx="180000" cy="216000"/>
          </a:xfrm>
          <a:prstGeom prst="line">
            <a:avLst/>
          </a:prstGeom>
          <a:noFill/>
          <a:ln w="38100" cap="flat" cmpd="sng" algn="ctr">
            <a:solidFill>
              <a:srgbClr val="05050B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직선 연결선 65"/>
          <p:cNvCxnSpPr/>
          <p:nvPr/>
        </p:nvCxnSpPr>
        <p:spPr bwMode="auto">
          <a:xfrm>
            <a:off x="2716912" y="5242376"/>
            <a:ext cx="180000" cy="216000"/>
          </a:xfrm>
          <a:prstGeom prst="line">
            <a:avLst/>
          </a:prstGeom>
          <a:noFill/>
          <a:ln w="38100" cap="flat" cmpd="sng" algn="ctr">
            <a:solidFill>
              <a:srgbClr val="05050B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직선 연결선 66"/>
          <p:cNvCxnSpPr/>
          <p:nvPr/>
        </p:nvCxnSpPr>
        <p:spPr bwMode="auto">
          <a:xfrm flipH="1">
            <a:off x="2712120" y="5242376"/>
            <a:ext cx="180000" cy="216000"/>
          </a:xfrm>
          <a:prstGeom prst="line">
            <a:avLst/>
          </a:prstGeom>
          <a:noFill/>
          <a:ln w="38100" cap="flat" cmpd="sng" algn="ctr">
            <a:solidFill>
              <a:srgbClr val="05050B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8" name="TextBox 67"/>
          <p:cNvSpPr txBox="1"/>
          <p:nvPr/>
        </p:nvSpPr>
        <p:spPr>
          <a:xfrm>
            <a:off x="1585899" y="6055453"/>
            <a:ext cx="1395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latinLnBrk="1" hangingPunct="1"/>
            <a:r>
              <a:rPr lang="ko-KR" altLang="en-US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언더플로</a:t>
            </a:r>
            <a:endParaRPr lang="en-US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Text Box 59"/>
          <p:cNvSpPr txBox="1">
            <a:spLocks noChangeArrowheads="1"/>
          </p:cNvSpPr>
          <p:nvPr/>
        </p:nvSpPr>
        <p:spPr bwMode="auto">
          <a:xfrm>
            <a:off x="4006484" y="3802911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20</a:t>
            </a:r>
          </a:p>
        </p:txBody>
      </p:sp>
      <p:sp>
        <p:nvSpPr>
          <p:cNvPr id="71" name="Text Box 60"/>
          <p:cNvSpPr txBox="1">
            <a:spLocks noChangeArrowheads="1"/>
          </p:cNvSpPr>
          <p:nvPr/>
        </p:nvSpPr>
        <p:spPr bwMode="auto">
          <a:xfrm>
            <a:off x="613456" y="5579512"/>
            <a:ext cx="481012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72" name="Text Box 61"/>
          <p:cNvSpPr txBox="1">
            <a:spLocks noChangeArrowheads="1"/>
          </p:cNvSpPr>
          <p:nvPr/>
        </p:nvSpPr>
        <p:spPr bwMode="auto">
          <a:xfrm>
            <a:off x="1094469" y="5579512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73" name="Text Box 63"/>
          <p:cNvSpPr txBox="1">
            <a:spLocks noChangeArrowheads="1"/>
          </p:cNvSpPr>
          <p:nvPr/>
        </p:nvSpPr>
        <p:spPr bwMode="auto">
          <a:xfrm>
            <a:off x="4596494" y="5579512"/>
            <a:ext cx="479425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25</a:t>
            </a:r>
          </a:p>
        </p:txBody>
      </p:sp>
      <p:sp>
        <p:nvSpPr>
          <p:cNvPr id="74" name="Text Box 64"/>
          <p:cNvSpPr txBox="1">
            <a:spLocks noChangeArrowheads="1"/>
          </p:cNvSpPr>
          <p:nvPr/>
        </p:nvSpPr>
        <p:spPr bwMode="auto">
          <a:xfrm>
            <a:off x="2196193" y="4714324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12</a:t>
            </a:r>
          </a:p>
        </p:txBody>
      </p:sp>
      <p:sp>
        <p:nvSpPr>
          <p:cNvPr id="75" name="Line 65"/>
          <p:cNvSpPr>
            <a:spLocks noChangeShapeType="1"/>
          </p:cNvSpPr>
          <p:nvPr/>
        </p:nvSpPr>
        <p:spPr bwMode="auto">
          <a:xfrm flipH="1">
            <a:off x="2220006" y="5074687"/>
            <a:ext cx="0" cy="504825"/>
          </a:xfrm>
          <a:prstGeom prst="lin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76" name="Line 66"/>
          <p:cNvSpPr>
            <a:spLocks noChangeShapeType="1"/>
          </p:cNvSpPr>
          <p:nvPr/>
        </p:nvSpPr>
        <p:spPr bwMode="auto">
          <a:xfrm>
            <a:off x="2672442" y="5060211"/>
            <a:ext cx="704057" cy="519300"/>
          </a:xfrm>
          <a:prstGeom prst="lin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77" name="Text Box 67"/>
          <p:cNvSpPr txBox="1">
            <a:spLocks noChangeArrowheads="1"/>
          </p:cNvSpPr>
          <p:nvPr/>
        </p:nvSpPr>
        <p:spPr bwMode="auto">
          <a:xfrm>
            <a:off x="1789794" y="5579512"/>
            <a:ext cx="477837" cy="360362"/>
          </a:xfrm>
          <a:prstGeom prst="rect">
            <a:avLst/>
          </a:prstGeom>
          <a:solidFill>
            <a:srgbClr val="00FFFF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7</a:t>
            </a:r>
          </a:p>
        </p:txBody>
      </p:sp>
      <p:sp>
        <p:nvSpPr>
          <p:cNvPr id="78" name="Text Box 68"/>
          <p:cNvSpPr txBox="1">
            <a:spLocks noChangeArrowheads="1"/>
          </p:cNvSpPr>
          <p:nvPr/>
        </p:nvSpPr>
        <p:spPr bwMode="auto">
          <a:xfrm>
            <a:off x="2917712" y="5579512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14</a:t>
            </a:r>
          </a:p>
        </p:txBody>
      </p:sp>
      <p:sp>
        <p:nvSpPr>
          <p:cNvPr id="79" name="Text Box 69"/>
          <p:cNvSpPr txBox="1">
            <a:spLocks noChangeArrowheads="1"/>
          </p:cNvSpPr>
          <p:nvPr/>
        </p:nvSpPr>
        <p:spPr bwMode="auto">
          <a:xfrm>
            <a:off x="6114174" y="5579512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45</a:t>
            </a:r>
          </a:p>
        </p:txBody>
      </p:sp>
      <p:sp>
        <p:nvSpPr>
          <p:cNvPr id="80" name="Line 70"/>
          <p:cNvSpPr>
            <a:spLocks noChangeShapeType="1"/>
          </p:cNvSpPr>
          <p:nvPr/>
        </p:nvSpPr>
        <p:spPr bwMode="auto">
          <a:xfrm flipH="1">
            <a:off x="6154501" y="5060211"/>
            <a:ext cx="0" cy="519301"/>
          </a:xfrm>
          <a:prstGeom prst="lin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81" name="Text Box 71"/>
          <p:cNvSpPr txBox="1">
            <a:spLocks noChangeArrowheads="1"/>
          </p:cNvSpPr>
          <p:nvPr/>
        </p:nvSpPr>
        <p:spPr bwMode="auto">
          <a:xfrm>
            <a:off x="2220006" y="5579512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10</a:t>
            </a:r>
          </a:p>
        </p:txBody>
      </p:sp>
      <p:sp>
        <p:nvSpPr>
          <p:cNvPr id="82" name="Text Box 72"/>
          <p:cNvSpPr txBox="1">
            <a:spLocks noChangeArrowheads="1"/>
          </p:cNvSpPr>
          <p:nvPr/>
        </p:nvSpPr>
        <p:spPr bwMode="auto">
          <a:xfrm>
            <a:off x="6135451" y="4715912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50</a:t>
            </a:r>
          </a:p>
        </p:txBody>
      </p:sp>
      <p:sp>
        <p:nvSpPr>
          <p:cNvPr id="83" name="Text Box 73"/>
          <p:cNvSpPr txBox="1">
            <a:spLocks noChangeArrowheads="1"/>
          </p:cNvSpPr>
          <p:nvPr/>
        </p:nvSpPr>
        <p:spPr bwMode="auto">
          <a:xfrm>
            <a:off x="3376500" y="5579512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16</a:t>
            </a:r>
          </a:p>
        </p:txBody>
      </p:sp>
      <p:sp>
        <p:nvSpPr>
          <p:cNvPr id="84" name="Line 76"/>
          <p:cNvSpPr>
            <a:spLocks noChangeShapeType="1"/>
          </p:cNvSpPr>
          <p:nvPr/>
        </p:nvSpPr>
        <p:spPr bwMode="auto">
          <a:xfrm>
            <a:off x="6586301" y="5060211"/>
            <a:ext cx="1034603" cy="519301"/>
          </a:xfrm>
          <a:prstGeom prst="lin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85" name="Text Box 77"/>
          <p:cNvSpPr txBox="1">
            <a:spLocks noChangeArrowheads="1"/>
          </p:cNvSpPr>
          <p:nvPr/>
        </p:nvSpPr>
        <p:spPr bwMode="auto">
          <a:xfrm>
            <a:off x="1735818" y="4714324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5</a:t>
            </a:r>
          </a:p>
        </p:txBody>
      </p:sp>
      <p:sp>
        <p:nvSpPr>
          <p:cNvPr id="86" name="Line 78"/>
          <p:cNvSpPr>
            <a:spLocks noChangeShapeType="1"/>
          </p:cNvSpPr>
          <p:nvPr/>
        </p:nvSpPr>
        <p:spPr bwMode="auto">
          <a:xfrm flipH="1">
            <a:off x="1067481" y="5060211"/>
            <a:ext cx="659632" cy="519301"/>
          </a:xfrm>
          <a:prstGeom prst="lin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87" name="Text Box 79"/>
          <p:cNvSpPr txBox="1">
            <a:spLocks noChangeArrowheads="1"/>
          </p:cNvSpPr>
          <p:nvPr/>
        </p:nvSpPr>
        <p:spPr bwMode="auto">
          <a:xfrm>
            <a:off x="5028294" y="5579512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30</a:t>
            </a:r>
          </a:p>
        </p:txBody>
      </p:sp>
      <p:sp>
        <p:nvSpPr>
          <p:cNvPr id="88" name="Text Box 80"/>
          <p:cNvSpPr txBox="1">
            <a:spLocks noChangeArrowheads="1"/>
          </p:cNvSpPr>
          <p:nvPr/>
        </p:nvSpPr>
        <p:spPr bwMode="auto">
          <a:xfrm>
            <a:off x="5682374" y="5579512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40</a:t>
            </a:r>
          </a:p>
        </p:txBody>
      </p:sp>
      <p:sp>
        <p:nvSpPr>
          <p:cNvPr id="89" name="Text Box 83"/>
          <p:cNvSpPr txBox="1">
            <a:spLocks noChangeArrowheads="1"/>
          </p:cNvSpPr>
          <p:nvPr/>
        </p:nvSpPr>
        <p:spPr bwMode="auto">
          <a:xfrm>
            <a:off x="5676664" y="4714324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35</a:t>
            </a:r>
          </a:p>
        </p:txBody>
      </p:sp>
      <p:sp>
        <p:nvSpPr>
          <p:cNvPr id="90" name="Line 84"/>
          <p:cNvSpPr>
            <a:spLocks noChangeShapeType="1"/>
          </p:cNvSpPr>
          <p:nvPr/>
        </p:nvSpPr>
        <p:spPr bwMode="auto">
          <a:xfrm flipH="1">
            <a:off x="5028294" y="5060211"/>
            <a:ext cx="644202" cy="519302"/>
          </a:xfrm>
          <a:prstGeom prst="lin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91" name="Text Box 47"/>
          <p:cNvSpPr txBox="1">
            <a:spLocks noChangeArrowheads="1"/>
          </p:cNvSpPr>
          <p:nvPr/>
        </p:nvSpPr>
        <p:spPr bwMode="auto">
          <a:xfrm>
            <a:off x="6757304" y="5579512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55</a:t>
            </a:r>
          </a:p>
        </p:txBody>
      </p:sp>
      <p:sp>
        <p:nvSpPr>
          <p:cNvPr id="92" name="Text Box 48"/>
          <p:cNvSpPr txBox="1">
            <a:spLocks noChangeArrowheads="1"/>
          </p:cNvSpPr>
          <p:nvPr/>
        </p:nvSpPr>
        <p:spPr bwMode="auto">
          <a:xfrm>
            <a:off x="8052704" y="5579512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70</a:t>
            </a:r>
          </a:p>
        </p:txBody>
      </p:sp>
      <p:sp>
        <p:nvSpPr>
          <p:cNvPr id="93" name="Text Box 54"/>
          <p:cNvSpPr txBox="1">
            <a:spLocks noChangeArrowheads="1"/>
          </p:cNvSpPr>
          <p:nvPr/>
        </p:nvSpPr>
        <p:spPr bwMode="auto">
          <a:xfrm>
            <a:off x="7189104" y="5579512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60</a:t>
            </a:r>
          </a:p>
        </p:txBody>
      </p:sp>
      <p:sp>
        <p:nvSpPr>
          <p:cNvPr id="94" name="Text Box 55"/>
          <p:cNvSpPr txBox="1">
            <a:spLocks noChangeArrowheads="1"/>
          </p:cNvSpPr>
          <p:nvPr/>
        </p:nvSpPr>
        <p:spPr bwMode="auto">
          <a:xfrm>
            <a:off x="7620904" y="5579512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65</a:t>
            </a:r>
          </a:p>
        </p:txBody>
      </p:sp>
      <p:sp>
        <p:nvSpPr>
          <p:cNvPr id="95" name="Line 76"/>
          <p:cNvSpPr>
            <a:spLocks noChangeShapeType="1"/>
          </p:cNvSpPr>
          <p:nvPr/>
        </p:nvSpPr>
        <p:spPr bwMode="auto">
          <a:xfrm>
            <a:off x="4484321" y="4163272"/>
            <a:ext cx="1651129" cy="549464"/>
          </a:xfrm>
          <a:prstGeom prst="lin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96" name="Line 78"/>
          <p:cNvSpPr>
            <a:spLocks noChangeShapeType="1"/>
          </p:cNvSpPr>
          <p:nvPr/>
        </p:nvSpPr>
        <p:spPr bwMode="auto">
          <a:xfrm flipH="1">
            <a:off x="2196191" y="4163272"/>
            <a:ext cx="1810291" cy="536577"/>
          </a:xfrm>
          <a:prstGeom prst="lin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696642" y="397519"/>
            <a:ext cx="26324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7</a:t>
            </a:r>
            <a:r>
              <a:rPr lang="ko-KR" altLang="en-US" sz="24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을 삭제하는 과정</a:t>
            </a:r>
            <a:endParaRPr lang="en-US" sz="2400" b="1" dirty="0">
              <a:solidFill>
                <a:srgbClr val="C0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34253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Box 59"/>
          <p:cNvSpPr txBox="1">
            <a:spLocks noChangeArrowheads="1"/>
          </p:cNvSpPr>
          <p:nvPr/>
        </p:nvSpPr>
        <p:spPr bwMode="auto">
          <a:xfrm>
            <a:off x="4076596" y="398355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20</a:t>
            </a:r>
          </a:p>
        </p:txBody>
      </p:sp>
      <p:sp>
        <p:nvSpPr>
          <p:cNvPr id="31" name="Text Box 60"/>
          <p:cNvSpPr txBox="1">
            <a:spLocks noChangeArrowheads="1"/>
          </p:cNvSpPr>
          <p:nvPr/>
        </p:nvSpPr>
        <p:spPr bwMode="auto">
          <a:xfrm>
            <a:off x="683568" y="2174956"/>
            <a:ext cx="481012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32" name="Text Box 61"/>
          <p:cNvSpPr txBox="1">
            <a:spLocks noChangeArrowheads="1"/>
          </p:cNvSpPr>
          <p:nvPr/>
        </p:nvSpPr>
        <p:spPr bwMode="auto">
          <a:xfrm>
            <a:off x="1164581" y="2174956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33" name="Text Box 63"/>
          <p:cNvSpPr txBox="1">
            <a:spLocks noChangeArrowheads="1"/>
          </p:cNvSpPr>
          <p:nvPr/>
        </p:nvSpPr>
        <p:spPr bwMode="auto">
          <a:xfrm>
            <a:off x="4666606" y="2174956"/>
            <a:ext cx="479425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25</a:t>
            </a:r>
          </a:p>
        </p:txBody>
      </p:sp>
      <p:sp>
        <p:nvSpPr>
          <p:cNvPr id="34" name="Text Box 64"/>
          <p:cNvSpPr txBox="1">
            <a:spLocks noChangeArrowheads="1"/>
          </p:cNvSpPr>
          <p:nvPr/>
        </p:nvSpPr>
        <p:spPr bwMode="auto">
          <a:xfrm>
            <a:off x="2293963" y="1374762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12</a:t>
            </a:r>
          </a:p>
        </p:txBody>
      </p:sp>
      <p:sp>
        <p:nvSpPr>
          <p:cNvPr id="36" name="Line 66"/>
          <p:cNvSpPr>
            <a:spLocks noChangeShapeType="1"/>
          </p:cNvSpPr>
          <p:nvPr/>
        </p:nvSpPr>
        <p:spPr bwMode="auto">
          <a:xfrm>
            <a:off x="2771732" y="1735124"/>
            <a:ext cx="693929" cy="439831"/>
          </a:xfrm>
          <a:prstGeom prst="lin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38" name="Text Box 68"/>
          <p:cNvSpPr txBox="1">
            <a:spLocks noChangeArrowheads="1"/>
          </p:cNvSpPr>
          <p:nvPr/>
        </p:nvSpPr>
        <p:spPr bwMode="auto">
          <a:xfrm>
            <a:off x="2987824" y="2174956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14</a:t>
            </a:r>
          </a:p>
        </p:txBody>
      </p:sp>
      <p:sp>
        <p:nvSpPr>
          <p:cNvPr id="39" name="Text Box 69"/>
          <p:cNvSpPr txBox="1">
            <a:spLocks noChangeArrowheads="1"/>
          </p:cNvSpPr>
          <p:nvPr/>
        </p:nvSpPr>
        <p:spPr bwMode="auto">
          <a:xfrm>
            <a:off x="6184286" y="2174956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45</a:t>
            </a:r>
          </a:p>
        </p:txBody>
      </p:sp>
      <p:sp>
        <p:nvSpPr>
          <p:cNvPr id="40" name="Line 70"/>
          <p:cNvSpPr>
            <a:spLocks noChangeShapeType="1"/>
          </p:cNvSpPr>
          <p:nvPr/>
        </p:nvSpPr>
        <p:spPr bwMode="auto">
          <a:xfrm flipH="1">
            <a:off x="6224613" y="1655655"/>
            <a:ext cx="0" cy="519301"/>
          </a:xfrm>
          <a:prstGeom prst="lin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41" name="Text Box 71"/>
          <p:cNvSpPr txBox="1">
            <a:spLocks noChangeArrowheads="1"/>
          </p:cNvSpPr>
          <p:nvPr/>
        </p:nvSpPr>
        <p:spPr bwMode="auto">
          <a:xfrm>
            <a:off x="2088680" y="2174956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10</a:t>
            </a:r>
          </a:p>
        </p:txBody>
      </p:sp>
      <p:sp>
        <p:nvSpPr>
          <p:cNvPr id="42" name="Text Box 72"/>
          <p:cNvSpPr txBox="1">
            <a:spLocks noChangeArrowheads="1"/>
          </p:cNvSpPr>
          <p:nvPr/>
        </p:nvSpPr>
        <p:spPr bwMode="auto">
          <a:xfrm>
            <a:off x="6205563" y="1311356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50</a:t>
            </a:r>
          </a:p>
        </p:txBody>
      </p:sp>
      <p:sp>
        <p:nvSpPr>
          <p:cNvPr id="43" name="Text Box 73"/>
          <p:cNvSpPr txBox="1">
            <a:spLocks noChangeArrowheads="1"/>
          </p:cNvSpPr>
          <p:nvPr/>
        </p:nvSpPr>
        <p:spPr bwMode="auto">
          <a:xfrm>
            <a:off x="3446612" y="2174956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16</a:t>
            </a:r>
          </a:p>
        </p:txBody>
      </p:sp>
      <p:sp>
        <p:nvSpPr>
          <p:cNvPr id="44" name="Line 76"/>
          <p:cNvSpPr>
            <a:spLocks noChangeShapeType="1"/>
          </p:cNvSpPr>
          <p:nvPr/>
        </p:nvSpPr>
        <p:spPr bwMode="auto">
          <a:xfrm>
            <a:off x="6656413" y="1655655"/>
            <a:ext cx="1034603" cy="519301"/>
          </a:xfrm>
          <a:prstGeom prst="lin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45" name="Text Box 77"/>
          <p:cNvSpPr txBox="1">
            <a:spLocks noChangeArrowheads="1"/>
          </p:cNvSpPr>
          <p:nvPr/>
        </p:nvSpPr>
        <p:spPr bwMode="auto">
          <a:xfrm>
            <a:off x="1619672" y="2174955"/>
            <a:ext cx="477837" cy="360362"/>
          </a:xfrm>
          <a:prstGeom prst="rect">
            <a:avLst/>
          </a:prstGeom>
          <a:solidFill>
            <a:srgbClr val="FFFF00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5</a:t>
            </a:r>
          </a:p>
        </p:txBody>
      </p:sp>
      <p:sp>
        <p:nvSpPr>
          <p:cNvPr id="46" name="Line 78"/>
          <p:cNvSpPr>
            <a:spLocks noChangeShapeType="1"/>
          </p:cNvSpPr>
          <p:nvPr/>
        </p:nvSpPr>
        <p:spPr bwMode="auto">
          <a:xfrm flipH="1">
            <a:off x="1629892" y="1735124"/>
            <a:ext cx="643859" cy="439831"/>
          </a:xfrm>
          <a:prstGeom prst="lin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47" name="Text Box 79"/>
          <p:cNvSpPr txBox="1">
            <a:spLocks noChangeArrowheads="1"/>
          </p:cNvSpPr>
          <p:nvPr/>
        </p:nvSpPr>
        <p:spPr bwMode="auto">
          <a:xfrm>
            <a:off x="5098406" y="2174956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30</a:t>
            </a:r>
          </a:p>
        </p:txBody>
      </p:sp>
      <p:sp>
        <p:nvSpPr>
          <p:cNvPr id="48" name="Text Box 80"/>
          <p:cNvSpPr txBox="1">
            <a:spLocks noChangeArrowheads="1"/>
          </p:cNvSpPr>
          <p:nvPr/>
        </p:nvSpPr>
        <p:spPr bwMode="auto">
          <a:xfrm>
            <a:off x="5752486" y="2174956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40</a:t>
            </a:r>
          </a:p>
        </p:txBody>
      </p:sp>
      <p:sp>
        <p:nvSpPr>
          <p:cNvPr id="49" name="Text Box 83"/>
          <p:cNvSpPr txBox="1">
            <a:spLocks noChangeArrowheads="1"/>
          </p:cNvSpPr>
          <p:nvPr/>
        </p:nvSpPr>
        <p:spPr bwMode="auto">
          <a:xfrm>
            <a:off x="5746776" y="1309768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35</a:t>
            </a:r>
          </a:p>
        </p:txBody>
      </p:sp>
      <p:sp>
        <p:nvSpPr>
          <p:cNvPr id="50" name="Line 84"/>
          <p:cNvSpPr>
            <a:spLocks noChangeShapeType="1"/>
          </p:cNvSpPr>
          <p:nvPr/>
        </p:nvSpPr>
        <p:spPr bwMode="auto">
          <a:xfrm flipH="1">
            <a:off x="5098406" y="1655655"/>
            <a:ext cx="644202" cy="519302"/>
          </a:xfrm>
          <a:prstGeom prst="lin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51" name="Text Box 47"/>
          <p:cNvSpPr txBox="1">
            <a:spLocks noChangeArrowheads="1"/>
          </p:cNvSpPr>
          <p:nvPr/>
        </p:nvSpPr>
        <p:spPr bwMode="auto">
          <a:xfrm>
            <a:off x="6827416" y="2174956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55</a:t>
            </a:r>
          </a:p>
        </p:txBody>
      </p:sp>
      <p:sp>
        <p:nvSpPr>
          <p:cNvPr id="52" name="Text Box 48"/>
          <p:cNvSpPr txBox="1">
            <a:spLocks noChangeArrowheads="1"/>
          </p:cNvSpPr>
          <p:nvPr/>
        </p:nvSpPr>
        <p:spPr bwMode="auto">
          <a:xfrm>
            <a:off x="8122816" y="2174956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70</a:t>
            </a:r>
          </a:p>
        </p:txBody>
      </p:sp>
      <p:sp>
        <p:nvSpPr>
          <p:cNvPr id="53" name="Text Box 54"/>
          <p:cNvSpPr txBox="1">
            <a:spLocks noChangeArrowheads="1"/>
          </p:cNvSpPr>
          <p:nvPr/>
        </p:nvSpPr>
        <p:spPr bwMode="auto">
          <a:xfrm>
            <a:off x="7259216" y="2174956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60</a:t>
            </a:r>
          </a:p>
        </p:txBody>
      </p:sp>
      <p:sp>
        <p:nvSpPr>
          <p:cNvPr id="54" name="Text Box 55"/>
          <p:cNvSpPr txBox="1">
            <a:spLocks noChangeArrowheads="1"/>
          </p:cNvSpPr>
          <p:nvPr/>
        </p:nvSpPr>
        <p:spPr bwMode="auto">
          <a:xfrm>
            <a:off x="7691016" y="2174956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65</a:t>
            </a:r>
          </a:p>
        </p:txBody>
      </p:sp>
      <p:sp>
        <p:nvSpPr>
          <p:cNvPr id="55" name="Line 76"/>
          <p:cNvSpPr>
            <a:spLocks noChangeShapeType="1"/>
          </p:cNvSpPr>
          <p:nvPr/>
        </p:nvSpPr>
        <p:spPr bwMode="auto">
          <a:xfrm>
            <a:off x="4554433" y="758716"/>
            <a:ext cx="1651129" cy="549464"/>
          </a:xfrm>
          <a:prstGeom prst="lin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56" name="Line 78"/>
          <p:cNvSpPr>
            <a:spLocks noChangeShapeType="1"/>
          </p:cNvSpPr>
          <p:nvPr/>
        </p:nvSpPr>
        <p:spPr bwMode="auto">
          <a:xfrm flipH="1">
            <a:off x="2771799" y="758716"/>
            <a:ext cx="1304793" cy="616045"/>
          </a:xfrm>
          <a:prstGeom prst="lin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949907" y="1387034"/>
            <a:ext cx="1395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latinLnBrk="1" hangingPunct="1"/>
            <a:r>
              <a:rPr lang="ko-KR" altLang="en-US">
                <a:solidFill>
                  <a:srgbClr val="FF0000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언더플로</a:t>
            </a:r>
            <a:endParaRPr lang="en-US" dirty="0">
              <a:solidFill>
                <a:srgbClr val="FF0000"/>
              </a:solidFill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69" name="Text Box 59"/>
          <p:cNvSpPr txBox="1">
            <a:spLocks noChangeArrowheads="1"/>
          </p:cNvSpPr>
          <p:nvPr/>
        </p:nvSpPr>
        <p:spPr bwMode="auto">
          <a:xfrm>
            <a:off x="4076593" y="4292774"/>
            <a:ext cx="477837" cy="360362"/>
          </a:xfrm>
          <a:prstGeom prst="rect">
            <a:avLst/>
          </a:prstGeom>
          <a:solidFill>
            <a:srgbClr val="FFFF00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20</a:t>
            </a:r>
          </a:p>
        </p:txBody>
      </p:sp>
      <p:sp>
        <p:nvSpPr>
          <p:cNvPr id="70" name="Text Box 60"/>
          <p:cNvSpPr txBox="1">
            <a:spLocks noChangeArrowheads="1"/>
          </p:cNvSpPr>
          <p:nvPr/>
        </p:nvSpPr>
        <p:spPr bwMode="auto">
          <a:xfrm>
            <a:off x="683568" y="5156870"/>
            <a:ext cx="481012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71" name="Text Box 61"/>
          <p:cNvSpPr txBox="1">
            <a:spLocks noChangeArrowheads="1"/>
          </p:cNvSpPr>
          <p:nvPr/>
        </p:nvSpPr>
        <p:spPr bwMode="auto">
          <a:xfrm>
            <a:off x="1164581" y="5156870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72" name="Text Box 63"/>
          <p:cNvSpPr txBox="1">
            <a:spLocks noChangeArrowheads="1"/>
          </p:cNvSpPr>
          <p:nvPr/>
        </p:nvSpPr>
        <p:spPr bwMode="auto">
          <a:xfrm>
            <a:off x="4666606" y="5156870"/>
            <a:ext cx="479425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25</a:t>
            </a:r>
          </a:p>
        </p:txBody>
      </p:sp>
      <p:sp>
        <p:nvSpPr>
          <p:cNvPr id="73" name="Text Box 64"/>
          <p:cNvSpPr txBox="1">
            <a:spLocks noChangeArrowheads="1"/>
          </p:cNvSpPr>
          <p:nvPr/>
        </p:nvSpPr>
        <p:spPr bwMode="auto">
          <a:xfrm>
            <a:off x="2540089" y="4271656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12</a:t>
            </a:r>
          </a:p>
        </p:txBody>
      </p:sp>
      <p:sp>
        <p:nvSpPr>
          <p:cNvPr id="74" name="Line 66"/>
          <p:cNvSpPr>
            <a:spLocks noChangeShapeType="1"/>
          </p:cNvSpPr>
          <p:nvPr/>
        </p:nvSpPr>
        <p:spPr bwMode="auto">
          <a:xfrm>
            <a:off x="3029472" y="4652044"/>
            <a:ext cx="436189" cy="504825"/>
          </a:xfrm>
          <a:prstGeom prst="lin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75" name="Text Box 68"/>
          <p:cNvSpPr txBox="1">
            <a:spLocks noChangeArrowheads="1"/>
          </p:cNvSpPr>
          <p:nvPr/>
        </p:nvSpPr>
        <p:spPr bwMode="auto">
          <a:xfrm>
            <a:off x="2987824" y="5156870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14</a:t>
            </a:r>
          </a:p>
        </p:txBody>
      </p:sp>
      <p:sp>
        <p:nvSpPr>
          <p:cNvPr id="76" name="Text Box 69"/>
          <p:cNvSpPr txBox="1">
            <a:spLocks noChangeArrowheads="1"/>
          </p:cNvSpPr>
          <p:nvPr/>
        </p:nvSpPr>
        <p:spPr bwMode="auto">
          <a:xfrm>
            <a:off x="6184286" y="5156870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45</a:t>
            </a:r>
          </a:p>
        </p:txBody>
      </p:sp>
      <p:sp>
        <p:nvSpPr>
          <p:cNvPr id="77" name="Line 70"/>
          <p:cNvSpPr>
            <a:spLocks noChangeShapeType="1"/>
          </p:cNvSpPr>
          <p:nvPr/>
        </p:nvSpPr>
        <p:spPr bwMode="auto">
          <a:xfrm flipH="1">
            <a:off x="6224613" y="4637569"/>
            <a:ext cx="0" cy="519301"/>
          </a:xfrm>
          <a:prstGeom prst="lin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78" name="Text Box 71"/>
          <p:cNvSpPr txBox="1">
            <a:spLocks noChangeArrowheads="1"/>
          </p:cNvSpPr>
          <p:nvPr/>
        </p:nvSpPr>
        <p:spPr bwMode="auto">
          <a:xfrm>
            <a:off x="2088680" y="5156870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10</a:t>
            </a:r>
          </a:p>
        </p:txBody>
      </p:sp>
      <p:sp>
        <p:nvSpPr>
          <p:cNvPr id="79" name="Text Box 72"/>
          <p:cNvSpPr txBox="1">
            <a:spLocks noChangeArrowheads="1"/>
          </p:cNvSpPr>
          <p:nvPr/>
        </p:nvSpPr>
        <p:spPr bwMode="auto">
          <a:xfrm>
            <a:off x="6205563" y="4293270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50</a:t>
            </a:r>
          </a:p>
        </p:txBody>
      </p:sp>
      <p:sp>
        <p:nvSpPr>
          <p:cNvPr id="80" name="Text Box 73"/>
          <p:cNvSpPr txBox="1">
            <a:spLocks noChangeArrowheads="1"/>
          </p:cNvSpPr>
          <p:nvPr/>
        </p:nvSpPr>
        <p:spPr bwMode="auto">
          <a:xfrm>
            <a:off x="3446612" y="5156870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16</a:t>
            </a:r>
          </a:p>
        </p:txBody>
      </p:sp>
      <p:sp>
        <p:nvSpPr>
          <p:cNvPr id="81" name="Line 76"/>
          <p:cNvSpPr>
            <a:spLocks noChangeShapeType="1"/>
          </p:cNvSpPr>
          <p:nvPr/>
        </p:nvSpPr>
        <p:spPr bwMode="auto">
          <a:xfrm>
            <a:off x="6656413" y="4637569"/>
            <a:ext cx="1034603" cy="519301"/>
          </a:xfrm>
          <a:prstGeom prst="lin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82" name="Text Box 77"/>
          <p:cNvSpPr txBox="1">
            <a:spLocks noChangeArrowheads="1"/>
          </p:cNvSpPr>
          <p:nvPr/>
        </p:nvSpPr>
        <p:spPr bwMode="auto">
          <a:xfrm>
            <a:off x="1619672" y="5156869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5</a:t>
            </a:r>
          </a:p>
        </p:txBody>
      </p:sp>
      <p:sp>
        <p:nvSpPr>
          <p:cNvPr id="83" name="Line 78"/>
          <p:cNvSpPr>
            <a:spLocks noChangeShapeType="1"/>
          </p:cNvSpPr>
          <p:nvPr/>
        </p:nvSpPr>
        <p:spPr bwMode="auto">
          <a:xfrm flipH="1">
            <a:off x="1660771" y="4632018"/>
            <a:ext cx="895252" cy="524851"/>
          </a:xfrm>
          <a:prstGeom prst="lin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84" name="Text Box 79"/>
          <p:cNvSpPr txBox="1">
            <a:spLocks noChangeArrowheads="1"/>
          </p:cNvSpPr>
          <p:nvPr/>
        </p:nvSpPr>
        <p:spPr bwMode="auto">
          <a:xfrm>
            <a:off x="5098406" y="5156870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30</a:t>
            </a:r>
          </a:p>
        </p:txBody>
      </p:sp>
      <p:sp>
        <p:nvSpPr>
          <p:cNvPr id="85" name="Text Box 80"/>
          <p:cNvSpPr txBox="1">
            <a:spLocks noChangeArrowheads="1"/>
          </p:cNvSpPr>
          <p:nvPr/>
        </p:nvSpPr>
        <p:spPr bwMode="auto">
          <a:xfrm>
            <a:off x="5752486" y="5156870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40</a:t>
            </a:r>
          </a:p>
        </p:txBody>
      </p:sp>
      <p:sp>
        <p:nvSpPr>
          <p:cNvPr id="86" name="Text Box 83"/>
          <p:cNvSpPr txBox="1">
            <a:spLocks noChangeArrowheads="1"/>
          </p:cNvSpPr>
          <p:nvPr/>
        </p:nvSpPr>
        <p:spPr bwMode="auto">
          <a:xfrm>
            <a:off x="5746776" y="4291682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35</a:t>
            </a:r>
          </a:p>
        </p:txBody>
      </p:sp>
      <p:sp>
        <p:nvSpPr>
          <p:cNvPr id="87" name="Line 84"/>
          <p:cNvSpPr>
            <a:spLocks noChangeShapeType="1"/>
          </p:cNvSpPr>
          <p:nvPr/>
        </p:nvSpPr>
        <p:spPr bwMode="auto">
          <a:xfrm flipH="1">
            <a:off x="5098406" y="4637569"/>
            <a:ext cx="644202" cy="519302"/>
          </a:xfrm>
          <a:prstGeom prst="lin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88" name="Text Box 47"/>
          <p:cNvSpPr txBox="1">
            <a:spLocks noChangeArrowheads="1"/>
          </p:cNvSpPr>
          <p:nvPr/>
        </p:nvSpPr>
        <p:spPr bwMode="auto">
          <a:xfrm>
            <a:off x="6827416" y="5156870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55</a:t>
            </a:r>
          </a:p>
        </p:txBody>
      </p:sp>
      <p:sp>
        <p:nvSpPr>
          <p:cNvPr id="89" name="Text Box 48"/>
          <p:cNvSpPr txBox="1">
            <a:spLocks noChangeArrowheads="1"/>
          </p:cNvSpPr>
          <p:nvPr/>
        </p:nvSpPr>
        <p:spPr bwMode="auto">
          <a:xfrm>
            <a:off x="8122816" y="5156870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70</a:t>
            </a:r>
          </a:p>
        </p:txBody>
      </p:sp>
      <p:sp>
        <p:nvSpPr>
          <p:cNvPr id="90" name="Text Box 54"/>
          <p:cNvSpPr txBox="1">
            <a:spLocks noChangeArrowheads="1"/>
          </p:cNvSpPr>
          <p:nvPr/>
        </p:nvSpPr>
        <p:spPr bwMode="auto">
          <a:xfrm>
            <a:off x="7259216" y="5156870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60</a:t>
            </a:r>
          </a:p>
        </p:txBody>
      </p:sp>
      <p:sp>
        <p:nvSpPr>
          <p:cNvPr id="91" name="Text Box 55"/>
          <p:cNvSpPr txBox="1">
            <a:spLocks noChangeArrowheads="1"/>
          </p:cNvSpPr>
          <p:nvPr/>
        </p:nvSpPr>
        <p:spPr bwMode="auto">
          <a:xfrm>
            <a:off x="7691016" y="5156870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213889786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 Box 69"/>
          <p:cNvSpPr txBox="1">
            <a:spLocks noChangeArrowheads="1"/>
          </p:cNvSpPr>
          <p:nvPr/>
        </p:nvSpPr>
        <p:spPr bwMode="auto">
          <a:xfrm>
            <a:off x="5873656" y="1865942"/>
            <a:ext cx="477837" cy="360362"/>
          </a:xfrm>
          <a:prstGeom prst="rect">
            <a:avLst/>
          </a:prstGeom>
          <a:solidFill>
            <a:schemeClr val="bg1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45</a:t>
            </a:r>
          </a:p>
        </p:txBody>
      </p:sp>
      <p:sp>
        <p:nvSpPr>
          <p:cNvPr id="70" name="Text Box 60"/>
          <p:cNvSpPr txBox="1">
            <a:spLocks noChangeArrowheads="1"/>
          </p:cNvSpPr>
          <p:nvPr/>
        </p:nvSpPr>
        <p:spPr bwMode="auto">
          <a:xfrm>
            <a:off x="1187624" y="1865942"/>
            <a:ext cx="481012" cy="360362"/>
          </a:xfrm>
          <a:prstGeom prst="rect">
            <a:avLst/>
          </a:prstGeom>
          <a:noFill/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71" name="Text Box 61"/>
          <p:cNvSpPr txBox="1">
            <a:spLocks noChangeArrowheads="1"/>
          </p:cNvSpPr>
          <p:nvPr/>
        </p:nvSpPr>
        <p:spPr bwMode="auto">
          <a:xfrm>
            <a:off x="1668637" y="1865942"/>
            <a:ext cx="477837" cy="360362"/>
          </a:xfrm>
          <a:prstGeom prst="rect">
            <a:avLst/>
          </a:prstGeom>
          <a:noFill/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72" name="Text Box 63"/>
          <p:cNvSpPr txBox="1">
            <a:spLocks noChangeArrowheads="1"/>
          </p:cNvSpPr>
          <p:nvPr/>
        </p:nvSpPr>
        <p:spPr bwMode="auto">
          <a:xfrm>
            <a:off x="4334370" y="1865942"/>
            <a:ext cx="453407" cy="360362"/>
          </a:xfrm>
          <a:prstGeom prst="rect">
            <a:avLst/>
          </a:prstGeom>
          <a:noFill/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25</a:t>
            </a:r>
          </a:p>
        </p:txBody>
      </p:sp>
      <p:sp>
        <p:nvSpPr>
          <p:cNvPr id="74" name="Line 66"/>
          <p:cNvSpPr>
            <a:spLocks noChangeShapeType="1"/>
          </p:cNvSpPr>
          <p:nvPr/>
        </p:nvSpPr>
        <p:spPr bwMode="auto">
          <a:xfrm flipH="1">
            <a:off x="3708425" y="1148363"/>
            <a:ext cx="342503" cy="723339"/>
          </a:xfrm>
          <a:prstGeom prst="lin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75" name="Text Box 68"/>
          <p:cNvSpPr txBox="1">
            <a:spLocks noChangeArrowheads="1"/>
          </p:cNvSpPr>
          <p:nvPr/>
        </p:nvSpPr>
        <p:spPr bwMode="auto">
          <a:xfrm>
            <a:off x="3249638" y="1865942"/>
            <a:ext cx="458788" cy="360362"/>
          </a:xfrm>
          <a:prstGeom prst="rect">
            <a:avLst/>
          </a:prstGeom>
          <a:noFill/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14</a:t>
            </a:r>
          </a:p>
        </p:txBody>
      </p:sp>
      <p:sp>
        <p:nvSpPr>
          <p:cNvPr id="77" name="Line 70"/>
          <p:cNvSpPr>
            <a:spLocks noChangeShapeType="1"/>
          </p:cNvSpPr>
          <p:nvPr/>
        </p:nvSpPr>
        <p:spPr bwMode="auto">
          <a:xfrm>
            <a:off x="5005761" y="1166460"/>
            <a:ext cx="862383" cy="699479"/>
          </a:xfrm>
          <a:prstGeom prst="lin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78" name="Text Box 71"/>
          <p:cNvSpPr txBox="1">
            <a:spLocks noChangeArrowheads="1"/>
          </p:cNvSpPr>
          <p:nvPr/>
        </p:nvSpPr>
        <p:spPr bwMode="auto">
          <a:xfrm>
            <a:off x="2627784" y="1865942"/>
            <a:ext cx="477837" cy="360362"/>
          </a:xfrm>
          <a:prstGeom prst="rect">
            <a:avLst/>
          </a:prstGeom>
          <a:noFill/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10</a:t>
            </a:r>
          </a:p>
        </p:txBody>
      </p:sp>
      <p:sp>
        <p:nvSpPr>
          <p:cNvPr id="80" name="Text Box 73"/>
          <p:cNvSpPr txBox="1">
            <a:spLocks noChangeArrowheads="1"/>
          </p:cNvSpPr>
          <p:nvPr/>
        </p:nvSpPr>
        <p:spPr bwMode="auto">
          <a:xfrm>
            <a:off x="3708425" y="1865942"/>
            <a:ext cx="477837" cy="360362"/>
          </a:xfrm>
          <a:prstGeom prst="rect">
            <a:avLst/>
          </a:prstGeom>
          <a:noFill/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solidFill>
                  <a:srgbClr val="090A15"/>
                </a:solidFill>
                <a:latin typeface="Calibri" panose="020F0502020204030204" pitchFamily="34" charset="0"/>
              </a:rPr>
              <a:t>16</a:t>
            </a:r>
          </a:p>
        </p:txBody>
      </p:sp>
      <p:sp>
        <p:nvSpPr>
          <p:cNvPr id="81" name="Line 76"/>
          <p:cNvSpPr>
            <a:spLocks noChangeShapeType="1"/>
          </p:cNvSpPr>
          <p:nvPr/>
        </p:nvSpPr>
        <p:spPr bwMode="auto">
          <a:xfrm>
            <a:off x="5476181" y="1166460"/>
            <a:ext cx="1916839" cy="704493"/>
          </a:xfrm>
          <a:prstGeom prst="lin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82" name="Text Box 77"/>
          <p:cNvSpPr txBox="1">
            <a:spLocks noChangeArrowheads="1"/>
          </p:cNvSpPr>
          <p:nvPr/>
        </p:nvSpPr>
        <p:spPr bwMode="auto">
          <a:xfrm>
            <a:off x="2149947" y="1865941"/>
            <a:ext cx="477837" cy="360362"/>
          </a:xfrm>
          <a:prstGeom prst="rect">
            <a:avLst/>
          </a:prstGeom>
          <a:noFill/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5</a:t>
            </a:r>
          </a:p>
        </p:txBody>
      </p:sp>
      <p:sp>
        <p:nvSpPr>
          <p:cNvPr id="83" name="Line 78"/>
          <p:cNvSpPr>
            <a:spLocks noChangeShapeType="1"/>
          </p:cNvSpPr>
          <p:nvPr/>
        </p:nvSpPr>
        <p:spPr bwMode="auto">
          <a:xfrm flipH="1">
            <a:off x="2142155" y="1148363"/>
            <a:ext cx="1430936" cy="717577"/>
          </a:xfrm>
          <a:prstGeom prst="lin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84" name="Text Box 79"/>
          <p:cNvSpPr txBox="1">
            <a:spLocks noChangeArrowheads="1"/>
          </p:cNvSpPr>
          <p:nvPr/>
        </p:nvSpPr>
        <p:spPr bwMode="auto">
          <a:xfrm>
            <a:off x="4787776" y="1865942"/>
            <a:ext cx="477837" cy="360362"/>
          </a:xfrm>
          <a:prstGeom prst="rect">
            <a:avLst/>
          </a:prstGeom>
          <a:noFill/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30</a:t>
            </a:r>
          </a:p>
        </p:txBody>
      </p:sp>
      <p:sp>
        <p:nvSpPr>
          <p:cNvPr id="87" name="Line 84"/>
          <p:cNvSpPr>
            <a:spLocks noChangeShapeType="1"/>
          </p:cNvSpPr>
          <p:nvPr/>
        </p:nvSpPr>
        <p:spPr bwMode="auto">
          <a:xfrm>
            <a:off x="4525990" y="1166460"/>
            <a:ext cx="252922" cy="699479"/>
          </a:xfrm>
          <a:prstGeom prst="lin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solidFill>
                <a:srgbClr val="40458C"/>
              </a:solidFill>
              <a:latin typeface="Calibri" panose="020F0502020204030204" pitchFamily="34" charset="0"/>
            </a:endParaRPr>
          </a:p>
        </p:txBody>
      </p:sp>
      <p:sp>
        <p:nvSpPr>
          <p:cNvPr id="88" name="Text Box 47"/>
          <p:cNvSpPr txBox="1">
            <a:spLocks noChangeArrowheads="1"/>
          </p:cNvSpPr>
          <p:nvPr/>
        </p:nvSpPr>
        <p:spPr bwMode="auto">
          <a:xfrm>
            <a:off x="6470427" y="1865942"/>
            <a:ext cx="477837" cy="360362"/>
          </a:xfrm>
          <a:prstGeom prst="rect">
            <a:avLst/>
          </a:prstGeom>
          <a:noFill/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55</a:t>
            </a:r>
          </a:p>
        </p:txBody>
      </p:sp>
      <p:sp>
        <p:nvSpPr>
          <p:cNvPr id="89" name="Text Box 48"/>
          <p:cNvSpPr txBox="1">
            <a:spLocks noChangeArrowheads="1"/>
          </p:cNvSpPr>
          <p:nvPr/>
        </p:nvSpPr>
        <p:spPr bwMode="auto">
          <a:xfrm>
            <a:off x="7884368" y="1865942"/>
            <a:ext cx="477837" cy="360362"/>
          </a:xfrm>
          <a:prstGeom prst="rect">
            <a:avLst/>
          </a:prstGeom>
          <a:noFill/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70</a:t>
            </a:r>
          </a:p>
        </p:txBody>
      </p:sp>
      <p:sp>
        <p:nvSpPr>
          <p:cNvPr id="90" name="Text Box 54"/>
          <p:cNvSpPr txBox="1">
            <a:spLocks noChangeArrowheads="1"/>
          </p:cNvSpPr>
          <p:nvPr/>
        </p:nvSpPr>
        <p:spPr bwMode="auto">
          <a:xfrm>
            <a:off x="6948586" y="1865942"/>
            <a:ext cx="456231" cy="360362"/>
          </a:xfrm>
          <a:prstGeom prst="rect">
            <a:avLst/>
          </a:prstGeom>
          <a:noFill/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60</a:t>
            </a:r>
          </a:p>
        </p:txBody>
      </p:sp>
      <p:sp>
        <p:nvSpPr>
          <p:cNvPr id="91" name="Text Box 55"/>
          <p:cNvSpPr txBox="1">
            <a:spLocks noChangeArrowheads="1"/>
          </p:cNvSpPr>
          <p:nvPr/>
        </p:nvSpPr>
        <p:spPr bwMode="auto">
          <a:xfrm>
            <a:off x="7406531" y="1865942"/>
            <a:ext cx="477837" cy="360362"/>
          </a:xfrm>
          <a:prstGeom prst="rect">
            <a:avLst/>
          </a:prstGeom>
          <a:noFill/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65</a:t>
            </a:r>
          </a:p>
        </p:txBody>
      </p:sp>
      <p:sp>
        <p:nvSpPr>
          <p:cNvPr id="57" name="Text Box 47"/>
          <p:cNvSpPr txBox="1">
            <a:spLocks noChangeArrowheads="1"/>
          </p:cNvSpPr>
          <p:nvPr/>
        </p:nvSpPr>
        <p:spPr bwMode="auto">
          <a:xfrm>
            <a:off x="3563888" y="806098"/>
            <a:ext cx="477837" cy="360362"/>
          </a:xfrm>
          <a:prstGeom prst="rect">
            <a:avLst/>
          </a:prstGeom>
          <a:noFill/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12</a:t>
            </a:r>
          </a:p>
        </p:txBody>
      </p:sp>
      <p:sp>
        <p:nvSpPr>
          <p:cNvPr id="58" name="Text Box 48"/>
          <p:cNvSpPr txBox="1">
            <a:spLocks noChangeArrowheads="1"/>
          </p:cNvSpPr>
          <p:nvPr/>
        </p:nvSpPr>
        <p:spPr bwMode="auto">
          <a:xfrm>
            <a:off x="5004048" y="806098"/>
            <a:ext cx="477837" cy="360362"/>
          </a:xfrm>
          <a:prstGeom prst="rect">
            <a:avLst/>
          </a:prstGeom>
          <a:noFill/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50</a:t>
            </a:r>
          </a:p>
        </p:txBody>
      </p:sp>
      <p:sp>
        <p:nvSpPr>
          <p:cNvPr id="59" name="Text Box 54"/>
          <p:cNvSpPr txBox="1">
            <a:spLocks noChangeArrowheads="1"/>
          </p:cNvSpPr>
          <p:nvPr/>
        </p:nvSpPr>
        <p:spPr bwMode="auto">
          <a:xfrm>
            <a:off x="4043512" y="806098"/>
            <a:ext cx="483481" cy="360362"/>
          </a:xfrm>
          <a:prstGeom prst="rect">
            <a:avLst/>
          </a:prstGeom>
          <a:solidFill>
            <a:srgbClr val="FFFF00"/>
          </a:solidFill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20</a:t>
            </a:r>
          </a:p>
        </p:txBody>
      </p:sp>
      <p:sp>
        <p:nvSpPr>
          <p:cNvPr id="60" name="Text Box 55"/>
          <p:cNvSpPr txBox="1">
            <a:spLocks noChangeArrowheads="1"/>
          </p:cNvSpPr>
          <p:nvPr/>
        </p:nvSpPr>
        <p:spPr bwMode="auto">
          <a:xfrm>
            <a:off x="4525990" y="806098"/>
            <a:ext cx="478058" cy="360362"/>
          </a:xfrm>
          <a:prstGeom prst="rect">
            <a:avLst/>
          </a:prstGeom>
          <a:noFill/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35</a:t>
            </a:r>
          </a:p>
        </p:txBody>
      </p:sp>
      <p:sp>
        <p:nvSpPr>
          <p:cNvPr id="85" name="Text Box 80"/>
          <p:cNvSpPr txBox="1">
            <a:spLocks noChangeArrowheads="1"/>
          </p:cNvSpPr>
          <p:nvPr/>
        </p:nvSpPr>
        <p:spPr bwMode="auto">
          <a:xfrm>
            <a:off x="5390307" y="1865942"/>
            <a:ext cx="477837" cy="360362"/>
          </a:xfrm>
          <a:prstGeom prst="rect">
            <a:avLst/>
          </a:prstGeom>
          <a:noFill/>
          <a:ln w="19050">
            <a:solidFill>
              <a:srgbClr val="2D03C9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 dirty="0">
                <a:solidFill>
                  <a:srgbClr val="090A15"/>
                </a:solidFill>
                <a:latin typeface="Calibri" panose="020F0502020204030204" pitchFamily="34" charset="0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225414627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05D3025-0138-4BBB-938A-5AC50FB405A3}"/>
              </a:ext>
            </a:extLst>
          </p:cNvPr>
          <p:cNvSpPr/>
          <p:nvPr/>
        </p:nvSpPr>
        <p:spPr>
          <a:xfrm>
            <a:off x="484509" y="2607534"/>
            <a:ext cx="8391189" cy="10326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직사각형 1"/>
          <p:cNvSpPr/>
          <p:nvPr/>
        </p:nvSpPr>
        <p:spPr>
          <a:xfrm>
            <a:off x="527341" y="1142058"/>
            <a:ext cx="33762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5.5.4 B-</a:t>
            </a:r>
            <a:r>
              <a:rPr lang="ko-KR" altLang="ko-KR" sz="28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트리의 확장</a:t>
            </a:r>
            <a:endParaRPr lang="ko-KR" altLang="en-US" sz="2800" b="1" dirty="0">
              <a:solidFill>
                <a:srgbClr val="C0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76405" y="2530455"/>
            <a:ext cx="8391189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3525">
              <a:lnSpc>
                <a:spcPct val="150000"/>
              </a:lnSpc>
              <a:spcAft>
                <a:spcPts val="2400"/>
              </a:spcAft>
            </a:pPr>
            <a:r>
              <a:rPr lang="en-US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B</a:t>
            </a:r>
            <a:r>
              <a:rPr lang="en-US" altLang="ko-KR" sz="2400" b="1" baseline="30000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*</a:t>
            </a:r>
            <a:r>
              <a:rPr lang="en-US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-</a:t>
            </a:r>
            <a:r>
              <a:rPr lang="ko-KR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는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B-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트리로서 루트를 제외한 다른 노드의 자식 수가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2/3M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∼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M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이어야 한다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 </a:t>
            </a:r>
          </a:p>
          <a:p>
            <a:pPr marL="800100" lvl="1" indent="-342900">
              <a:lnSpc>
                <a:spcPct val="150000"/>
              </a:lnSpc>
              <a:spcAft>
                <a:spcPts val="2400"/>
              </a:spcAft>
              <a:buFontTx/>
              <a:buChar char="-"/>
            </a:pP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즉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각 노드에 적어도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2/3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이상이 키들로 채워져 있어야 </a:t>
            </a:r>
            <a:endParaRPr lang="en-US" altLang="ko-KR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63525" indent="-263525">
              <a:lnSpc>
                <a:spcPct val="150000"/>
              </a:lnSpc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B-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</a:t>
            </a:r>
            <a:r>
              <a:rPr lang="ko-KR" altLang="en-US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에 비해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B</a:t>
            </a:r>
            <a:r>
              <a:rPr lang="en-US" altLang="ko-KR" sz="2400" b="1" baseline="300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*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-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트리는 공간을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효율적으로 활용</a:t>
            </a:r>
            <a:endParaRPr lang="ko-KR" altLang="ko-KR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501DE6A-42BD-438E-8C32-325EA02FB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07" y="2687558"/>
            <a:ext cx="432414" cy="43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62966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7BC073F-626D-473A-B021-A4D0BBCB404E}"/>
              </a:ext>
            </a:extLst>
          </p:cNvPr>
          <p:cNvSpPr/>
          <p:nvPr/>
        </p:nvSpPr>
        <p:spPr>
          <a:xfrm>
            <a:off x="752811" y="1129463"/>
            <a:ext cx="7288899" cy="8872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직사각형 1"/>
          <p:cNvSpPr/>
          <p:nvPr/>
        </p:nvSpPr>
        <p:spPr>
          <a:xfrm>
            <a:off x="673509" y="519627"/>
            <a:ext cx="7910052" cy="3739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3525" indent="-263525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B</a:t>
            </a:r>
            <a:r>
              <a:rPr lang="en-US" altLang="ko-KR" sz="2400" b="1" baseline="300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+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-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트리는 </a:t>
            </a:r>
            <a:r>
              <a:rPr lang="ko-KR" altLang="ko-KR" sz="2400" b="1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실세계에서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가장 널리 활용되는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B-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</a:t>
            </a:r>
            <a:endParaRPr lang="en-US" altLang="ko-KR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63525">
              <a:spcAft>
                <a:spcPts val="1800"/>
              </a:spcAft>
            </a:pP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B</a:t>
            </a:r>
            <a:r>
              <a:rPr lang="en-US" altLang="ko-KR" sz="2400" b="1" baseline="300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+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-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트리는 </a:t>
            </a:r>
            <a:r>
              <a:rPr lang="ko-KR" altLang="ko-KR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키만으로 </a:t>
            </a:r>
            <a:r>
              <a:rPr lang="ko-KR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가지고 </a:t>
            </a:r>
            <a:r>
              <a:rPr lang="en-US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B-</a:t>
            </a:r>
            <a:r>
              <a:rPr lang="ko-KR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를 </a:t>
            </a:r>
            <a:r>
              <a:rPr lang="ko-KR" altLang="en-US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구성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이파리에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키와 관련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en-US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실제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정보를 저장</a:t>
            </a:r>
            <a:endParaRPr lang="en-US" altLang="ko-KR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63525" indent="-263525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키로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구성된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B-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트리는 탐색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삽입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삭제 연산을 위해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관련된 이파리를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빠르게 찾을 수 있도록 </a:t>
            </a:r>
            <a:r>
              <a:rPr lang="ko-KR" altLang="ko-KR" sz="2400" b="1" u="sng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안내해주는 역할만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수행</a:t>
            </a:r>
            <a:endParaRPr lang="en-US" altLang="ko-KR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63525" indent="-263525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B</a:t>
            </a:r>
            <a:r>
              <a:rPr lang="en-US" altLang="ko-KR" sz="2400" b="1" baseline="300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+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-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트리는 전체 레코드를 </a:t>
            </a:r>
            <a:r>
              <a:rPr lang="ko-KR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순차적으로 접근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할 수 있도록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이파리들은 </a:t>
            </a:r>
            <a:r>
              <a:rPr lang="ko-KR" altLang="ko-KR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연결</a:t>
            </a:r>
            <a:r>
              <a:rPr lang="en-US" altLang="ko-KR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리스트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로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구현</a:t>
            </a:r>
          </a:p>
        </p:txBody>
      </p:sp>
      <p:pic>
        <p:nvPicPr>
          <p:cNvPr id="3" name="그림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265" y="4407740"/>
            <a:ext cx="4654192" cy="2199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6AA60ED-8598-4399-96E1-49C360E18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095" y="1209487"/>
            <a:ext cx="432414" cy="43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32627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706464"/>
            <a:ext cx="7886700" cy="503554"/>
          </a:xfrm>
        </p:spPr>
        <p:txBody>
          <a:bodyPr/>
          <a:lstStyle/>
          <a:p>
            <a:r>
              <a:rPr lang="ko-KR" altLang="ko-KR" dirty="0"/>
              <a:t>성능 분석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2121614"/>
            <a:ext cx="7886700" cy="377814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altLang="ko-KR" sz="2400" dirty="0"/>
              <a:t>B-</a:t>
            </a:r>
            <a:r>
              <a:rPr lang="ko-KR" altLang="ko-KR" sz="2400" dirty="0"/>
              <a:t>트리에서 삽입이나 삭제 </a:t>
            </a:r>
            <a:r>
              <a:rPr lang="ko-KR" altLang="ko-KR" sz="2400"/>
              <a:t>연산의 </a:t>
            </a:r>
            <a:r>
              <a:rPr lang="ko-KR" altLang="en-US" sz="2400"/>
              <a:t>수행 시간은</a:t>
            </a:r>
            <a:r>
              <a:rPr lang="ko-KR" altLang="ko-KR" sz="2400"/>
              <a:t> </a:t>
            </a:r>
            <a:r>
              <a:rPr lang="ko-KR" altLang="ko-KR" sz="2400" dirty="0"/>
              <a:t>각각 </a:t>
            </a:r>
            <a:r>
              <a:rPr lang="en-US" altLang="ko-KR" sz="2400" dirty="0"/>
              <a:t>B-</a:t>
            </a:r>
            <a:r>
              <a:rPr lang="ko-KR" altLang="ko-KR" sz="2400" dirty="0"/>
              <a:t> </a:t>
            </a:r>
            <a:r>
              <a:rPr lang="ko-KR" altLang="ko-KR" sz="2400" dirty="0">
                <a:solidFill>
                  <a:srgbClr val="00B0F0"/>
                </a:solidFill>
              </a:rPr>
              <a:t>트리의 높이에 비례</a:t>
            </a:r>
            <a:r>
              <a:rPr lang="en-US" altLang="ko-KR" sz="2400" dirty="0"/>
              <a:t>. </a:t>
            </a:r>
            <a:r>
              <a:rPr lang="ko-KR" altLang="ko-KR" sz="2400" dirty="0"/>
              <a:t>차수가</a:t>
            </a:r>
            <a:r>
              <a:rPr lang="en-US" altLang="ko-KR" sz="2400" dirty="0"/>
              <a:t> M</a:t>
            </a:r>
            <a:r>
              <a:rPr lang="ko-KR" altLang="ko-KR" sz="2400" dirty="0"/>
              <a:t>이고 키의 </a:t>
            </a:r>
            <a:r>
              <a:rPr lang="ko-KR" altLang="ko-KR" sz="2400"/>
              <a:t>개수가 </a:t>
            </a:r>
            <a:r>
              <a:rPr lang="en-US" altLang="ko-KR" sz="2400"/>
              <a:t>n</a:t>
            </a:r>
            <a:r>
              <a:rPr lang="ko-KR" altLang="ko-KR" sz="2400"/>
              <a:t>인 </a:t>
            </a:r>
            <a:r>
              <a:rPr lang="en-US" altLang="ko-KR" sz="2400" dirty="0"/>
              <a:t>B-</a:t>
            </a:r>
            <a:r>
              <a:rPr lang="ko-KR" altLang="ko-KR" sz="2400" dirty="0"/>
              <a:t>트리의 최대 높이는</a:t>
            </a:r>
            <a:r>
              <a:rPr lang="en-US" altLang="ko-KR" sz="2400" dirty="0"/>
              <a:t> </a:t>
            </a:r>
            <a:r>
              <a:rPr lang="en-US" altLang="ko-KR" sz="2400" dirty="0">
                <a:solidFill>
                  <a:srgbClr val="00B0F0"/>
                </a:solidFill>
              </a:rPr>
              <a:t>O(log </a:t>
            </a:r>
            <a:r>
              <a:rPr lang="en-US" altLang="ko-KR" sz="2400" b="1" baseline="-25000" dirty="0">
                <a:solidFill>
                  <a:srgbClr val="00B0F0"/>
                </a:solidFill>
              </a:rPr>
              <a:t>M</a:t>
            </a:r>
            <a:r>
              <a:rPr lang="en-US" altLang="ko-KR" sz="2400" baseline="-25000" dirty="0">
                <a:solidFill>
                  <a:srgbClr val="00B0F0"/>
                </a:solidFill>
              </a:rPr>
              <a:t>/</a:t>
            </a:r>
            <a:r>
              <a:rPr lang="en-US" altLang="ko-KR" sz="2400" b="1" baseline="-25000">
                <a:solidFill>
                  <a:srgbClr val="00B0F0"/>
                </a:solidFill>
              </a:rPr>
              <a:t>2 </a:t>
            </a:r>
            <a:r>
              <a:rPr lang="en-US" altLang="ko-KR" sz="2400">
                <a:solidFill>
                  <a:srgbClr val="00B0F0"/>
                </a:solidFill>
              </a:rPr>
              <a:t>n)</a:t>
            </a:r>
            <a:r>
              <a:rPr lang="ko-KR" altLang="ko-KR" sz="2400" dirty="0"/>
              <a:t>이다</a:t>
            </a:r>
            <a:r>
              <a:rPr lang="en-US" altLang="ko-KR" sz="2400" dirty="0"/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altLang="ko-KR" sz="2400" dirty="0"/>
              <a:t>B-</a:t>
            </a:r>
            <a:r>
              <a:rPr lang="ko-KR" altLang="ko-KR" sz="2400" dirty="0"/>
              <a:t>트리는 키들의 비교 횟수보다 디스크와 메인 메모리 사이의 블록 이동</a:t>
            </a:r>
            <a:r>
              <a:rPr lang="en-US" altLang="ko-KR" sz="2400" dirty="0"/>
              <a:t>(Transfer) </a:t>
            </a:r>
            <a:r>
              <a:rPr lang="ko-KR" altLang="ko-KR" sz="2400" dirty="0"/>
              <a:t>수</a:t>
            </a:r>
            <a:r>
              <a:rPr lang="ko-KR" altLang="en-US" sz="2400" dirty="0"/>
              <a:t>를 최소화해야</a:t>
            </a:r>
            <a:endParaRPr lang="en-US" altLang="ko-KR" sz="24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altLang="ko-KR" sz="2400" dirty="0"/>
              <a:t>B-</a:t>
            </a:r>
            <a:r>
              <a:rPr lang="ko-KR" altLang="ko-KR" sz="2400" dirty="0"/>
              <a:t>트리의 최고 성능을 </a:t>
            </a:r>
            <a:r>
              <a:rPr lang="ko-KR" altLang="ko-KR" sz="2400"/>
              <a:t>위해선 </a:t>
            </a:r>
            <a:r>
              <a:rPr lang="en-US" altLang="ko-KR" sz="2400"/>
              <a:t>1</a:t>
            </a:r>
            <a:r>
              <a:rPr lang="ko-KR" altLang="ko-KR" sz="2400"/>
              <a:t>개의 노드가 </a:t>
            </a:r>
            <a:r>
              <a:rPr lang="en-US" altLang="ko-KR" sz="2400"/>
              <a:t>1</a:t>
            </a:r>
            <a:r>
              <a:rPr lang="ko-KR" altLang="ko-KR" sz="2400"/>
              <a:t>개의 </a:t>
            </a:r>
            <a:r>
              <a:rPr lang="ko-KR" altLang="ko-KR" sz="2400" dirty="0"/>
              <a:t>디스크 페이지에 맞도록 차수 </a:t>
            </a:r>
            <a:r>
              <a:rPr lang="en-US" altLang="ko-KR" sz="2400" dirty="0"/>
              <a:t>M</a:t>
            </a:r>
            <a:r>
              <a:rPr lang="ko-KR" altLang="ko-KR" sz="2400" dirty="0"/>
              <a:t>을 정</a:t>
            </a:r>
            <a:r>
              <a:rPr lang="ko-KR" altLang="en-US" sz="2400" dirty="0"/>
              <a:t>함</a:t>
            </a:r>
            <a:r>
              <a:rPr lang="en-US" altLang="ko-KR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328722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2294200"/>
            <a:ext cx="7886700" cy="284147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</a:pPr>
            <a:r>
              <a:rPr lang="ko-KR" altLang="ko-KR" sz="2400" dirty="0"/>
              <a:t>실제로 </a:t>
            </a:r>
            <a:r>
              <a:rPr lang="en-US" altLang="ko-KR" sz="2400" dirty="0"/>
              <a:t>B-</a:t>
            </a:r>
            <a:r>
              <a:rPr lang="ko-KR" altLang="ko-KR" sz="2400" dirty="0"/>
              <a:t>트리들은</a:t>
            </a:r>
            <a:r>
              <a:rPr lang="en-US" altLang="ko-KR" sz="2400" dirty="0"/>
              <a:t> M</a:t>
            </a:r>
            <a:r>
              <a:rPr lang="ko-KR" altLang="ko-KR" sz="2400" dirty="0"/>
              <a:t>의 크기를 수백에서 수천으로 사용</a:t>
            </a:r>
            <a:endParaRPr lang="en-US" altLang="ko-KR" sz="2400" dirty="0"/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Char char="-"/>
            </a:pPr>
            <a:r>
              <a:rPr lang="en-US" altLang="ko-KR" sz="2200"/>
              <a:t>M </a:t>
            </a:r>
            <a:r>
              <a:rPr lang="en-US" altLang="ko-KR" sz="2200" dirty="0"/>
              <a:t>= 200</a:t>
            </a:r>
            <a:r>
              <a:rPr lang="ko-KR" altLang="ko-KR" sz="2200"/>
              <a:t>이고</a:t>
            </a:r>
            <a:r>
              <a:rPr lang="en-US" altLang="ko-KR" sz="2200"/>
              <a:t> n </a:t>
            </a:r>
            <a:r>
              <a:rPr lang="en-US" altLang="ko-KR" sz="2200" dirty="0"/>
              <a:t>= 1</a:t>
            </a:r>
            <a:r>
              <a:rPr lang="ko-KR" altLang="ko-KR" sz="2200" dirty="0"/>
              <a:t>억이라면 </a:t>
            </a:r>
            <a:r>
              <a:rPr lang="en-US" altLang="ko-KR" sz="2200" dirty="0"/>
              <a:t>B-</a:t>
            </a:r>
            <a:r>
              <a:rPr lang="ko-KR" altLang="ko-KR" sz="2200"/>
              <a:t>트리의 연산은</a:t>
            </a:r>
            <a:r>
              <a:rPr lang="en-US" altLang="ko-KR" sz="2200"/>
              <a:t> 4</a:t>
            </a:r>
            <a:r>
              <a:rPr lang="ko-KR" altLang="ko-KR" sz="2200" dirty="0"/>
              <a:t>개의 디스크 블록만 메인 메모리로 읽어 들이면 </a:t>
            </a:r>
            <a:r>
              <a:rPr lang="ko-KR" altLang="ko-KR" sz="2200"/>
              <a:t>처리 가능</a:t>
            </a:r>
            <a:endParaRPr lang="en-US" altLang="ko-KR" sz="220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</a:pPr>
            <a:r>
              <a:rPr lang="ko-KR" altLang="ko-KR" sz="2400" dirty="0"/>
              <a:t>성능</a:t>
            </a:r>
            <a:r>
              <a:rPr lang="en-US" altLang="ko-KR" sz="2400" dirty="0"/>
              <a:t> </a:t>
            </a:r>
            <a:r>
              <a:rPr lang="ko-KR" altLang="ko-KR" sz="2400" dirty="0"/>
              <a:t>향상을 위해 </a:t>
            </a:r>
            <a:r>
              <a:rPr lang="ko-KR" altLang="ko-KR" sz="2400" dirty="0">
                <a:solidFill>
                  <a:srgbClr val="00B0F0"/>
                </a:solidFill>
              </a:rPr>
              <a:t>루트는 메인 </a:t>
            </a:r>
            <a:r>
              <a:rPr lang="ko-KR" altLang="ko-KR" sz="2400">
                <a:solidFill>
                  <a:srgbClr val="00B0F0"/>
                </a:solidFill>
              </a:rPr>
              <a:t>메모리</a:t>
            </a:r>
            <a:r>
              <a:rPr lang="ko-KR" altLang="ko-KR" sz="2400"/>
              <a:t>에 상주</a:t>
            </a:r>
            <a:endParaRPr lang="ko-KR" altLang="en-US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BDDD597-701F-429F-8A7E-9A959F213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845" y="846516"/>
            <a:ext cx="864227" cy="928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58560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응용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795782"/>
            <a:ext cx="7886700" cy="469645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altLang="ko-KR" sz="2400" dirty="0"/>
              <a:t>B-</a:t>
            </a:r>
            <a:r>
              <a:rPr lang="ko-KR" altLang="ko-KR" sz="2400" dirty="0"/>
              <a:t>트리</a:t>
            </a:r>
            <a:r>
              <a:rPr lang="en-US" altLang="ko-KR" sz="2400" dirty="0"/>
              <a:t>, B</a:t>
            </a:r>
            <a:r>
              <a:rPr lang="en-US" altLang="ko-KR" sz="2400" baseline="30000" dirty="0"/>
              <a:t>+</a:t>
            </a:r>
            <a:r>
              <a:rPr lang="en-US" altLang="ko-KR" sz="2400" dirty="0"/>
              <a:t>-</a:t>
            </a:r>
            <a:r>
              <a:rPr lang="ko-KR" altLang="ko-KR" sz="2400" dirty="0"/>
              <a:t>트리는 대용량의 데이터를 저장하고 유지하는 다양한 데이터베이스 시스템의 기본 자료구조로 활용</a:t>
            </a:r>
            <a:endParaRPr lang="en-US" altLang="ko-KR" sz="24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ko-KR" sz="2400" dirty="0">
                <a:solidFill>
                  <a:srgbClr val="00B0F0"/>
                </a:solidFill>
              </a:rPr>
              <a:t>Windows </a:t>
            </a:r>
            <a:r>
              <a:rPr lang="ko-KR" altLang="ko-KR" sz="2400" dirty="0">
                <a:solidFill>
                  <a:srgbClr val="00B0F0"/>
                </a:solidFill>
              </a:rPr>
              <a:t>운영체제의 </a:t>
            </a:r>
            <a:r>
              <a:rPr lang="ko-KR" altLang="ko-KR" sz="2400">
                <a:solidFill>
                  <a:srgbClr val="00B0F0"/>
                </a:solidFill>
              </a:rPr>
              <a:t>파일 시스템</a:t>
            </a:r>
            <a:r>
              <a:rPr lang="en-US" altLang="ko-KR" sz="2400" dirty="0"/>
              <a:t>:</a:t>
            </a:r>
            <a:r>
              <a:rPr lang="en-US" altLang="ko-KR" sz="2400"/>
              <a:t> </a:t>
            </a:r>
            <a:r>
              <a:rPr lang="en-US" altLang="ko-KR" sz="2400" dirty="0"/>
              <a:t>HPFS(High Performance File System)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ko-KR" altLang="ko-KR" sz="2400" dirty="0">
                <a:solidFill>
                  <a:srgbClr val="00B0F0"/>
                </a:solidFill>
              </a:rPr>
              <a:t>매킨토시 운영체제의 </a:t>
            </a:r>
            <a:r>
              <a:rPr lang="ko-KR" altLang="ko-KR" sz="2400">
                <a:solidFill>
                  <a:srgbClr val="00B0F0"/>
                </a:solidFill>
              </a:rPr>
              <a:t>파일 시스템</a:t>
            </a:r>
            <a:r>
              <a:rPr lang="en-US" altLang="ko-KR" sz="2400"/>
              <a:t>: </a:t>
            </a:r>
            <a:r>
              <a:rPr lang="en-US" altLang="ko-KR" sz="2400" dirty="0"/>
              <a:t>HFS(Hierarchical File System)</a:t>
            </a:r>
            <a:r>
              <a:rPr lang="ko-KR" altLang="ko-KR" sz="2400" dirty="0"/>
              <a:t>과</a:t>
            </a:r>
            <a:r>
              <a:rPr lang="en-US" altLang="ko-KR" sz="2400" dirty="0"/>
              <a:t> HFS+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ko-KR" altLang="ko-KR" sz="2400" dirty="0">
                <a:solidFill>
                  <a:srgbClr val="00B0F0"/>
                </a:solidFill>
              </a:rPr>
              <a:t>리눅스 운영체제의 </a:t>
            </a:r>
            <a:r>
              <a:rPr lang="ko-KR" altLang="ko-KR" sz="2400">
                <a:solidFill>
                  <a:srgbClr val="00B0F0"/>
                </a:solidFill>
              </a:rPr>
              <a:t>파일 시스템</a:t>
            </a:r>
            <a:r>
              <a:rPr lang="en-US" altLang="ko-KR" sz="2400"/>
              <a:t>:</a:t>
            </a:r>
            <a:r>
              <a:rPr lang="ko-KR" altLang="ko-KR" sz="2400"/>
              <a:t> </a:t>
            </a:r>
            <a:r>
              <a:rPr lang="en-US" altLang="ko-KR" sz="2400" dirty="0" err="1"/>
              <a:t>ReiserFS</a:t>
            </a:r>
            <a:r>
              <a:rPr lang="en-US" altLang="ko-KR" sz="2400" dirty="0"/>
              <a:t>, XFS, Ext3FS, JFS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ko-KR" altLang="ko-KR" sz="2400">
                <a:solidFill>
                  <a:srgbClr val="00B0F0"/>
                </a:solidFill>
              </a:rPr>
              <a:t>상용 데이터베이스</a:t>
            </a:r>
            <a:r>
              <a:rPr lang="en-US" altLang="ko-KR" sz="2400"/>
              <a:t>: </a:t>
            </a:r>
            <a:r>
              <a:rPr lang="en-US" altLang="ko-KR" sz="2400" dirty="0"/>
              <a:t>ORACLE, DB2, INGRES</a:t>
            </a:r>
            <a:r>
              <a:rPr lang="ko-KR" altLang="ko-KR" sz="2400" dirty="0"/>
              <a:t>와 오픈소스 </a:t>
            </a:r>
            <a:r>
              <a:rPr lang="en-US" altLang="ko-KR" sz="2400" dirty="0"/>
              <a:t>DBMS</a:t>
            </a:r>
            <a:r>
              <a:rPr lang="ko-KR" altLang="ko-KR" sz="2400" dirty="0"/>
              <a:t>인</a:t>
            </a:r>
            <a:r>
              <a:rPr lang="en-US" altLang="ko-KR" sz="2400" dirty="0"/>
              <a:t> PostgreSQL</a:t>
            </a:r>
            <a:r>
              <a:rPr lang="ko-KR" altLang="ko-KR" sz="2400" dirty="0"/>
              <a:t>에서 사용</a:t>
            </a:r>
            <a:endParaRPr lang="ko-KR" altLang="en-US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55756C2-CBE9-4AB6-97C6-2E04F786A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04" y="71688"/>
            <a:ext cx="1762125" cy="13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16272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요약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248698"/>
            <a:ext cx="7886700" cy="5243542"/>
          </a:xfrm>
        </p:spPr>
        <p:txBody>
          <a:bodyPr>
            <a:noAutofit/>
          </a:bodyPr>
          <a:lstStyle/>
          <a:p>
            <a:pPr lvl="0"/>
            <a:r>
              <a:rPr lang="ko-KR" altLang="ko-KR" sz="2400"/>
              <a:t>이진</a:t>
            </a:r>
            <a:r>
              <a:rPr lang="en-US" altLang="ko-KR" sz="2400"/>
              <a:t> </a:t>
            </a:r>
            <a:r>
              <a:rPr lang="ko-KR" altLang="ko-KR" sz="2400"/>
              <a:t>탐색</a:t>
            </a:r>
            <a:r>
              <a:rPr lang="en-US" altLang="ko-KR" sz="2400"/>
              <a:t> </a:t>
            </a:r>
            <a:r>
              <a:rPr lang="ko-KR" altLang="ko-KR" sz="2400"/>
              <a:t>트리</a:t>
            </a:r>
            <a:r>
              <a:rPr lang="en-US" altLang="ko-KR" sz="2400"/>
              <a:t>:</a:t>
            </a:r>
            <a:r>
              <a:rPr lang="ko-KR" altLang="ko-KR" sz="2400"/>
              <a:t> 이진</a:t>
            </a:r>
            <a:r>
              <a:rPr lang="en-US" altLang="ko-KR" sz="2400"/>
              <a:t> </a:t>
            </a:r>
            <a:r>
              <a:rPr lang="ko-KR" altLang="ko-KR" sz="2400"/>
              <a:t>탐색의 </a:t>
            </a:r>
            <a:r>
              <a:rPr lang="ko-KR" altLang="ko-KR" sz="2400" dirty="0"/>
              <a:t>개념을 트리 형태의 구조에 접목시킨 자료구조</a:t>
            </a:r>
          </a:p>
          <a:p>
            <a:pPr lvl="0"/>
            <a:r>
              <a:rPr lang="ko-KR" altLang="ko-KR" sz="2400"/>
              <a:t>이진</a:t>
            </a:r>
            <a:r>
              <a:rPr lang="en-US" altLang="ko-KR" sz="2400"/>
              <a:t> </a:t>
            </a:r>
            <a:r>
              <a:rPr lang="ko-KR" altLang="ko-KR" sz="2400"/>
              <a:t>탐색</a:t>
            </a:r>
            <a:r>
              <a:rPr lang="en-US" altLang="ko-KR" sz="2400"/>
              <a:t> </a:t>
            </a:r>
            <a:r>
              <a:rPr lang="ko-KR" altLang="ko-KR" sz="2400"/>
              <a:t>트리</a:t>
            </a:r>
            <a:r>
              <a:rPr lang="ko-KR" altLang="en-US" sz="2400"/>
              <a:t>의</a:t>
            </a:r>
            <a:r>
              <a:rPr lang="ko-KR" altLang="ko-KR" sz="2400"/>
              <a:t> </a:t>
            </a:r>
            <a:r>
              <a:rPr lang="ko-KR" altLang="ko-KR" sz="2400" dirty="0"/>
              <a:t>각 노드 </a:t>
            </a:r>
            <a:r>
              <a:rPr lang="en-US" altLang="ko-KR" sz="2400" dirty="0"/>
              <a:t>n</a:t>
            </a:r>
            <a:r>
              <a:rPr lang="ko-KR" altLang="ko-KR" sz="2400" dirty="0"/>
              <a:t>의 키가 </a:t>
            </a:r>
            <a:r>
              <a:rPr lang="en-US" altLang="ko-KR" sz="2400" dirty="0"/>
              <a:t>n</a:t>
            </a:r>
            <a:r>
              <a:rPr lang="ko-KR" altLang="ko-KR" sz="2400" dirty="0"/>
              <a:t>의 왼쪽 </a:t>
            </a:r>
            <a:r>
              <a:rPr lang="ko-KR" altLang="ko-KR" sz="2400" dirty="0" err="1"/>
              <a:t>서브트리의</a:t>
            </a:r>
            <a:r>
              <a:rPr lang="ko-KR" altLang="ko-KR" sz="2400" dirty="0"/>
              <a:t> 키들보다 크고</a:t>
            </a:r>
            <a:r>
              <a:rPr lang="en-US" altLang="ko-KR" sz="2400" dirty="0"/>
              <a:t>, n</a:t>
            </a:r>
            <a:r>
              <a:rPr lang="ko-KR" altLang="ko-KR" sz="2400" dirty="0"/>
              <a:t>의 오른쪽 </a:t>
            </a:r>
            <a:r>
              <a:rPr lang="ko-KR" altLang="ko-KR" sz="2400" dirty="0" err="1"/>
              <a:t>서브트리의</a:t>
            </a:r>
            <a:r>
              <a:rPr lang="ko-KR" altLang="ko-KR" sz="2400" dirty="0"/>
              <a:t> 키들보다 작다</a:t>
            </a:r>
            <a:r>
              <a:rPr lang="en-US" altLang="ko-KR" sz="2400" dirty="0"/>
              <a:t>. </a:t>
            </a:r>
            <a:endParaRPr lang="ko-KR" altLang="ko-KR" sz="2400" dirty="0"/>
          </a:p>
          <a:p>
            <a:pPr lvl="0"/>
            <a:r>
              <a:rPr lang="ko-KR" altLang="ko-KR" sz="2400"/>
              <a:t>이진</a:t>
            </a:r>
            <a:r>
              <a:rPr lang="en-US" altLang="ko-KR" sz="2400"/>
              <a:t> </a:t>
            </a:r>
            <a:r>
              <a:rPr lang="ko-KR" altLang="ko-KR" sz="2400"/>
              <a:t>탐색</a:t>
            </a:r>
            <a:r>
              <a:rPr lang="en-US" altLang="ko-KR" sz="2400"/>
              <a:t> </a:t>
            </a:r>
            <a:r>
              <a:rPr lang="ko-KR" altLang="ko-KR" sz="2400"/>
              <a:t>트리 </a:t>
            </a:r>
            <a:r>
              <a:rPr lang="ko-KR" altLang="ko-KR" sz="2400" dirty="0"/>
              <a:t>탐색</a:t>
            </a:r>
            <a:r>
              <a:rPr lang="en-US" altLang="ko-KR" sz="2400" dirty="0"/>
              <a:t>, </a:t>
            </a:r>
            <a:r>
              <a:rPr lang="ko-KR" altLang="ko-KR" sz="2400" dirty="0"/>
              <a:t>삽입</a:t>
            </a:r>
            <a:r>
              <a:rPr lang="en-US" altLang="ko-KR" sz="2400" dirty="0"/>
              <a:t>, </a:t>
            </a:r>
            <a:r>
              <a:rPr lang="ko-KR" altLang="ko-KR" sz="2400" dirty="0"/>
              <a:t>삭제 </a:t>
            </a:r>
            <a:r>
              <a:rPr lang="ko-KR" altLang="ko-KR" sz="2400"/>
              <a:t>연산의 </a:t>
            </a:r>
            <a:r>
              <a:rPr lang="ko-KR" altLang="en-US" sz="2400"/>
              <a:t>수행 시간은</a:t>
            </a:r>
            <a:r>
              <a:rPr lang="ko-KR" altLang="ko-KR" sz="2400"/>
              <a:t> </a:t>
            </a:r>
            <a:r>
              <a:rPr lang="ko-KR" altLang="ko-KR" sz="2400" dirty="0"/>
              <a:t>각각 </a:t>
            </a:r>
            <a:r>
              <a:rPr lang="ko-KR" altLang="ko-KR" sz="2400" dirty="0">
                <a:solidFill>
                  <a:srgbClr val="00B0F0"/>
                </a:solidFill>
              </a:rPr>
              <a:t>트리 높이에 비례</a:t>
            </a:r>
          </a:p>
          <a:p>
            <a:pPr lvl="0"/>
            <a:r>
              <a:rPr lang="en-US" altLang="ko-KR" sz="2400"/>
              <a:t>AVL </a:t>
            </a:r>
            <a:r>
              <a:rPr lang="ko-KR" altLang="ko-KR" sz="2400"/>
              <a:t>트리</a:t>
            </a:r>
            <a:r>
              <a:rPr lang="en-US" altLang="ko-KR" sz="2400"/>
              <a:t>:</a:t>
            </a:r>
            <a:r>
              <a:rPr lang="ko-KR" altLang="ko-KR" sz="2400"/>
              <a:t> </a:t>
            </a:r>
            <a:r>
              <a:rPr lang="ko-KR" altLang="ko-KR" sz="2400" dirty="0"/>
              <a:t>임의의 노드</a:t>
            </a:r>
            <a:r>
              <a:rPr lang="en-US" altLang="ko-KR" sz="2400" dirty="0"/>
              <a:t> x</a:t>
            </a:r>
            <a:r>
              <a:rPr lang="ko-KR" altLang="ko-KR" sz="2400" dirty="0"/>
              <a:t>에 대해 노드 </a:t>
            </a:r>
            <a:r>
              <a:rPr lang="en-US" altLang="ko-KR" sz="2400" dirty="0"/>
              <a:t>x</a:t>
            </a:r>
            <a:r>
              <a:rPr lang="ko-KR" altLang="ko-KR" sz="2400" dirty="0"/>
              <a:t>의 왼쪽 </a:t>
            </a:r>
            <a:r>
              <a:rPr lang="ko-KR" altLang="ko-KR" sz="2400" dirty="0" err="1"/>
              <a:t>서브트리의</a:t>
            </a:r>
            <a:r>
              <a:rPr lang="ko-KR" altLang="ko-KR" sz="2400" dirty="0"/>
              <a:t> 높이와 오른쪽 </a:t>
            </a:r>
            <a:r>
              <a:rPr lang="ko-KR" altLang="ko-KR" sz="2400" dirty="0" err="1"/>
              <a:t>서브트리의</a:t>
            </a:r>
            <a:r>
              <a:rPr lang="ko-KR" altLang="ko-KR" sz="2400" dirty="0"/>
              <a:t> 높이 차이가 </a:t>
            </a:r>
            <a:r>
              <a:rPr lang="en-US" altLang="ko-KR" sz="2400" dirty="0"/>
              <a:t>1</a:t>
            </a:r>
            <a:r>
              <a:rPr lang="ko-KR" altLang="ko-KR" sz="2400" dirty="0"/>
              <a:t>을 넘지 </a:t>
            </a:r>
            <a:r>
              <a:rPr lang="ko-KR" altLang="ko-KR" sz="2400"/>
              <a:t>않는 이진</a:t>
            </a:r>
            <a:r>
              <a:rPr lang="en-US" altLang="ko-KR" sz="2400"/>
              <a:t> </a:t>
            </a:r>
            <a:r>
              <a:rPr lang="ko-KR" altLang="ko-KR" sz="2400"/>
              <a:t>탐색</a:t>
            </a:r>
            <a:r>
              <a:rPr lang="en-US" altLang="ko-KR" sz="2400"/>
              <a:t> </a:t>
            </a:r>
            <a:r>
              <a:rPr lang="ko-KR" altLang="ko-KR" sz="2400"/>
              <a:t>트리</a:t>
            </a:r>
            <a:endParaRPr lang="en-US" altLang="ko-KR" sz="2400" dirty="0"/>
          </a:p>
          <a:p>
            <a:r>
              <a:rPr lang="en-US" altLang="ko-KR" sz="2400"/>
              <a:t>AVL </a:t>
            </a:r>
            <a:r>
              <a:rPr lang="ko-KR" altLang="ko-KR" sz="2400"/>
              <a:t>트리는 </a:t>
            </a:r>
            <a:r>
              <a:rPr lang="ko-KR" altLang="ko-KR" sz="2400" dirty="0"/>
              <a:t>트리가 한쪽으로 치우쳐 자라나는 것을 </a:t>
            </a:r>
            <a:r>
              <a:rPr lang="en-US" altLang="ko-KR" sz="2400" dirty="0"/>
              <a:t>LL, LR, RR, RL-</a:t>
            </a:r>
            <a:r>
              <a:rPr lang="ko-KR" altLang="ko-KR" sz="2400" dirty="0"/>
              <a:t>회전 연산들을 통해 균형을 유지</a:t>
            </a:r>
          </a:p>
          <a:p>
            <a:r>
              <a:rPr lang="en-US" altLang="ko-KR" sz="2400"/>
              <a:t>AVL </a:t>
            </a:r>
            <a:r>
              <a:rPr lang="ko-KR" altLang="ko-KR" sz="2400"/>
              <a:t>트리의 </a:t>
            </a:r>
            <a:r>
              <a:rPr lang="ko-KR" altLang="ko-KR" sz="2400" dirty="0"/>
              <a:t>탐색</a:t>
            </a:r>
            <a:r>
              <a:rPr lang="en-US" altLang="ko-KR" sz="2400" dirty="0"/>
              <a:t>, </a:t>
            </a:r>
            <a:r>
              <a:rPr lang="ko-KR" altLang="ko-KR" sz="2400" dirty="0"/>
              <a:t>삽입</a:t>
            </a:r>
            <a:r>
              <a:rPr lang="en-US" altLang="ko-KR" sz="2400" dirty="0"/>
              <a:t>, </a:t>
            </a:r>
            <a:r>
              <a:rPr lang="ko-KR" altLang="ko-KR" sz="2400" dirty="0"/>
              <a:t>삭제 </a:t>
            </a:r>
            <a:r>
              <a:rPr lang="ko-KR" altLang="ko-KR" sz="2400"/>
              <a:t>연산의 </a:t>
            </a:r>
            <a:r>
              <a:rPr lang="ko-KR" altLang="en-US" sz="2400"/>
              <a:t>수행 시간은</a:t>
            </a:r>
            <a:r>
              <a:rPr lang="ko-KR" altLang="ko-KR" sz="2400"/>
              <a:t> </a:t>
            </a:r>
            <a:r>
              <a:rPr lang="ko-KR" altLang="ko-KR" sz="2400" dirty="0"/>
              <a:t>각각 </a:t>
            </a:r>
            <a:r>
              <a:rPr lang="en-US" altLang="ko-KR" sz="2400" dirty="0">
                <a:solidFill>
                  <a:srgbClr val="00B0F0"/>
                </a:solidFill>
              </a:rPr>
              <a:t>O</a:t>
            </a:r>
            <a:r>
              <a:rPr lang="en-US" altLang="ko-KR" sz="2400">
                <a:solidFill>
                  <a:srgbClr val="00B0F0"/>
                </a:solidFill>
              </a:rPr>
              <a:t>(logn)</a:t>
            </a:r>
            <a:endParaRPr lang="ko-KR" altLang="ko-KR" sz="2400" dirty="0">
              <a:solidFill>
                <a:srgbClr val="00B0F0"/>
              </a:solidFill>
            </a:endParaRPr>
          </a:p>
          <a:p>
            <a:pPr lvl="0">
              <a:lnSpc>
                <a:spcPct val="120000"/>
              </a:lnSpc>
            </a:pPr>
            <a:endParaRPr lang="en-US" sz="2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631187B-AB48-4BDC-8BCB-3CAC031A2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98" y="118756"/>
            <a:ext cx="813704" cy="993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28787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811160" y="690202"/>
            <a:ext cx="7339781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2-3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: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내부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노드의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차수가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2</a:t>
            </a:r>
            <a:r>
              <a:rPr lang="ko-KR" altLang="en-US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∽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3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인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완전 균형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탐색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endParaRPr lang="en-US" altLang="ko-KR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2-3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트리의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탐색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삽입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삭제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연산의 </a:t>
            </a:r>
            <a:r>
              <a:rPr lang="ko-KR" altLang="en-US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수행 시간은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각각 트리의 높이에 비례하므로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O</a:t>
            </a:r>
            <a:r>
              <a:rPr lang="en-US" altLang="ko-KR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(logn)</a:t>
            </a:r>
            <a:endParaRPr lang="en-US" altLang="ko-KR" sz="2400" b="1" dirty="0">
              <a:solidFill>
                <a:srgbClr val="00B0F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2-3-4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: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2-3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트리를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확장한 트리로 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4-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노드까지 허용</a:t>
            </a:r>
            <a:endParaRPr lang="en-US" altLang="ko-KR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2-3-4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트리에서는 </a:t>
            </a:r>
            <a:r>
              <a:rPr lang="ko-KR" altLang="ko-KR" sz="2400" b="1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루트로부터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이파리로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한번만 내려가며 미리 분리 또는 통합 연산을 수행하는 효율적인 삽입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및 삭제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가능</a:t>
            </a:r>
            <a:endParaRPr lang="en-US" altLang="ko-KR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lvl="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레드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블랙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트리</a:t>
            </a:r>
            <a:r>
              <a:rPr lang="en-US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: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노드의 색을 이용하여 트리의 균형을 유지하며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탐색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삽입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삭제 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연산의 </a:t>
            </a:r>
            <a:r>
              <a:rPr lang="ko-KR" altLang="en-US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수행 시간이</a:t>
            </a:r>
            <a:r>
              <a:rPr lang="ko-KR" altLang="ko-KR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각각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2400" b="1" dirty="0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O</a:t>
            </a:r>
            <a:r>
              <a:rPr lang="en-US" altLang="ko-KR" sz="2400" b="1">
                <a:solidFill>
                  <a:srgbClr val="00B0F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(logn)</a:t>
            </a:r>
            <a:r>
              <a:rPr lang="ko-KR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을 넘지 않는 매우 효율적인 자료구조</a:t>
            </a:r>
          </a:p>
        </p:txBody>
      </p:sp>
    </p:spTree>
    <p:extLst>
      <p:ext uri="{BB962C8B-B14F-4D97-AF65-F5344CB8AC3E}">
        <p14:creationId xmlns:p14="http://schemas.microsoft.com/office/powerpoint/2010/main" val="181666068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851770"/>
            <a:ext cx="7886700" cy="5640470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altLang="ko-KR" sz="2400"/>
              <a:t>n</a:t>
            </a:r>
            <a:r>
              <a:rPr lang="ko-KR" altLang="ko-KR" sz="2400"/>
              <a:t>개의 </a:t>
            </a:r>
            <a:r>
              <a:rPr lang="ko-KR" altLang="ko-KR" sz="2400" dirty="0"/>
              <a:t>노드를 </a:t>
            </a:r>
            <a:r>
              <a:rPr lang="ko-KR" altLang="ko-KR" sz="2400"/>
              <a:t>가진 레드</a:t>
            </a:r>
            <a:r>
              <a:rPr lang="en-US" altLang="ko-KR" sz="2400"/>
              <a:t> </a:t>
            </a:r>
            <a:r>
              <a:rPr lang="ko-KR" altLang="ko-KR" sz="2400"/>
              <a:t>블랙</a:t>
            </a:r>
            <a:r>
              <a:rPr lang="en-US" altLang="ko-KR" sz="2400"/>
              <a:t> </a:t>
            </a:r>
            <a:r>
              <a:rPr lang="ko-KR" altLang="ko-KR" sz="2400"/>
              <a:t>트리의 </a:t>
            </a:r>
            <a:r>
              <a:rPr lang="ko-KR" altLang="ko-KR" sz="2400" dirty="0"/>
              <a:t>높이</a:t>
            </a:r>
            <a:r>
              <a:rPr lang="en-US" altLang="ko-KR" sz="2400" dirty="0"/>
              <a:t> h</a:t>
            </a:r>
            <a:r>
              <a:rPr lang="ko-KR" altLang="ko-KR" sz="2400"/>
              <a:t>는</a:t>
            </a:r>
            <a:r>
              <a:rPr lang="en-US" altLang="ko-KR" sz="2400"/>
              <a:t> 2logn</a:t>
            </a:r>
            <a:r>
              <a:rPr lang="ko-KR" altLang="ko-KR" sz="2400"/>
              <a:t>보다 </a:t>
            </a:r>
            <a:r>
              <a:rPr lang="ko-KR" altLang="ko-KR" sz="2400" dirty="0"/>
              <a:t>크지 않다</a:t>
            </a:r>
            <a:r>
              <a:rPr lang="en-US" altLang="ko-KR" sz="2400" dirty="0"/>
              <a:t>. </a:t>
            </a:r>
            <a:r>
              <a:rPr lang="ko-KR" altLang="ko-KR" sz="2400" dirty="0"/>
              <a:t>탐색</a:t>
            </a:r>
            <a:r>
              <a:rPr lang="en-US" altLang="ko-KR" sz="2400" dirty="0"/>
              <a:t>, </a:t>
            </a:r>
            <a:r>
              <a:rPr lang="ko-KR" altLang="ko-KR" sz="2400" dirty="0"/>
              <a:t>삽입</a:t>
            </a:r>
            <a:r>
              <a:rPr lang="en-US" altLang="ko-KR" sz="2400" dirty="0"/>
              <a:t>, </a:t>
            </a:r>
            <a:r>
              <a:rPr lang="ko-KR" altLang="ko-KR" sz="2400"/>
              <a:t>삭제의 </a:t>
            </a:r>
            <a:r>
              <a:rPr lang="ko-KR" altLang="en-US" sz="2400"/>
              <a:t>수행 시간은</a:t>
            </a:r>
            <a:r>
              <a:rPr lang="ko-KR" altLang="ko-KR" sz="2400"/>
              <a:t> </a:t>
            </a:r>
            <a:r>
              <a:rPr lang="en-US" altLang="ko-KR" sz="2400" dirty="0">
                <a:solidFill>
                  <a:srgbClr val="00B0F0"/>
                </a:solidFill>
              </a:rPr>
              <a:t>O</a:t>
            </a:r>
            <a:r>
              <a:rPr lang="en-US" altLang="ko-KR" sz="2400">
                <a:solidFill>
                  <a:srgbClr val="00B0F0"/>
                </a:solidFill>
              </a:rPr>
              <a:t>(logn)</a:t>
            </a:r>
            <a:endParaRPr lang="ko-KR" altLang="ko-KR" sz="2400" dirty="0">
              <a:solidFill>
                <a:srgbClr val="00B0F0"/>
              </a:solidFill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altLang="ko-KR" sz="2400"/>
              <a:t>B-</a:t>
            </a:r>
            <a:r>
              <a:rPr lang="ko-KR" altLang="ko-KR" sz="2400"/>
              <a:t>트리</a:t>
            </a:r>
            <a:r>
              <a:rPr lang="en-US" altLang="ko-KR" sz="2400"/>
              <a:t>:</a:t>
            </a:r>
            <a:r>
              <a:rPr lang="ko-KR" altLang="ko-KR" sz="2400"/>
              <a:t> </a:t>
            </a:r>
            <a:r>
              <a:rPr lang="ko-KR" altLang="ko-KR" sz="2400" dirty="0"/>
              <a:t>다수의 키를 가진 노드로 구성되어 </a:t>
            </a:r>
            <a:r>
              <a:rPr lang="ko-KR" altLang="ko-KR" sz="2400" dirty="0" err="1"/>
              <a:t>다방향</a:t>
            </a:r>
            <a:r>
              <a:rPr lang="ko-KR" altLang="ko-KR" sz="2400" dirty="0"/>
              <a:t> 탐색이 가능한 </a:t>
            </a:r>
            <a:r>
              <a:rPr lang="ko-KR" altLang="ko-KR" sz="2400"/>
              <a:t>완전 균형</a:t>
            </a:r>
            <a:r>
              <a:rPr lang="en-US" altLang="ko-KR" sz="2400"/>
              <a:t> </a:t>
            </a:r>
            <a:r>
              <a:rPr lang="ko-KR" altLang="en-US" sz="2400"/>
              <a:t>탐색</a:t>
            </a:r>
            <a:r>
              <a:rPr lang="en-US" altLang="ko-KR"/>
              <a:t> </a:t>
            </a:r>
            <a:r>
              <a:rPr lang="ko-KR" altLang="ko-KR" sz="2400"/>
              <a:t>트리</a:t>
            </a:r>
            <a:endParaRPr lang="ko-KR" altLang="ko-KR" sz="2400" dirty="0"/>
          </a:p>
          <a:p>
            <a:pPr lv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altLang="ko-KR" sz="2400" dirty="0"/>
              <a:t>B</a:t>
            </a:r>
            <a:r>
              <a:rPr lang="en-US" altLang="ko-KR" sz="2400" baseline="30000"/>
              <a:t>*</a:t>
            </a:r>
            <a:r>
              <a:rPr lang="en-US" altLang="ko-KR" sz="2400"/>
              <a:t>-</a:t>
            </a:r>
            <a:r>
              <a:rPr lang="ko-KR" altLang="ko-KR" sz="2400"/>
              <a:t>트리</a:t>
            </a:r>
            <a:r>
              <a:rPr lang="en-US" altLang="ko-KR" sz="2400"/>
              <a:t>:</a:t>
            </a:r>
            <a:r>
              <a:rPr lang="ko-KR" altLang="ko-KR" sz="2400"/>
              <a:t> </a:t>
            </a:r>
            <a:r>
              <a:rPr lang="en-US" altLang="ko-KR" sz="2400" dirty="0"/>
              <a:t>B-</a:t>
            </a:r>
            <a:r>
              <a:rPr lang="ko-KR" altLang="ko-KR" sz="2400" dirty="0"/>
              <a:t>트리로서 루트를 제외한 다른 노드의 자식 수가 </a:t>
            </a:r>
            <a:r>
              <a:rPr lang="en-US" altLang="ko-KR" sz="2400" dirty="0">
                <a:solidFill>
                  <a:srgbClr val="00B0F0"/>
                </a:solidFill>
              </a:rPr>
              <a:t>2/3M</a:t>
            </a:r>
            <a:r>
              <a:rPr lang="ko-KR" altLang="ko-KR" sz="2400" dirty="0">
                <a:solidFill>
                  <a:srgbClr val="00B0F0"/>
                </a:solidFill>
              </a:rPr>
              <a:t>∼</a:t>
            </a:r>
            <a:r>
              <a:rPr lang="en-US" altLang="ko-KR" sz="2400" dirty="0">
                <a:solidFill>
                  <a:srgbClr val="00B0F0"/>
                </a:solidFill>
              </a:rPr>
              <a:t>M</a:t>
            </a:r>
            <a:r>
              <a:rPr lang="ko-KR" altLang="ko-KR" sz="2400" dirty="0"/>
              <a:t>이어야 한다</a:t>
            </a:r>
            <a:r>
              <a:rPr lang="en-US" altLang="ko-KR" sz="2400" dirty="0"/>
              <a:t>. B</a:t>
            </a:r>
            <a:r>
              <a:rPr lang="en-US" altLang="ko-KR" sz="2400" baseline="30000" dirty="0"/>
              <a:t>*</a:t>
            </a:r>
            <a:r>
              <a:rPr lang="en-US" altLang="ko-KR" sz="2400" dirty="0"/>
              <a:t>-</a:t>
            </a:r>
            <a:r>
              <a:rPr lang="ko-KR" altLang="ko-KR" sz="2400" dirty="0"/>
              <a:t>트리는 노드의 공간을 </a:t>
            </a:r>
            <a:r>
              <a:rPr lang="en-US" altLang="ko-KR" sz="2400" dirty="0"/>
              <a:t>B-</a:t>
            </a:r>
            <a:r>
              <a:rPr lang="ko-KR" altLang="ko-KR" sz="2400" dirty="0"/>
              <a:t>트리보다 </a:t>
            </a:r>
            <a:r>
              <a:rPr lang="ko-KR" altLang="ko-KR" sz="2400"/>
              <a:t>효율적으로 활용</a:t>
            </a:r>
            <a:endParaRPr lang="ko-KR" altLang="ko-KR" sz="2400" dirty="0"/>
          </a:p>
          <a:p>
            <a:pPr lv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altLang="ko-KR" sz="2400" dirty="0"/>
              <a:t>B</a:t>
            </a:r>
            <a:r>
              <a:rPr lang="en-US" altLang="ko-KR" sz="2400" baseline="30000"/>
              <a:t>+</a:t>
            </a:r>
            <a:r>
              <a:rPr lang="en-US" altLang="ko-KR" sz="2400"/>
              <a:t>-</a:t>
            </a:r>
            <a:r>
              <a:rPr lang="ko-KR" altLang="ko-KR" sz="2400"/>
              <a:t>트리</a:t>
            </a:r>
            <a:r>
              <a:rPr lang="en-US" altLang="ko-KR" sz="2400"/>
              <a:t>:</a:t>
            </a:r>
            <a:r>
              <a:rPr lang="ko-KR" altLang="ko-KR" sz="2400"/>
              <a:t> </a:t>
            </a:r>
            <a:r>
              <a:rPr lang="ko-KR" altLang="ko-KR" sz="2400" dirty="0" err="1"/>
              <a:t>키들만을</a:t>
            </a:r>
            <a:r>
              <a:rPr lang="ko-KR" altLang="ko-KR" sz="2400" dirty="0"/>
              <a:t> 가지고 </a:t>
            </a:r>
            <a:r>
              <a:rPr lang="en-US" altLang="ko-KR" sz="2400" dirty="0"/>
              <a:t>B-</a:t>
            </a:r>
            <a:r>
              <a:rPr lang="ko-KR" altLang="ko-KR" sz="2400" dirty="0"/>
              <a:t>트리를 만들고</a:t>
            </a:r>
            <a:r>
              <a:rPr lang="en-US" altLang="ko-KR" sz="2400"/>
              <a:t>, </a:t>
            </a:r>
            <a:r>
              <a:rPr lang="ko-KR" altLang="ko-KR" sz="2400"/>
              <a:t>이파리에 </a:t>
            </a:r>
            <a:r>
              <a:rPr lang="ko-KR" altLang="ko-KR" sz="2400" dirty="0"/>
              <a:t>키와 관련 정보를 저장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altLang="ko-KR" sz="2400" dirty="0"/>
              <a:t>B-</a:t>
            </a:r>
            <a:r>
              <a:rPr lang="ko-KR" altLang="ko-KR" sz="2400" dirty="0"/>
              <a:t>트리는 몇 개의 디스크 페이지</a:t>
            </a:r>
            <a:r>
              <a:rPr lang="en-US" altLang="ko-KR" sz="2400" dirty="0"/>
              <a:t>(</a:t>
            </a:r>
            <a:r>
              <a:rPr lang="ko-KR" altLang="ko-KR" sz="2400" dirty="0"/>
              <a:t>블록</a:t>
            </a:r>
            <a:r>
              <a:rPr lang="en-US" altLang="ko-KR" sz="2400" dirty="0"/>
              <a:t>)</a:t>
            </a:r>
            <a:r>
              <a:rPr lang="ko-KR" altLang="ko-KR" sz="2400" dirty="0"/>
              <a:t>를 메인 메모리로 읽어 들이는지가 더 중요하므로 한 개의 노드가 한 개의 디스크 페이지에 맞도록 차수 </a:t>
            </a:r>
            <a:r>
              <a:rPr lang="en-US" altLang="ko-KR" sz="2400" dirty="0"/>
              <a:t>M</a:t>
            </a:r>
            <a:r>
              <a:rPr lang="ko-KR" altLang="ko-KR" sz="2400" dirty="0"/>
              <a:t>을 정</a:t>
            </a:r>
            <a:r>
              <a:rPr lang="ko-KR" altLang="en-US" sz="2400" dirty="0"/>
              <a:t>함</a:t>
            </a:r>
            <a:endParaRPr lang="ko-KR" altLang="ko-KR" sz="2400" dirty="0"/>
          </a:p>
          <a:p>
            <a:pPr lv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8078139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CFAA6C-A311-45D2-8B42-52D209E4F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999" y="3010004"/>
            <a:ext cx="7886700" cy="597400"/>
          </a:xfrm>
        </p:spPr>
        <p:txBody>
          <a:bodyPr/>
          <a:lstStyle/>
          <a:p>
            <a:r>
              <a:rPr lang="ko-KR" altLang="en-US" sz="400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2710195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971</TotalTime>
  <Words>4053</Words>
  <Application>Microsoft Office PowerPoint</Application>
  <PresentationFormat>화면 슬라이드 쇼(4:3)</PresentationFormat>
  <Paragraphs>701</Paragraphs>
  <Slides>107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107</vt:i4>
      </vt:variant>
    </vt:vector>
  </HeadingPairs>
  <TitlesOfParts>
    <vt:vector size="119" baseType="lpstr">
      <vt:lpstr>굴림</vt:lpstr>
      <vt:lpstr>맑은 고딕</vt:lpstr>
      <vt:lpstr>함초롬바탕</vt:lpstr>
      <vt:lpstr>Arial</vt:lpstr>
      <vt:lpstr>Calibri</vt:lpstr>
      <vt:lpstr>Consolas</vt:lpstr>
      <vt:lpstr>MT Extra</vt:lpstr>
      <vt:lpstr>Symbol</vt:lpstr>
      <vt:lpstr>Tahoma</vt:lpstr>
      <vt:lpstr>Times New Roman</vt:lpstr>
      <vt:lpstr>Wingdings 2</vt:lpstr>
      <vt:lpstr>Office 테마</vt:lpstr>
      <vt:lpstr>PowerPoint 프레젠테이션</vt:lpstr>
      <vt:lpstr>PowerPoint 프레젠테이션</vt:lpstr>
      <vt:lpstr>탐색 트리</vt:lpstr>
      <vt:lpstr>5.1 이진 탐색</vt:lpstr>
      <vt:lpstr>PowerPoint 프레젠테이션</vt:lpstr>
      <vt:lpstr>수행 시간</vt:lpstr>
      <vt:lpstr>5.2 이진 탐색 트리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5.2.1 탐색 연산</vt:lpstr>
      <vt:lpstr>PowerPoint 프레젠테이션</vt:lpstr>
      <vt:lpstr>PowerPoint 프레젠테이션</vt:lpstr>
      <vt:lpstr>5.2.2 삽입 연산</vt:lpstr>
      <vt:lpstr>PowerPoint 프레젠테이션</vt:lpstr>
      <vt:lpstr>PowerPoint 프레젠테이션</vt:lpstr>
      <vt:lpstr>PowerPoint 프레젠테이션</vt:lpstr>
      <vt:lpstr>PowerPoint 프레젠테이션</vt:lpstr>
      <vt:lpstr>5.2.3 최솟값 찾기</vt:lpstr>
      <vt:lpstr>PowerPoint 프레젠테이션</vt:lpstr>
      <vt:lpstr>5.2.4 최솟값 삭제 연산</vt:lpstr>
      <vt:lpstr>PowerPoint 프레젠테이션</vt:lpstr>
      <vt:lpstr>PowerPoint 프레젠테이션</vt:lpstr>
      <vt:lpstr>5.2.5 삭제 연산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수행 시간</vt:lpstr>
      <vt:lpstr>PowerPoint 프레젠테이션</vt:lpstr>
      <vt:lpstr>5.3 AVL트리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5.3.1 AVL 트리의 회전 연산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4종류의 회전의 공통점</vt:lpstr>
      <vt:lpstr>5.3.2 삽입 연산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5.3.3 삭제 연산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수행 시간</vt:lpstr>
      <vt:lpstr>PowerPoint 프레젠테이션</vt:lpstr>
      <vt:lpstr>5.4 2-3 트리, 레드 블랙 트리</vt:lpstr>
      <vt:lpstr>PowerPoint 프레젠테이션</vt:lpstr>
      <vt:lpstr>PowerPoint 프레젠테이션</vt:lpstr>
      <vt:lpstr>PowerPoint 프레젠테이션</vt:lpstr>
      <vt:lpstr>5.3.1 탐색 연산</vt:lpstr>
      <vt:lpstr>PowerPoint 프레젠테이션</vt:lpstr>
      <vt:lpstr>2-3-4 트리</vt:lpstr>
      <vt:lpstr>PowerPoint 프레젠테이션</vt:lpstr>
      <vt:lpstr>5.4 2 레드 블랙 트리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응용</vt:lpstr>
      <vt:lpstr>PowerPoint 프레젠테이션</vt:lpstr>
      <vt:lpstr>5.5 B-트리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성능 분석</vt:lpstr>
      <vt:lpstr>PowerPoint 프레젠테이션</vt:lpstr>
      <vt:lpstr>응용</vt:lpstr>
      <vt:lpstr>요약</vt:lpstr>
      <vt:lpstr>PowerPoint 프레젠테이션</vt:lpstr>
      <vt:lpstr>PowerPoint 프레젠테이션</vt:lpstr>
      <vt:lpstr>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sbyang</dc:creator>
  <cp:lastModifiedBy>SB Yang</cp:lastModifiedBy>
  <cp:revision>124</cp:revision>
  <dcterms:created xsi:type="dcterms:W3CDTF">2017-03-16T00:57:55Z</dcterms:created>
  <dcterms:modified xsi:type="dcterms:W3CDTF">2022-02-24T13:33:11Z</dcterms:modified>
</cp:coreProperties>
</file>