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1"/>
  </p:sldMasterIdLst>
  <p:notesMasterIdLst>
    <p:notesMasterId r:id="rId56"/>
  </p:notesMasterIdLst>
  <p:sldIdLst>
    <p:sldId id="283" r:id="rId2"/>
    <p:sldId id="257" r:id="rId3"/>
    <p:sldId id="282" r:id="rId4"/>
    <p:sldId id="268" r:id="rId5"/>
    <p:sldId id="287" r:id="rId6"/>
    <p:sldId id="269" r:id="rId7"/>
    <p:sldId id="288" r:id="rId8"/>
    <p:sldId id="290" r:id="rId9"/>
    <p:sldId id="292" r:id="rId10"/>
    <p:sldId id="291" r:id="rId11"/>
    <p:sldId id="294" r:id="rId12"/>
    <p:sldId id="295" r:id="rId13"/>
    <p:sldId id="296" r:id="rId14"/>
    <p:sldId id="299" r:id="rId15"/>
    <p:sldId id="300" r:id="rId16"/>
    <p:sldId id="301" r:id="rId17"/>
    <p:sldId id="302" r:id="rId18"/>
    <p:sldId id="303" r:id="rId19"/>
    <p:sldId id="293" r:id="rId20"/>
    <p:sldId id="304" r:id="rId21"/>
    <p:sldId id="305" r:id="rId22"/>
    <p:sldId id="306" r:id="rId23"/>
    <p:sldId id="273" r:id="rId24"/>
    <p:sldId id="307" r:id="rId25"/>
    <p:sldId id="308" r:id="rId26"/>
    <p:sldId id="309" r:id="rId27"/>
    <p:sldId id="310" r:id="rId28"/>
    <p:sldId id="311" r:id="rId29"/>
    <p:sldId id="313" r:id="rId30"/>
    <p:sldId id="315" r:id="rId31"/>
    <p:sldId id="314" r:id="rId32"/>
    <p:sldId id="318" r:id="rId33"/>
    <p:sldId id="316" r:id="rId34"/>
    <p:sldId id="317" r:id="rId35"/>
    <p:sldId id="319" r:id="rId36"/>
    <p:sldId id="321" r:id="rId37"/>
    <p:sldId id="320" r:id="rId38"/>
    <p:sldId id="322" r:id="rId39"/>
    <p:sldId id="323" r:id="rId40"/>
    <p:sldId id="324" r:id="rId41"/>
    <p:sldId id="325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4" r:id="rId50"/>
    <p:sldId id="335" r:id="rId51"/>
    <p:sldId id="336" r:id="rId52"/>
    <p:sldId id="337" r:id="rId53"/>
    <p:sldId id="333" r:id="rId54"/>
    <p:sldId id="279" r:id="rId5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204">
          <p15:clr>
            <a:srgbClr val="000000"/>
          </p15:clr>
        </p15:guide>
        <p15:guide id="4" pos="385">
          <p15:clr>
            <a:srgbClr val="000000"/>
          </p15:clr>
        </p15:guide>
        <p15:guide id="5" pos="657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90C769-8BD2-42D8-88E8-F87A97329609}">
  <a:tblStyle styleId="{CF90C769-8BD2-42D8-88E8-F87A97329609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58"/>
      </p:cViewPr>
      <p:guideLst>
        <p:guide orient="horz" pos="2160"/>
        <p:guide pos="2880"/>
        <p:guide pos="204"/>
        <p:guide pos="385"/>
        <p:guide pos="6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97248593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3339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저작권" preserve="1">
  <p:cSld name="1_저작권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/>
        </p:nvSpPr>
        <p:spPr>
          <a:xfrm>
            <a:off x="625475" y="981075"/>
            <a:ext cx="71866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i="0" u="none" strike="noStrike" cap="none">
                <a:solidFill>
                  <a:srgbClr val="9933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소프트웨어 창의 설계</a:t>
            </a:r>
            <a:endParaRPr sz="1800" b="1" i="0" u="none" strike="noStrike" cap="none">
              <a:solidFill>
                <a:srgbClr val="9933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609600" y="1700213"/>
            <a:ext cx="7991475" cy="151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[강의교안 이용 안내]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08000" marR="0" lvl="0" indent="-1080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 강의교안의 저작권은 </a:t>
            </a:r>
            <a:r>
              <a:rPr lang="ko-KR" sz="1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박현석, 김연정, 김연우, 지현진</a:t>
            </a: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lang="ko-KR" sz="14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한빛아카데미㈜</a:t>
            </a:r>
            <a:r>
              <a:rPr lang="ko-KR" sz="1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있습니다.</a:t>
            </a:r>
            <a:r>
              <a:rPr lang="ko-KR" sz="1400" b="0" i="0" u="none" strike="noStrik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400" b="0" i="0" u="none" strike="noStrike" cap="none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08000" marR="0" lvl="0" indent="-1080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Char char="•"/>
            </a:pPr>
            <a:r>
              <a:rPr lang="ko-KR" sz="1400" b="0" i="0" u="sng" strike="noStrik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자료를 무단으로 전제하거나 배포할 경우 저작권법 136조에 의거하여 벌금에 처할 수 있고 </a:t>
            </a:r>
            <a:br>
              <a:rPr lang="ko-KR" sz="1400" b="0" i="0" u="sng" strike="noStrik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400" b="0" i="0" u="sng" strike="noStrik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이를 병과(倂科)할 수도 있습니다.</a:t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319088" y="404813"/>
            <a:ext cx="8497887" cy="6048375"/>
          </a:xfrm>
          <a:prstGeom prst="roundRect">
            <a:avLst>
              <a:gd name="adj" fmla="val 4629"/>
            </a:avLst>
          </a:prstGeom>
          <a:noFill/>
          <a:ln w="53975" cap="flat" cmpd="sng">
            <a:solidFill>
              <a:srgbClr val="EE77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B9779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092280" y="5993974"/>
            <a:ext cx="1440283" cy="252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5402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제목 슬라이드">
  <p:cSld name="8_제목 슬라이드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369827" y="3573016"/>
            <a:ext cx="2053333" cy="1366653"/>
            <a:chOff x="369827" y="5314828"/>
            <a:chExt cx="1862833" cy="1239860"/>
          </a:xfrm>
        </p:grpSpPr>
        <p:pic>
          <p:nvPicPr>
            <p:cNvPr id="22" name="Google Shape;22;p3"/>
            <p:cNvPicPr preferRelativeResize="0"/>
            <p:nvPr/>
          </p:nvPicPr>
          <p:blipFill rotWithShape="1">
            <a:blip r:embed="rId2">
              <a:alphaModFix/>
            </a:blip>
            <a:srcRect r="37757" b="31491"/>
            <a:stretch/>
          </p:blipFill>
          <p:spPr>
            <a:xfrm>
              <a:off x="369827" y="5314828"/>
              <a:ext cx="1862833" cy="4839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3"/>
            <p:cNvPicPr preferRelativeResize="0"/>
            <p:nvPr/>
          </p:nvPicPr>
          <p:blipFill rotWithShape="1">
            <a:blip r:embed="rId3">
              <a:alphaModFix/>
            </a:blip>
            <a:srcRect l="64279" b="36883"/>
            <a:stretch/>
          </p:blipFill>
          <p:spPr>
            <a:xfrm>
              <a:off x="388619" y="5787268"/>
              <a:ext cx="1069027" cy="4458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3"/>
            <p:cNvPicPr preferRelativeResize="0"/>
            <p:nvPr/>
          </p:nvPicPr>
          <p:blipFill rotWithShape="1">
            <a:blip r:embed="rId3">
              <a:alphaModFix/>
            </a:blip>
            <a:srcRect t="68509" r="44122"/>
            <a:stretch/>
          </p:blipFill>
          <p:spPr>
            <a:xfrm>
              <a:off x="369827" y="6332220"/>
              <a:ext cx="1672333" cy="2224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3"/>
          <p:cNvSpPr/>
          <p:nvPr/>
        </p:nvSpPr>
        <p:spPr>
          <a:xfrm>
            <a:off x="3491880" y="5157192"/>
            <a:ext cx="5330107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i="0" u="none" strike="noStrike" cap="none" dirty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시퀀스 다이어그램 소개</a:t>
            </a:r>
            <a:endParaRPr sz="4000" b="1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36164" y="5694347"/>
            <a:ext cx="2436698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 i="0" u="none" strike="noStrike" cap="none" dirty="0" err="1">
                <a:solidFill>
                  <a:srgbClr val="EE7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Chapter</a:t>
            </a:r>
            <a:r>
              <a:rPr lang="ko-KR" sz="2800" b="1" i="0" u="none" strike="noStrike" cap="none" dirty="0">
                <a:solidFill>
                  <a:srgbClr val="EE7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4800" b="1" i="0" u="none" strike="noStrike" cap="none" dirty="0">
                <a:solidFill>
                  <a:srgbClr val="EE7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r>
              <a:rPr lang="en-US" altLang="ko-KR" sz="4800" b="1" i="0" u="none" strike="noStrike" cap="none" dirty="0">
                <a:solidFill>
                  <a:srgbClr val="EE7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sz="4800" b="1" i="0" u="none" strike="noStrike" cap="none" dirty="0">
              <a:solidFill>
                <a:srgbClr val="EE77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0541" y="296038"/>
            <a:ext cx="8371494" cy="470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및 내용" preserve="1" userDrawn="1">
  <p:cSld name="2_제목 및 내용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-22448"/>
            <a:ext cx="9144000" cy="555848"/>
          </a:xfrm>
          <a:prstGeom prst="rect">
            <a:avLst/>
          </a:prstGeom>
          <a:solidFill>
            <a:srgbClr val="EE7759">
              <a:alpha val="29803"/>
            </a:srgbClr>
          </a:solidFill>
          <a:ln>
            <a:noFill/>
          </a:ln>
        </p:spPr>
        <p:txBody>
          <a:bodyPr spcFirstLastPara="1" wrap="square" lIns="91425" tIns="0" rIns="91425" bIns="72000" anchor="ctr" anchorCtr="0">
            <a:noAutofit/>
          </a:bodyPr>
          <a:lstStyle/>
          <a:p>
            <a:pPr marL="36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279259" y="6605588"/>
            <a:ext cx="84296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 b="0" i="0" u="none" strike="noStrike" cap="none" smtClean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000" b="0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3500" y="35744"/>
            <a:ext cx="7785100" cy="47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95300" y="787400"/>
            <a:ext cx="8356600" cy="1446514"/>
          </a:xfrm>
        </p:spPr>
        <p:txBody>
          <a:bodyPr/>
          <a:lstStyle>
            <a:lvl1pPr marL="355600" indent="-355600">
              <a:lnSpc>
                <a:spcPct val="150000"/>
              </a:lnSpc>
              <a:buClr>
                <a:schemeClr val="accent1"/>
              </a:buClr>
              <a:buSzPct val="100000"/>
              <a:buFont typeface="Malgun Gothic" panose="020B0503020000020004" pitchFamily="50" charset="-127"/>
              <a:buChar char="■"/>
              <a:defRPr sz="2000" b="1"/>
            </a:lvl1pPr>
            <a:lvl2pPr marL="533400" indent="-177800">
              <a:lnSpc>
                <a:spcPct val="100000"/>
              </a:lnSpc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/>
            </a:lvl2pPr>
            <a:lvl3pPr>
              <a:defRPr sz="1600"/>
            </a:lvl3pPr>
            <a:lvl4pPr>
              <a:defRPr sz="1400"/>
            </a:lvl4pPr>
            <a:lvl5pPr marL="723900" indent="-165100">
              <a:lnSpc>
                <a:spcPct val="100000"/>
              </a:lnSpc>
              <a:tabLst/>
              <a:defRPr sz="16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784052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및 내용" preserve="1" userDrawn="1">
  <p:cSld name="3_제목 및 내용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-22448"/>
            <a:ext cx="9144000" cy="555848"/>
          </a:xfrm>
          <a:prstGeom prst="rect">
            <a:avLst/>
          </a:prstGeom>
          <a:solidFill>
            <a:srgbClr val="EE7759">
              <a:alpha val="29803"/>
            </a:srgbClr>
          </a:solidFill>
          <a:ln>
            <a:noFill/>
          </a:ln>
        </p:spPr>
        <p:txBody>
          <a:bodyPr spcFirstLastPara="1" wrap="square" lIns="91425" tIns="0" rIns="91425" bIns="72000" anchor="ctr" anchorCtr="0">
            <a:noAutofit/>
          </a:bodyPr>
          <a:lstStyle/>
          <a:p>
            <a:pPr marL="36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279259" y="6605588"/>
            <a:ext cx="84296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 b="0" i="0" u="none" strike="noStrike" cap="none" smtClean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000" b="0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3500" y="25470"/>
            <a:ext cx="7785100" cy="47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669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및 내용" preserve="1" userDrawn="1">
  <p:cSld name="3_제목 및 내용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-22448"/>
            <a:ext cx="9144000" cy="555848"/>
          </a:xfrm>
          <a:prstGeom prst="rect">
            <a:avLst/>
          </a:prstGeom>
          <a:solidFill>
            <a:schemeClr val="accent5">
              <a:lumMod val="60000"/>
              <a:lumOff val="40000"/>
              <a:alpha val="29803"/>
            </a:schemeClr>
          </a:solidFill>
          <a:ln>
            <a:noFill/>
          </a:ln>
        </p:spPr>
        <p:txBody>
          <a:bodyPr spcFirstLastPara="1" wrap="square" lIns="91425" tIns="0" rIns="91425" bIns="72000" anchor="ctr" anchorCtr="0">
            <a:noAutofit/>
          </a:bodyPr>
          <a:lstStyle/>
          <a:p>
            <a:pPr marL="36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279259" y="6605588"/>
            <a:ext cx="842962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 b="0" i="0" u="none" strike="noStrike" cap="none" smtClean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000" b="0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3500" y="25470"/>
            <a:ext cx="7785100" cy="47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4801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>
  <p:cSld name="2_제목 슬라이드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2320" y="6430523"/>
            <a:ext cx="1417043" cy="248406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 txBox="1"/>
          <p:nvPr/>
        </p:nvSpPr>
        <p:spPr>
          <a:xfrm>
            <a:off x="3855472" y="2454920"/>
            <a:ext cx="2736303" cy="132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000" b="1" i="0" u="none" strike="noStrike" cap="none">
                <a:solidFill>
                  <a:srgbClr val="EE7759"/>
                </a:solidFill>
                <a:latin typeface="Malgun Gothic"/>
                <a:ea typeface="Malgun Gothic"/>
                <a:cs typeface="Malgun Gothic"/>
                <a:sym typeface="Malgun Gothic"/>
              </a:rPr>
              <a:t>Q&amp;A</a:t>
            </a:r>
            <a:endParaRPr sz="8000" b="1" i="0" u="none" strike="noStrike" cap="none">
              <a:solidFill>
                <a:srgbClr val="EE77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1723"/>
            <a:ext cx="1979712" cy="6879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40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49" r:id="rId2"/>
    <p:sldLayoutId id="2147483657" r:id="rId3"/>
    <p:sldLayoutId id="2147483659" r:id="rId4"/>
    <p:sldLayoutId id="2147483660" r:id="rId5"/>
    <p:sldLayoutId id="2147483652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afe.naver.com/software4everyone/19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cafe.naver.com/software4everyone/20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jp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cafe.naver.com/software4everyone/20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9.jpg"/><Relationship Id="rId4" Type="http://schemas.openxmlformats.org/officeDocument/2006/relationships/image" Target="../media/image58.jp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870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/>
        </p:nvSpPr>
        <p:spPr>
          <a:xfrm>
            <a:off x="0" y="0"/>
            <a:ext cx="45275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40000" lnSpcReduction="20000"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endParaRPr sz="3000" b="1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63500" y="35744"/>
            <a:ext cx="7785100" cy="47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/>
              <a:t>목 차</a:t>
            </a:r>
            <a:endParaRPr dirty="0"/>
          </a:p>
        </p:txBody>
      </p:sp>
      <p:sp>
        <p:nvSpPr>
          <p:cNvPr id="76" name="Google Shape;76;p12"/>
          <p:cNvSpPr/>
          <p:nvPr/>
        </p:nvSpPr>
        <p:spPr>
          <a:xfrm>
            <a:off x="699256" y="1177132"/>
            <a:ext cx="756631" cy="608012"/>
          </a:xfrm>
          <a:prstGeom prst="snipRoundRect">
            <a:avLst>
              <a:gd name="adj1" fmla="val 24542"/>
              <a:gd name="adj2" fmla="val 0"/>
            </a:avLst>
          </a:prstGeom>
          <a:solidFill>
            <a:srgbClr val="EE7759">
              <a:alpha val="60000"/>
            </a:srgbClr>
          </a:solidFill>
          <a:ln>
            <a:noFill/>
          </a:ln>
        </p:spPr>
        <p:txBody>
          <a:bodyPr spcFirstLastPara="1" wrap="square" lIns="91425" tIns="0" rIns="91425" bIns="72000" anchor="ctr" anchorCtr="0">
            <a:noAutofit/>
          </a:bodyPr>
          <a:lstStyle/>
          <a:p>
            <a:pPr marL="36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ko-KR" sz="2000" b="1" i="0" u="none" strike="noStrike" cap="none" dirty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.1</a:t>
            </a:r>
            <a:endParaRPr sz="2000" b="1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12"/>
          <p:cNvSpPr/>
          <p:nvPr/>
        </p:nvSpPr>
        <p:spPr>
          <a:xfrm>
            <a:off x="1446207" y="1124744"/>
            <a:ext cx="6998536" cy="719138"/>
          </a:xfrm>
          <a:prstGeom prst="roundRect">
            <a:avLst>
              <a:gd name="adj" fmla="val 2291"/>
            </a:avLst>
          </a:prstGeom>
          <a:solidFill>
            <a:srgbClr val="F2F2F2">
              <a:alpha val="32549"/>
            </a:srgbClr>
          </a:solidFill>
          <a:ln w="38100" cap="flat" cmpd="sng">
            <a:solidFill>
              <a:srgbClr val="E4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22238" lvl="0" indent="11113">
              <a:lnSpc>
                <a:spcPct val="110000"/>
              </a:lnSpc>
            </a:pPr>
            <a:r>
              <a:rPr lang="ko-KR" altLang="en-US" sz="2000" b="1" dirty="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시퀀스 다이어그램 개념 알기</a:t>
            </a:r>
            <a:endParaRPr sz="2000" b="1" i="0" u="none" strike="noStrike" cap="none" dirty="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Google Shape;78;p12"/>
          <p:cNvSpPr/>
          <p:nvPr/>
        </p:nvSpPr>
        <p:spPr>
          <a:xfrm>
            <a:off x="699256" y="2139958"/>
            <a:ext cx="756631" cy="608012"/>
          </a:xfrm>
          <a:prstGeom prst="snipRoundRect">
            <a:avLst>
              <a:gd name="adj1" fmla="val 24542"/>
              <a:gd name="adj2" fmla="val 0"/>
            </a:avLst>
          </a:prstGeom>
          <a:solidFill>
            <a:srgbClr val="EE7759">
              <a:alpha val="60000"/>
            </a:srgbClr>
          </a:solidFill>
          <a:ln>
            <a:noFill/>
          </a:ln>
        </p:spPr>
        <p:txBody>
          <a:bodyPr spcFirstLastPara="1" wrap="square" lIns="91425" tIns="0" rIns="91425" bIns="72000" anchor="ctr" anchorCtr="0">
            <a:noAutofit/>
          </a:bodyPr>
          <a:lstStyle/>
          <a:p>
            <a:pPr marL="36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i="0" u="none" strike="noStrike" cap="none" dirty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ko-KR" sz="2000" b="1" i="0" u="none" strike="noStrike" cap="none" dirty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.2</a:t>
            </a:r>
            <a:endParaRPr sz="2000" b="1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12"/>
          <p:cNvSpPr/>
          <p:nvPr/>
        </p:nvSpPr>
        <p:spPr>
          <a:xfrm>
            <a:off x="1446207" y="2087570"/>
            <a:ext cx="6998536" cy="719138"/>
          </a:xfrm>
          <a:prstGeom prst="roundRect">
            <a:avLst>
              <a:gd name="adj" fmla="val 2291"/>
            </a:avLst>
          </a:prstGeom>
          <a:solidFill>
            <a:srgbClr val="F2F2F2">
              <a:alpha val="32549"/>
            </a:srgbClr>
          </a:solidFill>
          <a:ln w="38100" cap="flat" cmpd="sng">
            <a:solidFill>
              <a:srgbClr val="E4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22238" lvl="0" indent="11113">
              <a:lnSpc>
                <a:spcPct val="110000"/>
              </a:lnSpc>
            </a:pPr>
            <a:r>
              <a:rPr lang="en-US" altLang="ko-KR" sz="2000" b="1" dirty="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MVC </a:t>
            </a:r>
            <a:r>
              <a:rPr lang="ko-KR" altLang="en-US" sz="2000" b="1" dirty="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모델과 </a:t>
            </a:r>
            <a:r>
              <a:rPr lang="en-US" altLang="ko-KR" sz="2000" b="1" dirty="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ECB </a:t>
            </a:r>
            <a:r>
              <a:rPr lang="ko-KR" altLang="en-US" sz="2000" b="1" dirty="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</a:t>
            </a:r>
            <a:endParaRPr sz="2000" b="1" i="0" u="none" strike="noStrike" cap="none" dirty="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" name="Google Shape;78;p12"/>
          <p:cNvSpPr/>
          <p:nvPr/>
        </p:nvSpPr>
        <p:spPr>
          <a:xfrm>
            <a:off x="699256" y="3082067"/>
            <a:ext cx="756631" cy="608012"/>
          </a:xfrm>
          <a:prstGeom prst="snipRoundRect">
            <a:avLst>
              <a:gd name="adj1" fmla="val 24542"/>
              <a:gd name="adj2" fmla="val 0"/>
            </a:avLst>
          </a:prstGeom>
          <a:solidFill>
            <a:srgbClr val="EE7759">
              <a:alpha val="60000"/>
            </a:srgbClr>
          </a:solidFill>
          <a:ln>
            <a:noFill/>
          </a:ln>
        </p:spPr>
        <p:txBody>
          <a:bodyPr spcFirstLastPara="1" wrap="square" lIns="91425" tIns="0" rIns="91425" bIns="72000" anchor="ctr" anchorCtr="0">
            <a:noAutofit/>
          </a:bodyPr>
          <a:lstStyle/>
          <a:p>
            <a:pPr marL="36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r>
              <a:rPr lang="ko-KR" sz="2000" b="1" i="0" u="none" strike="noStrike" cap="none" dirty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r>
              <a:rPr lang="en-US" altLang="ko-KR" sz="2000" b="1" i="0" u="none" strike="noStrike" cap="none" dirty="0">
                <a:solidFill>
                  <a:srgbClr val="0A1E38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2000" b="1" i="0" u="none" strike="noStrike" cap="none" dirty="0">
              <a:solidFill>
                <a:srgbClr val="0A1E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79;p12"/>
          <p:cNvSpPr/>
          <p:nvPr/>
        </p:nvSpPr>
        <p:spPr>
          <a:xfrm>
            <a:off x="1446207" y="3029679"/>
            <a:ext cx="6998536" cy="719138"/>
          </a:xfrm>
          <a:prstGeom prst="roundRect">
            <a:avLst>
              <a:gd name="adj" fmla="val 2291"/>
            </a:avLst>
          </a:prstGeom>
          <a:solidFill>
            <a:srgbClr val="F2F2F2">
              <a:alpha val="32549"/>
            </a:srgbClr>
          </a:solidFill>
          <a:ln w="38100" cap="flat" cmpd="sng">
            <a:solidFill>
              <a:srgbClr val="E4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22238" lvl="0" indent="11113">
              <a:lnSpc>
                <a:spcPct val="110000"/>
              </a:lnSpc>
            </a:pPr>
            <a:r>
              <a:rPr lang="ko-KR" altLang="en-US" sz="2000" b="1" dirty="0" err="1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웹응용</a:t>
            </a:r>
            <a:r>
              <a:rPr lang="ko-KR" altLang="en-US" sz="2000" b="1" dirty="0">
                <a:solidFill>
                  <a:srgbClr val="242424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사례연구 따라 하기</a:t>
            </a:r>
            <a:endParaRPr sz="2000" b="1" i="0" u="none" strike="noStrike" cap="none" dirty="0">
              <a:solidFill>
                <a:srgbClr val="242424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50473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 요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ko-KR" altLang="en-US" sz="1600" dirty="0"/>
              <a:t>시퀀스 다이어그램에 대해 학습하고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웹응용</a:t>
            </a:r>
            <a:r>
              <a:rPr lang="ko-KR" altLang="en-US" sz="1600" dirty="0"/>
              <a:t> 프로젝트 작업에 용이하도록 ‘기능’에 따라 모델</a:t>
            </a:r>
            <a:r>
              <a:rPr lang="en-US" altLang="ko-KR" sz="1600" dirty="0"/>
              <a:t>(Model), </a:t>
            </a:r>
            <a:r>
              <a:rPr lang="ko-KR" altLang="en-US" sz="1600" dirty="0" err="1"/>
              <a:t>뷰</a:t>
            </a:r>
            <a:r>
              <a:rPr lang="en-US" altLang="ko-KR" sz="1600" dirty="0"/>
              <a:t>(View), </a:t>
            </a:r>
            <a:r>
              <a:rPr lang="ko-KR" altLang="en-US" sz="1600" dirty="0"/>
              <a:t>컨트롤러</a:t>
            </a:r>
            <a:r>
              <a:rPr lang="en-US" altLang="ko-KR" sz="1600" dirty="0"/>
              <a:t>(Controller) </a:t>
            </a:r>
            <a:r>
              <a:rPr lang="ko-KR" altLang="en-US" sz="1600" dirty="0"/>
              <a:t>이렇게 역할을 세 가지로 분리하는 </a:t>
            </a:r>
            <a:r>
              <a:rPr lang="en-US" altLang="ko-KR" sz="1600" dirty="0"/>
              <a:t>MVC </a:t>
            </a:r>
            <a:r>
              <a:rPr lang="ko-KR" altLang="en-US" sz="1600" dirty="0"/>
              <a:t>모델의 개념을 살펴본다</a:t>
            </a:r>
            <a:r>
              <a:rPr lang="en-US" altLang="ko-KR" sz="16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이 </a:t>
            </a:r>
            <a:r>
              <a:rPr lang="en-US" altLang="ko-KR" sz="1600" dirty="0"/>
              <a:t>MVC </a:t>
            </a:r>
            <a:r>
              <a:rPr lang="ko-KR" altLang="en-US" sz="1600" dirty="0"/>
              <a:t>모델 개념을 </a:t>
            </a:r>
            <a:r>
              <a:rPr lang="en-US" altLang="ko-KR" sz="1600" dirty="0"/>
              <a:t>UML</a:t>
            </a:r>
            <a:r>
              <a:rPr lang="ko-KR" altLang="en-US" sz="1600" dirty="0"/>
              <a:t>에서 사용할 때 </a:t>
            </a:r>
            <a:r>
              <a:rPr lang="ko-KR" altLang="en-US" sz="1600" dirty="0" err="1"/>
              <a:t>대칭하는</a:t>
            </a:r>
            <a:r>
              <a:rPr lang="ko-KR" altLang="en-US" sz="1600" dirty="0"/>
              <a:t> </a:t>
            </a:r>
            <a:r>
              <a:rPr lang="en-US" altLang="ko-KR" sz="1600" dirty="0"/>
              <a:t>ECB </a:t>
            </a:r>
            <a:r>
              <a:rPr lang="ko-KR" altLang="en-US" sz="1600" dirty="0"/>
              <a:t>모델을 활용하여 함께 다이어그램을 작성해 볼 것이다</a:t>
            </a:r>
            <a:r>
              <a:rPr lang="en-US" altLang="ko-KR" sz="1600" dirty="0"/>
              <a:t>.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0485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시퀀스 다이어그램 생성 화면 예시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63203" y="6107936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9-1]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 descr="C:\Users\user\Dropbox\소프트웨어 창의 설계(교안)\fig(1~15장)\fig9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273" y="1512233"/>
            <a:ext cx="6551552" cy="475719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426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95300" y="787400"/>
            <a:ext cx="8356600" cy="1990524"/>
          </a:xfrm>
        </p:spPr>
        <p:txBody>
          <a:bodyPr/>
          <a:lstStyle/>
          <a:p>
            <a:r>
              <a:rPr lang="ko-KR" altLang="en-US" dirty="0"/>
              <a:t>시퀀스 다이어그램</a:t>
            </a:r>
            <a:r>
              <a:rPr lang="en-US" altLang="ko-KR" dirty="0"/>
              <a:t>(Sequence Diagram)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시스템 세부사항들의 진행 과정과 시간적 흐름을 표현할 수 있는 다이어그램임</a:t>
            </a:r>
            <a:endParaRPr lang="en-US" altLang="ko-KR" dirty="0"/>
          </a:p>
          <a:p>
            <a:pPr lvl="1"/>
            <a:r>
              <a:rPr lang="ko-KR" altLang="en-US" dirty="0"/>
              <a:t>즉 팀에서 탐색한 주제에 맞게 프로젝트가 잘 진행되고 있는지 활동의 흐름을 확인할 수 있으며</a:t>
            </a:r>
            <a:r>
              <a:rPr lang="en-US" altLang="ko-KR" dirty="0"/>
              <a:t>, </a:t>
            </a:r>
            <a:r>
              <a:rPr lang="ko-KR" altLang="en-US" dirty="0"/>
              <a:t>활동을 시간 순서에 따라 자세히 표현할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시퀀스 다이어그램</a:t>
            </a:r>
            <a:r>
              <a:rPr lang="en-US" altLang="ko-KR" dirty="0"/>
              <a:t>(Sequence Diagram)</a:t>
            </a:r>
            <a:r>
              <a:rPr lang="ko-KR" altLang="en-US" dirty="0"/>
              <a:t> 구성요소</a:t>
            </a:r>
            <a:endParaRPr lang="en-US" altLang="ko-KR" dirty="0"/>
          </a:p>
          <a:p>
            <a:pPr marL="717550" lvl="1" indent="-361950">
              <a:buNone/>
            </a:pP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❶ </a:t>
            </a:r>
            <a:r>
              <a:rPr lang="ko-KR" altLang="en-US" dirty="0" err="1"/>
              <a:t>액터</a:t>
            </a:r>
            <a:r>
              <a:rPr lang="en-US" altLang="ko-KR" dirty="0"/>
              <a:t>(actor ) : </a:t>
            </a:r>
            <a:r>
              <a:rPr lang="ko-KR" altLang="en-US" dirty="0"/>
              <a:t>시스템을 사용하는 사람이나 외부 시스템을 의미한다</a:t>
            </a:r>
            <a:r>
              <a:rPr lang="en-US" altLang="ko-KR" dirty="0"/>
              <a:t>.</a:t>
            </a:r>
          </a:p>
          <a:p>
            <a:pPr marL="717550" lvl="1" indent="-361950">
              <a:buNone/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❷ </a:t>
            </a:r>
            <a:r>
              <a:rPr lang="ko-KR" altLang="en-US" dirty="0"/>
              <a:t>객체</a:t>
            </a:r>
            <a:r>
              <a:rPr lang="en-US" altLang="ko-KR" dirty="0"/>
              <a:t>(object ) : </a:t>
            </a:r>
            <a:r>
              <a:rPr lang="ko-KR" altLang="en-US" dirty="0"/>
              <a:t>시스템 내에서 </a:t>
            </a:r>
            <a:r>
              <a:rPr lang="ko-KR" altLang="en-US" dirty="0" err="1"/>
              <a:t>객체과</a:t>
            </a:r>
            <a:r>
              <a:rPr lang="ko-KR" altLang="en-US" dirty="0"/>
              <a:t> 객체</a:t>
            </a:r>
            <a:r>
              <a:rPr lang="en-US" altLang="ko-KR" dirty="0"/>
              <a:t>, </a:t>
            </a:r>
            <a:r>
              <a:rPr lang="ko-KR" altLang="en-US" dirty="0"/>
              <a:t>객체와 </a:t>
            </a:r>
            <a:r>
              <a:rPr lang="ko-KR" altLang="en-US" dirty="0" err="1"/>
              <a:t>액터가</a:t>
            </a:r>
            <a:r>
              <a:rPr lang="ko-KR" altLang="en-US" dirty="0"/>
              <a:t> 상호작용하는 개체를 의미한다</a:t>
            </a:r>
            <a:r>
              <a:rPr lang="en-US" altLang="ko-KR" dirty="0"/>
              <a:t>.</a:t>
            </a:r>
          </a:p>
          <a:p>
            <a:pPr marL="717550" lvl="1" indent="-361950">
              <a:buNone/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❸ </a:t>
            </a:r>
            <a:r>
              <a:rPr lang="ko-KR" altLang="en-US" dirty="0"/>
              <a:t>메시지</a:t>
            </a:r>
            <a:r>
              <a:rPr lang="en-US" altLang="ko-KR" dirty="0"/>
              <a:t>(message) : </a:t>
            </a:r>
            <a:r>
              <a:rPr lang="ko-KR" altLang="en-US" dirty="0"/>
              <a:t>객체 간의 상호작용을 의미한다</a:t>
            </a:r>
            <a:r>
              <a:rPr lang="en-US" altLang="ko-KR" dirty="0"/>
              <a:t>. </a:t>
            </a:r>
            <a:r>
              <a:rPr lang="ko-KR" altLang="en-US" dirty="0"/>
              <a:t>수평의 화살표 방향으로 진행되는 것을 의미한다</a:t>
            </a:r>
            <a:r>
              <a:rPr lang="en-US" altLang="ko-KR" dirty="0"/>
              <a:t>.</a:t>
            </a:r>
          </a:p>
          <a:p>
            <a:pPr marL="717550" lvl="1" indent="-361950">
              <a:buNone/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❹ </a:t>
            </a:r>
            <a:r>
              <a:rPr lang="ko-KR" altLang="en-US" dirty="0"/>
              <a:t>생명선</a:t>
            </a:r>
            <a:r>
              <a:rPr lang="en-US" altLang="ko-KR" dirty="0"/>
              <a:t>(lifeline ) : </a:t>
            </a:r>
            <a:r>
              <a:rPr lang="ko-KR" altLang="en-US" dirty="0"/>
              <a:t>객체가 존재할 수 있는 시간을 의미한다</a:t>
            </a:r>
            <a:r>
              <a:rPr lang="en-US" altLang="ko-KR" dirty="0"/>
              <a:t>. </a:t>
            </a:r>
            <a:r>
              <a:rPr lang="ko-KR" altLang="en-US" dirty="0"/>
              <a:t>객체가 소멸되면 생명선도 함께 소멸된다</a:t>
            </a:r>
            <a:r>
              <a:rPr lang="en-US" altLang="ko-KR" dirty="0"/>
              <a:t>.</a:t>
            </a:r>
          </a:p>
          <a:p>
            <a:pPr marL="717550" lvl="1" indent="-361950">
              <a:buNone/>
            </a:pP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❺</a:t>
            </a:r>
            <a:r>
              <a:rPr lang="en-US" altLang="ko-KR" dirty="0"/>
              <a:t> </a:t>
            </a:r>
            <a:r>
              <a:rPr lang="ko-KR" altLang="en-US" dirty="0"/>
              <a:t>활성화</a:t>
            </a:r>
            <a:r>
              <a:rPr lang="en-US" altLang="ko-KR" dirty="0"/>
              <a:t>(activation ) : </a:t>
            </a:r>
            <a:r>
              <a:rPr lang="ko-KR" altLang="en-US" dirty="0"/>
              <a:t>객체가 활성화된 기간을 의미한다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2220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pic>
        <p:nvPicPr>
          <p:cNvPr id="2050" name="Picture 2" descr="C:\Users\user\Dropbox\소프트웨어 창의 설계(교안)\fig(1~15장)\fig9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803" y="823649"/>
            <a:ext cx="6478430" cy="5359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508576" y="6052531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9-2]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9329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시퀀스 다이어그램의 구성요소 </a:t>
            </a:r>
            <a:r>
              <a:rPr lang="en-US" altLang="ko-KR" dirty="0"/>
              <a:t>: </a:t>
            </a:r>
            <a:r>
              <a:rPr lang="ko-KR" altLang="en-US" dirty="0"/>
              <a:t>사물</a:t>
            </a:r>
            <a:r>
              <a:rPr lang="en-US" altLang="ko-KR" dirty="0"/>
              <a:t>(Things)</a:t>
            </a:r>
          </a:p>
          <a:p>
            <a:pPr lvl="1"/>
            <a:r>
              <a:rPr lang="ko-KR" altLang="en-US" dirty="0"/>
              <a:t>생명선 또는 </a:t>
            </a:r>
            <a:r>
              <a:rPr lang="en-US" altLang="ko-KR" dirty="0"/>
              <a:t>Lifeline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pic>
        <p:nvPicPr>
          <p:cNvPr id="3074" name="Picture 2" descr="C:\Users\user\Dropbox\소프트웨어 창의 설계(교안)\fig(1~15장)\표9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364" y="1912831"/>
            <a:ext cx="8315536" cy="4157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356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95300" y="787400"/>
            <a:ext cx="8356600" cy="1308100"/>
          </a:xfrm>
        </p:spPr>
        <p:txBody>
          <a:bodyPr/>
          <a:lstStyle/>
          <a:p>
            <a:r>
              <a:rPr lang="ko-KR" altLang="en-US" dirty="0"/>
              <a:t>시퀀스 다이어그램의 구성요소 </a:t>
            </a:r>
            <a:r>
              <a:rPr lang="en-US" altLang="ko-KR" dirty="0"/>
              <a:t>: </a:t>
            </a:r>
            <a:r>
              <a:rPr lang="ko-KR" altLang="en-US" dirty="0"/>
              <a:t>관계</a:t>
            </a:r>
            <a:r>
              <a:rPr lang="en-US" altLang="ko-KR" dirty="0"/>
              <a:t>(Relationships)</a:t>
            </a:r>
          </a:p>
          <a:p>
            <a:pPr lvl="1"/>
            <a:r>
              <a:rPr lang="ko-KR" altLang="en-US" dirty="0"/>
              <a:t>메시지</a:t>
            </a:r>
            <a:r>
              <a:rPr lang="en-US" altLang="ko-KR" dirty="0"/>
              <a:t>(Message)</a:t>
            </a:r>
            <a:r>
              <a:rPr lang="ko-KR" altLang="en-US" dirty="0"/>
              <a:t>가 가장 많이 쓰임</a:t>
            </a:r>
            <a:endParaRPr lang="en-US" altLang="ko-KR" dirty="0"/>
          </a:p>
          <a:p>
            <a:pPr lvl="1"/>
            <a:r>
              <a:rPr lang="ko-KR" altLang="en-US" dirty="0"/>
              <a:t>이는 프로그래밍 코드의 호출</a:t>
            </a:r>
            <a:r>
              <a:rPr lang="en-US" altLang="ko-KR" dirty="0"/>
              <a:t>(call )</a:t>
            </a:r>
            <a:r>
              <a:rPr lang="ko-KR" altLang="en-US" dirty="0"/>
              <a:t>과 밀접한 관계가 있음</a:t>
            </a:r>
          </a:p>
        </p:txBody>
      </p:sp>
      <p:pic>
        <p:nvPicPr>
          <p:cNvPr id="4099" name="Picture 3" descr="C:\Users\user\Dropbox\소프트웨어 창의 설계(교안)\fig(1~15장)\표9-2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2223813"/>
            <a:ext cx="8052291" cy="397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662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pic>
        <p:nvPicPr>
          <p:cNvPr id="4098" name="Picture 2" descr="C:\Users\user\Dropbox\소프트웨어 창의 설계(교안)\fig(1~15장)\표9-2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461" y="819478"/>
            <a:ext cx="8161077" cy="4940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986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pic>
        <p:nvPicPr>
          <p:cNvPr id="5123" name="Picture 3" descr="C:\Users\user\Dropbox\소프트웨어 창의 설계(교안)\fig(1~15장)\fig_학습활동 9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302" y="1233366"/>
            <a:ext cx="7267575" cy="192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8487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sp>
        <p:nvSpPr>
          <p:cNvPr id="13" name="텍스트 개체 틀 2"/>
          <p:cNvSpPr txBox="1">
            <a:spLocks/>
          </p:cNvSpPr>
          <p:nvPr/>
        </p:nvSpPr>
        <p:spPr>
          <a:xfrm>
            <a:off x="495300" y="1279771"/>
            <a:ext cx="8356600" cy="112346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55600" indent="-355600">
              <a:tabLst/>
            </a:pPr>
            <a:r>
              <a:rPr lang="en-US" altLang="ko-KR" b="1" dirty="0">
                <a:solidFill>
                  <a:schemeClr val="accent2"/>
                </a:solidFill>
              </a:rPr>
              <a:t>01. </a:t>
            </a:r>
            <a:r>
              <a:rPr lang="ko-KR" altLang="en-US" dirty="0" err="1"/>
              <a:t>비주얼</a:t>
            </a:r>
            <a:r>
              <a:rPr lang="ko-KR" altLang="en-US" dirty="0"/>
              <a:t> 패러다임 상단 메뉴에서 </a:t>
            </a:r>
            <a:r>
              <a:rPr lang="en-US" altLang="ko-KR" dirty="0"/>
              <a:t>[Diagram] &gt; [New]</a:t>
            </a:r>
            <a:r>
              <a:rPr lang="ko-KR" altLang="en-US" dirty="0"/>
              <a:t>를 클릭한 후</a:t>
            </a:r>
            <a:r>
              <a:rPr lang="en-US" altLang="ko-KR" dirty="0"/>
              <a:t>, [Sequence Diagram]</a:t>
            </a:r>
            <a:r>
              <a:rPr lang="ko-KR" altLang="en-US" dirty="0"/>
              <a:t>을 클릭하여</a:t>
            </a:r>
            <a:r>
              <a:rPr lang="en-US" altLang="ko-KR" dirty="0"/>
              <a:t>, </a:t>
            </a:r>
            <a:r>
              <a:rPr lang="ko-KR" altLang="en-US" dirty="0"/>
              <a:t>다이어그램의 이름을 “내 첫 번째 시퀀스 다이어그램”이라고 명명하고 실습을 시작해 보자</a:t>
            </a:r>
            <a:r>
              <a:rPr lang="en-US" altLang="ko-KR" dirty="0"/>
              <a:t>.</a:t>
            </a:r>
            <a:endParaRPr lang="en-US" altLang="ko-KR" sz="1400" dirty="0"/>
          </a:p>
        </p:txBody>
      </p:sp>
      <p:sp>
        <p:nvSpPr>
          <p:cNvPr id="9" name="Google Shape;31;p4"/>
          <p:cNvSpPr txBox="1">
            <a:spLocks/>
          </p:cNvSpPr>
          <p:nvPr/>
        </p:nvSpPr>
        <p:spPr>
          <a:xfrm>
            <a:off x="495300" y="985648"/>
            <a:ext cx="1557494" cy="29412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bg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r>
              <a:rPr lang="ko-KR" altLang="en-US" sz="1600" dirty="0"/>
              <a:t>실습 따라 하기</a:t>
            </a:r>
          </a:p>
        </p:txBody>
      </p:sp>
      <p:cxnSp>
        <p:nvCxnSpPr>
          <p:cNvPr id="15" name="직선 연결선 14"/>
          <p:cNvCxnSpPr/>
          <p:nvPr/>
        </p:nvCxnSpPr>
        <p:spPr>
          <a:xfrm>
            <a:off x="495300" y="1279771"/>
            <a:ext cx="83566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75530" y="6275755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9-3]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147" name="Picture 3" descr="C:\Users\user\Dropbox\소프트웨어 창의 설계(교안)\fig(1~15장)\fig9-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981" y="2579078"/>
            <a:ext cx="5471988" cy="395828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그룹 11"/>
          <p:cNvGrpSpPr/>
          <p:nvPr/>
        </p:nvGrpSpPr>
        <p:grpSpPr>
          <a:xfrm>
            <a:off x="8118761" y="995903"/>
            <a:ext cx="733139" cy="246221"/>
            <a:chOff x="8118761" y="995903"/>
            <a:chExt cx="733139" cy="246221"/>
          </a:xfrm>
        </p:grpSpPr>
        <p:sp>
          <p:nvSpPr>
            <p:cNvPr id="14" name="TextBox 13">
              <a:hlinkClick r:id="rId3"/>
            </p:cNvPr>
            <p:cNvSpPr txBox="1"/>
            <p:nvPr/>
          </p:nvSpPr>
          <p:spPr>
            <a:xfrm>
              <a:off x="8118761" y="995903"/>
              <a:ext cx="7331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dirty="0" err="1">
                  <a:solidFill>
                    <a:schemeClr val="accent1"/>
                  </a:solidFill>
                  <a:latin typeface="+mn-ea"/>
                  <a:ea typeface="+mn-ea"/>
                </a:rPr>
                <a:t>ㄷ동영상</a:t>
              </a:r>
              <a:endParaRPr lang="ko-KR" altLang="en-US" sz="1000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18762" y="1064048"/>
              <a:ext cx="230913" cy="1463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1675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sp>
        <p:nvSpPr>
          <p:cNvPr id="12" name="텍스트 개체 틀 2"/>
          <p:cNvSpPr txBox="1">
            <a:spLocks/>
          </p:cNvSpPr>
          <p:nvPr/>
        </p:nvSpPr>
        <p:spPr>
          <a:xfrm>
            <a:off x="495300" y="943444"/>
            <a:ext cx="8356600" cy="38426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chemeClr val="accent2"/>
                </a:solidFill>
              </a:rPr>
              <a:t>02. </a:t>
            </a:r>
            <a:r>
              <a:rPr lang="ko-KR" altLang="en-US" dirty="0"/>
              <a:t>시퀀스 다이어그램을 시작하기 위해</a:t>
            </a:r>
            <a:r>
              <a:rPr lang="en-US" altLang="ko-KR" dirty="0"/>
              <a:t>, </a:t>
            </a:r>
            <a:r>
              <a:rPr lang="ko-KR" altLang="en-US" dirty="0"/>
              <a:t>메뉴에서 </a:t>
            </a:r>
            <a:r>
              <a:rPr lang="en-US" altLang="ko-KR" dirty="0"/>
              <a:t>[</a:t>
            </a:r>
            <a:r>
              <a:rPr lang="ko-KR" altLang="en-US" dirty="0" err="1"/>
              <a:t>액터</a:t>
            </a:r>
            <a:r>
              <a:rPr lang="en-US" altLang="ko-KR" dirty="0"/>
              <a:t>(Actor)]</a:t>
            </a:r>
            <a:r>
              <a:rPr lang="ko-KR" altLang="en-US" dirty="0"/>
              <a:t>를 선택하면 다음과 같이 </a:t>
            </a:r>
            <a:r>
              <a:rPr lang="en-US" altLang="ko-KR" dirty="0"/>
              <a:t>[</a:t>
            </a:r>
            <a:r>
              <a:rPr lang="ko-KR" altLang="en-US" dirty="0" err="1"/>
              <a:t>액터</a:t>
            </a:r>
            <a:r>
              <a:rPr lang="en-US" altLang="ko-KR" dirty="0"/>
              <a:t>(Actor)]</a:t>
            </a:r>
            <a:r>
              <a:rPr lang="ko-KR" altLang="en-US" dirty="0"/>
              <a:t>가 생성된다</a:t>
            </a:r>
            <a:r>
              <a:rPr lang="en-US" altLang="ko-KR" dirty="0"/>
              <a:t>.</a:t>
            </a:r>
            <a:endParaRPr lang="en-US" altLang="ko-KR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7743530" y="4922660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9-4]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170" name="Picture 2" descr="C:\Users\user\Dropbox\소프트웨어 창의 설계(교안)\fig(1~15장)\fig9-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170" y="1919298"/>
            <a:ext cx="6601266" cy="3264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413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sp>
        <p:nvSpPr>
          <p:cNvPr id="12" name="텍스트 개체 틀 2"/>
          <p:cNvSpPr txBox="1">
            <a:spLocks/>
          </p:cNvSpPr>
          <p:nvPr/>
        </p:nvSpPr>
        <p:spPr>
          <a:xfrm>
            <a:off x="495300" y="943444"/>
            <a:ext cx="8356600" cy="171873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chemeClr val="accent2"/>
                </a:solidFill>
              </a:rPr>
              <a:t>03. </a:t>
            </a:r>
            <a:r>
              <a:rPr lang="ko-KR" altLang="en-US" dirty="0"/>
              <a:t>시퀀스 다이어그램을 표현하기 위해서는 ‘생명선’을 만들어야 한다</a:t>
            </a:r>
            <a:r>
              <a:rPr lang="en-US" altLang="ko-KR" dirty="0"/>
              <a:t>. [</a:t>
            </a:r>
            <a:r>
              <a:rPr lang="ko-KR" altLang="en-US" dirty="0"/>
              <a:t>그림 </a:t>
            </a:r>
            <a:r>
              <a:rPr lang="en-US" altLang="ko-KR" dirty="0"/>
              <a:t>9-5]</a:t>
            </a:r>
            <a:r>
              <a:rPr lang="ko-KR" altLang="en-US" dirty="0"/>
              <a:t>과 같이 생명선을 선택해 준다</a:t>
            </a:r>
            <a:r>
              <a:rPr lang="en-US" altLang="ko-KR" dirty="0"/>
              <a:t>. </a:t>
            </a:r>
            <a:r>
              <a:rPr lang="ko-KR" altLang="en-US" dirty="0"/>
              <a:t>방법은 두 가지 방법 중 하나를 사용하면 된다</a:t>
            </a:r>
            <a:r>
              <a:rPr lang="en-US" altLang="ko-KR" dirty="0"/>
              <a:t>.</a:t>
            </a:r>
          </a:p>
          <a:p>
            <a:pPr marL="360363" indent="-1588" defTabSz="179388">
              <a:tabLst/>
            </a:pPr>
            <a:r>
              <a:rPr lang="en-US" altLang="ko-KR" dirty="0"/>
              <a:t>① </a:t>
            </a:r>
            <a:r>
              <a:rPr lang="ko-KR" altLang="en-US" dirty="0"/>
              <a:t>왼쪽 메뉴에서 </a:t>
            </a:r>
            <a:r>
              <a:rPr lang="en-US" altLang="ko-KR" dirty="0"/>
              <a:t>[Lifeline]</a:t>
            </a:r>
            <a:r>
              <a:rPr lang="ko-KR" altLang="en-US" dirty="0"/>
              <a:t>을 선택한다</a:t>
            </a:r>
            <a:r>
              <a:rPr lang="en-US" altLang="ko-KR" dirty="0"/>
              <a:t>.</a:t>
            </a:r>
          </a:p>
          <a:p>
            <a:pPr marL="360363" indent="-1588" defTabSz="179388">
              <a:tabLst/>
            </a:pPr>
            <a:r>
              <a:rPr lang="en-US" altLang="ko-KR" dirty="0"/>
              <a:t>② </a:t>
            </a:r>
            <a:r>
              <a:rPr lang="ko-KR" altLang="en-US" dirty="0"/>
              <a:t>생성된 </a:t>
            </a:r>
            <a:r>
              <a:rPr lang="en-US" altLang="ko-KR" dirty="0"/>
              <a:t>[</a:t>
            </a:r>
            <a:r>
              <a:rPr lang="ko-KR" altLang="en-US" dirty="0" err="1"/>
              <a:t>액터</a:t>
            </a:r>
            <a:r>
              <a:rPr lang="en-US" altLang="ko-KR" dirty="0"/>
              <a:t>(Actor)]</a:t>
            </a:r>
            <a:r>
              <a:rPr lang="ko-KR" altLang="en-US" dirty="0"/>
              <a:t>의 </a:t>
            </a:r>
            <a:r>
              <a:rPr lang="en-US" altLang="ko-KR" dirty="0"/>
              <a:t>[</a:t>
            </a:r>
            <a:r>
              <a:rPr lang="ko-KR" altLang="en-US" dirty="0"/>
              <a:t>리소스 카탈로그</a:t>
            </a:r>
            <a:r>
              <a:rPr lang="en-US" altLang="ko-KR" dirty="0"/>
              <a:t>(Resource Catalog)</a:t>
            </a:r>
            <a:r>
              <a:rPr lang="ko-KR" altLang="en-US" dirty="0"/>
              <a:t>를 클릭한다</a:t>
            </a:r>
            <a:r>
              <a:rPr lang="en-US" altLang="ko-KR" dirty="0"/>
              <a:t>. </a:t>
            </a:r>
            <a:endParaRPr lang="en-US" altLang="ko-KR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971600" y="6120880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9-5]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Picture 2" descr="C:\Users\user\Dropbox\소프트웨어 창의 설계(교안)\fig(1~15장)\fig9-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760285"/>
            <a:ext cx="6630285" cy="3271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C:\Users\user\Dropbox\소프트웨어 창의 설계(교안)\fig(1~15장)\fig9-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499" y="3842553"/>
            <a:ext cx="1765703" cy="2278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857499" y="6176858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9-6]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1042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sp>
        <p:nvSpPr>
          <p:cNvPr id="12" name="텍스트 개체 틀 2"/>
          <p:cNvSpPr txBox="1">
            <a:spLocks/>
          </p:cNvSpPr>
          <p:nvPr/>
        </p:nvSpPr>
        <p:spPr>
          <a:xfrm>
            <a:off x="495300" y="943444"/>
            <a:ext cx="8356600" cy="38426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chemeClr val="accent2"/>
                </a:solidFill>
              </a:rPr>
              <a:t>04. </a:t>
            </a:r>
            <a:r>
              <a:rPr lang="en-US" altLang="ko-KR" dirty="0"/>
              <a:t>[</a:t>
            </a:r>
            <a:r>
              <a:rPr lang="ko-KR" altLang="en-US" dirty="0"/>
              <a:t>생명선</a:t>
            </a:r>
            <a:r>
              <a:rPr lang="en-US" altLang="ko-KR" dirty="0"/>
              <a:t>(Lifeline)]</a:t>
            </a:r>
            <a:r>
              <a:rPr lang="ko-KR" altLang="en-US" dirty="0"/>
              <a:t>을 선택한 상태에서 마우스를 드래그하여 원하는 곳에 놓으면 </a:t>
            </a:r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9-7]</a:t>
            </a:r>
            <a:r>
              <a:rPr lang="ko-KR" altLang="en-US" dirty="0"/>
              <a:t>과 같이 ‘생명선’이 생성된다</a:t>
            </a:r>
            <a:r>
              <a:rPr lang="en-US" altLang="ko-KR" dirty="0"/>
              <a:t>. </a:t>
            </a:r>
            <a:r>
              <a:rPr lang="ko-KR" altLang="en-US" dirty="0"/>
              <a:t>그런 다음 수행할 메시지</a:t>
            </a:r>
            <a:r>
              <a:rPr lang="en-US" altLang="ko-KR" dirty="0"/>
              <a:t>(</a:t>
            </a:r>
            <a:r>
              <a:rPr lang="ko-KR" altLang="en-US" dirty="0"/>
              <a:t>클래스 다이어그램의 기능</a:t>
            </a:r>
            <a:r>
              <a:rPr lang="en-US" altLang="ko-KR" dirty="0"/>
              <a:t>)</a:t>
            </a:r>
            <a:r>
              <a:rPr lang="ko-KR" altLang="en-US" dirty="0"/>
              <a:t>를 작성한다</a:t>
            </a:r>
            <a:r>
              <a:rPr lang="en-US" altLang="ko-KR" dirty="0"/>
              <a:t>.</a:t>
            </a:r>
            <a:endParaRPr lang="en-US" altLang="ko-KR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7740352" y="6039086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9-7]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218" name="Picture 2" descr="C:\Users\user\Dropbox\소프트웨어 창의 설계(교안)\fig(1~15장)\fig9-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21" y="2221375"/>
            <a:ext cx="6479678" cy="412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3951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sp>
        <p:nvSpPr>
          <p:cNvPr id="12" name="텍스트 개체 틀 2"/>
          <p:cNvSpPr txBox="1">
            <a:spLocks/>
          </p:cNvSpPr>
          <p:nvPr/>
        </p:nvSpPr>
        <p:spPr>
          <a:xfrm>
            <a:off x="495300" y="943444"/>
            <a:ext cx="8356600" cy="38426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chemeClr val="accent2"/>
                </a:solidFill>
              </a:rPr>
              <a:t>05. </a:t>
            </a:r>
            <a:r>
              <a:rPr lang="ko-KR" altLang="en-US" dirty="0"/>
              <a:t>앞의 과정을 반복하여 생명선과 생명선 사이에 메시지 선들을 추가해 보자</a:t>
            </a:r>
            <a:r>
              <a:rPr lang="en-US" altLang="ko-KR" dirty="0"/>
              <a:t>. </a:t>
            </a:r>
            <a:r>
              <a:rPr lang="ko-KR" altLang="en-US" dirty="0"/>
              <a:t>예를 들면 ‘</a:t>
            </a:r>
            <a:r>
              <a:rPr lang="en-US" altLang="ko-KR" dirty="0"/>
              <a:t>Lifeline1’</a:t>
            </a:r>
            <a:r>
              <a:rPr lang="ko-KR" altLang="en-US" dirty="0"/>
              <a:t>에서 마우스를 드래그하여 ‘</a:t>
            </a:r>
            <a:r>
              <a:rPr lang="en-US" altLang="ko-KR" dirty="0"/>
              <a:t>Lifeliine2’</a:t>
            </a:r>
            <a:r>
              <a:rPr lang="ko-KR" altLang="en-US" dirty="0"/>
              <a:t>에 놓으면 메시지 선이 연결된다</a:t>
            </a:r>
            <a:r>
              <a:rPr lang="en-US" altLang="ko-KR" dirty="0"/>
              <a:t>.</a:t>
            </a:r>
            <a:endParaRPr lang="en-US" altLang="ko-KR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5934998" y="4655322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9-8]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42" name="Picture 2" descr="C:\Users\user\Dropbox\소프트웨어 창의 설계(교안)\fig(1~15장)\fig9-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489" y="1918745"/>
            <a:ext cx="4500296" cy="3014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144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sp>
        <p:nvSpPr>
          <p:cNvPr id="12" name="텍스트 개체 틀 2"/>
          <p:cNvSpPr txBox="1">
            <a:spLocks/>
          </p:cNvSpPr>
          <p:nvPr/>
        </p:nvSpPr>
        <p:spPr>
          <a:xfrm>
            <a:off x="495300" y="943444"/>
            <a:ext cx="8356600" cy="38426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chemeClr val="accent2"/>
                </a:solidFill>
              </a:rPr>
              <a:t>06. </a:t>
            </a:r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9-9]</a:t>
            </a:r>
            <a:r>
              <a:rPr lang="ko-KR" altLang="en-US" dirty="0"/>
              <a:t>와 같이 여러 개의 ‘생명선</a:t>
            </a:r>
            <a:r>
              <a:rPr lang="en-US" altLang="ko-KR" dirty="0"/>
              <a:t>(Lifeline)’</a:t>
            </a:r>
            <a:r>
              <a:rPr lang="ko-KR" altLang="en-US" dirty="0"/>
              <a:t>들을 연결한 후 각 ‘생명선</a:t>
            </a:r>
            <a:r>
              <a:rPr lang="en-US" altLang="ko-KR" dirty="0"/>
              <a:t>(Lifeline)’</a:t>
            </a:r>
            <a:r>
              <a:rPr lang="ko-KR" altLang="en-US" dirty="0"/>
              <a:t>에서 수행할 메시지를 작성한다</a:t>
            </a:r>
            <a:r>
              <a:rPr lang="en-US" altLang="ko-KR" dirty="0"/>
              <a:t>. </a:t>
            </a:r>
            <a:r>
              <a:rPr lang="ko-KR" altLang="en-US" dirty="0"/>
              <a:t>각 메시지에 자동으로 부여되는 번호들은 차례를 의미한다</a:t>
            </a:r>
            <a:r>
              <a:rPr lang="en-US" altLang="ko-KR" dirty="0"/>
              <a:t>.</a:t>
            </a:r>
            <a:endParaRPr lang="en-US" altLang="ko-KR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957179" y="6318148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9-9]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266" name="Picture 2" descr="C:\Users\user\Dropbox\소프트웨어 창의 설계(교안)\fig(1~15장)\fig9-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33" y="1838226"/>
            <a:ext cx="8603079" cy="4479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454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sp>
        <p:nvSpPr>
          <p:cNvPr id="12" name="텍스트 개체 틀 2"/>
          <p:cNvSpPr txBox="1">
            <a:spLocks/>
          </p:cNvSpPr>
          <p:nvPr/>
        </p:nvSpPr>
        <p:spPr>
          <a:xfrm>
            <a:off x="495300" y="943444"/>
            <a:ext cx="8356600" cy="38426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chemeClr val="accent2"/>
                </a:solidFill>
              </a:rPr>
              <a:t>07. </a:t>
            </a:r>
            <a:r>
              <a:rPr lang="en-US" altLang="ko-KR" dirty="0"/>
              <a:t>1, 1.1, 1.1.1</a:t>
            </a:r>
            <a:r>
              <a:rPr lang="ko-KR" altLang="en-US" dirty="0"/>
              <a:t>과 같은 번호를 </a:t>
            </a:r>
            <a:r>
              <a:rPr lang="en-US" altLang="ko-KR" dirty="0"/>
              <a:t>1, 2, 3</a:t>
            </a:r>
            <a:r>
              <a:rPr lang="ko-KR" altLang="en-US" dirty="0"/>
              <a:t>으로 바꾸고 싶다면 다이어그램의 빈 화면에서 마우스 오른쪽 버튼을 클릭한 후</a:t>
            </a:r>
            <a:r>
              <a:rPr lang="en-US" altLang="ko-KR" dirty="0"/>
              <a:t>, [Sequence Number] &gt; [Single Level]</a:t>
            </a:r>
            <a:r>
              <a:rPr lang="ko-KR" altLang="en-US" dirty="0"/>
              <a:t>을 선택한다</a:t>
            </a:r>
            <a:r>
              <a:rPr lang="en-US" altLang="ko-KR" dirty="0"/>
              <a:t>.</a:t>
            </a:r>
            <a:endParaRPr lang="en-US" altLang="ko-KR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957179" y="5587615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9-10]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290" name="Picture 2" descr="C:\Users\user\Dropbox\소프트웨어 창의 설계(교안)\fig(1~15장)\fig9-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179" y="1899139"/>
            <a:ext cx="4811419" cy="356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연결선 6"/>
          <p:cNvCxnSpPr/>
          <p:nvPr/>
        </p:nvCxnSpPr>
        <p:spPr>
          <a:xfrm>
            <a:off x="495300" y="6124569"/>
            <a:ext cx="83566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203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pic>
        <p:nvPicPr>
          <p:cNvPr id="5122" name="Picture 2" descr="C:\Users\user\Dropbox\소프트웨어 창의 설계(교안)\fig(1~15장)\fig_학습활동 9-2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652" y="863283"/>
            <a:ext cx="6780579" cy="5309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338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pic>
        <p:nvPicPr>
          <p:cNvPr id="13314" name="Picture 2" descr="C:\Users\user\Dropbox\소프트웨어 창의 설계(교안)\fig(1~15장)\fig_학습활동 9-2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30" y="1285386"/>
            <a:ext cx="6806184" cy="175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149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 </a:t>
            </a:r>
            <a:r>
              <a:rPr lang="ko-KR" altLang="en-US" dirty="0"/>
              <a:t>시퀀스 다이어그램 개념 알기</a:t>
            </a:r>
          </a:p>
        </p:txBody>
      </p:sp>
      <p:pic>
        <p:nvPicPr>
          <p:cNvPr id="13314" name="Picture 2" descr="C:\Users\user\Dropbox\소프트웨어 창의 설계(교안)\fig(1~15장)\fig_학습활동 9-2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30" y="1285386"/>
            <a:ext cx="6806184" cy="175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5" name="Picture 3" descr="C:\Users\user\Dropbox\소프트웨어 창의 설계(교안)\fig(1~15장)\fig9-202p-ti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30" y="1030156"/>
            <a:ext cx="7075814" cy="5364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9258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95300" y="787400"/>
            <a:ext cx="8356600" cy="1308100"/>
          </a:xfrm>
        </p:spPr>
        <p:txBody>
          <a:bodyPr/>
          <a:lstStyle/>
          <a:p>
            <a:r>
              <a:rPr lang="en-US" altLang="ko-KR" dirty="0"/>
              <a:t>MVC </a:t>
            </a:r>
            <a:r>
              <a:rPr lang="ko-KR" altLang="en-US" dirty="0"/>
              <a:t>모델이란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대표적인 소프트웨어 디자인 패턴으로</a:t>
            </a:r>
            <a:r>
              <a:rPr lang="en-US" altLang="ko-KR" dirty="0"/>
              <a:t>, </a:t>
            </a:r>
            <a:r>
              <a:rPr lang="ko-KR" altLang="en-US" dirty="0"/>
              <a:t>웹 프레임워크에서 많이 쓰임</a:t>
            </a:r>
            <a:endParaRPr lang="en-US" altLang="ko-KR" dirty="0"/>
          </a:p>
          <a:p>
            <a:pPr lvl="1"/>
            <a:r>
              <a:rPr lang="ko-KR" altLang="en-US" dirty="0"/>
              <a:t>규모가 큰 프로젝트는 프로젝트 전체를 한눈에 파악이 안 되고</a:t>
            </a:r>
            <a:r>
              <a:rPr lang="en-US" altLang="ko-KR" dirty="0"/>
              <a:t>, </a:t>
            </a:r>
            <a:r>
              <a:rPr lang="ko-KR" altLang="en-US" dirty="0"/>
              <a:t>문제가 생겼을 때 빨리 해결하기도 어려울 수 있음</a:t>
            </a:r>
            <a:endParaRPr lang="en-US" altLang="ko-KR" dirty="0"/>
          </a:p>
          <a:p>
            <a:pPr lvl="1"/>
            <a:r>
              <a:rPr lang="ko-KR" altLang="en-US" dirty="0"/>
              <a:t>그래서 전체 프로젝트를 하나의 파일에서만 다루는 것이 아니라</a:t>
            </a:r>
            <a:r>
              <a:rPr lang="en-US" altLang="ko-KR" dirty="0"/>
              <a:t>, </a:t>
            </a:r>
            <a:r>
              <a:rPr lang="ko-KR" altLang="en-US" dirty="0" err="1"/>
              <a:t>성능별로</a:t>
            </a:r>
            <a:r>
              <a:rPr lang="ko-KR" altLang="en-US" dirty="0"/>
              <a:t> 분리시키면 훨씬 효율적으로 진행할 수 있음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이러한 분리 방법이 </a:t>
            </a:r>
            <a:r>
              <a:rPr lang="en-US" altLang="ko-KR" dirty="0"/>
              <a:t>MVC </a:t>
            </a:r>
            <a:r>
              <a:rPr lang="ko-KR" altLang="en-US" dirty="0"/>
              <a:t>모델임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MVC</a:t>
            </a:r>
            <a:r>
              <a:rPr lang="ko-KR" altLang="en-US" dirty="0"/>
              <a:t>의 장점</a:t>
            </a:r>
            <a:endParaRPr lang="en-US" altLang="ko-KR" dirty="0"/>
          </a:p>
          <a:p>
            <a:pPr lvl="1"/>
            <a:r>
              <a:rPr lang="en-US" altLang="ko-KR" dirty="0"/>
              <a:t>UI</a:t>
            </a:r>
            <a:r>
              <a:rPr lang="ko-KR" altLang="en-US" dirty="0"/>
              <a:t>상의 오류를 수정해야 한다고 할 때</a:t>
            </a:r>
            <a:r>
              <a:rPr lang="en-US" altLang="ko-KR" dirty="0"/>
              <a:t>, </a:t>
            </a:r>
            <a:r>
              <a:rPr lang="ko-KR" altLang="en-US" dirty="0"/>
              <a:t>프로젝트의 역할을 </a:t>
            </a:r>
            <a:r>
              <a:rPr lang="en-US" altLang="ko-KR" dirty="0"/>
              <a:t>MVC </a:t>
            </a:r>
            <a:r>
              <a:rPr lang="ko-KR" altLang="en-US" dirty="0"/>
              <a:t>모델을 이용해 분리해놓지 않는다면</a:t>
            </a:r>
            <a:r>
              <a:rPr lang="en-US" altLang="ko-KR" dirty="0"/>
              <a:t>, UI</a:t>
            </a:r>
            <a:r>
              <a:rPr lang="ko-KR" altLang="en-US" dirty="0"/>
              <a:t>의 오류를 수정하기 위해 모든 코드를 보며 오류가 난 부분을 찾아야 함</a:t>
            </a:r>
            <a:endParaRPr lang="en-US" altLang="ko-KR" dirty="0"/>
          </a:p>
          <a:p>
            <a:pPr lvl="1"/>
            <a:r>
              <a:rPr lang="ko-KR" altLang="en-US" dirty="0"/>
              <a:t>하지만 </a:t>
            </a:r>
            <a:r>
              <a:rPr lang="en-US" altLang="ko-KR" dirty="0"/>
              <a:t>UI</a:t>
            </a:r>
            <a:r>
              <a:rPr lang="ko-KR" altLang="en-US" dirty="0"/>
              <a:t>가 다른 기능들과 분리되어 있으면</a:t>
            </a:r>
            <a:r>
              <a:rPr lang="en-US" altLang="ko-KR" dirty="0"/>
              <a:t>, </a:t>
            </a:r>
            <a:r>
              <a:rPr lang="ko-KR" altLang="en-US" dirty="0"/>
              <a:t>바로 </a:t>
            </a:r>
            <a:r>
              <a:rPr lang="en-US" altLang="ko-KR" dirty="0"/>
              <a:t>UI </a:t>
            </a:r>
            <a:r>
              <a:rPr lang="ko-KR" altLang="en-US" dirty="0"/>
              <a:t>부분으로 가서 빠르게 수정할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27651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모델</a:t>
            </a:r>
            <a:r>
              <a:rPr lang="en-US" altLang="ko-KR" dirty="0"/>
              <a:t>, </a:t>
            </a:r>
            <a:r>
              <a:rPr lang="ko-KR" altLang="en-US" dirty="0" err="1"/>
              <a:t>뷰</a:t>
            </a:r>
            <a:r>
              <a:rPr lang="en-US" altLang="ko-KR" dirty="0"/>
              <a:t>, </a:t>
            </a:r>
            <a:r>
              <a:rPr lang="ko-KR" altLang="en-US" dirty="0"/>
              <a:t>컨트롤러란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모델</a:t>
            </a:r>
            <a:r>
              <a:rPr lang="en-US" altLang="ko-KR" dirty="0"/>
              <a:t>(Model) : </a:t>
            </a:r>
            <a:r>
              <a:rPr lang="ko-KR" altLang="en-US" dirty="0"/>
              <a:t>데이터를 관리하고 저장한다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 err="1"/>
              <a:t>뷰</a:t>
            </a:r>
            <a:r>
              <a:rPr lang="en-US" altLang="ko-KR" dirty="0"/>
              <a:t>(View) : </a:t>
            </a:r>
            <a:r>
              <a:rPr lang="ko-KR" altLang="en-US" dirty="0"/>
              <a:t>사용자가 보는 유저 인터페이스</a:t>
            </a:r>
            <a:r>
              <a:rPr lang="en-US" altLang="ko-KR" dirty="0"/>
              <a:t>(User Interface : UI)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ko-KR" altLang="en-US" dirty="0"/>
              <a:t>데이터를 보여 주는 일종의 템플릿</a:t>
            </a:r>
            <a:r>
              <a:rPr lang="en-US" altLang="ko-KR" dirty="0"/>
              <a:t> </a:t>
            </a:r>
            <a:r>
              <a:rPr lang="ko-KR" altLang="en-US" dirty="0"/>
              <a:t>역할을 함</a:t>
            </a:r>
            <a:endParaRPr lang="en-US" altLang="ko-KR" dirty="0"/>
          </a:p>
          <a:p>
            <a:pPr lvl="1"/>
            <a:r>
              <a:rPr lang="ko-KR" altLang="en-US" dirty="0"/>
              <a:t>컨트롤러</a:t>
            </a:r>
            <a:r>
              <a:rPr lang="en-US" altLang="ko-KR" dirty="0"/>
              <a:t>(Controller 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유저로부터 들어오는 요청을 처리하며</a:t>
            </a:r>
            <a:r>
              <a:rPr lang="en-US" altLang="ko-KR" dirty="0"/>
              <a:t>, </a:t>
            </a:r>
            <a:r>
              <a:rPr lang="ko-KR" altLang="en-US" dirty="0"/>
              <a:t>모델과 </a:t>
            </a:r>
            <a:r>
              <a:rPr lang="ko-KR" altLang="en-US" dirty="0" err="1"/>
              <a:t>뷰</a:t>
            </a:r>
            <a:r>
              <a:rPr lang="ko-KR" altLang="en-US" dirty="0"/>
              <a:t> 사이에서 모델로부터 데이터를 받아 </a:t>
            </a:r>
            <a:r>
              <a:rPr lang="ko-KR" altLang="en-US" dirty="0" err="1"/>
              <a:t>뷰에</a:t>
            </a:r>
            <a:r>
              <a:rPr lang="ko-KR" altLang="en-US" dirty="0"/>
              <a:t> 전송함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pic>
        <p:nvPicPr>
          <p:cNvPr id="14338" name="Picture 2" descr="C:\Users\user\Dropbox\소프트웨어 창의 설계(교안)\fig(1~15장)\fig9-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792" y="3113151"/>
            <a:ext cx="6696807" cy="30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282963" y="6014009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9-13]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8885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예시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2921" y="5400823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9-14]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362" name="Picture 2" descr="C:\Users\user\Dropbox\소프트웨어 창의 설계(교안)\fig(1~15장)\fig9-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401483"/>
            <a:ext cx="8262201" cy="4002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602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ECB </a:t>
            </a:r>
            <a:r>
              <a:rPr lang="ko-KR" altLang="en-US" dirty="0"/>
              <a:t>모델이란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UML</a:t>
            </a:r>
            <a:r>
              <a:rPr lang="ko-KR" altLang="en-US" dirty="0"/>
              <a:t>에서는 </a:t>
            </a:r>
            <a:r>
              <a:rPr lang="en-US" altLang="ko-KR" dirty="0"/>
              <a:t>MVC</a:t>
            </a:r>
            <a:r>
              <a:rPr lang="ko-KR" altLang="en-US" dirty="0"/>
              <a:t>가 아닌</a:t>
            </a:r>
            <a:r>
              <a:rPr lang="en-US" altLang="ko-KR" dirty="0"/>
              <a:t>, MVC</a:t>
            </a:r>
            <a:r>
              <a:rPr lang="ko-KR" altLang="en-US" dirty="0"/>
              <a:t>를 단순화한 </a:t>
            </a:r>
            <a:r>
              <a:rPr lang="en-US" altLang="ko-KR" dirty="0"/>
              <a:t>ECB</a:t>
            </a:r>
            <a:r>
              <a:rPr lang="ko-KR" altLang="en-US" dirty="0"/>
              <a:t>라는 용어를 사용함</a:t>
            </a:r>
            <a:endParaRPr lang="en-US" altLang="ko-KR" dirty="0"/>
          </a:p>
          <a:p>
            <a:pPr lvl="1"/>
            <a:r>
              <a:rPr lang="en-US" altLang="ko-KR" dirty="0"/>
              <a:t>ECB</a:t>
            </a:r>
            <a:r>
              <a:rPr lang="ko-KR" altLang="en-US" dirty="0"/>
              <a:t>의 요소는 </a:t>
            </a:r>
            <a:r>
              <a:rPr lang="en-US" altLang="ko-KR" dirty="0"/>
              <a:t>MVC</a:t>
            </a:r>
            <a:r>
              <a:rPr lang="ko-KR" altLang="en-US" dirty="0"/>
              <a:t>의 요소와 거의 일대일로 대응함</a:t>
            </a:r>
            <a:endParaRPr lang="en-US" altLang="ko-KR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pic>
        <p:nvPicPr>
          <p:cNvPr id="16386" name="Picture 2" descr="C:\Users\user\Dropbox\소프트웨어 창의 설계(교안)\fig(1~15장)\표9-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621" y="2313313"/>
            <a:ext cx="4866762" cy="339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5020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ECB </a:t>
            </a:r>
            <a:r>
              <a:rPr lang="ko-KR" altLang="en-US" dirty="0"/>
              <a:t>특징 </a:t>
            </a:r>
            <a:r>
              <a:rPr lang="en-US" altLang="ko-KR" dirty="0"/>
              <a:t>: </a:t>
            </a:r>
            <a:r>
              <a:rPr lang="ko-KR" altLang="en-US" dirty="0"/>
              <a:t>영역</a:t>
            </a:r>
            <a:r>
              <a:rPr lang="en-US" altLang="ko-KR" dirty="0"/>
              <a:t>(Boundary)</a:t>
            </a:r>
          </a:p>
          <a:p>
            <a:pPr lvl="1"/>
            <a:r>
              <a:rPr lang="ko-KR" altLang="en-US" dirty="0"/>
              <a:t>시스템 내부와 외부 환경 사이의 커뮤니케이션을 다룸</a:t>
            </a:r>
            <a:endParaRPr lang="en-US" altLang="ko-KR" dirty="0"/>
          </a:p>
          <a:p>
            <a:pPr lvl="1"/>
            <a:r>
              <a:rPr lang="ko-KR" altLang="en-US" dirty="0"/>
              <a:t>사용자 또는 다른 시스템과의 인터페이스를 제공하며</a:t>
            </a:r>
            <a:r>
              <a:rPr lang="en-US" altLang="ko-KR" dirty="0"/>
              <a:t>, </a:t>
            </a:r>
            <a:r>
              <a:rPr lang="ko-KR" altLang="en-US" dirty="0"/>
              <a:t>시스템의 주위 환경과 시스템 내부 사이의 통신 역할을 함</a:t>
            </a:r>
            <a:endParaRPr lang="en-US" altLang="ko-KR" dirty="0"/>
          </a:p>
          <a:p>
            <a:pPr lvl="1"/>
            <a:r>
              <a:rPr lang="ko-KR" altLang="en-US" dirty="0"/>
              <a:t>주위환경에 의존성을 갖는 부분을 구성하고</a:t>
            </a:r>
            <a:r>
              <a:rPr lang="en-US" altLang="ko-KR" dirty="0"/>
              <a:t>, </a:t>
            </a:r>
            <a:r>
              <a:rPr lang="ko-KR" altLang="en-US" dirty="0"/>
              <a:t>시스템 인터페이스를 </a:t>
            </a:r>
            <a:r>
              <a:rPr lang="ko-KR" altLang="en-US" dirty="0" err="1"/>
              <a:t>모델링하는</a:t>
            </a:r>
            <a:r>
              <a:rPr lang="ko-KR" altLang="en-US" dirty="0"/>
              <a:t> 데 사용됨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ECB </a:t>
            </a:r>
            <a:r>
              <a:rPr lang="ko-KR" altLang="en-US" dirty="0"/>
              <a:t>특징 </a:t>
            </a:r>
            <a:r>
              <a:rPr lang="en-US" altLang="ko-KR" dirty="0"/>
              <a:t>: </a:t>
            </a:r>
            <a:r>
              <a:rPr lang="ko-KR" altLang="en-US" dirty="0"/>
              <a:t>제어</a:t>
            </a:r>
            <a:r>
              <a:rPr lang="en-US" altLang="ko-KR" dirty="0"/>
              <a:t>(Control )</a:t>
            </a:r>
          </a:p>
          <a:p>
            <a:pPr lvl="1"/>
            <a:r>
              <a:rPr lang="ko-KR" altLang="en-US" dirty="0"/>
              <a:t>하나 이상의 유스케이스에 특정한 시퀀스를 </a:t>
            </a:r>
            <a:r>
              <a:rPr lang="ko-KR" altLang="en-US" dirty="0" err="1"/>
              <a:t>모델링함</a:t>
            </a:r>
            <a:endParaRPr lang="en-US" altLang="ko-KR" dirty="0"/>
          </a:p>
          <a:p>
            <a:pPr lvl="1"/>
            <a:r>
              <a:rPr lang="ko-KR" altLang="en-US" dirty="0"/>
              <a:t>컨트롤 클래스는 </a:t>
            </a:r>
            <a:r>
              <a:rPr lang="en-US" altLang="ko-KR" dirty="0"/>
              <a:t>1</a:t>
            </a:r>
            <a:r>
              <a:rPr lang="ko-KR" altLang="en-US" dirty="0"/>
              <a:t>개 이상의 유스케이스에서 나타나는 연속적인 행동을 </a:t>
            </a:r>
            <a:r>
              <a:rPr lang="ko-KR" altLang="en-US" dirty="0" err="1"/>
              <a:t>모델링함</a:t>
            </a:r>
            <a:endParaRPr lang="en-US" altLang="ko-KR" dirty="0"/>
          </a:p>
          <a:p>
            <a:pPr lvl="1"/>
            <a:r>
              <a:rPr lang="ko-KR" altLang="en-US" dirty="0"/>
              <a:t>유스케이스에서 명시된 행동을 실체화하기 위해 필요한 이벤트를 조정함</a:t>
            </a:r>
            <a:endParaRPr lang="en-US" altLang="ko-KR" dirty="0"/>
          </a:p>
          <a:p>
            <a:pPr lvl="1"/>
            <a:r>
              <a:rPr lang="ko-KR" altLang="en-US" dirty="0"/>
              <a:t>애플리케이션에 의존성을 가지며</a:t>
            </a:r>
            <a:r>
              <a:rPr lang="en-US" altLang="ko-KR" dirty="0"/>
              <a:t>, </a:t>
            </a:r>
            <a:r>
              <a:rPr lang="ko-KR" altLang="en-US" dirty="0"/>
              <a:t>분석 및 설계가 진행되면서 삭제</a:t>
            </a:r>
            <a:r>
              <a:rPr lang="en-US" altLang="ko-KR" dirty="0"/>
              <a:t>, </a:t>
            </a:r>
            <a:r>
              <a:rPr lang="ko-KR" altLang="en-US" dirty="0"/>
              <a:t>분리</a:t>
            </a:r>
            <a:r>
              <a:rPr lang="en-US" altLang="ko-KR" dirty="0"/>
              <a:t>, </a:t>
            </a:r>
            <a:r>
              <a:rPr lang="ko-KR" altLang="en-US" dirty="0"/>
              <a:t>병합이 가능함</a:t>
            </a:r>
            <a:endParaRPr lang="en-US" altLang="ko-KR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</p:spTree>
    <p:extLst>
      <p:ext uri="{BB962C8B-B14F-4D97-AF65-F5344CB8AC3E}">
        <p14:creationId xmlns:p14="http://schemas.microsoft.com/office/powerpoint/2010/main" val="10110092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ECB </a:t>
            </a:r>
            <a:r>
              <a:rPr lang="ko-KR" altLang="en-US" dirty="0"/>
              <a:t>특징 </a:t>
            </a:r>
            <a:r>
              <a:rPr lang="en-US" altLang="ko-KR" dirty="0"/>
              <a:t>: </a:t>
            </a:r>
            <a:r>
              <a:rPr lang="ko-KR" altLang="en-US" dirty="0"/>
              <a:t>개체</a:t>
            </a:r>
            <a:r>
              <a:rPr lang="en-US" altLang="ko-KR" dirty="0"/>
              <a:t>(Entity )</a:t>
            </a:r>
          </a:p>
          <a:p>
            <a:pPr lvl="1"/>
            <a:r>
              <a:rPr lang="ko-KR" altLang="en-US" dirty="0"/>
              <a:t>시스템의 중심이 되는 필요한 내용을 </a:t>
            </a:r>
            <a:r>
              <a:rPr lang="ko-KR" altLang="en-US" dirty="0" err="1"/>
              <a:t>모델링함</a:t>
            </a:r>
            <a:endParaRPr lang="en-US" altLang="ko-KR" dirty="0"/>
          </a:p>
          <a:p>
            <a:pPr lvl="1"/>
            <a:r>
              <a:rPr lang="ko-KR" altLang="en-US" dirty="0"/>
              <a:t>시스템 내부적인 일을 수행하며</a:t>
            </a:r>
            <a:r>
              <a:rPr lang="en-US" altLang="ko-KR" dirty="0"/>
              <a:t>, </a:t>
            </a:r>
            <a:r>
              <a:rPr lang="ko-KR" altLang="en-US" dirty="0"/>
              <a:t>오랫동안 존재하는 정보와 그에 관련된 행동을 </a:t>
            </a:r>
            <a:r>
              <a:rPr lang="ko-KR" altLang="en-US" dirty="0" err="1"/>
              <a:t>모델링함</a:t>
            </a:r>
            <a:endParaRPr lang="en-US" altLang="ko-KR" dirty="0"/>
          </a:p>
          <a:p>
            <a:pPr lvl="1"/>
            <a:r>
              <a:rPr lang="ko-KR" altLang="en-US" dirty="0"/>
              <a:t>주위 환경에 독립적이기 때문에 시스템과의 통신에 민감하지 않다는 특징이 있음</a:t>
            </a:r>
            <a:endParaRPr lang="en-US" altLang="ko-KR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</p:spTree>
    <p:extLst>
      <p:ext uri="{BB962C8B-B14F-4D97-AF65-F5344CB8AC3E}">
        <p14:creationId xmlns:p14="http://schemas.microsoft.com/office/powerpoint/2010/main" val="381533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시나리오에서 </a:t>
            </a:r>
            <a:r>
              <a:rPr lang="en-US" altLang="ko-KR" dirty="0"/>
              <a:t>ECB</a:t>
            </a:r>
            <a:r>
              <a:rPr lang="ko-KR" altLang="en-US" dirty="0"/>
              <a:t>를 추출하는 팁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b="1" dirty="0"/>
              <a:t>영역 클래스</a:t>
            </a:r>
            <a:r>
              <a:rPr lang="en-US" altLang="ko-KR" b="1" dirty="0"/>
              <a:t>(Boundary class) </a:t>
            </a:r>
            <a:r>
              <a:rPr lang="en-US" altLang="ko-KR" dirty="0"/>
              <a:t>: Flow of event</a:t>
            </a:r>
            <a:r>
              <a:rPr lang="ko-KR" altLang="en-US" dirty="0"/>
              <a:t>를 기반으로 </a:t>
            </a:r>
            <a:r>
              <a:rPr lang="en-US" altLang="ko-KR" dirty="0"/>
              <a:t>Actor</a:t>
            </a:r>
            <a:r>
              <a:rPr lang="ko-KR" altLang="en-US" dirty="0"/>
              <a:t>와 시스템과의 </a:t>
            </a:r>
            <a:r>
              <a:rPr lang="en-US" altLang="ko-KR" dirty="0"/>
              <a:t>User Interface</a:t>
            </a:r>
            <a:r>
              <a:rPr lang="ko-KR" altLang="en-US" dirty="0"/>
              <a:t>를 정의한다</a:t>
            </a:r>
            <a:r>
              <a:rPr lang="en-US" altLang="ko-KR" dirty="0"/>
              <a:t>. </a:t>
            </a:r>
            <a:r>
              <a:rPr lang="ko-KR" altLang="en-US" dirty="0"/>
              <a:t>설계 과정에서 선택된 </a:t>
            </a:r>
            <a:r>
              <a:rPr lang="en-US" altLang="ko-KR" dirty="0"/>
              <a:t>GUI </a:t>
            </a:r>
            <a:r>
              <a:rPr lang="ko-KR" altLang="en-US" dirty="0"/>
              <a:t>메커니즘에 따라 정제되며</a:t>
            </a:r>
            <a:r>
              <a:rPr lang="en-US" altLang="ko-KR" dirty="0"/>
              <a:t>, </a:t>
            </a:r>
            <a:r>
              <a:rPr lang="ko-KR" altLang="en-US" dirty="0"/>
              <a:t>다른 시스템과의 통신을 지원하기 위해 추가한다</a:t>
            </a:r>
            <a:r>
              <a:rPr lang="en-US" altLang="ko-KR" dirty="0"/>
              <a:t>. </a:t>
            </a:r>
            <a:r>
              <a:rPr lang="ko-KR" altLang="en-US" dirty="0"/>
              <a:t>설계 과정에서 선택된 통신 프로토콜에 따라 정제된다는 것을 기억하면 좋다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제어 클래스</a:t>
            </a:r>
            <a:r>
              <a:rPr lang="en-US" altLang="ko-KR" b="1" dirty="0"/>
              <a:t>(Control class) </a:t>
            </a:r>
            <a:r>
              <a:rPr lang="en-US" altLang="ko-KR" dirty="0"/>
              <a:t>: </a:t>
            </a:r>
            <a:r>
              <a:rPr lang="ko-KR" altLang="en-US" dirty="0"/>
              <a:t>제어 클래스가 연결고리</a:t>
            </a:r>
            <a:r>
              <a:rPr lang="en-US" altLang="ko-KR" dirty="0"/>
              <a:t>(Sequencing) </a:t>
            </a:r>
            <a:r>
              <a:rPr lang="ko-KR" altLang="en-US" dirty="0"/>
              <a:t>이상의 역할을 하는 것은 바람직하지 않다</a:t>
            </a:r>
            <a:r>
              <a:rPr lang="en-US" altLang="ko-KR" dirty="0"/>
              <a:t>. </a:t>
            </a:r>
            <a:r>
              <a:rPr lang="ko-KR" altLang="en-US" dirty="0"/>
              <a:t>제어 클래스의 사용은 매우 주관적이라는 것을 기억해야 한다</a:t>
            </a:r>
            <a:r>
              <a:rPr lang="en-US" altLang="ko-KR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b="1" dirty="0"/>
              <a:t>개체 클래스</a:t>
            </a:r>
            <a:r>
              <a:rPr lang="en-US" altLang="ko-KR" b="1" dirty="0"/>
              <a:t>(Entity class) </a:t>
            </a:r>
            <a:r>
              <a:rPr lang="en-US" altLang="ko-KR" dirty="0"/>
              <a:t>: </a:t>
            </a:r>
            <a:r>
              <a:rPr lang="ko-KR" altLang="en-US" dirty="0"/>
              <a:t>어떤 역할을 수행하기 위해 시스템에서 필요로 하는 클래스이기 때문에 역할을 표현하기 위해 사용된 명사나 명사구를 후보 클래스로 추출한다</a:t>
            </a:r>
            <a:r>
              <a:rPr lang="en-US" altLang="ko-KR" dirty="0"/>
              <a:t>. </a:t>
            </a:r>
            <a:r>
              <a:rPr lang="ko-KR" altLang="en-US" dirty="0"/>
              <a:t>후보 클래스들에서 문제 영역과 관련 없는 명사</a:t>
            </a:r>
            <a:r>
              <a:rPr lang="en-US" altLang="ko-KR" dirty="0"/>
              <a:t>, </a:t>
            </a:r>
            <a:r>
              <a:rPr lang="ko-KR" altLang="en-US" dirty="0"/>
              <a:t>단지 언어적 표현</a:t>
            </a:r>
            <a:r>
              <a:rPr lang="en-US" altLang="ko-KR" dirty="0"/>
              <a:t>, </a:t>
            </a:r>
            <a:r>
              <a:rPr lang="ko-KR" altLang="en-US" dirty="0"/>
              <a:t>중복된 내용을 표현한 명사 등은 제거하는 것이 좋다</a:t>
            </a:r>
            <a:endParaRPr lang="en-US" altLang="ko-KR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</p:spTree>
    <p:extLst>
      <p:ext uri="{BB962C8B-B14F-4D97-AF65-F5344CB8AC3E}">
        <p14:creationId xmlns:p14="http://schemas.microsoft.com/office/powerpoint/2010/main" val="1662160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ECB </a:t>
            </a:r>
            <a:r>
              <a:rPr lang="ko-KR" altLang="en-US" dirty="0"/>
              <a:t>아이콘을 적용한 다이어그램</a:t>
            </a:r>
            <a:endParaRPr lang="en-US" altLang="ko-KR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61" y="1510657"/>
            <a:ext cx="8741029" cy="413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265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ECB </a:t>
            </a:r>
            <a:r>
              <a:rPr lang="ko-KR" altLang="en-US" dirty="0"/>
              <a:t>아이콘을 적용한 다이어그램</a:t>
            </a:r>
            <a:endParaRPr lang="en-US" altLang="ko-KR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221" y="3635019"/>
            <a:ext cx="4127570" cy="262517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510656"/>
            <a:ext cx="4127570" cy="262517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12173" y="4168504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9-15]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96761" y="6302645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9-16]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꺾인 연결선 14"/>
          <p:cNvCxnSpPr>
            <a:stCxn id="11" idx="3"/>
          </p:cNvCxnSpPr>
          <p:nvPr/>
        </p:nvCxnSpPr>
        <p:spPr>
          <a:xfrm>
            <a:off x="4622870" y="2823243"/>
            <a:ext cx="971455" cy="811776"/>
          </a:xfrm>
          <a:prstGeom prst="bentConnector3">
            <a:avLst>
              <a:gd name="adj1" fmla="val 997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092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022" y="1101865"/>
            <a:ext cx="6842578" cy="516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249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en-US" altLang="ko-KR" dirty="0"/>
              <a:t>ECB</a:t>
            </a:r>
            <a:r>
              <a:rPr lang="ko-KR" altLang="en-US" dirty="0"/>
              <a:t>를 적용한 시퀀스 다이어그램 예시</a:t>
            </a:r>
            <a:endParaRPr lang="en-US" altLang="ko-KR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13" y="1305159"/>
            <a:ext cx="7461163" cy="40369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324" y="5342063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9-18]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5724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sp>
        <p:nvSpPr>
          <p:cNvPr id="13" name="텍스트 개체 틀 2"/>
          <p:cNvSpPr txBox="1">
            <a:spLocks/>
          </p:cNvSpPr>
          <p:nvPr/>
        </p:nvSpPr>
        <p:spPr>
          <a:xfrm>
            <a:off x="495300" y="1279771"/>
            <a:ext cx="8356600" cy="112346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55600" indent="-355600">
              <a:tabLst/>
            </a:pPr>
            <a:r>
              <a:rPr lang="en-US" altLang="ko-KR" b="1" dirty="0">
                <a:solidFill>
                  <a:schemeClr val="accent2"/>
                </a:solidFill>
              </a:rPr>
              <a:t>01. </a:t>
            </a:r>
            <a:r>
              <a:rPr lang="ko-KR" altLang="en-US" dirty="0"/>
              <a:t>기존에 작성한 </a:t>
            </a:r>
            <a:r>
              <a:rPr lang="en-US" altLang="ko-KR" dirty="0"/>
              <a:t>[</a:t>
            </a:r>
            <a:r>
              <a:rPr lang="ko-KR" altLang="en-US" dirty="0"/>
              <a:t>그림 </a:t>
            </a:r>
            <a:r>
              <a:rPr lang="en-US" altLang="ko-KR" dirty="0"/>
              <a:t>9-9]</a:t>
            </a:r>
            <a:r>
              <a:rPr lang="ko-KR" altLang="en-US" dirty="0"/>
              <a:t>의 시퀀스 다이어그램을 준비한다</a:t>
            </a:r>
            <a:r>
              <a:rPr lang="en-US" altLang="ko-KR" dirty="0"/>
              <a:t>.</a:t>
            </a:r>
          </a:p>
          <a:p>
            <a:pPr marL="355600" indent="-355600">
              <a:tabLst/>
            </a:pPr>
            <a:r>
              <a:rPr lang="en-US" altLang="ko-KR" sz="1400" b="1" dirty="0">
                <a:solidFill>
                  <a:schemeClr val="accent2"/>
                </a:solidFill>
              </a:rPr>
              <a:t>02. </a:t>
            </a:r>
            <a:r>
              <a:rPr lang="en-US" altLang="ko-KR" sz="1400" dirty="0"/>
              <a:t>Boundary</a:t>
            </a:r>
            <a:r>
              <a:rPr lang="ko-KR" altLang="en-US" sz="1400" dirty="0"/>
              <a:t>를 표현하려면 </a:t>
            </a:r>
            <a:r>
              <a:rPr lang="ko-KR" altLang="en-US" sz="1400" dirty="0" err="1"/>
              <a:t>액터</a:t>
            </a:r>
            <a:r>
              <a:rPr lang="en-US" altLang="ko-KR" sz="1400" dirty="0"/>
              <a:t>(Actor)</a:t>
            </a:r>
            <a:r>
              <a:rPr lang="ko-KR" altLang="en-US" sz="1400" dirty="0"/>
              <a:t>와 상호작용하면서 유저 인터페이스의 역할을 하는 개체를 찾아야 한다</a:t>
            </a:r>
            <a:r>
              <a:rPr lang="en-US" altLang="ko-KR" sz="1400" dirty="0"/>
              <a:t>. </a:t>
            </a:r>
            <a:r>
              <a:rPr lang="ko-KR" altLang="en-US" sz="1400" dirty="0"/>
              <a:t>그 역할을 하는 것이 </a:t>
            </a:r>
            <a:r>
              <a:rPr lang="ko-KR" altLang="en-US" sz="1400" dirty="0" err="1"/>
              <a:t>모바일폰이므로</a:t>
            </a:r>
            <a:r>
              <a:rPr lang="ko-KR" altLang="en-US" sz="1400" dirty="0"/>
              <a:t> 이를 </a:t>
            </a:r>
            <a:r>
              <a:rPr lang="en-US" altLang="ko-KR" sz="1400" dirty="0"/>
              <a:t>Boundary</a:t>
            </a:r>
            <a:r>
              <a:rPr lang="ko-KR" altLang="en-US" sz="1400" dirty="0"/>
              <a:t>로 변경해 준다</a:t>
            </a:r>
            <a:r>
              <a:rPr lang="en-US" altLang="ko-KR" sz="1400" dirty="0"/>
              <a:t>. </a:t>
            </a:r>
            <a:r>
              <a:rPr lang="ko-KR" altLang="en-US" sz="1400" b="1" dirty="0">
                <a:solidFill>
                  <a:srgbClr val="C0504D"/>
                </a:solidFill>
                <a:latin typeface="Arial"/>
              </a:rPr>
              <a:t>①</a:t>
            </a:r>
            <a:r>
              <a:rPr lang="en-US" altLang="ko-KR" sz="1400" dirty="0"/>
              <a:t> </a:t>
            </a:r>
            <a:r>
              <a:rPr lang="ko-KR" altLang="en-US" sz="1400" dirty="0"/>
              <a:t>변경할 ‘생명선</a:t>
            </a:r>
            <a:r>
              <a:rPr lang="en-US" altLang="ko-KR" sz="1400" dirty="0"/>
              <a:t>(Lifeline)’</a:t>
            </a:r>
            <a:r>
              <a:rPr lang="ko-KR" altLang="en-US" sz="1400" dirty="0"/>
              <a:t>을 선택하고</a:t>
            </a:r>
            <a:r>
              <a:rPr lang="en-US" altLang="ko-KR" sz="1400" dirty="0"/>
              <a:t>, </a:t>
            </a:r>
            <a:r>
              <a:rPr lang="ko-KR" altLang="en-US" sz="1400" b="1" dirty="0">
                <a:solidFill>
                  <a:srgbClr val="C0504D"/>
                </a:solidFill>
                <a:latin typeface="Arial"/>
              </a:rPr>
              <a:t>② </a:t>
            </a:r>
            <a:r>
              <a:rPr lang="ko-KR" altLang="en-US" sz="1400" dirty="0"/>
              <a:t>마우스의 오른쪽 버튼을 클릭한 후 </a:t>
            </a:r>
            <a:r>
              <a:rPr lang="en-US" altLang="ko-KR" sz="1400" dirty="0"/>
              <a:t>[Stereotypes] &gt; [boundary]</a:t>
            </a:r>
            <a:r>
              <a:rPr lang="ko-KR" altLang="en-US" sz="1400" dirty="0"/>
              <a:t>를 클릭한다</a:t>
            </a:r>
            <a:r>
              <a:rPr lang="en-US" altLang="ko-KR" sz="1400" dirty="0"/>
              <a:t>.</a:t>
            </a:r>
          </a:p>
        </p:txBody>
      </p:sp>
      <p:sp>
        <p:nvSpPr>
          <p:cNvPr id="9" name="Google Shape;31;p4"/>
          <p:cNvSpPr txBox="1">
            <a:spLocks/>
          </p:cNvSpPr>
          <p:nvPr/>
        </p:nvSpPr>
        <p:spPr>
          <a:xfrm>
            <a:off x="495300" y="985648"/>
            <a:ext cx="1557494" cy="29412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bg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r>
              <a:rPr lang="ko-KR" altLang="en-US" sz="1600" dirty="0"/>
              <a:t>실습 따라 하기</a:t>
            </a:r>
          </a:p>
        </p:txBody>
      </p:sp>
      <p:cxnSp>
        <p:nvCxnSpPr>
          <p:cNvPr id="15" name="직선 연결선 14"/>
          <p:cNvCxnSpPr/>
          <p:nvPr/>
        </p:nvCxnSpPr>
        <p:spPr>
          <a:xfrm>
            <a:off x="495300" y="1279771"/>
            <a:ext cx="83566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75530" y="6275755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9-19]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8118761" y="995903"/>
            <a:ext cx="733139" cy="246221"/>
            <a:chOff x="8118761" y="995903"/>
            <a:chExt cx="733139" cy="246221"/>
          </a:xfrm>
        </p:grpSpPr>
        <p:sp>
          <p:nvSpPr>
            <p:cNvPr id="14" name="TextBox 13">
              <a:hlinkClick r:id="rId2"/>
            </p:cNvPr>
            <p:cNvSpPr txBox="1"/>
            <p:nvPr/>
          </p:nvSpPr>
          <p:spPr>
            <a:xfrm>
              <a:off x="8118761" y="995903"/>
              <a:ext cx="7331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dirty="0" err="1">
                  <a:solidFill>
                    <a:schemeClr val="accent1"/>
                  </a:solidFill>
                  <a:latin typeface="+mn-ea"/>
                  <a:ea typeface="+mn-ea"/>
                </a:rPr>
                <a:t>ㄷ동영상</a:t>
              </a:r>
              <a:endParaRPr lang="ko-KR" altLang="en-US" sz="1000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18762" y="1064048"/>
              <a:ext cx="230913" cy="146382"/>
            </a:xfrm>
            <a:prstGeom prst="rect">
              <a:avLst/>
            </a:prstGeom>
          </p:spPr>
        </p:pic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852" y="3182870"/>
            <a:ext cx="5926678" cy="336312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934992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9818" y="4520935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9-20]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9" y="746841"/>
            <a:ext cx="7111940" cy="403570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160886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sp>
        <p:nvSpPr>
          <p:cNvPr id="12" name="텍스트 개체 틀 2"/>
          <p:cNvSpPr txBox="1">
            <a:spLocks/>
          </p:cNvSpPr>
          <p:nvPr/>
        </p:nvSpPr>
        <p:spPr>
          <a:xfrm>
            <a:off x="495300" y="943444"/>
            <a:ext cx="8356600" cy="38426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chemeClr val="accent2"/>
                </a:solidFill>
              </a:rPr>
              <a:t>03. </a:t>
            </a:r>
            <a:r>
              <a:rPr lang="en-US" altLang="ko-KR" dirty="0"/>
              <a:t>Entity</a:t>
            </a:r>
            <a:r>
              <a:rPr lang="ko-KR" altLang="en-US" dirty="0"/>
              <a:t>를 표현하려면 시퀀스 다이어그램 안에서 데이터를 나타내는 개체를 찾아야 한다</a:t>
            </a:r>
            <a:r>
              <a:rPr lang="en-US" altLang="ko-KR" dirty="0"/>
              <a:t>. </a:t>
            </a:r>
            <a:r>
              <a:rPr lang="ko-KR" altLang="en-US" dirty="0"/>
              <a:t>그 역할을 하는 것이 </a:t>
            </a:r>
            <a:r>
              <a:rPr lang="ko-KR" altLang="en-US" dirty="0" err="1"/>
              <a:t>서버컴퓨터이므로</a:t>
            </a:r>
            <a:r>
              <a:rPr lang="ko-KR" altLang="en-US" dirty="0"/>
              <a:t> 이를 </a:t>
            </a:r>
            <a:r>
              <a:rPr lang="en-US" altLang="ko-KR" dirty="0"/>
              <a:t>Entity</a:t>
            </a:r>
            <a:r>
              <a:rPr lang="ko-KR" altLang="en-US" dirty="0"/>
              <a:t>로 변경해 준다</a:t>
            </a:r>
            <a:r>
              <a:rPr lang="en-US" altLang="ko-KR" dirty="0"/>
              <a:t>. </a:t>
            </a:r>
            <a:r>
              <a:rPr lang="ko-KR" altLang="en-US" b="1" dirty="0">
                <a:solidFill>
                  <a:srgbClr val="C0504D"/>
                </a:solidFill>
                <a:latin typeface="Arial"/>
              </a:rPr>
              <a:t>①</a:t>
            </a:r>
            <a:r>
              <a:rPr lang="en-US" altLang="ko-KR" dirty="0"/>
              <a:t> </a:t>
            </a:r>
            <a:r>
              <a:rPr lang="ko-KR" altLang="en-US" dirty="0"/>
              <a:t>변경할 ‘생명선</a:t>
            </a:r>
            <a:r>
              <a:rPr lang="en-US" altLang="ko-KR" dirty="0"/>
              <a:t>(Lifeline)’</a:t>
            </a:r>
            <a:r>
              <a:rPr lang="ko-KR" altLang="en-US" dirty="0"/>
              <a:t>을 선택하고</a:t>
            </a:r>
            <a:r>
              <a:rPr lang="en-US" altLang="ko-KR" dirty="0"/>
              <a:t>, </a:t>
            </a:r>
            <a:r>
              <a:rPr lang="ko-KR" altLang="en-US" b="1" dirty="0">
                <a:solidFill>
                  <a:srgbClr val="C0504D"/>
                </a:solidFill>
                <a:latin typeface="Arial"/>
              </a:rPr>
              <a:t>②</a:t>
            </a:r>
            <a:r>
              <a:rPr lang="en-US" altLang="ko-KR" dirty="0"/>
              <a:t> </a:t>
            </a:r>
            <a:r>
              <a:rPr lang="ko-KR" altLang="en-US" dirty="0"/>
              <a:t>마우스의 오른쪽 버튼을 클릭한 후 </a:t>
            </a:r>
            <a:r>
              <a:rPr lang="en-US" altLang="ko-KR" dirty="0"/>
              <a:t>[Stereotypes] &gt; [entity]</a:t>
            </a:r>
            <a:r>
              <a:rPr lang="ko-KR" altLang="en-US" dirty="0"/>
              <a:t>를 클릭한다</a:t>
            </a:r>
            <a:r>
              <a:rPr lang="en-US" altLang="ko-KR" dirty="0"/>
              <a:t>.</a:t>
            </a:r>
            <a:endParaRPr lang="en-US" altLang="ko-KR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7399818" y="5961807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9-21]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15" y="2637997"/>
            <a:ext cx="6318422" cy="358541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38527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9818" y="4604517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9-22]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798" y="1243307"/>
            <a:ext cx="6311555" cy="358152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054650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sp>
        <p:nvSpPr>
          <p:cNvPr id="12" name="텍스트 개체 틀 2"/>
          <p:cNvSpPr txBox="1">
            <a:spLocks/>
          </p:cNvSpPr>
          <p:nvPr/>
        </p:nvSpPr>
        <p:spPr>
          <a:xfrm>
            <a:off x="495300" y="943444"/>
            <a:ext cx="8356600" cy="38426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chemeClr val="accent2"/>
                </a:solidFill>
              </a:rPr>
              <a:t>04. </a:t>
            </a:r>
            <a:r>
              <a:rPr lang="en-US" altLang="ko-KR" dirty="0"/>
              <a:t>Entity</a:t>
            </a:r>
            <a:r>
              <a:rPr lang="ko-KR" altLang="en-US" dirty="0"/>
              <a:t>를 표현하려면 </a:t>
            </a:r>
            <a:r>
              <a:rPr lang="en-US" altLang="ko-KR" dirty="0"/>
              <a:t>[boundary]</a:t>
            </a:r>
            <a:r>
              <a:rPr lang="ko-KR" altLang="en-US" dirty="0"/>
              <a:t>와 </a:t>
            </a:r>
            <a:r>
              <a:rPr lang="en-US" altLang="ko-KR" dirty="0"/>
              <a:t>[entity] </a:t>
            </a:r>
            <a:r>
              <a:rPr lang="ko-KR" altLang="en-US" dirty="0"/>
              <a:t>사이에서 명령의 실행을 조정하는 개체를 찾아야 한다</a:t>
            </a:r>
            <a:r>
              <a:rPr lang="en-US" altLang="ko-KR" dirty="0"/>
              <a:t>. </a:t>
            </a:r>
            <a:r>
              <a:rPr lang="ko-KR" altLang="en-US" dirty="0"/>
              <a:t>그 역할을 하는 것이 </a:t>
            </a:r>
            <a:r>
              <a:rPr lang="ko-KR" altLang="en-US" dirty="0" err="1"/>
              <a:t>웹서버이므로</a:t>
            </a:r>
            <a:r>
              <a:rPr lang="ko-KR" altLang="en-US" dirty="0"/>
              <a:t> 이를 </a:t>
            </a:r>
            <a:r>
              <a:rPr lang="en-US" altLang="ko-KR" dirty="0"/>
              <a:t>Control</a:t>
            </a:r>
            <a:r>
              <a:rPr lang="ko-KR" altLang="en-US" dirty="0"/>
              <a:t>로 변경해 준다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b="1" dirty="0">
                <a:solidFill>
                  <a:srgbClr val="C0504D"/>
                </a:solidFill>
                <a:latin typeface="Arial"/>
              </a:rPr>
              <a:t>①</a:t>
            </a:r>
            <a:r>
              <a:rPr lang="en-US" altLang="ko-KR" dirty="0"/>
              <a:t> </a:t>
            </a:r>
            <a:r>
              <a:rPr lang="ko-KR" altLang="en-US" dirty="0"/>
              <a:t>변경할 ‘생명선</a:t>
            </a:r>
            <a:r>
              <a:rPr lang="en-US" altLang="ko-KR" dirty="0"/>
              <a:t>(Lifeline)’</a:t>
            </a:r>
            <a:r>
              <a:rPr lang="ko-KR" altLang="en-US" dirty="0"/>
              <a:t>을 선택하고</a:t>
            </a:r>
            <a:r>
              <a:rPr lang="en-US" altLang="ko-KR" dirty="0"/>
              <a:t>, </a:t>
            </a:r>
            <a:r>
              <a:rPr lang="ko-KR" altLang="en-US" b="1" dirty="0">
                <a:solidFill>
                  <a:srgbClr val="C0504D"/>
                </a:solidFill>
                <a:latin typeface="Arial"/>
              </a:rPr>
              <a:t>② </a:t>
            </a:r>
            <a:r>
              <a:rPr lang="ko-KR" altLang="en-US" dirty="0"/>
              <a:t>마우스의 오른쪽 버튼을 클릭한 후 </a:t>
            </a:r>
            <a:r>
              <a:rPr lang="en-US" altLang="ko-KR" dirty="0"/>
              <a:t>[Stereotypes] &gt; [control]</a:t>
            </a:r>
            <a:r>
              <a:rPr lang="ko-KR" altLang="en-US" dirty="0"/>
              <a:t>을 클릭한다</a:t>
            </a:r>
            <a:r>
              <a:rPr lang="en-US" altLang="ko-KR" dirty="0"/>
              <a:t>.</a:t>
            </a:r>
            <a:endParaRPr lang="en-US" altLang="ko-KR" sz="1000" dirty="0"/>
          </a:p>
        </p:txBody>
      </p:sp>
      <p:sp>
        <p:nvSpPr>
          <p:cNvPr id="11" name="TextBox 10"/>
          <p:cNvSpPr txBox="1"/>
          <p:nvPr/>
        </p:nvSpPr>
        <p:spPr>
          <a:xfrm>
            <a:off x="7399818" y="5961807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9-23]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02" y="2641895"/>
            <a:ext cx="6311555" cy="358152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529374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9818" y="4617174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9-24]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19" y="814106"/>
            <a:ext cx="7162999" cy="406467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cxnSp>
        <p:nvCxnSpPr>
          <p:cNvPr id="7" name="직선 연결선 6"/>
          <p:cNvCxnSpPr/>
          <p:nvPr/>
        </p:nvCxnSpPr>
        <p:spPr>
          <a:xfrm>
            <a:off x="495300" y="5616569"/>
            <a:ext cx="83566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1379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09" y="957807"/>
            <a:ext cx="6737699" cy="473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996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582" y="936759"/>
            <a:ext cx="6737699" cy="27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110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MVC </a:t>
            </a:r>
            <a:r>
              <a:rPr lang="ko-KR" altLang="en-US" dirty="0"/>
              <a:t>모델과 </a:t>
            </a:r>
            <a:r>
              <a:rPr lang="en-US" altLang="ko-KR" dirty="0"/>
              <a:t>ECB </a:t>
            </a:r>
            <a:r>
              <a:rPr lang="ko-KR" altLang="en-US" dirty="0"/>
              <a:t>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9248" y="6434754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9-26]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 descr="텍스트, 스크린샷, 도표, 번호이(가) 표시된 사진&#10;&#10;자동 생성된 설명">
            <a:extLst>
              <a:ext uri="{FF2B5EF4-FFF2-40B4-BE49-F238E27FC236}">
                <a16:creationId xmlns:a16="http://schemas.microsoft.com/office/drawing/2014/main" id="{F3D24B22-9D04-D201-E221-87E9537B0A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408"/>
          <a:stretch/>
        </p:blipFill>
        <p:spPr>
          <a:xfrm>
            <a:off x="3356812" y="3672920"/>
            <a:ext cx="5367466" cy="302344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9" name="내용 개체 틀 23" descr="텍스트, 스크린샷, 도표, 번호이(가) 표시된 사진&#10;&#10;자동 생성된 설명">
            <a:extLst>
              <a:ext uri="{FF2B5EF4-FFF2-40B4-BE49-F238E27FC236}">
                <a16:creationId xmlns:a16="http://schemas.microsoft.com/office/drawing/2014/main" id="{1C16E7AB-B18C-4050-50E3-47EA34CA14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29" b="7778"/>
          <a:stretch/>
        </p:blipFill>
        <p:spPr>
          <a:xfrm>
            <a:off x="258619" y="735967"/>
            <a:ext cx="5033817" cy="287004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162561" y="3653113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9-25]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꺾인 연결선 14"/>
          <p:cNvCxnSpPr>
            <a:stCxn id="9" idx="3"/>
          </p:cNvCxnSpPr>
          <p:nvPr/>
        </p:nvCxnSpPr>
        <p:spPr>
          <a:xfrm>
            <a:off x="5292436" y="2170989"/>
            <a:ext cx="1041688" cy="150193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3106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포스터</a:t>
            </a:r>
            <a:r>
              <a:rPr lang="en-US" altLang="ko-KR" dirty="0"/>
              <a:t> </a:t>
            </a:r>
            <a:r>
              <a:rPr lang="ko-KR" altLang="en-US" dirty="0"/>
              <a:t>게시</a:t>
            </a:r>
            <a:r>
              <a:rPr lang="en-US" altLang="ko-KR" dirty="0"/>
              <a:t> </a:t>
            </a:r>
            <a:r>
              <a:rPr lang="ko-KR" altLang="en-US" dirty="0"/>
              <a:t>시스템</a:t>
            </a:r>
            <a:endParaRPr lang="en-US" altLang="ko-KR" dirty="0"/>
          </a:p>
          <a:p>
            <a:pPr lvl="1"/>
            <a:r>
              <a:rPr lang="ko-KR" altLang="en-US" dirty="0"/>
              <a:t>포스터를 벽에 직접 붙이기보다는 스마트 보드 등을 사용하여 수시로 게시물을 올리겠다는 아이디어에 기반한 다이어그램</a:t>
            </a:r>
            <a:endParaRPr lang="en-US" altLang="ko-KR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 err="1"/>
              <a:t>웹응용</a:t>
            </a:r>
            <a:r>
              <a:rPr lang="ko-KR" altLang="en-US" dirty="0"/>
              <a:t> 사례연구 따라 하기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068" y="6156615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9-27]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068" y="2135328"/>
            <a:ext cx="6545217" cy="38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293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 err="1"/>
              <a:t>웹응용</a:t>
            </a:r>
            <a:r>
              <a:rPr lang="ko-KR" altLang="en-US" dirty="0"/>
              <a:t> 사례연구 따라 하기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1220524"/>
            <a:ext cx="7112000" cy="164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4230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 err="1"/>
              <a:t>웹응용</a:t>
            </a:r>
            <a:r>
              <a:rPr lang="ko-KR" altLang="en-US" dirty="0"/>
              <a:t> 사례연구 따라 하기</a:t>
            </a:r>
          </a:p>
        </p:txBody>
      </p:sp>
      <p:sp>
        <p:nvSpPr>
          <p:cNvPr id="13" name="텍스트 개체 틀 2"/>
          <p:cNvSpPr txBox="1">
            <a:spLocks/>
          </p:cNvSpPr>
          <p:nvPr/>
        </p:nvSpPr>
        <p:spPr>
          <a:xfrm>
            <a:off x="495300" y="1279771"/>
            <a:ext cx="8356600" cy="112346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55600" indent="-355600">
              <a:buAutoNum type="arabicPeriod"/>
              <a:tabLst/>
            </a:pPr>
            <a:r>
              <a:rPr lang="ko-KR" altLang="en-US" dirty="0"/>
              <a:t>포스터 </a:t>
            </a:r>
            <a:r>
              <a:rPr lang="ko-KR" altLang="en-US" dirty="0" err="1"/>
              <a:t>게시자와</a:t>
            </a:r>
            <a:r>
              <a:rPr lang="ko-KR" altLang="en-US" dirty="0"/>
              <a:t> 포스터를 기재하는 화면</a:t>
            </a:r>
            <a:r>
              <a:rPr lang="en-US" altLang="ko-KR" dirty="0"/>
              <a:t>, </a:t>
            </a:r>
            <a:r>
              <a:rPr lang="ko-KR" altLang="en-US" dirty="0"/>
              <a:t>포스터 프로세서</a:t>
            </a:r>
            <a:r>
              <a:rPr lang="en-US" altLang="ko-KR" dirty="0"/>
              <a:t>, </a:t>
            </a:r>
            <a:r>
              <a:rPr lang="ko-KR" altLang="en-US" dirty="0"/>
              <a:t>포스터를 저장하는 데이터베이스를 ‘</a:t>
            </a:r>
            <a:r>
              <a:rPr lang="ko-KR" altLang="en-US" dirty="0" err="1"/>
              <a:t>액터</a:t>
            </a:r>
            <a:r>
              <a:rPr lang="en-US" altLang="ko-KR" dirty="0"/>
              <a:t>(Actor)’</a:t>
            </a:r>
            <a:r>
              <a:rPr lang="ko-KR" altLang="en-US" dirty="0"/>
              <a:t>로 생성한다</a:t>
            </a:r>
            <a:r>
              <a:rPr lang="en-US" altLang="ko-KR" dirty="0"/>
              <a:t>.</a:t>
            </a:r>
          </a:p>
          <a:p>
            <a:pPr marL="355600" indent="-355600">
              <a:buAutoNum type="arabicPeriod"/>
              <a:tabLst/>
            </a:pPr>
            <a:endParaRPr lang="en-US" altLang="ko-KR" dirty="0"/>
          </a:p>
          <a:p>
            <a:pPr marL="355600" indent="-355600">
              <a:buAutoNum type="arabicPeriod"/>
              <a:tabLst/>
            </a:pPr>
            <a:endParaRPr lang="en-US" altLang="ko-KR" dirty="0"/>
          </a:p>
          <a:p>
            <a:pPr marL="355600" indent="-355600">
              <a:buAutoNum type="arabicPeriod"/>
              <a:tabLst/>
            </a:pPr>
            <a:endParaRPr lang="en-US" altLang="ko-KR" dirty="0"/>
          </a:p>
          <a:p>
            <a:pPr marL="355600" indent="-355600">
              <a:buAutoNum type="arabicPeriod"/>
              <a:tabLst/>
            </a:pPr>
            <a:endParaRPr lang="en-US" altLang="ko-KR" dirty="0"/>
          </a:p>
          <a:p>
            <a:pPr marL="355600" indent="-355600">
              <a:tabLst/>
            </a:pPr>
            <a:r>
              <a:rPr lang="en-US" altLang="ko-KR" b="1" dirty="0">
                <a:solidFill>
                  <a:schemeClr val="accent2"/>
                </a:solidFill>
              </a:rPr>
              <a:t>02. </a:t>
            </a:r>
            <a:r>
              <a:rPr lang="ko-KR" altLang="en-US" dirty="0"/>
              <a:t>게시자가 등록하기를 생성하면</a:t>
            </a:r>
            <a:r>
              <a:rPr lang="en-US" altLang="ko-KR" dirty="0"/>
              <a:t>, </a:t>
            </a:r>
            <a:r>
              <a:rPr lang="ko-KR" altLang="en-US" dirty="0"/>
              <a:t>프로세서에 의해 포스터 등록 화면이 나타난다</a:t>
            </a:r>
            <a:r>
              <a:rPr lang="en-US" altLang="ko-KR" dirty="0"/>
              <a:t>.</a:t>
            </a:r>
            <a:endParaRPr lang="en-US" altLang="ko-KR" sz="1400" dirty="0"/>
          </a:p>
        </p:txBody>
      </p:sp>
      <p:sp>
        <p:nvSpPr>
          <p:cNvPr id="9" name="Google Shape;31;p4"/>
          <p:cNvSpPr txBox="1">
            <a:spLocks/>
          </p:cNvSpPr>
          <p:nvPr/>
        </p:nvSpPr>
        <p:spPr>
          <a:xfrm>
            <a:off x="495300" y="985648"/>
            <a:ext cx="1557494" cy="29412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bg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r>
              <a:rPr lang="ko-KR" altLang="en-US" sz="1600" dirty="0"/>
              <a:t>실습 따라 하기</a:t>
            </a:r>
          </a:p>
        </p:txBody>
      </p:sp>
      <p:cxnSp>
        <p:nvCxnSpPr>
          <p:cNvPr id="15" name="직선 연결선 14"/>
          <p:cNvCxnSpPr/>
          <p:nvPr/>
        </p:nvCxnSpPr>
        <p:spPr>
          <a:xfrm>
            <a:off x="495300" y="1279771"/>
            <a:ext cx="83566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75530" y="6275755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9-29]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8118761" y="995903"/>
            <a:ext cx="733139" cy="246221"/>
            <a:chOff x="8118761" y="995903"/>
            <a:chExt cx="733139" cy="246221"/>
          </a:xfrm>
        </p:grpSpPr>
        <p:sp>
          <p:nvSpPr>
            <p:cNvPr id="14" name="TextBox 13">
              <a:hlinkClick r:id="rId2"/>
            </p:cNvPr>
            <p:cNvSpPr txBox="1"/>
            <p:nvPr/>
          </p:nvSpPr>
          <p:spPr>
            <a:xfrm>
              <a:off x="8118761" y="995903"/>
              <a:ext cx="7331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dirty="0" err="1">
                  <a:solidFill>
                    <a:schemeClr val="accent1"/>
                  </a:solidFill>
                  <a:latin typeface="+mn-ea"/>
                  <a:ea typeface="+mn-ea"/>
                </a:rPr>
                <a:t>ㄷ동영상</a:t>
              </a:r>
              <a:endParaRPr lang="ko-KR" altLang="en-US" sz="1000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18762" y="1064048"/>
              <a:ext cx="230913" cy="146382"/>
            </a:xfrm>
            <a:prstGeom prst="rect">
              <a:avLst/>
            </a:prstGeom>
          </p:spPr>
        </p:pic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80" y="4390287"/>
            <a:ext cx="5240020" cy="214707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80" y="2059409"/>
            <a:ext cx="5157302" cy="175146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75530" y="3549268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9-28]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89041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 err="1"/>
              <a:t>웹응용</a:t>
            </a:r>
            <a:r>
              <a:rPr lang="ko-KR" altLang="en-US" dirty="0"/>
              <a:t> 사례연구 따라 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8618" y="5317172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9-30]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텍스트 개체 틀 2"/>
          <p:cNvSpPr txBox="1">
            <a:spLocks/>
          </p:cNvSpPr>
          <p:nvPr/>
        </p:nvSpPr>
        <p:spPr>
          <a:xfrm>
            <a:off x="495300" y="943444"/>
            <a:ext cx="8356600" cy="38426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chemeClr val="accent2"/>
                </a:solidFill>
              </a:rPr>
              <a:t>03. </a:t>
            </a:r>
            <a:r>
              <a:rPr lang="ko-KR" altLang="en-US" dirty="0"/>
              <a:t>게시자가 포스터를 업로드하면</a:t>
            </a:r>
            <a:r>
              <a:rPr lang="en-US" altLang="ko-KR" dirty="0"/>
              <a:t>, </a:t>
            </a:r>
            <a:r>
              <a:rPr lang="ko-KR" altLang="en-US" dirty="0"/>
              <a:t>프로세서는 포스터를 데이터베이스에 전송하고 저장한다</a:t>
            </a:r>
            <a:r>
              <a:rPr lang="en-US" altLang="ko-KR" dirty="0"/>
              <a:t>.</a:t>
            </a:r>
            <a:endParaRPr lang="en-US" altLang="ko-KR" sz="10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02" y="1737796"/>
            <a:ext cx="7620916" cy="384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666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 err="1"/>
              <a:t>웹응용</a:t>
            </a:r>
            <a:r>
              <a:rPr lang="ko-KR" altLang="en-US" dirty="0"/>
              <a:t> 사례연구 따라 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4336" y="5811811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9-31]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텍스트 개체 틀 2"/>
          <p:cNvSpPr txBox="1">
            <a:spLocks/>
          </p:cNvSpPr>
          <p:nvPr/>
        </p:nvSpPr>
        <p:spPr>
          <a:xfrm>
            <a:off x="495300" y="943444"/>
            <a:ext cx="8356600" cy="384268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96938" marR="0" lvl="0" indent="0" algn="l" defTabSz="914400" rtl="0" eaLnBrk="1" fontAlgn="auto" latinLnBrk="0" hangingPunct="1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+mj-lt"/>
              <a:buNone/>
              <a:tabLst>
                <a:tab pos="449263" algn="l"/>
              </a:tabLst>
              <a:defRPr sz="1600" b="0" i="0" u="none" strike="noStrike" cap="none">
                <a:solidFill>
                  <a:srgbClr val="000000"/>
                </a:solidFill>
                <a:latin typeface="+mj-ea"/>
                <a:ea typeface="+mj-ea"/>
                <a:cs typeface="Arial"/>
                <a:sym typeface="Arial"/>
              </a:defRPr>
            </a:lvl1pPr>
            <a:lvl2pPr marL="533400" marR="0" lvl="1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23900" marR="0" lvl="4" indent="-165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tabLst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60363" indent="-360363" defTabSz="179388">
              <a:tabLst/>
            </a:pPr>
            <a:r>
              <a:rPr lang="en-US" altLang="ko-KR" b="1" dirty="0">
                <a:solidFill>
                  <a:schemeClr val="accent2"/>
                </a:solidFill>
              </a:rPr>
              <a:t>04. </a:t>
            </a:r>
            <a:r>
              <a:rPr lang="ko-KR" altLang="en-US" dirty="0"/>
              <a:t>데이터베이스에 저장을 완료하면</a:t>
            </a:r>
            <a:r>
              <a:rPr lang="en-US" altLang="ko-KR" dirty="0"/>
              <a:t>, </a:t>
            </a:r>
            <a:r>
              <a:rPr lang="ko-KR" altLang="en-US" dirty="0"/>
              <a:t>프로세서가 “포스터 게시 완료” 메시지를 화면에 출력한다</a:t>
            </a:r>
            <a:r>
              <a:rPr lang="en-US" altLang="ko-KR" dirty="0"/>
              <a:t>.</a:t>
            </a:r>
            <a:endParaRPr lang="en-US" altLang="ko-KR" sz="1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278" y="1797228"/>
            <a:ext cx="7207931" cy="4276193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>
            <a:off x="495300" y="6378569"/>
            <a:ext cx="8356600" cy="0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2002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사이버</a:t>
            </a:r>
            <a:r>
              <a:rPr lang="en-US" altLang="ko-KR" dirty="0"/>
              <a:t> </a:t>
            </a:r>
            <a:r>
              <a:rPr lang="ko-KR" altLang="en-US" dirty="0"/>
              <a:t>캠퍼스</a:t>
            </a:r>
            <a:r>
              <a:rPr lang="en-US" altLang="ko-KR" dirty="0"/>
              <a:t> </a:t>
            </a:r>
            <a:r>
              <a:rPr lang="ko-KR" altLang="en-US" dirty="0"/>
              <a:t>시스템</a:t>
            </a:r>
            <a:endParaRPr lang="en-US" altLang="ko-KR" dirty="0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 err="1"/>
              <a:t>웹응용</a:t>
            </a:r>
            <a:r>
              <a:rPr lang="ko-KR" altLang="en-US" dirty="0"/>
              <a:t> 사례연구 따라 하기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1547079"/>
            <a:ext cx="7150100" cy="225671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1" y="4445000"/>
            <a:ext cx="7150100" cy="125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463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사이버</a:t>
            </a:r>
            <a:r>
              <a:rPr lang="en-US" altLang="ko-KR" dirty="0"/>
              <a:t> </a:t>
            </a:r>
            <a:r>
              <a:rPr lang="ko-KR" altLang="en-US" dirty="0"/>
              <a:t>캠퍼스</a:t>
            </a:r>
            <a:r>
              <a:rPr lang="en-US" altLang="ko-KR" dirty="0"/>
              <a:t> </a:t>
            </a:r>
            <a:r>
              <a:rPr lang="ko-KR" altLang="en-US" dirty="0"/>
              <a:t>시스템</a:t>
            </a:r>
            <a:endParaRPr lang="en-US" altLang="ko-KR" dirty="0"/>
          </a:p>
          <a:p>
            <a:pPr lvl="1"/>
            <a:r>
              <a:rPr lang="ko-KR" altLang="en-US" dirty="0"/>
              <a:t>학생이라는 </a:t>
            </a:r>
            <a:r>
              <a:rPr lang="ko-KR" altLang="en-US" dirty="0" err="1"/>
              <a:t>액터와</a:t>
            </a:r>
            <a:r>
              <a:rPr lang="ko-KR" altLang="en-US" dirty="0"/>
              <a:t> 인터페이스의 역할을 해줄 객체</a:t>
            </a:r>
            <a:r>
              <a:rPr lang="en-US" altLang="ko-KR" dirty="0"/>
              <a:t>, </a:t>
            </a:r>
            <a:r>
              <a:rPr lang="ko-KR" altLang="en-US" dirty="0"/>
              <a:t>메인 프로세서 역할을 해줄 객체</a:t>
            </a:r>
            <a:r>
              <a:rPr lang="en-US" altLang="ko-KR" dirty="0"/>
              <a:t>, </a:t>
            </a:r>
            <a:r>
              <a:rPr lang="ko-KR" altLang="en-US" dirty="0"/>
              <a:t>데이터베이스역할을 해줄 객체를 생성한다</a:t>
            </a:r>
            <a:r>
              <a:rPr lang="en-US" altLang="ko-KR" dirty="0"/>
              <a:t>.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 err="1"/>
              <a:t>웹응용</a:t>
            </a:r>
            <a:r>
              <a:rPr lang="ko-KR" altLang="en-US" dirty="0"/>
              <a:t> 사례연구 따라 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99818" y="3993970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9-32]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435" y="2287725"/>
            <a:ext cx="6150287" cy="215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1819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ko-KR" altLang="en-US" dirty="0"/>
              <a:t>학생이 로그인하면 인터페이스는 메인 프로세서에 로그인 정보를 요청하고</a:t>
            </a:r>
            <a:r>
              <a:rPr lang="en-US" altLang="ko-KR" dirty="0"/>
              <a:t>, </a:t>
            </a:r>
            <a:r>
              <a:rPr lang="ko-KR" altLang="en-US" dirty="0"/>
              <a:t>데이터베이스에서 확인을 거친 뒤 인터페이스에서 </a:t>
            </a:r>
            <a:r>
              <a:rPr lang="en-US" altLang="ko-KR" dirty="0"/>
              <a:t>&lt;</a:t>
            </a:r>
            <a:r>
              <a:rPr lang="ko-KR" altLang="en-US" dirty="0"/>
              <a:t>메인 메뉴</a:t>
            </a:r>
            <a:r>
              <a:rPr lang="en-US" altLang="ko-KR" dirty="0"/>
              <a:t>&gt; </a:t>
            </a:r>
            <a:r>
              <a:rPr lang="ko-KR" altLang="en-US" dirty="0"/>
              <a:t>창을 띄운다</a:t>
            </a:r>
            <a:r>
              <a:rPr lang="en-US" altLang="ko-KR" dirty="0"/>
              <a:t>.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 err="1"/>
              <a:t>웹응용</a:t>
            </a:r>
            <a:r>
              <a:rPr lang="ko-KR" altLang="en-US" dirty="0"/>
              <a:t> 사례연구 따라 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927" y="3764289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9-33]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01" y="1826276"/>
            <a:ext cx="7742896" cy="219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3325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ko-KR" altLang="en-US" dirty="0" err="1"/>
              <a:t>로그인에</a:t>
            </a:r>
            <a:r>
              <a:rPr lang="ko-KR" altLang="en-US" dirty="0"/>
              <a:t> 성공하면 학생은 해당 교과목 강의실을 선택하고</a:t>
            </a:r>
            <a:r>
              <a:rPr lang="en-US" altLang="ko-KR" dirty="0"/>
              <a:t>, </a:t>
            </a:r>
            <a:r>
              <a:rPr lang="ko-KR" altLang="en-US" dirty="0"/>
              <a:t>메인 프로세서는 해당 강의실을 활성화한다</a:t>
            </a:r>
            <a:r>
              <a:rPr lang="en-US" altLang="ko-KR" dirty="0"/>
              <a:t>. </a:t>
            </a:r>
            <a:r>
              <a:rPr lang="ko-KR" altLang="en-US" dirty="0"/>
              <a:t>인터페이스는 </a:t>
            </a:r>
            <a:r>
              <a:rPr lang="en-US" altLang="ko-KR" dirty="0"/>
              <a:t>&lt;</a:t>
            </a:r>
            <a:r>
              <a:rPr lang="ko-KR" altLang="en-US" dirty="0"/>
              <a:t>강의실 메뉴</a:t>
            </a:r>
            <a:r>
              <a:rPr lang="en-US" altLang="ko-KR" dirty="0"/>
              <a:t>&gt; </a:t>
            </a:r>
            <a:r>
              <a:rPr lang="ko-KR" altLang="en-US" dirty="0"/>
              <a:t>창을 띄운다</a:t>
            </a:r>
            <a:r>
              <a:rPr lang="en-US" altLang="ko-KR" dirty="0"/>
              <a:t>.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 err="1"/>
              <a:t>웹응용</a:t>
            </a:r>
            <a:r>
              <a:rPr lang="ko-KR" altLang="en-US" dirty="0"/>
              <a:t> 사례연구 따라 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1468" y="4545185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9-34]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04" y="1838228"/>
            <a:ext cx="7526096" cy="296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981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1"/>
            <a:r>
              <a:rPr lang="ko-KR" altLang="en-US" dirty="0"/>
              <a:t>학생이 과제를 업로드하면</a:t>
            </a:r>
            <a:r>
              <a:rPr lang="en-US" altLang="ko-KR" dirty="0"/>
              <a:t>, </a:t>
            </a:r>
            <a:r>
              <a:rPr lang="ko-KR" altLang="en-US" dirty="0"/>
              <a:t>인터페이스는 메인 </a:t>
            </a:r>
            <a:r>
              <a:rPr lang="ko-KR" altLang="en-US" dirty="0" err="1"/>
              <a:t>프로세서에게</a:t>
            </a:r>
            <a:r>
              <a:rPr lang="ko-KR" altLang="en-US" dirty="0"/>
              <a:t> 과제 업로드를 요청하고</a:t>
            </a:r>
            <a:r>
              <a:rPr lang="en-US" altLang="ko-KR" dirty="0"/>
              <a:t>, </a:t>
            </a:r>
            <a:r>
              <a:rPr lang="ko-KR" altLang="en-US" dirty="0"/>
              <a:t>데이터베이스는 과제를 저장하고</a:t>
            </a:r>
            <a:r>
              <a:rPr lang="en-US" altLang="ko-KR" dirty="0"/>
              <a:t>, </a:t>
            </a:r>
            <a:r>
              <a:rPr lang="ko-KR" altLang="en-US" dirty="0"/>
              <a:t>인터페이스는 </a:t>
            </a:r>
            <a:r>
              <a:rPr lang="en-US" altLang="ko-KR" dirty="0"/>
              <a:t>&lt;</a:t>
            </a:r>
            <a:r>
              <a:rPr lang="ko-KR" altLang="en-US" dirty="0"/>
              <a:t>업로드 완료</a:t>
            </a:r>
            <a:r>
              <a:rPr lang="en-US" altLang="ko-KR" dirty="0"/>
              <a:t>&gt;</a:t>
            </a:r>
            <a:r>
              <a:rPr lang="ko-KR" altLang="en-US" dirty="0"/>
              <a:t>라는 팝업 창을 띄운다</a:t>
            </a:r>
            <a:r>
              <a:rPr lang="en-US" altLang="ko-KR" dirty="0"/>
              <a:t>.</a:t>
            </a:r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 err="1"/>
              <a:t>웹응용</a:t>
            </a:r>
            <a:r>
              <a:rPr lang="ko-KR" altLang="en-US" dirty="0"/>
              <a:t> 사례연구 따라 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927" y="5980826"/>
            <a:ext cx="89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그림 </a:t>
            </a:r>
            <a:r>
              <a:rPr lang="en-US" altLang="ko-KR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9-35]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759990"/>
            <a:ext cx="7505627" cy="442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0738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 err="1"/>
              <a:t>웹응용</a:t>
            </a:r>
            <a:r>
              <a:rPr lang="ko-KR" altLang="en-US" dirty="0"/>
              <a:t> 사례연구 따라 하기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95300" y="787400"/>
            <a:ext cx="8356600" cy="1308100"/>
          </a:xfrm>
        </p:spPr>
        <p:txBody>
          <a:bodyPr/>
          <a:lstStyle/>
          <a:p>
            <a:r>
              <a:rPr lang="ko-KR" altLang="en-US" dirty="0"/>
              <a:t>도서관 대출 시스템</a:t>
            </a:r>
            <a:endParaRPr lang="en-US" altLang="ko-KR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3521769"/>
            <a:ext cx="6743128" cy="119986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689655"/>
            <a:ext cx="6743128" cy="1167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3531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실습문제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28" y="5009012"/>
            <a:ext cx="7132320" cy="79438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1" y="977186"/>
            <a:ext cx="7115175" cy="3143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56" y="2236023"/>
            <a:ext cx="7132320" cy="77724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56" y="3928088"/>
            <a:ext cx="7109460" cy="30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0328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719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1689</Words>
  <Application>Microsoft Office PowerPoint</Application>
  <PresentationFormat>화면 슬라이드 쇼(4:3)</PresentationFormat>
  <Paragraphs>181</Paragraphs>
  <Slides>54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58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목 차</vt:lpstr>
      <vt:lpstr>개 요</vt:lpstr>
      <vt:lpstr>9.1 시퀀스 다이어그램 개념 알기</vt:lpstr>
      <vt:lpstr>9.1 시퀀스 다이어그램 개념 알기</vt:lpstr>
      <vt:lpstr>9.1 시퀀스 다이어그램 개념 알기</vt:lpstr>
      <vt:lpstr>9.1 시퀀스 다이어그램 개념 알기</vt:lpstr>
      <vt:lpstr>9.1 시퀀스 다이어그램 개념 알기</vt:lpstr>
      <vt:lpstr>9.1 시퀀스 다이어그램 개념 알기</vt:lpstr>
      <vt:lpstr>9.1 시퀀스 다이어그램 개념 알기</vt:lpstr>
      <vt:lpstr>9.1 시퀀스 다이어그램 개념 알기</vt:lpstr>
      <vt:lpstr>9.1 시퀀스 다이어그램 개념 알기</vt:lpstr>
      <vt:lpstr>9.1 시퀀스 다이어그램 개념 알기</vt:lpstr>
      <vt:lpstr>9.1 시퀀스 다이어그램 개념 알기</vt:lpstr>
      <vt:lpstr>9.1 시퀀스 다이어그램 개념 알기</vt:lpstr>
      <vt:lpstr>9.1 시퀀스 다이어그램 개념 알기</vt:lpstr>
      <vt:lpstr>9.1 시퀀스 다이어그램 개념 알기</vt:lpstr>
      <vt:lpstr>9.1 시퀀스 다이어그램 개념 알기</vt:lpstr>
      <vt:lpstr>9.1 시퀀스 다이어그램 개념 알기</vt:lpstr>
      <vt:lpstr>9.1 시퀀스 다이어그램 개념 알기</vt:lpstr>
      <vt:lpstr>9.2 MVC 모델과 ECB 모델</vt:lpstr>
      <vt:lpstr>9.2 MVC 모델과 ECB 모델</vt:lpstr>
      <vt:lpstr>9.2 MVC 모델과 ECB 모델</vt:lpstr>
      <vt:lpstr>9.2 MVC 모델과 ECB 모델</vt:lpstr>
      <vt:lpstr>9.2 MVC 모델과 ECB 모델</vt:lpstr>
      <vt:lpstr>9.2 MVC 모델과 ECB 모델</vt:lpstr>
      <vt:lpstr>9.2 MVC 모델과 ECB 모델</vt:lpstr>
      <vt:lpstr>9.2 MVC 모델과 ECB 모델</vt:lpstr>
      <vt:lpstr>9.2 MVC 모델과 ECB 모델</vt:lpstr>
      <vt:lpstr>9.2 MVC 모델과 ECB 모델</vt:lpstr>
      <vt:lpstr>9.2 MVC 모델과 ECB 모델</vt:lpstr>
      <vt:lpstr>9.2 MVC 모델과 ECB 모델</vt:lpstr>
      <vt:lpstr>9.2 MVC 모델과 ECB 모델</vt:lpstr>
      <vt:lpstr>9.2 MVC 모델과 ECB 모델</vt:lpstr>
      <vt:lpstr>9.2 MVC 모델과 ECB 모델</vt:lpstr>
      <vt:lpstr>9.2 MVC 모델과 ECB 모델</vt:lpstr>
      <vt:lpstr>9.2 MVC 모델과 ECB 모델</vt:lpstr>
      <vt:lpstr>9.2 MVC 모델과 ECB 모델</vt:lpstr>
      <vt:lpstr>9.2 MVC 모델과 ECB 모델</vt:lpstr>
      <vt:lpstr>9.2 MVC 모델과 ECB 모델</vt:lpstr>
      <vt:lpstr>9.3 웹응용 사례연구 따라 하기</vt:lpstr>
      <vt:lpstr>9.3 웹응용 사례연구 따라 하기</vt:lpstr>
      <vt:lpstr>9.3 웹응용 사례연구 따라 하기</vt:lpstr>
      <vt:lpstr>9.3 웹응용 사례연구 따라 하기</vt:lpstr>
      <vt:lpstr>9.3 웹응용 사례연구 따라 하기</vt:lpstr>
      <vt:lpstr>9.3 웹응용 사례연구 따라 하기</vt:lpstr>
      <vt:lpstr>9.3 웹응용 사례연구 따라 하기</vt:lpstr>
      <vt:lpstr>9.3 웹응용 사례연구 따라 하기</vt:lpstr>
      <vt:lpstr>9.3 웹응용 사례연구 따라 하기</vt:lpstr>
      <vt:lpstr>9.3 웹응용 사례연구 따라 하기</vt:lpstr>
      <vt:lpstr>9.3 웹응용 사례연구 따라 하기</vt:lpstr>
      <vt:lpstr>실습문제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김경민</cp:lastModifiedBy>
  <cp:revision>70</cp:revision>
  <dcterms:modified xsi:type="dcterms:W3CDTF">2024-05-29T13:00:45Z</dcterms:modified>
</cp:coreProperties>
</file>