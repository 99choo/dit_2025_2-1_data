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1"/>
  </p:sldMasterIdLst>
  <p:notesMasterIdLst>
    <p:notesMasterId r:id="rId36"/>
  </p:notesMasterIdLst>
  <p:sldIdLst>
    <p:sldId id="276" r:id="rId2"/>
    <p:sldId id="257" r:id="rId3"/>
    <p:sldId id="277" r:id="rId4"/>
    <p:sldId id="278" r:id="rId5"/>
    <p:sldId id="269" r:id="rId6"/>
    <p:sldId id="270" r:id="rId7"/>
    <p:sldId id="271" r:id="rId8"/>
    <p:sldId id="279" r:id="rId9"/>
    <p:sldId id="281" r:id="rId10"/>
    <p:sldId id="282" r:id="rId11"/>
    <p:sldId id="283" r:id="rId12"/>
    <p:sldId id="285" r:id="rId13"/>
    <p:sldId id="287" r:id="rId14"/>
    <p:sldId id="288" r:id="rId15"/>
    <p:sldId id="289" r:id="rId16"/>
    <p:sldId id="290" r:id="rId17"/>
    <p:sldId id="286" r:id="rId18"/>
    <p:sldId id="284" r:id="rId19"/>
    <p:sldId id="294" r:id="rId20"/>
    <p:sldId id="295" r:id="rId21"/>
    <p:sldId id="298" r:id="rId22"/>
    <p:sldId id="296" r:id="rId23"/>
    <p:sldId id="299" r:id="rId24"/>
    <p:sldId id="301" r:id="rId25"/>
    <p:sldId id="300" r:id="rId26"/>
    <p:sldId id="302" r:id="rId27"/>
    <p:sldId id="303" r:id="rId28"/>
    <p:sldId id="304" r:id="rId29"/>
    <p:sldId id="305" r:id="rId30"/>
    <p:sldId id="306" r:id="rId31"/>
    <p:sldId id="307" r:id="rId32"/>
    <p:sldId id="293" r:id="rId33"/>
    <p:sldId id="308" r:id="rId34"/>
    <p:sldId id="266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04">
          <p15:clr>
            <a:srgbClr val="000000"/>
          </p15:clr>
        </p15:guide>
        <p15:guide id="4" pos="385">
          <p15:clr>
            <a:srgbClr val="000000"/>
          </p15:clr>
        </p15:guide>
        <p15:guide id="5" pos="657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90C769-8BD2-42D8-88E8-F87A97329609}">
  <a:tblStyle styleId="{CF90C769-8BD2-42D8-88E8-F87A97329609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  <p:guide pos="204"/>
        <p:guide pos="385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214925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339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96969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 preserve="1">
  <p:cSld name="1_저작권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625475" y="981075"/>
            <a:ext cx="71866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 cap="none">
                <a:solidFill>
                  <a:srgbClr val="9933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 창의 설계</a:t>
            </a:r>
            <a:endParaRPr sz="1800" b="1" i="0" u="none" strike="noStrike" cap="none">
              <a:solidFill>
                <a:srgbClr val="9933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609600" y="1700213"/>
            <a:ext cx="7991475" cy="151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marR="0" lvl="0" indent="-108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</a:t>
            </a: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박현석, 김연정, 김연우, 지현진</a:t>
            </a: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한빛아카데미㈜</a:t>
            </a: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있습니다.</a:t>
            </a:r>
            <a:r>
              <a:rPr lang="ko-KR" sz="1400" b="0" i="0" u="none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4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marR="0" lvl="0" indent="-108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Char char="•"/>
            </a:pPr>
            <a:r>
              <a:rPr lang="ko-KR" sz="1400" b="0" i="0" u="sng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벌금에 처할 수 있고 </a:t>
            </a:r>
            <a:br>
              <a:rPr lang="ko-KR" sz="1400" b="0" i="0" u="sng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 b="0" i="0" u="sng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 병과(倂科)할 수도 있습니다.</a:t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 cap="flat" cmpd="sng">
            <a:solidFill>
              <a:srgbClr val="EE77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B9779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92280" y="5993974"/>
            <a:ext cx="1440283" cy="252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238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제목 슬라이드">
  <p:cSld name="8_제목 슬라이드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369827" y="3573016"/>
            <a:ext cx="2053333" cy="1366653"/>
            <a:chOff x="369827" y="5314828"/>
            <a:chExt cx="1862833" cy="1239860"/>
          </a:xfrm>
        </p:grpSpPr>
        <p:pic>
          <p:nvPicPr>
            <p:cNvPr id="22" name="Google Shape;22;p3"/>
            <p:cNvPicPr preferRelativeResize="0"/>
            <p:nvPr/>
          </p:nvPicPr>
          <p:blipFill rotWithShape="1">
            <a:blip r:embed="rId2">
              <a:alphaModFix/>
            </a:blip>
            <a:srcRect r="37757" b="31491"/>
            <a:stretch/>
          </p:blipFill>
          <p:spPr>
            <a:xfrm>
              <a:off x="369827" y="5314828"/>
              <a:ext cx="1862833" cy="4839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"/>
            <p:cNvPicPr preferRelativeResize="0"/>
            <p:nvPr/>
          </p:nvPicPr>
          <p:blipFill rotWithShape="1">
            <a:blip r:embed="rId3">
              <a:alphaModFix/>
            </a:blip>
            <a:srcRect l="64279" b="36883"/>
            <a:stretch/>
          </p:blipFill>
          <p:spPr>
            <a:xfrm>
              <a:off x="388619" y="5787268"/>
              <a:ext cx="1069027" cy="445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3"/>
            <p:cNvPicPr preferRelativeResize="0"/>
            <p:nvPr/>
          </p:nvPicPr>
          <p:blipFill rotWithShape="1">
            <a:blip r:embed="rId3">
              <a:alphaModFix/>
            </a:blip>
            <a:srcRect t="68509" r="44122"/>
            <a:stretch/>
          </p:blipFill>
          <p:spPr>
            <a:xfrm>
              <a:off x="369827" y="6332220"/>
              <a:ext cx="1672333" cy="2224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3"/>
          <p:cNvSpPr/>
          <p:nvPr/>
        </p:nvSpPr>
        <p:spPr>
          <a:xfrm>
            <a:off x="3491880" y="5157192"/>
            <a:ext cx="5330107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다이어그램 소개</a:t>
            </a:r>
            <a:endParaRPr sz="4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36163" y="5694347"/>
            <a:ext cx="263364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 i="0" u="none" strike="noStrike" cap="none" dirty="0" err="1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</a:t>
            </a:r>
            <a:r>
              <a:rPr lang="ko-KR" sz="2800" b="1" i="0" u="none" strike="noStrike" cap="none" dirty="0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4800" b="1" i="0" u="none" strike="noStrike" cap="none" dirty="0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lang="en-US" altLang="ko-KR" sz="4800" b="1" i="0" u="none" strike="noStrike" cap="none" dirty="0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4800" b="1" i="0" u="none" strike="noStrike" cap="none" dirty="0">
              <a:solidFill>
                <a:srgbClr val="EE77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541" y="296038"/>
            <a:ext cx="8371494" cy="47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2_제목 및 내용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-22448"/>
            <a:ext cx="9144000" cy="555848"/>
          </a:xfrm>
          <a:prstGeom prst="rect">
            <a:avLst/>
          </a:prstGeom>
          <a:solidFill>
            <a:srgbClr val="EE7759">
              <a:alpha val="29803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 i="0" u="none" strike="noStrike" cap="none" smtClean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77066"/>
          </a:xfrm>
        </p:spPr>
        <p:txBody>
          <a:bodyPr/>
          <a:lstStyle>
            <a:lvl1pPr marL="355600" indent="-355600">
              <a:lnSpc>
                <a:spcPct val="150000"/>
              </a:lnSpc>
              <a:buClr>
                <a:schemeClr val="accent1"/>
              </a:buClr>
              <a:buSzPct val="100000"/>
              <a:buFont typeface="Malgun Gothic" panose="020B0503020000020004" pitchFamily="50" charset="-127"/>
              <a:buChar char="■"/>
              <a:defRPr sz="2000" b="1"/>
            </a:lvl1pPr>
            <a:lvl2pPr marL="533400" indent="-17780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/>
            </a:lvl2pPr>
            <a:lvl3pPr>
              <a:defRPr sz="1600"/>
            </a:lvl3pPr>
            <a:lvl4pPr>
              <a:defRPr sz="1400"/>
            </a:lvl4pPr>
            <a:lvl5pPr marL="723900" indent="-165100">
              <a:lnSpc>
                <a:spcPct val="100000"/>
              </a:lnSpc>
              <a:tabLst/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2295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3_제목 및 내용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-22448"/>
            <a:ext cx="9144000" cy="555848"/>
          </a:xfrm>
          <a:prstGeom prst="rect">
            <a:avLst/>
          </a:prstGeom>
          <a:solidFill>
            <a:srgbClr val="EE7759">
              <a:alpha val="29803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 i="0" u="none" strike="noStrike" cap="none" smtClean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500" y="25470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986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3_제목 및 내용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-22448"/>
            <a:ext cx="9144000" cy="555848"/>
          </a:xfrm>
          <a:prstGeom prst="rect">
            <a:avLst/>
          </a:prstGeom>
          <a:solidFill>
            <a:schemeClr val="accent5">
              <a:lumMod val="60000"/>
              <a:lumOff val="40000"/>
              <a:alpha val="29803"/>
            </a:scheme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 i="0" u="none" strike="noStrike" cap="none" smtClean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500" y="25470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31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2320" y="6430523"/>
            <a:ext cx="1417043" cy="24840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/>
          <p:nvPr/>
        </p:nvSpPr>
        <p:spPr>
          <a:xfrm>
            <a:off x="3855472" y="2454920"/>
            <a:ext cx="2736303" cy="132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 b="1" i="0" u="none" strike="noStrike" cap="none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sz="8000" b="1" i="0" u="none" strike="noStrike" cap="none">
              <a:solidFill>
                <a:srgbClr val="EE77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1723"/>
            <a:ext cx="1979712" cy="687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40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49" r:id="rId2"/>
    <p:sldLayoutId id="2147483671" r:id="rId3"/>
    <p:sldLayoutId id="2147483672" r:id="rId4"/>
    <p:sldLayoutId id="2147483673" r:id="rId5"/>
    <p:sldLayoutId id="214748365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0" y="0"/>
            <a:ext cx="4527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0000" lnSpcReduction="2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endParaRPr sz="30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/>
              <a:t>목 차</a:t>
            </a:r>
            <a:endParaRPr dirty="0"/>
          </a:p>
        </p:txBody>
      </p:sp>
      <p:sp>
        <p:nvSpPr>
          <p:cNvPr id="76" name="Google Shape;76;p12"/>
          <p:cNvSpPr/>
          <p:nvPr/>
        </p:nvSpPr>
        <p:spPr>
          <a:xfrm>
            <a:off x="699256" y="1177132"/>
            <a:ext cx="756631" cy="608012"/>
          </a:xfrm>
          <a:prstGeom prst="snipRoundRect">
            <a:avLst>
              <a:gd name="adj1" fmla="val 24542"/>
              <a:gd name="adj2" fmla="val 0"/>
            </a:avLst>
          </a:prstGeom>
          <a:solidFill>
            <a:srgbClr val="EE7759">
              <a:alpha val="60000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r>
              <a:rPr 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.1</a:t>
            </a: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1446207" y="1124744"/>
            <a:ext cx="6998536" cy="719138"/>
          </a:xfrm>
          <a:prstGeom prst="roundRect">
            <a:avLst>
              <a:gd name="adj" fmla="val 2291"/>
            </a:avLst>
          </a:prstGeom>
          <a:solidFill>
            <a:srgbClr val="F2F2F2">
              <a:alpha val="32549"/>
            </a:srgbClr>
          </a:solidFill>
          <a:ln w="38100" cap="flat" cmpd="sng">
            <a:solidFill>
              <a:srgbClr val="E4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2238" lvl="0" indent="11113">
              <a:lnSpc>
                <a:spcPct val="110000"/>
              </a:lnSpc>
            </a:pPr>
            <a:r>
              <a:rPr lang="ko-KR" altLang="en-US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다이어그램 개념 알기</a:t>
            </a:r>
            <a:endParaRPr sz="2000" b="1" i="0" u="none" strike="noStrike" cap="none" dirty="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699256" y="2139958"/>
            <a:ext cx="756631" cy="608012"/>
          </a:xfrm>
          <a:prstGeom prst="snipRoundRect">
            <a:avLst>
              <a:gd name="adj1" fmla="val 24542"/>
              <a:gd name="adj2" fmla="val 0"/>
            </a:avLst>
          </a:prstGeom>
          <a:solidFill>
            <a:srgbClr val="EE7759">
              <a:alpha val="60000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r>
              <a:rPr 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.2</a:t>
            </a: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1446207" y="2087570"/>
            <a:ext cx="6998536" cy="719138"/>
          </a:xfrm>
          <a:prstGeom prst="roundRect">
            <a:avLst>
              <a:gd name="adj" fmla="val 2291"/>
            </a:avLst>
          </a:prstGeom>
          <a:solidFill>
            <a:srgbClr val="F2F2F2">
              <a:alpha val="32549"/>
            </a:srgbClr>
          </a:solidFill>
          <a:ln w="38100" cap="flat" cmpd="sng">
            <a:solidFill>
              <a:srgbClr val="E4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2238" lvl="0" indent="11113">
              <a:lnSpc>
                <a:spcPct val="110000"/>
              </a:lnSpc>
            </a:pPr>
            <a:r>
              <a:rPr lang="ko-KR" altLang="en-US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다이어그램 실습하기</a:t>
            </a:r>
            <a:endParaRPr sz="2000" b="1" i="0" u="none" strike="noStrike" cap="none" dirty="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1802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4"/>
          <p:cNvSpPr txBox="1">
            <a:spLocks/>
          </p:cNvSpPr>
          <p:nvPr/>
        </p:nvSpPr>
        <p:spPr>
          <a:xfrm>
            <a:off x="495300" y="990595"/>
            <a:ext cx="8356600" cy="1295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55600" marR="0" lvl="0" indent="-3556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Malgun Gothic" panose="020B0503020000020004" pitchFamily="50" charset="-127"/>
              <a:buChar char="■"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tabLst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342900" indent="-161925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sz="1600" b="0" dirty="0">
                <a:latin typeface="+mn-ea"/>
              </a:rPr>
              <a:t>클래스 다이어그램의 개념과 구성요소에 대해 알아본다</a:t>
            </a:r>
            <a:r>
              <a:rPr lang="en-US" altLang="ko-KR" sz="1600" b="0" dirty="0">
                <a:latin typeface="+mn-ea"/>
              </a:rPr>
              <a:t>.</a:t>
            </a:r>
          </a:p>
          <a:p>
            <a:pPr marL="342900" indent="-161925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sz="1600" b="0" dirty="0" err="1">
                <a:latin typeface="+mn-ea"/>
              </a:rPr>
              <a:t>비주얼</a:t>
            </a:r>
            <a:r>
              <a:rPr lang="ko-KR" altLang="en-US" sz="1600" b="0" dirty="0">
                <a:latin typeface="+mn-ea"/>
              </a:rPr>
              <a:t> 패러다임을 활용하여 다양한 사례를 클래스 다이어그램으로 작성하는 실습을 해 본다</a:t>
            </a:r>
            <a:r>
              <a:rPr lang="en-US" altLang="ko-KR" sz="1600" b="0" dirty="0">
                <a:latin typeface="+mn-ea"/>
              </a:rPr>
              <a:t>.</a:t>
            </a:r>
            <a:r>
              <a:rPr lang="ko-KR" altLang="en-US" sz="1600" b="0" dirty="0">
                <a:latin typeface="+mn-ea"/>
              </a:rPr>
              <a:t> </a:t>
            </a:r>
            <a:endParaRPr lang="en-US" altLang="ko-KR" sz="1600" b="0" dirty="0">
              <a:latin typeface="+mn-ea"/>
            </a:endParaRPr>
          </a:p>
        </p:txBody>
      </p:sp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 요</a:t>
            </a:r>
          </a:p>
        </p:txBody>
      </p:sp>
    </p:spTree>
    <p:extLst>
      <p:ext uri="{BB962C8B-B14F-4D97-AF65-F5344CB8AC3E}">
        <p14:creationId xmlns:p14="http://schemas.microsoft.com/office/powerpoint/2010/main" val="275093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8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3543300"/>
          </a:xfrm>
        </p:spPr>
        <p:txBody>
          <a:bodyPr/>
          <a:lstStyle/>
          <a:p>
            <a:r>
              <a:rPr lang="ko-KR" altLang="en-US" dirty="0"/>
              <a:t>클래스 다이어그램 생성 화면 예시</a:t>
            </a:r>
          </a:p>
        </p:txBody>
      </p:sp>
      <p:pic>
        <p:nvPicPr>
          <p:cNvPr id="1026" name="Picture 2" descr="C:\Users\user\Dropbox\소프트웨어 창의 설계(교안)\fig(1~15장)\fig8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36" y="1475458"/>
            <a:ext cx="5895552" cy="46822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130767" y="5896122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8-1]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582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클래스 다이어그램이란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다양한 다이어그램 중 프로그래머가 시스템을 구축할 때 곧바로 코드로 변환시킬 수 있다는 특징을 갖고 있음</a:t>
            </a:r>
            <a:endParaRPr lang="en-US" altLang="ko-KR" dirty="0"/>
          </a:p>
          <a:p>
            <a:pPr lvl="1"/>
            <a:r>
              <a:rPr lang="ko-KR" altLang="en-US" dirty="0"/>
              <a:t>마치 현장 건축자가 아파트를 짓기 위해 작성하는 설계도와 유사함</a:t>
            </a:r>
            <a:endParaRPr lang="en-US" altLang="ko-KR" dirty="0"/>
          </a:p>
          <a:p>
            <a:pPr lvl="1"/>
            <a:r>
              <a:rPr lang="ko-KR" altLang="en-US" dirty="0"/>
              <a:t>직접적으로 코드와 </a:t>
            </a:r>
            <a:r>
              <a:rPr lang="en-US" altLang="ko-KR" dirty="0"/>
              <a:t>1:1 </a:t>
            </a:r>
            <a:r>
              <a:rPr lang="ko-KR" altLang="en-US" dirty="0" err="1"/>
              <a:t>매핑됨</a:t>
            </a:r>
            <a:endParaRPr lang="ko-KR" altLang="en-US" dirty="0"/>
          </a:p>
        </p:txBody>
      </p:sp>
      <p:pic>
        <p:nvPicPr>
          <p:cNvPr id="2050" name="Picture 2" descr="C:\Users\user\Dropbox\소프트웨어 창의 설계(교안)\fig(1~15장)\fig8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46" y="2935291"/>
            <a:ext cx="6569597" cy="374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18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2A18C-71B3-22D5-7D21-B404AF6A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800" dirty="0"/>
              <a:t>8.1 </a:t>
            </a:r>
            <a:r>
              <a:rPr lang="ko-KR" altLang="en-US" sz="2800" dirty="0"/>
              <a:t>클래스 다이어그램 개념 알기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2250268"/>
          </a:xfrm>
        </p:spPr>
        <p:txBody>
          <a:bodyPr/>
          <a:lstStyle/>
          <a:p>
            <a:r>
              <a:rPr lang="ko-KR" altLang="en-US" dirty="0"/>
              <a:t>클래스 다이어그램 구성요소</a:t>
            </a:r>
            <a:endParaRPr lang="en-US" altLang="ko-KR" dirty="0"/>
          </a:p>
          <a:p>
            <a:pPr lvl="1"/>
            <a:r>
              <a:rPr lang="ko-KR" altLang="en-US" dirty="0"/>
              <a:t>명칭</a:t>
            </a:r>
            <a:r>
              <a:rPr lang="en-US" altLang="ko-KR" dirty="0"/>
              <a:t>, </a:t>
            </a:r>
            <a:r>
              <a:rPr lang="ko-KR" altLang="en-US" dirty="0"/>
              <a:t>속성</a:t>
            </a:r>
            <a:r>
              <a:rPr lang="en-US" altLang="ko-KR" dirty="0"/>
              <a:t>, </a:t>
            </a:r>
            <a:r>
              <a:rPr lang="ko-KR" altLang="en-US" dirty="0"/>
              <a:t>기능으로 이루어짐</a:t>
            </a:r>
            <a:endParaRPr lang="en-US" altLang="ko-KR" dirty="0"/>
          </a:p>
          <a:p>
            <a:pPr lvl="1"/>
            <a:r>
              <a:rPr lang="ko-KR" altLang="en-US" dirty="0"/>
              <a:t>명칭</a:t>
            </a:r>
            <a:r>
              <a:rPr lang="en-US" altLang="ko-KR" dirty="0"/>
              <a:t>(Name) : </a:t>
            </a:r>
            <a:r>
              <a:rPr lang="ko-KR" altLang="en-US" dirty="0"/>
              <a:t>클래스라는 사물의 명칭을 의미함</a:t>
            </a:r>
            <a:endParaRPr lang="en-US" altLang="ko-KR" dirty="0"/>
          </a:p>
          <a:p>
            <a:pPr lvl="1"/>
            <a:r>
              <a:rPr lang="ko-KR" altLang="en-US"/>
              <a:t>속성</a:t>
            </a:r>
            <a:r>
              <a:rPr lang="en-US" altLang="ko-KR" dirty="0"/>
              <a:t>(Attribute ) : </a:t>
            </a:r>
            <a:r>
              <a:rPr lang="ko-KR" altLang="en-US" dirty="0"/>
              <a:t>해당 클래스가 가지고 있는 상태를 의미함</a:t>
            </a:r>
            <a:endParaRPr lang="en-US" altLang="ko-KR" dirty="0"/>
          </a:p>
          <a:p>
            <a:pPr lvl="1"/>
            <a:r>
              <a:rPr lang="ko-KR" altLang="en-US" dirty="0"/>
              <a:t>기능</a:t>
            </a:r>
            <a:r>
              <a:rPr lang="en-US" altLang="ko-KR" dirty="0"/>
              <a:t>(Operation ) : </a:t>
            </a:r>
            <a:r>
              <a:rPr lang="ko-KR" altLang="en-US" dirty="0"/>
              <a:t>클래스의 동작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클래스가 제공하는 서비스를 의미함</a:t>
            </a:r>
          </a:p>
        </p:txBody>
      </p:sp>
      <p:pic>
        <p:nvPicPr>
          <p:cNvPr id="3074" name="Picture 2" descr="C:\Users\user\Dropbox\소프트웨어 창의 설계(교안)\fig(1~15장)\fig8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180" y="3150819"/>
            <a:ext cx="4328931" cy="241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55180" y="5563941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8-3]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878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클래스 다이어그램의 구성요소 </a:t>
            </a:r>
            <a:r>
              <a:rPr lang="en-US" altLang="ko-KR" dirty="0"/>
              <a:t>: </a:t>
            </a:r>
            <a:r>
              <a:rPr lang="ko-KR" altLang="en-US" dirty="0"/>
              <a:t>사물</a:t>
            </a:r>
            <a:r>
              <a:rPr lang="en-US" altLang="ko-KR" dirty="0"/>
              <a:t>(Things)</a:t>
            </a:r>
            <a:endParaRPr lang="ko-KR" altLang="en-US" dirty="0"/>
          </a:p>
        </p:txBody>
      </p:sp>
      <p:pic>
        <p:nvPicPr>
          <p:cNvPr id="7" name="Picture 2" descr="C:\Users\user\Dropbox\소프트웨어 창의 설계(교안)\fig(1~15장)\표8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15" y="1583536"/>
            <a:ext cx="7753985" cy="27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7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클래스 다이어그램의 구성요소 </a:t>
            </a:r>
            <a:r>
              <a:rPr lang="en-US" altLang="ko-KR" dirty="0"/>
              <a:t>: </a:t>
            </a:r>
            <a:r>
              <a:rPr lang="ko-KR" altLang="en-US" dirty="0"/>
              <a:t>관계</a:t>
            </a:r>
            <a:r>
              <a:rPr lang="en-US" altLang="ko-KR" dirty="0"/>
              <a:t>(Relationships)</a:t>
            </a:r>
          </a:p>
          <a:p>
            <a:pPr lvl="1"/>
            <a:r>
              <a:rPr lang="ko-KR" altLang="en-US" dirty="0"/>
              <a:t>연관 관계</a:t>
            </a:r>
            <a:r>
              <a:rPr lang="en-US" altLang="ko-KR" dirty="0"/>
              <a:t>, </a:t>
            </a:r>
            <a:r>
              <a:rPr lang="ko-KR" altLang="en-US" dirty="0"/>
              <a:t>일반화 관계</a:t>
            </a:r>
          </a:p>
        </p:txBody>
      </p:sp>
      <p:pic>
        <p:nvPicPr>
          <p:cNvPr id="5124" name="Picture 4" descr="C:\Users\user\Dropbox\소프트웨어 창의 설계(교안)\fig(1~15장)\표8-2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85" y="1941830"/>
            <a:ext cx="6875450" cy="472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954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pic>
        <p:nvPicPr>
          <p:cNvPr id="5123" name="Picture 3" descr="C:\Users\user\Dropbox\소프트웨어 창의 설계(교안)\fig(1~15장)\표8-2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1191261"/>
            <a:ext cx="7057470" cy="276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017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pic>
        <p:nvPicPr>
          <p:cNvPr id="6146" name="Picture 2" descr="C:\Users\user\Dropbox\소프트웨어 창의 설계(교안)\fig(1~15장)\fig_학습활동 8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21" y="1234191"/>
            <a:ext cx="7829550" cy="140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86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13" name="텍스트 개체 틀 2"/>
          <p:cNvSpPr txBox="1">
            <a:spLocks/>
          </p:cNvSpPr>
          <p:nvPr/>
        </p:nvSpPr>
        <p:spPr>
          <a:xfrm>
            <a:off x="495300" y="1279771"/>
            <a:ext cx="8356600" cy="13013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55600" indent="-355600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01. </a:t>
            </a:r>
            <a:r>
              <a:rPr lang="ko-KR" altLang="en-US" dirty="0" err="1"/>
              <a:t>비주얼</a:t>
            </a:r>
            <a:r>
              <a:rPr lang="ko-KR" altLang="en-US" dirty="0"/>
              <a:t> 패러다임을 실행하여 상단 메뉴에서 </a:t>
            </a:r>
            <a:r>
              <a:rPr lang="en-US" altLang="ko-KR" dirty="0"/>
              <a:t>[Diagram] &gt; [New]</a:t>
            </a:r>
            <a:r>
              <a:rPr lang="ko-KR" altLang="en-US" dirty="0"/>
              <a:t>를 클릭한다</a:t>
            </a:r>
            <a:r>
              <a:rPr lang="en-US" altLang="ko-KR" dirty="0"/>
              <a:t>. “Class Diagram”</a:t>
            </a:r>
            <a:r>
              <a:rPr lang="ko-KR" altLang="en-US" dirty="0"/>
              <a:t>을 선택하여</a:t>
            </a:r>
            <a:r>
              <a:rPr lang="en-US" altLang="ko-KR" dirty="0"/>
              <a:t>, </a:t>
            </a:r>
            <a:r>
              <a:rPr lang="ko-KR" altLang="en-US" dirty="0"/>
              <a:t>다이어그램의 이름을 “내 첫 번째 클래스 다이어그램”이라고 명명하고 실습을 시작해 보자</a:t>
            </a:r>
            <a:r>
              <a:rPr lang="en-US" altLang="ko-KR" dirty="0"/>
              <a:t>.</a:t>
            </a:r>
            <a:endParaRPr lang="en-US" altLang="ko-KR" sz="1400" dirty="0"/>
          </a:p>
        </p:txBody>
      </p:sp>
      <p:sp>
        <p:nvSpPr>
          <p:cNvPr id="9" name="Google Shape;31;p4"/>
          <p:cNvSpPr txBox="1">
            <a:spLocks/>
          </p:cNvSpPr>
          <p:nvPr/>
        </p:nvSpPr>
        <p:spPr>
          <a:xfrm>
            <a:off x="495300" y="985648"/>
            <a:ext cx="1557494" cy="29412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bg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ko-KR" altLang="en-US" sz="1600" dirty="0"/>
              <a:t>실습 따라 하기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495300" y="1279771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55797" y="6322844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8-4]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194" name="Picture 2" descr="C:\Users\user\Dropbox\소프트웨어 창의 설계(교안)\fig(1~15장)\fig8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53" y="2581154"/>
            <a:ext cx="5570997" cy="402469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34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3136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02. </a:t>
            </a:r>
            <a:r>
              <a:rPr lang="ko-KR" altLang="en-US" dirty="0"/>
              <a:t>클래스를 만들려면 메뉴의 </a:t>
            </a:r>
            <a:r>
              <a:rPr lang="en-US" altLang="ko-KR" dirty="0"/>
              <a:t>[</a:t>
            </a:r>
            <a:r>
              <a:rPr lang="ko-KR" altLang="en-US" dirty="0"/>
              <a:t>클래스</a:t>
            </a:r>
            <a:r>
              <a:rPr lang="en-US" altLang="ko-KR" dirty="0"/>
              <a:t>(Class)] </a:t>
            </a:r>
            <a:r>
              <a:rPr lang="ko-KR" altLang="en-US" dirty="0"/>
              <a:t>아이콘을 선택한 후</a:t>
            </a:r>
            <a:r>
              <a:rPr lang="en-US" altLang="ko-KR" dirty="0"/>
              <a:t>, </a:t>
            </a:r>
            <a:r>
              <a:rPr lang="ko-KR" altLang="en-US" dirty="0"/>
              <a:t>원하는 위치에 클릭한다</a:t>
            </a:r>
            <a:r>
              <a:rPr lang="en-US" altLang="ko-KR" dirty="0"/>
              <a:t>. </a:t>
            </a:r>
            <a:r>
              <a:rPr lang="ko-KR" altLang="en-US" dirty="0"/>
              <a:t>생성되면 원하는 클래스의 이름을 작성한다</a:t>
            </a:r>
            <a:r>
              <a:rPr lang="en-US" altLang="ko-KR" dirty="0"/>
              <a:t>.</a:t>
            </a:r>
          </a:p>
          <a:p>
            <a:pPr marL="360363" indent="-360363" defTabSz="179388">
              <a:tabLst/>
            </a:pPr>
            <a:endParaRPr lang="en-US" altLang="ko-KR" b="1" dirty="0">
              <a:solidFill>
                <a:srgbClr val="C0504D"/>
              </a:solidFill>
              <a:latin typeface="Arial"/>
            </a:endParaRPr>
          </a:p>
          <a:p>
            <a:pPr marL="360363" indent="-360363" defTabSz="179388">
              <a:tabLst/>
            </a:pPr>
            <a:endParaRPr lang="en-US" altLang="ko-KR" b="1" dirty="0">
              <a:solidFill>
                <a:srgbClr val="C0504D"/>
              </a:solidFill>
              <a:latin typeface="Arial"/>
            </a:endParaRPr>
          </a:p>
          <a:p>
            <a:pPr marL="360363" indent="-360363" defTabSz="179388">
              <a:tabLst/>
            </a:pPr>
            <a:endParaRPr lang="en-US" altLang="ko-KR" sz="1000" b="1" dirty="0">
              <a:solidFill>
                <a:srgbClr val="C0504D"/>
              </a:solidFill>
              <a:latin typeface="Arial"/>
            </a:endParaRPr>
          </a:p>
          <a:p>
            <a:pPr marL="360363" indent="-360363" defTabSz="179388">
              <a:tabLst/>
            </a:pPr>
            <a:endParaRPr lang="en-US" altLang="ko-KR" sz="1000" b="1" dirty="0">
              <a:solidFill>
                <a:srgbClr val="C0504D"/>
              </a:solidFill>
              <a:latin typeface="Arial"/>
            </a:endParaRPr>
          </a:p>
          <a:p>
            <a:pPr marL="360363" indent="-360363" defTabSz="179388">
              <a:tabLst/>
            </a:pPr>
            <a:endParaRPr lang="en-US" altLang="ko-KR" b="1" dirty="0">
              <a:solidFill>
                <a:srgbClr val="C0504D"/>
              </a:solidFill>
              <a:latin typeface="Arial"/>
            </a:endParaRPr>
          </a:p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03. </a:t>
            </a:r>
            <a:r>
              <a:rPr lang="ko-KR" altLang="en-US" dirty="0"/>
              <a:t>클래스 다이어그램으로 일반화 관계를 표현하려면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8-6]</a:t>
            </a:r>
            <a:r>
              <a:rPr lang="ko-KR" altLang="en-US" dirty="0"/>
              <a:t>과 같이 </a:t>
            </a:r>
            <a:r>
              <a:rPr lang="en-US" altLang="ko-KR" dirty="0"/>
              <a:t>[</a:t>
            </a:r>
            <a:r>
              <a:rPr lang="ko-KR" altLang="en-US" dirty="0"/>
              <a:t>일반화 관계</a:t>
            </a:r>
            <a:r>
              <a:rPr lang="en-US" altLang="ko-KR" dirty="0"/>
              <a:t>(Generalization)] </a:t>
            </a:r>
            <a:r>
              <a:rPr lang="ko-KR" altLang="en-US" dirty="0"/>
              <a:t>아이콘</a:t>
            </a:r>
            <a:r>
              <a:rPr lang="en-US" altLang="ko-KR" dirty="0"/>
              <a:t>(</a:t>
            </a:r>
            <a:r>
              <a:rPr lang="ko-KR" altLang="en-US" b="1" dirty="0">
                <a:solidFill>
                  <a:schemeClr val="accent2"/>
                </a:solidFill>
              </a:rPr>
              <a:t>①</a:t>
            </a:r>
            <a:r>
              <a:rPr lang="en-US" altLang="ko-KR" dirty="0"/>
              <a:t>)</a:t>
            </a:r>
            <a:r>
              <a:rPr lang="ko-KR" altLang="en-US" dirty="0"/>
              <a:t>을 선택하거나</a:t>
            </a:r>
            <a:r>
              <a:rPr lang="en-US" altLang="ko-KR" dirty="0"/>
              <a:t>, ‘</a:t>
            </a:r>
            <a:r>
              <a:rPr lang="ko-KR" altLang="en-US" dirty="0"/>
              <a:t>리소스 카탈로그’</a:t>
            </a:r>
            <a:r>
              <a:rPr lang="en-US" altLang="ko-KR" dirty="0"/>
              <a:t>(</a:t>
            </a:r>
            <a:r>
              <a:rPr lang="ko-KR" altLang="en-US" b="1" dirty="0">
                <a:solidFill>
                  <a:schemeClr val="accent2"/>
                </a:solidFill>
              </a:rPr>
              <a:t>②</a:t>
            </a:r>
            <a:r>
              <a:rPr lang="en-US" altLang="ko-KR" dirty="0"/>
              <a:t>)</a:t>
            </a:r>
            <a:r>
              <a:rPr lang="ko-KR" altLang="en-US" dirty="0"/>
              <a:t>에서 원하는 클래스 관계를 선택한다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7897" y="3507893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8-5]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218" name="Picture 2" descr="C:\Users\user\Dropbox\소프트웨어 창의 설계(교안)\fig(1~15장)\fig8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57055"/>
            <a:ext cx="6448022" cy="18816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user\Dropbox\소프트웨어 창의 설계(교안)\fig(1~15장)\fig8-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918018"/>
            <a:ext cx="6448022" cy="186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487897" y="6491327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8-6]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7815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3136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04.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8-7]</a:t>
            </a:r>
            <a:r>
              <a:rPr lang="ko-KR" altLang="en-US" dirty="0"/>
              <a:t>과 같이 </a:t>
            </a:r>
            <a:r>
              <a:rPr lang="en-US" altLang="ko-KR" dirty="0"/>
              <a:t>[</a:t>
            </a:r>
            <a:r>
              <a:rPr lang="ko-KR" altLang="en-US" dirty="0"/>
              <a:t>일반화 관계</a:t>
            </a:r>
            <a:r>
              <a:rPr lang="en-US" altLang="ko-KR" dirty="0"/>
              <a:t>(Generalization)] </a:t>
            </a:r>
            <a:r>
              <a:rPr lang="ko-KR" altLang="en-US" dirty="0"/>
              <a:t>아이콘을 클릭하면 새로운 클래스가 생성된다</a:t>
            </a:r>
            <a:r>
              <a:rPr lang="en-US" altLang="ko-KR" dirty="0"/>
              <a:t>. </a:t>
            </a:r>
            <a:r>
              <a:rPr lang="ko-KR" altLang="en-US" dirty="0"/>
              <a:t>이후 원하는 이름을 작성한다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7897" y="4517793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8-7]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42" name="Picture 2" descr="C:\Users\user\Dropbox\소프트웨어 창의 설계(교안)\fig(1~15장)\fig8-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53" y="1845617"/>
            <a:ext cx="6498744" cy="293378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6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3136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05. </a:t>
            </a:r>
            <a:r>
              <a:rPr lang="ko-KR" altLang="en-US" dirty="0"/>
              <a:t>집단화 관계를 설정하려면</a:t>
            </a:r>
            <a:r>
              <a:rPr lang="en-US" altLang="ko-KR" dirty="0"/>
              <a:t>, ‘</a:t>
            </a:r>
            <a:r>
              <a:rPr lang="ko-KR" altLang="en-US" dirty="0"/>
              <a:t>리소스 카탈로그’에서 </a:t>
            </a:r>
            <a:r>
              <a:rPr lang="en-US" altLang="ko-KR" dirty="0"/>
              <a:t>[</a:t>
            </a:r>
            <a:r>
              <a:rPr lang="ko-KR" altLang="en-US" dirty="0"/>
              <a:t>집단화</a:t>
            </a:r>
            <a:r>
              <a:rPr lang="en-US" altLang="ko-KR" dirty="0"/>
              <a:t>(Aggregation Class)] </a:t>
            </a:r>
            <a:r>
              <a:rPr lang="ko-KR" altLang="en-US" dirty="0"/>
              <a:t>아이콘을 선택하고</a:t>
            </a:r>
            <a:r>
              <a:rPr lang="en-US" altLang="ko-KR" dirty="0"/>
              <a:t>, </a:t>
            </a:r>
            <a:r>
              <a:rPr lang="ko-KR" altLang="en-US" dirty="0"/>
              <a:t>원하는 정보를 입력한다</a:t>
            </a:r>
            <a:r>
              <a:rPr lang="en-US" altLang="ko-KR" dirty="0"/>
              <a:t>. [</a:t>
            </a:r>
            <a:r>
              <a:rPr lang="ko-KR" altLang="en-US" dirty="0"/>
              <a:t>그림 </a:t>
            </a:r>
            <a:r>
              <a:rPr lang="en-US" altLang="ko-KR" dirty="0"/>
              <a:t>8-8]</a:t>
            </a:r>
            <a:r>
              <a:rPr lang="ko-KR" altLang="en-US" dirty="0"/>
              <a:t>의 경우</a:t>
            </a:r>
            <a:r>
              <a:rPr lang="en-US" altLang="ko-KR" dirty="0"/>
              <a:t>, ‘</a:t>
            </a:r>
            <a:r>
              <a:rPr lang="ko-KR" altLang="en-US" dirty="0"/>
              <a:t>강의실은 의자</a:t>
            </a:r>
            <a:r>
              <a:rPr lang="en-US" altLang="ko-KR" dirty="0"/>
              <a:t>, </a:t>
            </a:r>
            <a:r>
              <a:rPr lang="ko-KR" altLang="en-US" dirty="0"/>
              <a:t>책상</a:t>
            </a:r>
            <a:r>
              <a:rPr lang="en-US" altLang="ko-KR" dirty="0"/>
              <a:t>, </a:t>
            </a:r>
            <a:r>
              <a:rPr lang="ko-KR" altLang="en-US" dirty="0"/>
              <a:t>컴퓨터 등으로 이루어져 있다’ 정도로 해석하면 될 것이다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7897" y="5781119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8-8]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266" name="Picture 2" descr="C:\Users\user\Dropbox\소프트웨어 창의 설계(교안)\fig(1~15장)\fig8-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80" y="2257064"/>
            <a:ext cx="6548218" cy="37704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506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3136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06. </a:t>
            </a:r>
            <a:r>
              <a:rPr lang="ko-KR" altLang="en-US" dirty="0"/>
              <a:t>연관 관계를 설정하려면</a:t>
            </a:r>
            <a:r>
              <a:rPr lang="en-US" altLang="ko-KR" dirty="0"/>
              <a:t>, ‘</a:t>
            </a:r>
            <a:r>
              <a:rPr lang="ko-KR" altLang="en-US" dirty="0"/>
              <a:t>리소스 카탈로그’에서 </a:t>
            </a:r>
            <a:r>
              <a:rPr lang="en-US" altLang="ko-KR" dirty="0"/>
              <a:t>[</a:t>
            </a:r>
            <a:r>
              <a:rPr lang="ko-KR" altLang="en-US" dirty="0"/>
              <a:t>연관 관계</a:t>
            </a:r>
            <a:r>
              <a:rPr lang="en-US" altLang="ko-KR" dirty="0"/>
              <a:t>(Association)] </a:t>
            </a:r>
            <a:r>
              <a:rPr lang="ko-KR" altLang="en-US" dirty="0"/>
              <a:t>아이콘을 선택하고</a:t>
            </a:r>
            <a:r>
              <a:rPr lang="en-US" altLang="ko-KR" dirty="0"/>
              <a:t>, </a:t>
            </a:r>
            <a:r>
              <a:rPr lang="ko-KR" altLang="en-US" dirty="0"/>
              <a:t>원하는 정보를 입력한다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7897" y="4954393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8-9]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290" name="Picture 2" descr="C:\Users\user\Dropbox\소프트웨어 창의 설계(교안)\fig(1~15장)\fig8-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53" y="1927373"/>
            <a:ext cx="6395495" cy="337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141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07.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8-9]</a:t>
            </a:r>
            <a:r>
              <a:rPr lang="ko-KR" altLang="en-US" dirty="0"/>
              <a:t>와 같이 만들기 위해</a:t>
            </a:r>
            <a:r>
              <a:rPr lang="en-US" altLang="ko-KR" dirty="0"/>
              <a:t>, ‘</a:t>
            </a:r>
            <a:r>
              <a:rPr lang="ko-KR" altLang="en-US" dirty="0"/>
              <a:t>학생’ 클래스에 속성</a:t>
            </a:r>
            <a:r>
              <a:rPr lang="en-US" altLang="ko-KR" dirty="0"/>
              <a:t>(Attribute)</a:t>
            </a:r>
            <a:r>
              <a:rPr lang="ko-KR" altLang="en-US" dirty="0"/>
              <a:t>과 오퍼레이션</a:t>
            </a:r>
            <a:r>
              <a:rPr lang="en-US" altLang="ko-KR" dirty="0"/>
              <a:t>(Operation)</a:t>
            </a:r>
            <a:r>
              <a:rPr lang="ko-KR" altLang="en-US" dirty="0"/>
              <a:t>를 그림과 같이 추가해 보자</a:t>
            </a:r>
            <a:r>
              <a:rPr lang="en-US" altLang="ko-KR" dirty="0"/>
              <a:t>. </a:t>
            </a:r>
            <a:r>
              <a:rPr lang="ko-KR" altLang="en-US" dirty="0"/>
              <a:t>학생 클래스 위에 마우스의 오른쪽 버튼을 클릭하면 </a:t>
            </a:r>
            <a:r>
              <a:rPr lang="en-US" altLang="ko-KR" dirty="0"/>
              <a:t>[Add] </a:t>
            </a:r>
            <a:r>
              <a:rPr lang="ko-KR" altLang="en-US" dirty="0"/>
              <a:t>메뉴에서 속성</a:t>
            </a:r>
            <a:r>
              <a:rPr lang="en-US" altLang="ko-KR" dirty="0"/>
              <a:t>(attribute)</a:t>
            </a:r>
            <a:r>
              <a:rPr lang="ko-KR" altLang="en-US" dirty="0"/>
              <a:t>과 기능</a:t>
            </a:r>
            <a:r>
              <a:rPr lang="en-US" altLang="ko-KR" dirty="0"/>
              <a:t>(operation)</a:t>
            </a:r>
            <a:r>
              <a:rPr lang="ko-KR" altLang="en-US" dirty="0"/>
              <a:t>을 찾을 수 있을 것이다</a:t>
            </a:r>
            <a:r>
              <a:rPr lang="en-US" altLang="ko-KR" dirty="0"/>
              <a:t>. ([</a:t>
            </a:r>
            <a:r>
              <a:rPr lang="ko-KR" altLang="en-US" dirty="0"/>
              <a:t>그림 </a:t>
            </a:r>
            <a:r>
              <a:rPr lang="en-US" altLang="ko-KR" dirty="0"/>
              <a:t>8-10]</a:t>
            </a:r>
            <a:r>
              <a:rPr lang="ko-KR" altLang="en-US" dirty="0"/>
              <a:t>의 ‘</a:t>
            </a:r>
            <a:r>
              <a:rPr lang="en-US" altLang="ko-KR" dirty="0"/>
              <a:t>Attribute’</a:t>
            </a:r>
            <a:r>
              <a:rPr lang="ko-KR" altLang="en-US" dirty="0"/>
              <a:t>와 ‘</a:t>
            </a:r>
            <a:r>
              <a:rPr lang="en-US" altLang="ko-KR" dirty="0"/>
              <a:t>Operation’</a:t>
            </a:r>
            <a:r>
              <a:rPr lang="ko-KR" altLang="en-US" dirty="0"/>
              <a:t>을 클릭하여 입력한다</a:t>
            </a:r>
            <a:r>
              <a:rPr lang="en-US" altLang="ko-KR" dirty="0"/>
              <a:t>.)</a:t>
            </a:r>
            <a:endParaRPr lang="en-US" altLang="ko-KR" sz="10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495300" y="6266253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 descr="C:\Users\user\Dropbox\소프트웨어 창의 설계(교안)\fig(1~15장)\fig8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57" y="2690813"/>
            <a:ext cx="672465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505138" y="5718624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8-10]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771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클래스 다이어그램 개념 알기</a:t>
            </a:r>
          </a:p>
        </p:txBody>
      </p:sp>
      <p:pic>
        <p:nvPicPr>
          <p:cNvPr id="7170" name="Picture 2" descr="C:\Users\user\Dropbox\소프트웨어 창의 설계(교안)\fig(1~15장)\fig_학습활동 8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67" y="1257299"/>
            <a:ext cx="7750661" cy="431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789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r>
              <a:rPr lang="ko-KR" altLang="en-US" dirty="0"/>
              <a:t>지식 공유 시스템</a:t>
            </a:r>
            <a:endParaRPr lang="en-US" altLang="ko-KR" dirty="0"/>
          </a:p>
        </p:txBody>
      </p:sp>
      <p:pic>
        <p:nvPicPr>
          <p:cNvPr id="16386" name="Picture 2" descr="C:\Users\user\Dropbox\소프트웨어 창의 설계(교안)\fig(1~15장)\fig8-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336" y="1682570"/>
            <a:ext cx="6955300" cy="379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291127" y="557942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8-11]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603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pic>
        <p:nvPicPr>
          <p:cNvPr id="17410" name="Picture 2" descr="C:\Users\user\Dropbox\소프트웨어 창의 설계(교안)\fig(1~15장)\fig8-181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67" y="1203686"/>
            <a:ext cx="7225134" cy="331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634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13" name="텍스트 개체 틀 2"/>
          <p:cNvSpPr txBox="1">
            <a:spLocks/>
          </p:cNvSpPr>
          <p:nvPr/>
        </p:nvSpPr>
        <p:spPr>
          <a:xfrm>
            <a:off x="495300" y="1279771"/>
            <a:ext cx="8356600" cy="13013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55600" indent="-355600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01. </a:t>
            </a:r>
            <a:r>
              <a:rPr lang="ko-KR" altLang="en-US" dirty="0"/>
              <a:t>시스템 구축에 필요한 유저 인터페이스</a:t>
            </a:r>
            <a:r>
              <a:rPr lang="en-US" altLang="ko-KR" dirty="0"/>
              <a:t>, </a:t>
            </a:r>
            <a:r>
              <a:rPr lang="ko-KR" altLang="en-US" dirty="0"/>
              <a:t>프로세서</a:t>
            </a:r>
            <a:r>
              <a:rPr lang="en-US" altLang="ko-KR" dirty="0"/>
              <a:t>, </a:t>
            </a:r>
            <a:r>
              <a:rPr lang="ko-KR" altLang="en-US" dirty="0"/>
              <a:t>데이터베이스에 관련된 클래스를 생성해 보자</a:t>
            </a:r>
            <a:r>
              <a:rPr lang="en-US" altLang="ko-KR" dirty="0"/>
              <a:t>.</a:t>
            </a:r>
            <a:endParaRPr lang="en-US" altLang="ko-KR" sz="1400" dirty="0"/>
          </a:p>
        </p:txBody>
      </p:sp>
      <p:sp>
        <p:nvSpPr>
          <p:cNvPr id="9" name="Google Shape;31;p4"/>
          <p:cNvSpPr txBox="1">
            <a:spLocks/>
          </p:cNvSpPr>
          <p:nvPr/>
        </p:nvSpPr>
        <p:spPr>
          <a:xfrm>
            <a:off x="495300" y="985648"/>
            <a:ext cx="1557494" cy="29412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bg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ko-KR" altLang="en-US" sz="1600" dirty="0"/>
              <a:t>실습 따라 하기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495300" y="1279771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55797" y="3676961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8-12]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435" name="Picture 3" descr="C:\Users\user\Dropbox\소프트웨어 창의 설계(교안)\fig(1~15장)\fig8-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36" y="2130698"/>
            <a:ext cx="4394418" cy="1807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207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3136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02. </a:t>
            </a:r>
            <a:r>
              <a:rPr lang="ko-KR" altLang="en-US" dirty="0"/>
              <a:t>유저 인터페이스를 통해 시스템이 사용자에게 제공하는 기능을 나타내 보자</a:t>
            </a:r>
            <a:r>
              <a:rPr lang="en-US" altLang="ko-KR" dirty="0"/>
              <a:t>.</a:t>
            </a:r>
          </a:p>
          <a:p>
            <a:pPr marL="358775" defTabSz="179388">
              <a:tabLst/>
            </a:pPr>
            <a:r>
              <a:rPr lang="ko-KR" altLang="en-US" b="1" dirty="0">
                <a:solidFill>
                  <a:schemeClr val="accent2"/>
                </a:solidFill>
              </a:rPr>
              <a:t>① </a:t>
            </a:r>
            <a:r>
              <a:rPr lang="ko-KR" altLang="en-US" dirty="0"/>
              <a:t>사용자의 입력을 받아들인다</a:t>
            </a:r>
            <a:r>
              <a:rPr lang="en-US" altLang="ko-KR" dirty="0"/>
              <a:t>.</a:t>
            </a:r>
          </a:p>
          <a:p>
            <a:pPr marL="358775" defTabSz="179388">
              <a:tabLst/>
            </a:pPr>
            <a:r>
              <a:rPr lang="ko-KR" altLang="en-US" b="1" dirty="0">
                <a:solidFill>
                  <a:schemeClr val="accent2"/>
                </a:solidFill>
              </a:rPr>
              <a:t>② </a:t>
            </a:r>
            <a:r>
              <a:rPr lang="ko-KR" altLang="en-US" dirty="0"/>
              <a:t>메시지</a:t>
            </a:r>
            <a:r>
              <a:rPr lang="en-US" altLang="ko-KR" dirty="0"/>
              <a:t>, </a:t>
            </a:r>
            <a:r>
              <a:rPr lang="ko-KR" altLang="en-US" dirty="0"/>
              <a:t>인터페이스 홈페이지</a:t>
            </a:r>
            <a:r>
              <a:rPr lang="en-US" altLang="ko-KR" dirty="0"/>
              <a:t>, </a:t>
            </a:r>
            <a:r>
              <a:rPr lang="ko-KR" altLang="en-US" dirty="0"/>
              <a:t>메신저 스크린을 화면에 띄운다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7897" y="5408039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8-13]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2" descr="C:\Users\user\Dropbox\소프트웨어 창의 설계(교안)\fig(1~15장)\fig8-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35" y="2500979"/>
            <a:ext cx="6401895" cy="289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454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3136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03. </a:t>
            </a:r>
            <a:r>
              <a:rPr lang="ko-KR" altLang="en-US" dirty="0"/>
              <a:t>질문자와 답변자를 위한 하위 클래스 유저 인터페이스를 설정한다</a:t>
            </a:r>
            <a:r>
              <a:rPr lang="en-US" altLang="ko-KR" dirty="0"/>
              <a:t>.</a:t>
            </a:r>
          </a:p>
          <a:p>
            <a:pPr marL="358775" defTabSz="179388">
              <a:tabLst/>
            </a:pPr>
            <a:r>
              <a:rPr lang="ko-KR" altLang="en-US" b="1" dirty="0">
                <a:solidFill>
                  <a:schemeClr val="accent2"/>
                </a:solidFill>
              </a:rPr>
              <a:t>① </a:t>
            </a:r>
            <a:r>
              <a:rPr lang="ko-KR" altLang="en-US" dirty="0"/>
              <a:t>질문자 유저 인터페이스는 질문자의 질문을 등록하고 게시한다</a:t>
            </a:r>
            <a:r>
              <a:rPr lang="en-US" altLang="ko-KR" dirty="0"/>
              <a:t>.</a:t>
            </a:r>
          </a:p>
          <a:p>
            <a:pPr marL="358775" defTabSz="179388">
              <a:tabLst/>
            </a:pPr>
            <a:r>
              <a:rPr lang="ko-KR" altLang="en-US" b="1" dirty="0">
                <a:solidFill>
                  <a:schemeClr val="accent2"/>
                </a:solidFill>
              </a:rPr>
              <a:t>② </a:t>
            </a:r>
            <a:r>
              <a:rPr lang="ko-KR" altLang="en-US" dirty="0"/>
              <a:t>답변자 유저 인터페이스는 질문의 답변을 등록하고 게시한다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7897" y="594587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8-14]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458" name="Picture 2" descr="C:\Users\user\Dropbox\소프트웨어 창의 설계(교안)\fig(1~15장)\fig8-1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453" y="2481649"/>
            <a:ext cx="5655841" cy="372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908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7178" y="568426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8-15]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482" name="Picture 2" descr="C:\Users\user\Dropbox\소프트웨어 창의 설계(교안)\fig(1~15장)\fig8-1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02" y="1189299"/>
            <a:ext cx="6833806" cy="4169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407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3136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rgbClr val="C0504D"/>
                </a:solidFill>
                <a:latin typeface="Arial"/>
              </a:rPr>
              <a:t>04. </a:t>
            </a:r>
            <a:r>
              <a:rPr lang="ko-KR" altLang="en-US" dirty="0"/>
              <a:t>유저 인터페이스에서 받아들인 사용자의 입력을 처리하도록 프로세서 클래스의 기능</a:t>
            </a:r>
            <a:r>
              <a:rPr lang="en-US" altLang="ko-KR" dirty="0"/>
              <a:t>(Operation)</a:t>
            </a:r>
            <a:r>
              <a:rPr lang="ko-KR" altLang="en-US" dirty="0"/>
              <a:t>을 구체화시켜 보자</a:t>
            </a:r>
            <a:r>
              <a:rPr lang="en-US" altLang="ko-KR" dirty="0"/>
              <a:t>.</a:t>
            </a:r>
          </a:p>
          <a:p>
            <a:pPr marL="358775" defTabSz="179388">
              <a:tabLst/>
            </a:pPr>
            <a:r>
              <a:rPr lang="ko-KR" altLang="en-US" b="1" dirty="0">
                <a:solidFill>
                  <a:schemeClr val="accent2"/>
                </a:solidFill>
              </a:rPr>
              <a:t>① </a:t>
            </a:r>
            <a:r>
              <a:rPr lang="ko-KR" altLang="en-US" dirty="0"/>
              <a:t>사용자가 작성한 내용으로 질문이나 답변을 만든다</a:t>
            </a:r>
            <a:r>
              <a:rPr lang="en-US" altLang="ko-KR" dirty="0"/>
              <a:t>.</a:t>
            </a:r>
          </a:p>
          <a:p>
            <a:pPr marL="358775" defTabSz="179388">
              <a:tabLst/>
            </a:pPr>
            <a:r>
              <a:rPr lang="ko-KR" altLang="en-US" b="1" dirty="0">
                <a:solidFill>
                  <a:schemeClr val="accent2"/>
                </a:solidFill>
              </a:rPr>
              <a:t>② </a:t>
            </a:r>
            <a:r>
              <a:rPr lang="ko-KR" altLang="en-US" dirty="0"/>
              <a:t>유저 인터페이스로부터 질문에 대한 답변 혹은 답변에 대한 질문을 가져온다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4505" y="632084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8-16]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507" name="Picture 3" descr="C:\Users\user\Dropbox\소프트웨어 창의 설계(교안)\fig(1~15장)\fig8-1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13" y="2737142"/>
            <a:ext cx="6876566" cy="37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30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452" y="579998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8-17]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506" name="Picture 2" descr="C:\Users\user\Dropbox\소프트웨어 창의 설계(교안)\fig(1~15장)\fig8-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52" y="1405762"/>
            <a:ext cx="7570835" cy="41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/>
          <p:cNvCxnSpPr/>
          <p:nvPr/>
        </p:nvCxnSpPr>
        <p:spPr>
          <a:xfrm>
            <a:off x="495300" y="6266253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868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r>
              <a:rPr lang="ko-KR" altLang="en-US" dirty="0"/>
              <a:t>사이버 캠퍼스 시스템</a:t>
            </a:r>
            <a:endParaRPr lang="en-US" altLang="ko-KR" dirty="0"/>
          </a:p>
        </p:txBody>
      </p:sp>
      <p:pic>
        <p:nvPicPr>
          <p:cNvPr id="7" name="Picture 2" descr="C:\Users\user\Dropbox\소프트웨어 창의 설계(교안)\fig(1~15장)\fig_학습활동 8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50" y="3305152"/>
            <a:ext cx="7234780" cy="124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user\Dropbox\소프트웨어 창의 설계(교안)\fig(1~15장)\fig_학습활동 8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50" y="1678346"/>
            <a:ext cx="7240652" cy="125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83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r>
              <a:rPr lang="ko-KR" altLang="en-US" dirty="0"/>
              <a:t>사이버 캠퍼스 시스템</a:t>
            </a:r>
            <a:endParaRPr lang="en-US" altLang="ko-KR" dirty="0"/>
          </a:p>
          <a:p>
            <a:pPr lvl="1"/>
            <a:r>
              <a:rPr lang="ko-KR" altLang="en-US" dirty="0"/>
              <a:t>‘사이버 캠퍼스 시스템’ 구축에 필요한 유저 인터페이스</a:t>
            </a:r>
            <a:r>
              <a:rPr lang="en-US" altLang="ko-KR" dirty="0"/>
              <a:t>, </a:t>
            </a:r>
            <a:r>
              <a:rPr lang="ko-KR" altLang="en-US" dirty="0"/>
              <a:t>메인 프로세서</a:t>
            </a:r>
            <a:r>
              <a:rPr lang="en-US" altLang="ko-KR" dirty="0"/>
              <a:t>, </a:t>
            </a:r>
            <a:r>
              <a:rPr lang="ko-KR" altLang="en-US" dirty="0"/>
              <a:t>데이터베이스에 관련된 클래스를 생성한다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시스템 클래스와는 “구성 관계”로 연결하여 표현한다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유저 인터페이스 클래스에는 ‘</a:t>
            </a:r>
            <a:r>
              <a:rPr lang="en-US" altLang="ko-KR" dirty="0"/>
              <a:t>ID, password, </a:t>
            </a:r>
            <a:r>
              <a:rPr lang="ko-KR" altLang="en-US" dirty="0"/>
              <a:t>과목</a:t>
            </a:r>
            <a:r>
              <a:rPr lang="en-US" altLang="ko-KR" dirty="0"/>
              <a:t>, </a:t>
            </a:r>
            <a:r>
              <a:rPr lang="ko-KR" altLang="en-US" dirty="0"/>
              <a:t>성적’ 등의 속성과 ‘로그인</a:t>
            </a:r>
            <a:r>
              <a:rPr lang="en-US" altLang="ko-KR" dirty="0"/>
              <a:t>, </a:t>
            </a:r>
            <a:r>
              <a:rPr lang="ko-KR" altLang="en-US" dirty="0"/>
              <a:t>강의실 선택</a:t>
            </a:r>
            <a:r>
              <a:rPr lang="en-US" altLang="ko-KR" dirty="0"/>
              <a:t>, </a:t>
            </a:r>
            <a:r>
              <a:rPr lang="ko-KR" altLang="en-US" dirty="0"/>
              <a:t>메인 메뉴 창 띄우기’ 등의 기능을 하도록 만든다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메인 프로세서와 데이터베이스 클래스에도 해당하는 ‘기능</a:t>
            </a:r>
            <a:r>
              <a:rPr lang="en-US" altLang="ko-KR" dirty="0"/>
              <a:t>(Operation )’</a:t>
            </a:r>
            <a:r>
              <a:rPr lang="ko-KR" altLang="en-US" dirty="0"/>
              <a:t>을 작성한다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5299" y="6239183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8-18]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530" name="Picture 2" descr="C:\Users\user\Dropbox\소프트웨어 창의 설계(교안)\fig(1~15장)\fig8-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59" y="3678187"/>
            <a:ext cx="5363016" cy="295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620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pPr lvl="1"/>
            <a:r>
              <a:rPr lang="ko-KR" altLang="en-US" dirty="0"/>
              <a:t>유저 인터페이스 클래스는 학생과 교수를 위한 각각의 유저 인터페이스를 가지므로</a:t>
            </a:r>
            <a:r>
              <a:rPr lang="en-US" altLang="ko-KR" dirty="0"/>
              <a:t>, </a:t>
            </a:r>
            <a:r>
              <a:rPr lang="ko-KR" altLang="en-US" dirty="0"/>
              <a:t>학생</a:t>
            </a:r>
            <a:r>
              <a:rPr lang="en-US" altLang="ko-KR" dirty="0"/>
              <a:t>, </a:t>
            </a:r>
            <a:r>
              <a:rPr lang="ko-KR" altLang="en-US" dirty="0"/>
              <a:t>교수 두 클래스를 유저 인터페이스와 “일반화” 관계로 설정한다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3563" y="632020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8-19]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554" name="Picture 2" descr="C:\Users\user\Dropbox\소프트웨어 창의 설계(교안)\fig(1~15장)\fig8-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719" y="1916021"/>
            <a:ext cx="4378405" cy="477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753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pPr lvl="1"/>
            <a:r>
              <a:rPr lang="ko-KR" altLang="en-US" dirty="0"/>
              <a:t>학생과 교수의 인터페이스 클래스에도 해당하는 속성과 기능을 작성한다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43629" y="632020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8-20]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578" name="Picture 2" descr="C:\Users\user\Dropbox\소프트웨어 창의 설계(교안)\fig(1~15장)\fig8-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93" y="1322558"/>
            <a:ext cx="6565013" cy="542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471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r>
              <a:rPr lang="ko-KR" altLang="en-US" dirty="0"/>
              <a:t>도서관 대출 시스템</a:t>
            </a:r>
            <a:endParaRPr lang="en-US" altLang="ko-K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50" y="1772232"/>
            <a:ext cx="7550683" cy="3702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220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클래스 다이어그램 실습하기</a:t>
            </a:r>
          </a:p>
        </p:txBody>
      </p:sp>
      <p:pic>
        <p:nvPicPr>
          <p:cNvPr id="15362" name="Picture 2" descr="C:\Users\user\Dropbox\소프트웨어 창의 설계(교안)\fig(1~15장)\fig_학습활동 8-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18" y="3243246"/>
            <a:ext cx="7213560" cy="128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3" name="Picture 3" descr="C:\Users\user\Dropbox\소프트웨어 창의 설계(교안)\fig(1~15장)\fig_학습활동 8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19" y="1014471"/>
            <a:ext cx="7231154" cy="123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016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실습문제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33" y="4257182"/>
            <a:ext cx="7086600" cy="5143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1" y="1047775"/>
            <a:ext cx="7103745" cy="52006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33" y="2209777"/>
            <a:ext cx="7063740" cy="3143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33" y="3236337"/>
            <a:ext cx="7063740" cy="30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883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849</Words>
  <Application>Microsoft Office PowerPoint</Application>
  <PresentationFormat>화면 슬라이드 쇼(4:3)</PresentationFormat>
  <Paragraphs>112</Paragraphs>
  <Slides>34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목 차</vt:lpstr>
      <vt:lpstr>개 요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8.1 클래스 다이어그램 개념 알기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8.2 클래스 다이어그램 실습하기</vt:lpstr>
      <vt:lpstr>실습문제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김경민</cp:lastModifiedBy>
  <cp:revision>48</cp:revision>
  <dcterms:modified xsi:type="dcterms:W3CDTF">2024-05-01T10:21:17Z</dcterms:modified>
</cp:coreProperties>
</file>