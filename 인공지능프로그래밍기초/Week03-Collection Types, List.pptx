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9" r:id="rId4"/>
    <p:sldId id="300" r:id="rId5"/>
    <p:sldId id="301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20" r:id="rId23"/>
    <p:sldId id="321" r:id="rId24"/>
    <p:sldId id="319" r:id="rId25"/>
    <p:sldId id="302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487" r:id="rId35"/>
    <p:sldId id="488" r:id="rId36"/>
    <p:sldId id="489" r:id="rId37"/>
    <p:sldId id="490" r:id="rId38"/>
    <p:sldId id="492" r:id="rId39"/>
    <p:sldId id="491" r:id="rId40"/>
    <p:sldId id="493" r:id="rId41"/>
    <p:sldId id="494" r:id="rId42"/>
    <p:sldId id="413" r:id="rId43"/>
    <p:sldId id="416" r:id="rId44"/>
    <p:sldId id="498" r:id="rId45"/>
    <p:sldId id="495" r:id="rId46"/>
    <p:sldId id="497" r:id="rId47"/>
    <p:sldId id="496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565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54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D86DC-93BB-4339-9BDD-42FC321FC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EA344E-008C-4E53-ADB3-83CFFD56E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31910-BFDD-421E-8BBD-569585D9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DB3BA-9485-4314-8A26-BCCE90C9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E58D3-7355-458F-900C-3E383E1D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2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F8E39-46E8-464B-A674-958C1F77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2D387A-43CD-4E81-95A5-3B1845324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428EB-B737-43A1-AAC6-1423B571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8BB03-87F3-4D84-8367-B1AB5FD5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CB920-FA9B-49BF-82D4-B5370153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05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C8EFE-236B-4105-AF77-8A416793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3D7F8E-4426-4C84-B117-AFE62CE89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D46D55-5500-41E9-91B3-2340A17B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C944E1-9315-4BF1-8187-5B9699E4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12DBD-DF5A-4E63-8E5F-97E9D74A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277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F5CC4-F059-445E-B415-36FC3A2BE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E77F23-694E-4FA0-9641-627C72EEE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42906"/>
            <a:ext cx="5181600" cy="473405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50A4FE-FB44-4946-96E0-BC0231DB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42906"/>
            <a:ext cx="5181600" cy="473405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6EF637-4546-476C-B193-8842C0C1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DF0C97-C3A2-42EE-94FB-54F17173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29BDA3-B1A4-4AD5-9249-E034EAF5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992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98101F-D907-46DA-946A-D2B2149D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2391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41DC6E-0683-4021-8AE7-A4EBDD2EA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79159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053797-63D6-4AE6-810B-883510033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3070"/>
            <a:ext cx="5157787" cy="394605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7946ED-968C-4A57-A30C-26D29F721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915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554736-9C59-46AF-87F0-30A064780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3070"/>
            <a:ext cx="5183188" cy="394605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00DAE7-AA3F-4DE1-A664-9522F81C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6412A0-9581-48C7-89F3-AF1D2290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089263-4AD4-491C-9F42-CB58E4A9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912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E209C-722B-473A-90B3-E348835E9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678FCA-D2BE-4E63-A32C-D60C9A6E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2EA221-6DCC-4BC5-A81E-768CE2205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15FC41-8E62-4400-B879-89456859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53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C23E74-A946-4BD4-B1A6-BB8D4DF1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233B18-BC0A-4D59-8258-3A190858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3AB66A-C2FA-4979-B9BD-161FB2B88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21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A6DCE-86DA-41B8-9502-667C7BEE9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28BD5E-04CE-464C-A33B-916BDD0B8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7CBA3E-5FAF-4337-B262-D80E94857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1BAC1B-4776-434F-9597-E182BA47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A89E86-6054-4D5D-8E54-CCD0162EC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43B474-E94D-4EF8-AB33-514C85107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460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B8770-4BAB-4F44-BF3D-ECE22824E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319EE5-D893-42EF-8C3C-68DBD2EA0E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1A099B-7BF3-4B62-91CF-45F21E42C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615233-4D6F-477C-B804-5B7A17935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F83FD5-9AAD-4F5D-A25D-72DB18CE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B0A6C3-635F-400E-A2AB-2CCD4D337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004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7436F-CDBA-4D84-A1FB-3F536A2F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1F495E-CDD2-47AB-8793-02B183FE4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870600-0649-4D1A-9AD7-66BD9EDC6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D4E463-F895-48B8-8D4A-FF33558E8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40781-D1B4-42DC-ACC9-526E18B2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45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C5086C-930C-4571-BED0-F3A0C1AD3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AF0234-FB9D-4EFB-BB50-53012AA19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1838B-1DBE-40E7-B941-36424308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28F03-DF8D-4633-976C-28212070953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C755EC-95FA-4F91-BC05-B0BF2919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0AB81-8518-46E7-BDCF-E5B60F78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841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29D8E7-54E9-47C0-BB1D-0186D712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2BDB8A-8843-4388-8FB5-09C6F45EF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4517"/>
            <a:ext cx="10515600" cy="4742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3EA0F6-61FB-4AE9-B6D6-FD2FF09B7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28F03-DF8D-4633-976C-282120709532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5FD13-2D9B-4252-810C-336D80DAB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84F594-EDEF-4565-9BDF-4221F067A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E78C5-1099-456A-8D2C-9F1EB7C80BC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C6F08-00A3-4C97-8475-2E1C74E726A9}"/>
              </a:ext>
            </a:extLst>
          </p:cNvPr>
          <p:cNvSpPr txBox="1"/>
          <p:nvPr userDrawn="1"/>
        </p:nvSpPr>
        <p:spPr>
          <a:xfrm>
            <a:off x="160615" y="102616"/>
            <a:ext cx="38779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RIS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지역혁신 부산공유대학</a:t>
            </a:r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(BITS) 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스마트물류 </a:t>
            </a:r>
            <a:r>
              <a:rPr lang="ko-KR" altLang="en-US" sz="1050" b="1" dirty="0" err="1">
                <a:solidFill>
                  <a:schemeClr val="bg1">
                    <a:lumMod val="65000"/>
                  </a:schemeClr>
                </a:solidFill>
                <a:latin typeface="+mn-lt"/>
              </a:rPr>
              <a:t>나노디그리과정</a:t>
            </a:r>
            <a:endParaRPr lang="ko-KR" altLang="en-US" sz="1050" b="1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06751-CC6F-482E-9269-4B731E8E10AB}"/>
              </a:ext>
            </a:extLst>
          </p:cNvPr>
          <p:cNvSpPr txBox="1"/>
          <p:nvPr userDrawn="1"/>
        </p:nvSpPr>
        <p:spPr>
          <a:xfrm>
            <a:off x="7933509" y="102616"/>
            <a:ext cx="42584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이 개발과제는 지자체</a:t>
            </a:r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-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대학 협력기반 지역혁신 사업비로 개발되었음</a:t>
            </a:r>
          </a:p>
        </p:txBody>
      </p:sp>
    </p:spTree>
    <p:extLst>
      <p:ext uri="{BB962C8B-B14F-4D97-AF65-F5344CB8AC3E}">
        <p14:creationId xmlns:p14="http://schemas.microsoft.com/office/powerpoint/2010/main" val="46165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u="none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shoark7.github.io/programming/python/about-list-comprehension-python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DF619-2E32-4824-95EF-B0D9D53009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컬렉션 자료형</a:t>
            </a:r>
            <a:br>
              <a:rPr lang="en-US" altLang="ko-KR" dirty="0"/>
            </a:br>
            <a:r>
              <a:rPr lang="en-US" altLang="ko-KR" sz="3600" dirty="0"/>
              <a:t>(list,</a:t>
            </a:r>
            <a:r>
              <a:rPr lang="ko-KR" altLang="en-US" sz="3600" dirty="0"/>
              <a:t> </a:t>
            </a:r>
            <a:r>
              <a:rPr lang="en-US" altLang="ko-KR" sz="3600" dirty="0"/>
              <a:t>tuple, set, </a:t>
            </a:r>
            <a:r>
              <a:rPr lang="en-US" altLang="ko-KR" sz="3600" dirty="0" err="1"/>
              <a:t>dict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57F749-8E0D-44E5-8734-326DF7E03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4800"/>
            <a:ext cx="9144000" cy="1143000"/>
          </a:xfrm>
        </p:spPr>
        <p:txBody>
          <a:bodyPr/>
          <a:lstStyle/>
          <a:p>
            <a:r>
              <a:rPr lang="ko-KR" altLang="en-US" dirty="0" err="1"/>
              <a:t>컴퓨터소프트웨어과</a:t>
            </a:r>
            <a:endParaRPr lang="en-US" altLang="ko-KR" dirty="0"/>
          </a:p>
          <a:p>
            <a:r>
              <a:rPr lang="ko-KR" altLang="en-US" dirty="0"/>
              <a:t>동의과학대학교</a:t>
            </a:r>
          </a:p>
        </p:txBody>
      </p:sp>
    </p:spTree>
    <p:extLst>
      <p:ext uri="{BB962C8B-B14F-4D97-AF65-F5344CB8AC3E}">
        <p14:creationId xmlns:p14="http://schemas.microsoft.com/office/powerpoint/2010/main" val="333619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컬렉션 자료형들 </a:t>
            </a:r>
            <a:r>
              <a:rPr lang="en-US" altLang="ko-KR" dirty="0"/>
              <a:t>(Collection Data Types)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3"/>
            <a:ext cx="11049000" cy="53454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컬렉션 </a:t>
            </a:r>
            <a:r>
              <a:rPr lang="ko-KR" altLang="en-US" dirty="0" err="1"/>
              <a:t>자료형이란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하나의 변수에 여러 개의 값들을 저장</a:t>
            </a:r>
            <a:r>
              <a:rPr lang="en-US" altLang="ko-KR" dirty="0"/>
              <a:t>, </a:t>
            </a:r>
            <a:r>
              <a:rPr lang="ko-KR" altLang="en-US" dirty="0"/>
              <a:t>관리하는 자료형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list,</a:t>
            </a:r>
            <a:r>
              <a:rPr lang="ko-KR" altLang="en-US" dirty="0"/>
              <a:t> </a:t>
            </a:r>
            <a:r>
              <a:rPr lang="en-US" altLang="ko-KR" dirty="0"/>
              <a:t>tuple, set, </a:t>
            </a:r>
            <a:r>
              <a:rPr lang="en-US" altLang="ko-KR" dirty="0" err="1"/>
              <a:t>dict</a:t>
            </a:r>
            <a:r>
              <a:rPr lang="en-US" altLang="ko-KR" dirty="0"/>
              <a:t> </a:t>
            </a:r>
            <a:r>
              <a:rPr lang="ko-KR" altLang="en-US" dirty="0"/>
              <a:t>등 </a:t>
            </a:r>
            <a:r>
              <a:rPr lang="en-US" altLang="ko-KR" dirty="0"/>
              <a:t>4</a:t>
            </a:r>
            <a:r>
              <a:rPr lang="ko-KR" altLang="en-US" dirty="0"/>
              <a:t>개의 자료형이 있음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각 자료형마다 활용 목적이 있으며</a:t>
            </a:r>
            <a:r>
              <a:rPr lang="en-US" altLang="ko-KR" dirty="0"/>
              <a:t>, </a:t>
            </a:r>
            <a:r>
              <a:rPr lang="ko-KR" altLang="en-US" dirty="0"/>
              <a:t>사용 방법도 모두 차이가 있음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활용 시</a:t>
            </a:r>
            <a:r>
              <a:rPr lang="en-US" altLang="ko-KR" dirty="0"/>
              <a:t>, </a:t>
            </a:r>
            <a:r>
              <a:rPr lang="ko-KR" altLang="en-US" dirty="0"/>
              <a:t>고려할 중요한 특징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순서 적용 여부 </a:t>
            </a:r>
            <a:r>
              <a:rPr lang="en-US" altLang="ko-KR" dirty="0"/>
              <a:t>(Ordered): </a:t>
            </a:r>
            <a:r>
              <a:rPr lang="ko-KR" altLang="en-US" dirty="0"/>
              <a:t>순서가 적용되면 인덱싱 가능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값 변경 가능 여부 </a:t>
            </a:r>
            <a:r>
              <a:rPr lang="en-US" altLang="ko-KR" dirty="0"/>
              <a:t>(Mutable): </a:t>
            </a:r>
            <a:r>
              <a:rPr lang="ko-KR" altLang="en-US" dirty="0"/>
              <a:t>값의 변경 가능 여부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중복 여부</a:t>
            </a:r>
            <a:r>
              <a:rPr lang="en-US" altLang="ko-KR" dirty="0"/>
              <a:t>: </a:t>
            </a:r>
            <a:r>
              <a:rPr lang="ko-KR" altLang="en-US" dirty="0"/>
              <a:t>중복된 값을 허용 여부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다양한 자료형의 혼합 저장 가능 여부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0472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컬렉션 자료형 특징 미리 살펴보기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2459"/>
            <a:ext cx="11049000" cy="35570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컬렉션 자료형 </a:t>
            </a:r>
            <a:r>
              <a:rPr lang="en-US" altLang="ko-KR" dirty="0"/>
              <a:t>4 </a:t>
            </a:r>
            <a:r>
              <a:rPr lang="ko-KR" altLang="en-US" dirty="0"/>
              <a:t>가지</a:t>
            </a:r>
            <a:r>
              <a:rPr lang="en-US" altLang="ko-KR" dirty="0"/>
              <a:t>, list, tuple, set, </a:t>
            </a:r>
            <a:r>
              <a:rPr lang="en-US" altLang="ko-KR" dirty="0" err="1"/>
              <a:t>dict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주요 사용 목적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활용 시 주의할 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74562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리스트</a:t>
            </a:r>
            <a:r>
              <a:rPr lang="en-US" altLang="ko-KR" dirty="0"/>
              <a:t>)</a:t>
            </a:r>
            <a:endParaRPr lang="ko-KR" altLang="en-US" dirty="0">
              <a:solidFill>
                <a:schemeClr val="bg1">
                  <a:lumMod val="6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237"/>
            <a:ext cx="11049000" cy="539913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순서가 있음 </a:t>
            </a:r>
            <a:r>
              <a:rPr lang="en-US" altLang="ko-KR" dirty="0"/>
              <a:t>(Ordered).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변경 가능 </a:t>
            </a:r>
            <a:r>
              <a:rPr lang="en-US" altLang="ko-KR" dirty="0"/>
              <a:t>(Mutable, Changeable).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중복된 값 허용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다양한 데이터 타입 혼합 가능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대괄호 </a:t>
            </a:r>
            <a:r>
              <a:rPr lang="en-US" altLang="ko-KR" dirty="0"/>
              <a:t>[ ]</a:t>
            </a:r>
            <a:r>
              <a:rPr lang="ko-KR" altLang="en-US" dirty="0"/>
              <a:t>로 생성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주요 사용 목적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데이터의 순서가 중요할 때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반복 작업</a:t>
            </a:r>
            <a:r>
              <a:rPr lang="en-US" altLang="ko-KR" dirty="0"/>
              <a:t>(</a:t>
            </a:r>
            <a:r>
              <a:rPr lang="ko-KR" altLang="en-US" dirty="0"/>
              <a:t>루프</a:t>
            </a:r>
            <a:r>
              <a:rPr lang="en-US" altLang="ko-KR" dirty="0"/>
              <a:t>)</a:t>
            </a:r>
            <a:r>
              <a:rPr lang="ko-KR" altLang="en-US" dirty="0"/>
              <a:t>과 데이터 추가</a:t>
            </a:r>
            <a:r>
              <a:rPr lang="en-US" altLang="ko-KR" dirty="0"/>
              <a:t>/</a:t>
            </a:r>
            <a:r>
              <a:rPr lang="ko-KR" altLang="en-US" dirty="0"/>
              <a:t>삭제가 필요한 경우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리스트 </a:t>
            </a:r>
            <a:r>
              <a:rPr lang="ko-KR" altLang="en-US" dirty="0" err="1"/>
              <a:t>컴프리헨션</a:t>
            </a:r>
            <a:r>
              <a:rPr lang="en-US" altLang="ko-KR" dirty="0"/>
              <a:t>(list comprehension)* </a:t>
            </a:r>
            <a:r>
              <a:rPr lang="ko-KR" altLang="en-US" dirty="0"/>
              <a:t>을 사용한 데이터 변환 및 생성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3698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리스트</a:t>
            </a:r>
            <a:r>
              <a:rPr lang="en-US" altLang="ko-KR" dirty="0"/>
              <a:t>) </a:t>
            </a:r>
            <a:r>
              <a:rPr lang="en-US" altLang="ko-KR" sz="2400" dirty="0">
                <a:solidFill>
                  <a:schemeClr val="bg1">
                    <a:lumMod val="65000"/>
                  </a:schemeClr>
                </a:solidFill>
                <a:effectLst/>
              </a:rPr>
              <a:t>(</a:t>
            </a:r>
            <a:r>
              <a:rPr lang="ko-KR" altLang="en-US" sz="2400" dirty="0">
                <a:solidFill>
                  <a:schemeClr val="bg1">
                    <a:lumMod val="65000"/>
                  </a:schemeClr>
                </a:solidFill>
                <a:effectLst/>
              </a:rPr>
              <a:t>계속</a:t>
            </a:r>
            <a:r>
              <a:rPr lang="en-US" altLang="ko-KR" sz="2400" dirty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sz="2400" dirty="0">
              <a:solidFill>
                <a:schemeClr val="bg1">
                  <a:lumMod val="6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237"/>
            <a:ext cx="11049000" cy="49642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활용 시 주의점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너무 큰 리스트를 사용할 경우 메모리 사용량이 증가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리스트의 크기가 커질수록 검색과 삽입 작업에서 성능 저하 가능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Examples: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63F7F89-8D03-4BF2-B50F-CB54CE57AE53}"/>
              </a:ext>
            </a:extLst>
          </p:cNvPr>
          <p:cNvSpPr/>
          <p:nvPr/>
        </p:nvSpPr>
        <p:spPr>
          <a:xfrm>
            <a:off x="1181478" y="3951721"/>
            <a:ext cx="9539113" cy="279476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[“apple”, “kiwi”, “mango”]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print(fruits, fruits[0])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values = [“days”, 12, 36.5, True, [“new”, “list”]]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 values )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 item in values:</a:t>
            </a: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print(item)</a:t>
            </a:r>
          </a:p>
          <a:p>
            <a:endParaRPr lang="ko-KR" altLang="en-US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771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튜플</a:t>
            </a:r>
            <a:r>
              <a:rPr lang="en-US" altLang="ko-KR" dirty="0"/>
              <a:t>)</a:t>
            </a:r>
            <a:endParaRPr lang="ko-KR" altLang="en-US" dirty="0">
              <a:solidFill>
                <a:schemeClr val="bg1">
                  <a:lumMod val="6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237"/>
            <a:ext cx="11049000" cy="51872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순서가 있음 </a:t>
            </a:r>
            <a:r>
              <a:rPr lang="en-US" altLang="ko-KR" dirty="0"/>
              <a:t>(Ordered).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변경 불가능 </a:t>
            </a:r>
            <a:r>
              <a:rPr lang="en-US" altLang="ko-KR" dirty="0"/>
              <a:t>(Immutable).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중복된 값 허용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다양한 데이터 타입 혼합 가능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소괄호 </a:t>
            </a:r>
            <a:r>
              <a:rPr lang="en-US" altLang="ko-KR" dirty="0"/>
              <a:t>()</a:t>
            </a:r>
            <a:r>
              <a:rPr lang="ko-KR" altLang="en-US" dirty="0"/>
              <a:t>로 생성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Examples: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83FF5A1-8536-46A1-83E4-1A4695284BDE}"/>
              </a:ext>
            </a:extLst>
          </p:cNvPr>
          <p:cNvSpPr/>
          <p:nvPr/>
        </p:nvSpPr>
        <p:spPr>
          <a:xfrm>
            <a:off x="6193951" y="3429000"/>
            <a:ext cx="5771308" cy="3063874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coordinate1 = (12, 34)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print(coordinate)   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(12, 34)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print(coordinate[0])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12</a:t>
            </a:r>
          </a:p>
          <a:p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coordinate[0] = 99  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인덱싱 가능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tp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= (31, 28, 31, 30, 30)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중복 허용</a:t>
            </a:r>
            <a:endParaRPr lang="ko-KR" altLang="en-US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110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튜플</a:t>
            </a:r>
            <a:r>
              <a:rPr lang="en-US" altLang="ko-KR" dirty="0"/>
              <a:t>)   </a:t>
            </a:r>
            <a:r>
              <a:rPr lang="en-US" altLang="ko-KR" sz="2800" dirty="0">
                <a:solidFill>
                  <a:schemeClr val="bg1">
                    <a:lumMod val="6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1">
                    <a:lumMod val="6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dirty="0">
              <a:solidFill>
                <a:schemeClr val="bg1">
                  <a:lumMod val="6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237"/>
            <a:ext cx="11049000" cy="53991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주요 사용 목적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변경되지 않아야 할 데이터 저장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키와 값 쌍으로 데이터를 저장하거나 함수 </a:t>
            </a:r>
            <a:r>
              <a:rPr lang="ko-KR" altLang="en-US" dirty="0" err="1"/>
              <a:t>반환값으로</a:t>
            </a:r>
            <a:r>
              <a:rPr lang="ko-KR" altLang="en-US" dirty="0"/>
              <a:t> 사용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메모리 효율성이 필요할 때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활용 시 주의점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데이터를 변경해야 하는 경우 </a:t>
            </a:r>
            <a:r>
              <a:rPr lang="en-US" altLang="ko-KR" dirty="0"/>
              <a:t>tuple</a:t>
            </a:r>
            <a:r>
              <a:rPr lang="ko-KR" altLang="en-US" dirty="0"/>
              <a:t>이 적합하지 않음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단일 요소 </a:t>
            </a:r>
            <a:r>
              <a:rPr lang="ko-KR" altLang="en-US" dirty="0" err="1"/>
              <a:t>튜플</a:t>
            </a:r>
            <a:r>
              <a:rPr lang="ko-KR" altLang="en-US" dirty="0"/>
              <a:t> 생성 시 </a:t>
            </a:r>
            <a:r>
              <a:rPr lang="en-US" altLang="ko-KR" dirty="0"/>
              <a:t>(value,)</a:t>
            </a:r>
            <a:r>
              <a:rPr lang="ko-KR" altLang="en-US" dirty="0"/>
              <a:t>처럼 쉼표 필수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815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셋</a:t>
            </a:r>
            <a:r>
              <a:rPr lang="en-US" altLang="ko-KR" dirty="0"/>
              <a:t>: </a:t>
            </a:r>
            <a:r>
              <a:rPr lang="ko-KR" altLang="en-US" dirty="0"/>
              <a:t>집합</a:t>
            </a:r>
            <a:r>
              <a:rPr lang="en-US" altLang="ko-KR" dirty="0"/>
              <a:t>)</a:t>
            </a:r>
            <a:endParaRPr lang="ko-KR" altLang="en-US" dirty="0">
              <a:solidFill>
                <a:schemeClr val="bg1">
                  <a:lumMod val="6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237"/>
            <a:ext cx="11049000" cy="51872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순서가 없음 </a:t>
            </a:r>
            <a:r>
              <a:rPr lang="en-US" altLang="ko-KR" dirty="0"/>
              <a:t>(Unordered).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변경 가능 </a:t>
            </a:r>
            <a:r>
              <a:rPr lang="en-US" altLang="ko-KR" dirty="0"/>
              <a:t>(Mutable).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중복된 값 허용하지 않음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해시 가능한 데이터만 저장 가능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중괄호 </a:t>
            </a:r>
            <a:r>
              <a:rPr lang="en-US" altLang="ko-KR" dirty="0"/>
              <a:t>{} </a:t>
            </a:r>
            <a:r>
              <a:rPr lang="ko-KR" altLang="en-US" dirty="0"/>
              <a:t>또는 </a:t>
            </a:r>
            <a:r>
              <a:rPr lang="en-US" altLang="ko-KR" dirty="0"/>
              <a:t>set()</a:t>
            </a:r>
            <a:r>
              <a:rPr lang="ko-KR" altLang="en-US" dirty="0"/>
              <a:t>로 생성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Examples: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3C21DE5-05AC-4E66-924A-8E54ECA5F727}"/>
              </a:ext>
            </a:extLst>
          </p:cNvPr>
          <p:cNvSpPr/>
          <p:nvPr/>
        </p:nvSpPr>
        <p:spPr>
          <a:xfrm>
            <a:off x="4841717" y="4995238"/>
            <a:ext cx="7045483" cy="169549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중복 입력되어도 저장 시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중복 항목 제거됨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 = {1, 2, 3, 2, 1} 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1, 2,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중복 입력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print(coordinate)   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{1, 2, 3}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124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셋</a:t>
            </a:r>
            <a:r>
              <a:rPr lang="en-US" altLang="ko-KR" dirty="0"/>
              <a:t>: </a:t>
            </a:r>
            <a:r>
              <a:rPr lang="ko-KR" altLang="en-US" dirty="0"/>
              <a:t>집합</a:t>
            </a:r>
            <a:r>
              <a:rPr lang="en-US" altLang="ko-KR" dirty="0"/>
              <a:t>) </a:t>
            </a:r>
            <a:r>
              <a:rPr lang="en-US" altLang="ko-KR" sz="2800" dirty="0">
                <a:solidFill>
                  <a:schemeClr val="bg1">
                    <a:lumMod val="6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1">
                    <a:lumMod val="6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dirty="0">
              <a:solidFill>
                <a:schemeClr val="bg1">
                  <a:lumMod val="6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237"/>
            <a:ext cx="11049000" cy="51872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주요 사용 목적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중복 제거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교집합</a:t>
            </a:r>
            <a:r>
              <a:rPr lang="en-US" altLang="ko-KR" dirty="0"/>
              <a:t>, </a:t>
            </a:r>
            <a:r>
              <a:rPr lang="ko-KR" altLang="en-US" dirty="0"/>
              <a:t>합집합</a:t>
            </a:r>
            <a:r>
              <a:rPr lang="en-US" altLang="ko-KR" dirty="0"/>
              <a:t>, </a:t>
            </a:r>
            <a:r>
              <a:rPr lang="ko-KR" altLang="en-US" dirty="0" err="1"/>
              <a:t>차집합</a:t>
            </a:r>
            <a:r>
              <a:rPr lang="ko-KR" altLang="en-US" dirty="0"/>
              <a:t> 등 집합 연산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데이터의 존재 여부를 빠르게 확인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활용 시 주의점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순서가 중요하거나 데이터의 위치를 알고 싶을 때 적합하지 않음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변경 불가능한 자료형만 저장 가능 </a:t>
            </a:r>
            <a:r>
              <a:rPr lang="en-US" altLang="ko-KR" dirty="0"/>
              <a:t>(ex. set([1, 2, {3}])</a:t>
            </a:r>
            <a:r>
              <a:rPr lang="ko-KR" altLang="en-US" dirty="0"/>
              <a:t>은 오류 발생</a:t>
            </a:r>
            <a:r>
              <a:rPr lang="en-US" altLang="ko-K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65146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dict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딕셔너리</a:t>
            </a:r>
            <a:r>
              <a:rPr lang="en-US" altLang="ko-KR" dirty="0"/>
              <a:t>)</a:t>
            </a:r>
            <a:endParaRPr lang="ko-KR" altLang="en-US" dirty="0">
              <a:solidFill>
                <a:schemeClr val="bg1">
                  <a:lumMod val="6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237"/>
            <a:ext cx="11049000" cy="51872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키</a:t>
            </a:r>
            <a:r>
              <a:rPr lang="en-US" altLang="ko-KR" dirty="0"/>
              <a:t>-</a:t>
            </a:r>
            <a:r>
              <a:rPr lang="ko-KR" altLang="en-US" dirty="0"/>
              <a:t>값 쌍으로 구성 </a:t>
            </a:r>
            <a:r>
              <a:rPr lang="en-US" altLang="ko-KR" dirty="0"/>
              <a:t>(Key-Value Pairs).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순서가 있음 </a:t>
            </a:r>
            <a:r>
              <a:rPr lang="en-US" altLang="ko-KR" dirty="0"/>
              <a:t>(Python 3.7</a:t>
            </a:r>
            <a:r>
              <a:rPr lang="ko-KR" altLang="en-US" dirty="0"/>
              <a:t>부터</a:t>
            </a:r>
            <a:r>
              <a:rPr lang="en-US" altLang="ko-KR" dirty="0"/>
              <a:t>).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변경 가능 </a:t>
            </a:r>
            <a:r>
              <a:rPr lang="en-US" altLang="ko-KR" dirty="0"/>
              <a:t>(Mutable).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키는 중복 불가</a:t>
            </a:r>
            <a:r>
              <a:rPr lang="en-US" altLang="ko-KR" dirty="0"/>
              <a:t>, </a:t>
            </a:r>
            <a:r>
              <a:rPr lang="ko-KR" altLang="en-US" dirty="0"/>
              <a:t>값은 중복 가능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중괄호 </a:t>
            </a:r>
            <a:r>
              <a:rPr lang="en-US" altLang="ko-KR" dirty="0"/>
              <a:t>{}</a:t>
            </a:r>
            <a:r>
              <a:rPr lang="ko-KR" altLang="en-US" dirty="0"/>
              <a:t>로 생성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Examples: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351B699-3F83-42B1-874C-9E296CB1F34E}"/>
              </a:ext>
            </a:extLst>
          </p:cNvPr>
          <p:cNvSpPr/>
          <p:nvPr/>
        </p:nvSpPr>
        <p:spPr>
          <a:xfrm>
            <a:off x="4841717" y="4995238"/>
            <a:ext cx="7045483" cy="169549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 = {“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name”:”Kim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”, “age”:20}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사람 </a:t>
            </a:r>
            <a:endParaRPr lang="en-US" altLang="ko-KR" sz="2000" b="1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(p)	  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{“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name”:”Kim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”, “age”:20}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print(p[“name”])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Kim</a:t>
            </a:r>
          </a:p>
        </p:txBody>
      </p:sp>
    </p:spTree>
    <p:extLst>
      <p:ext uri="{BB962C8B-B14F-4D97-AF65-F5344CB8AC3E}">
        <p14:creationId xmlns:p14="http://schemas.microsoft.com/office/powerpoint/2010/main" val="3033301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dict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딕셔너리</a:t>
            </a:r>
            <a:r>
              <a:rPr lang="en-US" altLang="ko-KR" dirty="0"/>
              <a:t>) </a:t>
            </a:r>
            <a:r>
              <a:rPr lang="en-US" altLang="ko-KR" sz="2800" dirty="0">
                <a:solidFill>
                  <a:schemeClr val="bg1">
                    <a:lumMod val="6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1">
                    <a:lumMod val="6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dirty="0">
              <a:solidFill>
                <a:schemeClr val="bg1">
                  <a:lumMod val="6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237"/>
            <a:ext cx="11049000" cy="51872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주요 사용 목적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키를 통해 데이터를 효율적으로 검색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매핑 구조를 사용한 데이터 저장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JSON</a:t>
            </a:r>
            <a:r>
              <a:rPr lang="ko-KR" altLang="en-US" dirty="0"/>
              <a:t>과 같은 데이터 구조 표현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활용 시 주의점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키는 해시 가능한 데이터만 가능 </a:t>
            </a:r>
            <a:r>
              <a:rPr lang="en-US" altLang="ko-KR" dirty="0"/>
              <a:t>(ex. </a:t>
            </a:r>
            <a:r>
              <a:rPr lang="ko-KR" altLang="en-US" dirty="0"/>
              <a:t>리스트는 키로 사용할 수 없음</a:t>
            </a:r>
            <a:r>
              <a:rPr lang="en-US" altLang="ko-KR" dirty="0"/>
              <a:t>).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너무 많은 키를 저장하면 메모리 사용량 증가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119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DF619-2E32-4824-95EF-B0D9D53009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컬렉션 자료형</a:t>
            </a:r>
            <a:br>
              <a:rPr lang="en-US" altLang="ko-KR" dirty="0"/>
            </a:br>
            <a:r>
              <a:rPr lang="en-US" altLang="ko-KR" sz="3600" dirty="0"/>
              <a:t>(</a:t>
            </a:r>
            <a:r>
              <a:rPr lang="en-US" altLang="ko-KR" sz="3600" dirty="0">
                <a:solidFill>
                  <a:srgbClr val="0070C0"/>
                </a:solidFill>
              </a:rPr>
              <a:t>list</a:t>
            </a:r>
            <a:r>
              <a:rPr lang="en-US" altLang="ko-KR" sz="3600" dirty="0"/>
              <a:t>,</a:t>
            </a:r>
            <a:r>
              <a:rPr lang="ko-KR" altLang="en-US" sz="3600" dirty="0"/>
              <a:t> </a:t>
            </a:r>
            <a:r>
              <a:rPr lang="en-US" altLang="ko-KR" sz="3600" dirty="0"/>
              <a:t>tuple, set, </a:t>
            </a:r>
            <a:r>
              <a:rPr lang="en-US" altLang="ko-KR" sz="3600" dirty="0" err="1"/>
              <a:t>dict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5263FC1D-AA9D-462D-90A5-F5433AE81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649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List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하나의 변수에 여러 개의 값들을 저장</a:t>
            </a:r>
            <a:r>
              <a:rPr lang="en-US" altLang="ko-KR" dirty="0"/>
              <a:t>, </a:t>
            </a:r>
            <a:r>
              <a:rPr lang="ko-KR" altLang="en-US" dirty="0"/>
              <a:t>관리하는 자료형들 중의 하나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sz="2800" b="1" dirty="0">
                <a:solidFill>
                  <a:srgbClr val="0070C0"/>
                </a:solidFill>
              </a:rPr>
              <a:t>[ ] </a:t>
            </a:r>
            <a:r>
              <a:rPr lang="ko-KR" altLang="en-US" dirty="0"/>
              <a:t>에 항목들을 저장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항목 값들은 순서가 있음 </a:t>
            </a:r>
            <a:r>
              <a:rPr lang="en-US" altLang="ko-KR" dirty="0"/>
              <a:t>(Index</a:t>
            </a:r>
            <a:r>
              <a:rPr lang="ko-KR" altLang="en-US" dirty="0"/>
              <a:t>는 </a:t>
            </a:r>
            <a:r>
              <a:rPr lang="en-US" altLang="ko-KR" dirty="0"/>
              <a:t>0</a:t>
            </a:r>
            <a:r>
              <a:rPr lang="ko-KR" altLang="en-US" dirty="0"/>
              <a:t>부터 시작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항목 변경 가능</a:t>
            </a:r>
            <a:r>
              <a:rPr lang="en-US" altLang="ko-KR" dirty="0"/>
              <a:t> (</a:t>
            </a:r>
            <a:r>
              <a:rPr lang="ko-KR" altLang="en-US" dirty="0"/>
              <a:t>추가</a:t>
            </a:r>
            <a:r>
              <a:rPr lang="en-US" altLang="ko-KR" dirty="0"/>
              <a:t>, </a:t>
            </a:r>
            <a:r>
              <a:rPr lang="ko-KR" altLang="en-US" dirty="0"/>
              <a:t>삭제 및 변경 가능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중복된 값을 허용 여부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다양한 자료형의 혼합 저장 가능 </a:t>
            </a:r>
            <a:r>
              <a:rPr lang="en-US" altLang="ko-KR" dirty="0"/>
              <a:t>(</a:t>
            </a:r>
            <a:r>
              <a:rPr lang="ko-KR" altLang="en-US" dirty="0" err="1"/>
              <a:t>파이썬의</a:t>
            </a:r>
            <a:r>
              <a:rPr lang="ko-KR" altLang="en-US" dirty="0"/>
              <a:t> 모든 자료형 저장 가능</a:t>
            </a:r>
            <a:r>
              <a:rPr lang="en-US" altLang="ko-KR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dirty="0" err="1"/>
              <a:t>len</a:t>
            </a:r>
            <a:r>
              <a:rPr lang="en-US" altLang="ko-KR" dirty="0"/>
              <a:t>( ) : </a:t>
            </a:r>
            <a:r>
              <a:rPr lang="ko-KR" altLang="en-US" dirty="0"/>
              <a:t>항목의 개수 확인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type: ‘list’ </a:t>
            </a:r>
            <a:r>
              <a:rPr lang="ko-KR" altLang="en-US" dirty="0"/>
              <a:t>객체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list(</a:t>
            </a:r>
            <a:r>
              <a:rPr lang="ko-KR" altLang="en-US" dirty="0"/>
              <a:t> 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list</a:t>
            </a:r>
            <a:r>
              <a:rPr lang="ko-KR" altLang="en-US" dirty="0"/>
              <a:t> 객체 생성자</a:t>
            </a:r>
            <a:r>
              <a:rPr lang="en-US" altLang="ko-KR" dirty="0"/>
              <a:t>/</a:t>
            </a:r>
            <a:r>
              <a:rPr lang="ko-KR" altLang="en-US" dirty="0"/>
              <a:t>변환 함수</a:t>
            </a:r>
            <a:r>
              <a:rPr lang="en-US" altLang="ko-KR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2913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</a:t>
            </a:r>
            <a:r>
              <a:rPr lang="ko-KR" altLang="en-US" dirty="0"/>
              <a:t>항목 접근하기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Index</a:t>
            </a:r>
            <a:r>
              <a:rPr lang="ko-KR" altLang="en-US" dirty="0"/>
              <a:t>로 접근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Negative Indexing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4" y="1688023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[“apple”, “kiwi”, “mango”]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fruits[0]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“apple”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fruits[2]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“mango”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3" y="3964360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[“apple”, “kiwi”, “mango”]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fruits[-1]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“mango”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fruits[-2]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“kiwi”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1253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</a:t>
            </a:r>
            <a:r>
              <a:rPr lang="ko-KR" altLang="en-US" dirty="0" err="1"/>
              <a:t>슬라이싱</a:t>
            </a:r>
            <a:r>
              <a:rPr lang="en-US" altLang="ko-KR" dirty="0"/>
              <a:t>(slicing)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시작과 종료 인덱스로 지정 </a:t>
            </a:r>
            <a:r>
              <a:rPr lang="en-US" altLang="ko-KR" sz="2000" dirty="0">
                <a:solidFill>
                  <a:srgbClr val="FF0000"/>
                </a:solidFill>
              </a:rPr>
              <a:t>(! </a:t>
            </a:r>
            <a:r>
              <a:rPr lang="ko-KR" altLang="en-US" sz="2000" dirty="0">
                <a:solidFill>
                  <a:srgbClr val="FF0000"/>
                </a:solidFill>
              </a:rPr>
              <a:t>종료 인덱스 항목은 미포함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생략된 인덱스는 </a:t>
            </a:r>
            <a:r>
              <a:rPr lang="en-US" altLang="ko-KR" dirty="0"/>
              <a:t>0 </a:t>
            </a:r>
            <a:r>
              <a:rPr lang="ko-KR" altLang="en-US" dirty="0"/>
              <a:t>또는 마지막 </a:t>
            </a:r>
            <a:r>
              <a:rPr lang="ko-KR" altLang="en-US" dirty="0" err="1"/>
              <a:t>항목까지를</a:t>
            </a:r>
            <a:r>
              <a:rPr lang="ko-KR" altLang="en-US" dirty="0"/>
              <a:t> 의미함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2" y="1805111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[10, 20, 30, 40, 50]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[1:3]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[20, 30], list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로 반환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40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은 미포함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[2:5]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[30, 40], 50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은 미포함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3" y="4273011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[10, 20, 30, 40, 50]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2 ]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[10, 20],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시작 인덱스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: 0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[ 2 : 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[30, 40, 50],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종료 인덱스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: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len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),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마지막 항목 포함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303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</a:t>
            </a:r>
            <a:r>
              <a:rPr lang="ko-KR" altLang="en-US" dirty="0"/>
              <a:t>항목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인덱스를 지정한 항목 변경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생략된 인덱스는 </a:t>
            </a:r>
            <a:r>
              <a:rPr lang="en-US" altLang="ko-KR" dirty="0"/>
              <a:t>0 </a:t>
            </a:r>
            <a:r>
              <a:rPr lang="ko-KR" altLang="en-US" dirty="0"/>
              <a:t>또는 마지막 </a:t>
            </a:r>
            <a:r>
              <a:rPr lang="ko-KR" altLang="en-US" dirty="0" err="1"/>
              <a:t>항목까지를</a:t>
            </a:r>
            <a:r>
              <a:rPr lang="ko-KR" altLang="en-US" dirty="0"/>
              <a:t> 의미함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범위 지정 변경</a:t>
            </a:r>
            <a:r>
              <a:rPr lang="en-US" altLang="ko-KR" dirty="0"/>
              <a:t>(range index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2" y="1805111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[10, 20, 30, 40, 50]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[1] = 200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[10, 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200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30, 40, 50]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3" y="4200630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[10, 20, 30, 40, 50]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 : 3 ] = [200, 300]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[10, 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200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300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40, 50]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6412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</a:t>
            </a:r>
            <a:r>
              <a:rPr lang="ko-KR" altLang="en-US" dirty="0"/>
              <a:t>항목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리스트 뒤에 새 항목 추가하기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append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b="0" i="1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new_item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생략된 인덱스는 </a:t>
            </a:r>
            <a:r>
              <a:rPr lang="en-US" altLang="ko-KR" dirty="0"/>
              <a:t>0 </a:t>
            </a:r>
            <a:r>
              <a:rPr lang="ko-KR" altLang="en-US" dirty="0"/>
              <a:t>또는 마지막 </a:t>
            </a:r>
            <a:r>
              <a:rPr lang="ko-KR" altLang="en-US" dirty="0" err="1"/>
              <a:t>항목까지를</a:t>
            </a:r>
            <a:r>
              <a:rPr lang="ko-KR" altLang="en-US" dirty="0"/>
              <a:t> 의미함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ko-KR" altLang="en-US" dirty="0"/>
              <a:t>특정 위치</a:t>
            </a:r>
            <a:r>
              <a:rPr lang="en-US" altLang="ko-KR" dirty="0"/>
              <a:t>(index)</a:t>
            </a:r>
            <a:r>
              <a:rPr lang="ko-KR" altLang="en-US" dirty="0"/>
              <a:t>에  새 항목 삽입하기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insert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b="0" i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index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en-US" altLang="ko-KR" b="0" i="1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new_item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4" y="1773044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[“apple”, “kiwi”, “mango”]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lst.append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(“banana”)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[“apple”, “kiwi”, “mango”, “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banana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”]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4" y="4273011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[10, 20, 30, 40, 50]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lst.insert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(2,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99)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30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위치에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99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를 삽입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30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이후는 뒤로 밀려남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[10, 20, </a:t>
            </a: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99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, 30, 40, 50]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7100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</a:t>
            </a:r>
            <a:r>
              <a:rPr lang="ko-KR" altLang="en-US" dirty="0"/>
              <a:t>항목 삭제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리스트 마지막 항목 삭제하고 반환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pop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생략된 인덱스는 </a:t>
            </a:r>
            <a:r>
              <a:rPr lang="en-US" altLang="ko-KR" dirty="0"/>
              <a:t>0 </a:t>
            </a:r>
            <a:r>
              <a:rPr lang="ko-KR" altLang="en-US" dirty="0"/>
              <a:t>또는 마지막 </a:t>
            </a:r>
            <a:r>
              <a:rPr lang="ko-KR" altLang="en-US" dirty="0" err="1"/>
              <a:t>항목까지를</a:t>
            </a:r>
            <a:r>
              <a:rPr lang="ko-KR" altLang="en-US" dirty="0"/>
              <a:t> 의미함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ko-KR" altLang="en-US" dirty="0"/>
              <a:t>위치</a:t>
            </a:r>
            <a:r>
              <a:rPr lang="en-US" altLang="ko-KR" dirty="0"/>
              <a:t>(index) </a:t>
            </a:r>
            <a:r>
              <a:rPr lang="ko-KR" altLang="en-US" dirty="0"/>
              <a:t>지정 항목 삭제하고 반환하기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pop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b="0" i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index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4" y="1773044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[“apple”, “kiwi”, “mango”]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lst.pop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 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“mango”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반환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[“apple”, “kiwi”],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리스트에서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“mango”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삭제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4" y="4273011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[10, 20, 30, 40, 50]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lst.pop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(2)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30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을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list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에서 삭제하고 반환함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[10, 20, 40, 50]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6444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</a:t>
            </a:r>
            <a:r>
              <a:rPr lang="ko-KR" altLang="en-US" dirty="0"/>
              <a:t>항목 삭제  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)</a:t>
            </a:r>
            <a:endParaRPr lang="ko-KR" altLang="en-US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리스트 항목을 지정하여 삭제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remove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b="0" i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item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  </a:t>
            </a:r>
            <a:r>
              <a:rPr lang="en-US" altLang="ko-KR" sz="2000" dirty="0">
                <a:solidFill>
                  <a:srgbClr val="FF0000"/>
                </a:solidFill>
                <a:latin typeface="+mj-lt"/>
                <a:ea typeface="나눔고딕코딩" panose="020D0009000000000000" pitchFamily="49" charset="-127"/>
              </a:rPr>
              <a:t>(!</a:t>
            </a:r>
            <a:r>
              <a:rPr lang="ko-KR" altLang="en-US" sz="2000" dirty="0">
                <a:solidFill>
                  <a:srgbClr val="FF0000"/>
                </a:solidFill>
                <a:latin typeface="+mj-lt"/>
                <a:ea typeface="나눔고딕코딩" panose="020D0009000000000000" pitchFamily="49" charset="-127"/>
              </a:rPr>
              <a:t>반환 없음</a:t>
            </a:r>
            <a:r>
              <a:rPr lang="en-US" altLang="ko-KR" sz="2000" dirty="0">
                <a:solidFill>
                  <a:srgbClr val="FF0000"/>
                </a:solidFill>
                <a:latin typeface="+mj-lt"/>
                <a:ea typeface="나눔고딕코딩" panose="020D0009000000000000" pitchFamily="49" charset="-127"/>
              </a:rPr>
              <a:t>)</a:t>
            </a:r>
            <a:endParaRPr lang="en-US" altLang="ko-KR" sz="2000" dirty="0">
              <a:solidFill>
                <a:srgbClr val="FF0000"/>
              </a:solidFill>
              <a:latin typeface="+mj-lt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/>
              <a:t>생략된 인덱스는 </a:t>
            </a:r>
            <a:r>
              <a:rPr lang="en-US" altLang="ko-KR" dirty="0"/>
              <a:t>0 </a:t>
            </a:r>
            <a:r>
              <a:rPr lang="ko-KR" altLang="en-US" dirty="0"/>
              <a:t>또는 마지막 </a:t>
            </a:r>
            <a:r>
              <a:rPr lang="ko-KR" altLang="en-US" dirty="0" err="1"/>
              <a:t>항목까지를</a:t>
            </a:r>
            <a:r>
              <a:rPr lang="ko-KR" altLang="en-US" dirty="0"/>
              <a:t> 의미함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ko-KR" altLang="en-US" dirty="0"/>
              <a:t>삭제할 항목이 여러 개면</a:t>
            </a:r>
            <a:r>
              <a:rPr lang="en-US" altLang="ko-KR" dirty="0"/>
              <a:t>,</a:t>
            </a:r>
            <a:r>
              <a:rPr lang="ko-KR" altLang="en-US" dirty="0"/>
              <a:t> 첫 항목만 삭제됨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remove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b="0" i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item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4" y="1773044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[“apple”, “kiwi”, “mango”]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lst.remove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 “kiwi”)	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삭제된 항목 반환하지 않음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[“apple”, “mango”]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4" y="4273011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[10, 20, 10, 40, 50]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lst.remove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(10)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30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을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list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에서 삭제하고 반환함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[20, 10, 40, 50]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7818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</a:t>
            </a:r>
            <a:r>
              <a:rPr lang="ko-KR" altLang="en-US" dirty="0"/>
              <a:t>항목 삭제</a:t>
            </a:r>
            <a:r>
              <a:rPr lang="en-US" altLang="ko-KR" dirty="0"/>
              <a:t>: </a:t>
            </a:r>
            <a:r>
              <a:rPr lang="en-US" altLang="ko-KR" sz="4000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cs typeface="+mn-cs"/>
              </a:rPr>
              <a:t>del</a:t>
            </a:r>
            <a:r>
              <a:rPr lang="ko-KR" altLang="en-US" dirty="0"/>
              <a:t>  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)</a:t>
            </a:r>
            <a:endParaRPr lang="ko-KR" altLang="en-US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리스트 항목의</a:t>
            </a:r>
            <a:r>
              <a:rPr lang="en-US" altLang="ko-KR" dirty="0"/>
              <a:t> index</a:t>
            </a:r>
            <a:r>
              <a:rPr lang="ko-KR" altLang="en-US" dirty="0"/>
              <a:t>를 지정하여 삭제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del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item  </a:t>
            </a:r>
            <a:r>
              <a:rPr lang="en-US" altLang="ko-KR" sz="2000" dirty="0">
                <a:solidFill>
                  <a:srgbClr val="FF0000"/>
                </a:solidFill>
                <a:latin typeface="+mj-lt"/>
                <a:ea typeface="나눔고딕코딩" panose="020D0009000000000000" pitchFamily="49" charset="-127"/>
              </a:rPr>
              <a:t>(!</a:t>
            </a:r>
            <a:r>
              <a:rPr lang="ko-KR" altLang="en-US" sz="2000" dirty="0">
                <a:solidFill>
                  <a:srgbClr val="FF0000"/>
                </a:solidFill>
                <a:latin typeface="+mj-lt"/>
                <a:ea typeface="나눔고딕코딩" panose="020D0009000000000000" pitchFamily="49" charset="-127"/>
              </a:rPr>
              <a:t>반환 없음</a:t>
            </a:r>
            <a:r>
              <a:rPr lang="en-US" altLang="ko-KR" sz="2000" dirty="0">
                <a:solidFill>
                  <a:srgbClr val="FF0000"/>
                </a:solidFill>
                <a:latin typeface="+mj-lt"/>
                <a:ea typeface="나눔고딕코딩" panose="020D0009000000000000" pitchFamily="49" charset="-127"/>
              </a:rPr>
              <a:t>)</a:t>
            </a:r>
            <a:endParaRPr lang="en-US" altLang="ko-KR" sz="2000" dirty="0">
              <a:solidFill>
                <a:srgbClr val="FF0000"/>
              </a:solidFill>
              <a:latin typeface="+mj-lt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/>
              <a:t>생략된 인덱스는 </a:t>
            </a:r>
            <a:r>
              <a:rPr lang="en-US" altLang="ko-KR" dirty="0"/>
              <a:t>0 </a:t>
            </a:r>
            <a:r>
              <a:rPr lang="ko-KR" altLang="en-US" dirty="0"/>
              <a:t>또는 마지막 </a:t>
            </a:r>
            <a:r>
              <a:rPr lang="ko-KR" altLang="en-US" dirty="0" err="1"/>
              <a:t>항목까지를</a:t>
            </a:r>
            <a:r>
              <a:rPr lang="ko-KR" altLang="en-US" dirty="0"/>
              <a:t> 의미함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3200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ko-KR" altLang="en-US" dirty="0"/>
              <a:t>리스트의 항목들만 모두 삭제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accent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clear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4" y="1773044"/>
            <a:ext cx="9539113" cy="265399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[“apple”, “kiwi”, “mango”]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del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[1]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“kiwi”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삭제됨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[“apple”, “mango”]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del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리스트 변수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자체가 삭제됨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</a:t>
            </a:r>
            <a:r>
              <a:rPr lang="en-US" altLang="ko-KR" sz="2000" b="1" dirty="0" err="1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</a:t>
            </a:r>
            <a:r>
              <a:rPr lang="ko-KR" altLang="en-US" sz="2000" b="1" dirty="0">
                <a:solidFill>
                  <a:srgbClr val="FF6565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오류 발생</a:t>
            </a:r>
            <a:endParaRPr lang="en-US" altLang="ko-KR" sz="2000" b="1" dirty="0">
              <a:solidFill>
                <a:srgbClr val="FF6565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3" y="5124343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[10, 20, 10, 40, 50]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lst.</a:t>
            </a:r>
            <a:r>
              <a:rPr lang="en-US" altLang="ko-KR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clear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의 모든 항목을 삭제함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#  [ 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1337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</a:t>
            </a:r>
            <a:r>
              <a:rPr lang="ko-KR" altLang="en-US" dirty="0"/>
              <a:t>반복 처리하기 </a:t>
            </a:r>
            <a:r>
              <a:rPr lang="en-US" altLang="ko-KR" dirty="0"/>
              <a:t>(loop lists)</a:t>
            </a:r>
            <a:endParaRPr lang="ko-KR" altLang="en-US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리스트 항목들을 차례대로 반복처리 하기</a:t>
            </a:r>
            <a:endParaRPr lang="en-US" altLang="ko-KR" sz="2000" dirty="0">
              <a:solidFill>
                <a:srgbClr val="FF000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ko-KR" sz="3200" dirty="0"/>
          </a:p>
          <a:p>
            <a:pPr>
              <a:lnSpc>
                <a:spcPct val="150000"/>
              </a:lnSpc>
            </a:pPr>
            <a:endParaRPr lang="en-US" altLang="ko-KR" sz="3200" dirty="0"/>
          </a:p>
          <a:p>
            <a:pPr>
              <a:lnSpc>
                <a:spcPct val="150000"/>
              </a:lnSpc>
            </a:pPr>
            <a:r>
              <a:rPr lang="ko-KR" altLang="en-US" dirty="0"/>
              <a:t>인덱스로 리스트의 항목들을 반복처리 하기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248383" y="1733657"/>
            <a:ext cx="10105416" cy="169534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[“apple”, “kiwi”, “mango”]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 item in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#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항목들을 처음부터 순서대로 하나씩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item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 대입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print(item)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AF24167-62E7-4634-BB35-C03B1B4B85FE}"/>
              </a:ext>
            </a:extLst>
          </p:cNvPr>
          <p:cNvSpPr/>
          <p:nvPr/>
        </p:nvSpPr>
        <p:spPr>
          <a:xfrm>
            <a:off x="1248383" y="4331555"/>
            <a:ext cx="9539113" cy="1623889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[10, 20, 10, 40, 50]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in range(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 ):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# range(),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함수 이해하기 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333247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List Comprehension</a:t>
            </a:r>
            <a:endParaRPr lang="ko-KR" altLang="en-US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리스트를 간결하고 효율적으로 생성하는 방법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기존 리스트</a:t>
            </a:r>
            <a:r>
              <a:rPr lang="en-US" altLang="ko-KR" dirty="0"/>
              <a:t>, </a:t>
            </a:r>
            <a:r>
              <a:rPr lang="ko-KR" altLang="en-US" dirty="0"/>
              <a:t>반복 가능한 객체</a:t>
            </a:r>
            <a:r>
              <a:rPr lang="en-US" altLang="ko-KR" dirty="0"/>
              <a:t>(</a:t>
            </a:r>
            <a:r>
              <a:rPr lang="en-US" altLang="ko-KR" dirty="0" err="1"/>
              <a:t>iterable</a:t>
            </a:r>
            <a:r>
              <a:rPr lang="en-US" altLang="ko-KR" dirty="0"/>
              <a:t>) </a:t>
            </a:r>
            <a:r>
              <a:rPr lang="ko-KR" altLang="en-US" dirty="0"/>
              <a:t>또는 조건식을 바탕으로 새로운 리스트를 생성하는 간결한 방법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</a:t>
            </a:r>
            <a:r>
              <a:rPr lang="en-US" altLang="ko-KR" dirty="0"/>
              <a:t> </a:t>
            </a:r>
            <a:r>
              <a:rPr lang="ko-KR" altLang="en-US" dirty="0"/>
              <a:t>루프와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if</a:t>
            </a:r>
            <a:r>
              <a:rPr lang="en-US" altLang="ko-KR" dirty="0"/>
              <a:t> </a:t>
            </a:r>
            <a:r>
              <a:rPr lang="ko-KR" altLang="en-US" dirty="0"/>
              <a:t>조건문을 한 줄로 작성 가능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Syntax: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1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expression</a:t>
            </a:r>
            <a:r>
              <a:rPr lang="en-US" altLang="ko-KR" dirty="0"/>
              <a:t>: </a:t>
            </a:r>
            <a:r>
              <a:rPr lang="ko-KR" altLang="en-US" dirty="0"/>
              <a:t>각 요소를 처리하는 방법을 정의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 item in </a:t>
            </a:r>
            <a:r>
              <a:rPr lang="en-US" altLang="ko-KR" b="1" dirty="0" err="1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iterable</a:t>
            </a:r>
            <a:r>
              <a:rPr lang="en-US" altLang="ko-KR" dirty="0"/>
              <a:t>: </a:t>
            </a:r>
            <a:r>
              <a:rPr lang="ko-KR" altLang="en-US" dirty="0"/>
              <a:t>반복 가능한 객체에서 요소를 순회</a:t>
            </a:r>
            <a:r>
              <a:rPr lang="en-US" altLang="ko-KR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if condition </a:t>
            </a:r>
            <a:r>
              <a:rPr lang="en-US" altLang="ko-KR" dirty="0"/>
              <a:t>(</a:t>
            </a:r>
            <a:r>
              <a:rPr lang="ko-KR" altLang="en-US" dirty="0"/>
              <a:t>선택 사항</a:t>
            </a:r>
            <a:r>
              <a:rPr lang="en-US" altLang="ko-KR" dirty="0"/>
              <a:t>): </a:t>
            </a:r>
            <a:r>
              <a:rPr lang="ko-KR" altLang="en-US" dirty="0"/>
              <a:t>조건을 만족하는 요소만 선택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3200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415652" y="4367851"/>
            <a:ext cx="10105416" cy="649993"/>
          </a:xfrm>
          <a:prstGeom prst="roundRect">
            <a:avLst>
              <a:gd name="adj" fmla="val 795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 </a:t>
            </a:r>
            <a:r>
              <a:rPr lang="en-US" altLang="ko-KR" sz="2000" b="1" i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expression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i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item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i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iterable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[</a:t>
            </a:r>
            <a:r>
              <a:rPr lang="en-US" altLang="ko-KR" sz="2000" b="1" dirty="0">
                <a:solidFill>
                  <a:srgbClr val="0000FF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if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i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condition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] ]</a:t>
            </a:r>
          </a:p>
        </p:txBody>
      </p:sp>
    </p:spTree>
    <p:extLst>
      <p:ext uri="{BB962C8B-B14F-4D97-AF65-F5344CB8AC3E}">
        <p14:creationId xmlns:p14="http://schemas.microsoft.com/office/powerpoint/2010/main" val="1727155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List Comprehension </a:t>
            </a:r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  <a:effectLst/>
              </a:rPr>
              <a:t>(</a:t>
            </a:r>
            <a:r>
              <a:rPr lang="ko-KR" altLang="en-US" sz="2400" dirty="0">
                <a:solidFill>
                  <a:schemeClr val="bg2">
                    <a:lumMod val="50000"/>
                  </a:schemeClr>
                </a:solidFill>
                <a:effectLst/>
              </a:rPr>
              <a:t>계속</a:t>
            </a:r>
            <a:r>
              <a:rPr lang="en-US" altLang="ko-KR" sz="2400" dirty="0">
                <a:solidFill>
                  <a:schemeClr val="bg2">
                    <a:lumMod val="50000"/>
                  </a:schemeClr>
                </a:solidFill>
                <a:effectLst/>
              </a:rPr>
              <a:t>)</a:t>
            </a:r>
            <a:endParaRPr lang="ko-KR" altLang="en-US" dirty="0"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Example:</a:t>
            </a:r>
            <a:endParaRPr lang="en-US" altLang="ko-KR" sz="2000" dirty="0">
              <a:solidFill>
                <a:srgbClr val="FF0000"/>
              </a:solidFill>
              <a:latin typeface="+mj-lt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/>
              <a:t>List Comprehension </a:t>
            </a:r>
            <a:r>
              <a:rPr lang="ko-KR" altLang="en-US" dirty="0"/>
              <a:t>사용하지 않는 경우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3200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List Comprehension</a:t>
            </a:r>
            <a:r>
              <a:rPr lang="ko-KR" altLang="en-US" dirty="0"/>
              <a:t>을 사용하는 경우</a:t>
            </a:r>
            <a:r>
              <a:rPr lang="en-US" altLang="ko-KR" dirty="0"/>
              <a:t>: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616374" y="2357767"/>
            <a:ext cx="10105416" cy="2626829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[12, 23, 5, 34, 9, 98]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newlist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=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[]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 item in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if item%2 == 1: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홀수 항목을 찾아서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  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newlist.append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(item)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newlist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 추가하기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newlist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	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[23, 5, 9]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60B2FE2-D830-4E5C-BCB9-7029A7863589}"/>
              </a:ext>
            </a:extLst>
          </p:cNvPr>
          <p:cNvSpPr/>
          <p:nvPr/>
        </p:nvSpPr>
        <p:spPr>
          <a:xfrm>
            <a:off x="1616374" y="5527424"/>
            <a:ext cx="10105416" cy="1330575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[12, 23, 5, 34, 9, 98]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newlist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=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 item for item in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if item%2 == 1 ]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newlist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	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[23, 5, 9]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3958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List Comprehension  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)</a:t>
            </a:r>
            <a:endParaRPr lang="ko-KR" altLang="en-US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ko-KR" altLang="en-US" dirty="0"/>
              <a:t>기본 사용</a:t>
            </a:r>
            <a:r>
              <a:rPr lang="en-US" altLang="ko-KR" dirty="0"/>
              <a:t>: </a:t>
            </a:r>
            <a:r>
              <a:rPr lang="ko-KR" altLang="en-US" dirty="0"/>
              <a:t>리스트의 각 항목에 연산 적용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sz="1200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조건문과 표현식의 결합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List Comprehension</a:t>
            </a:r>
            <a:r>
              <a:rPr lang="ko-KR" altLang="en-US" dirty="0"/>
              <a:t>은 효율성과 간결성 모두를 갖춘 강력한 도구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B4A1D3A-94A0-47B8-81DA-0AC3C6BED8D8}"/>
              </a:ext>
            </a:extLst>
          </p:cNvPr>
          <p:cNvSpPr/>
          <p:nvPr/>
        </p:nvSpPr>
        <p:spPr>
          <a:xfrm>
            <a:off x="1616374" y="1666392"/>
            <a:ext cx="10105416" cy="1455950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[1, 2, 3, 4, 5]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result = [x**2 for x in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]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print(result)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	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[1, 4, 9, 16, 25]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60B2FE2-D830-4E5C-BCB9-7029A7863589}"/>
              </a:ext>
            </a:extLst>
          </p:cNvPr>
          <p:cNvSpPr/>
          <p:nvPr/>
        </p:nvSpPr>
        <p:spPr>
          <a:xfrm>
            <a:off x="1616374" y="3964360"/>
            <a:ext cx="10105416" cy="1455950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[1, 2, 3, 4, 5]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result = [x**2 if x % 2 == 0 else -x for x in </a:t>
            </a: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]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print(result)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[-1, 4, -3, 16, -5]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1052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Comprehension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237"/>
            <a:ext cx="11049000" cy="49642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참고 자료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https://shoark7.github.io/programming/python/about-list-comprehension-python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69496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9D85D-FEE4-5235-1A6B-8D564342F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CE0B3-0151-DE6B-F654-E4C4AE7A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List.sort</a:t>
            </a:r>
            <a:r>
              <a:rPr lang="en-US" altLang="ko-KR" dirty="0"/>
              <a:t>( ): </a:t>
            </a:r>
            <a:r>
              <a:rPr lang="ko-KR" altLang="en-US" dirty="0"/>
              <a:t>정렬</a:t>
            </a:r>
            <a:endParaRPr lang="ko-KR" altLang="en-US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0994C2-7F68-8012-17A1-4ED2FDF5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</a:pPr>
            <a:r>
              <a:rPr lang="ko-KR" altLang="en-US" dirty="0"/>
              <a:t>기본 개념</a:t>
            </a:r>
            <a:endParaRPr lang="en-US" altLang="ko-KR" dirty="0"/>
          </a:p>
          <a:p>
            <a:pPr lvl="1">
              <a:lnSpc>
                <a:spcPts val="4000"/>
              </a:lnSpc>
            </a:pPr>
            <a:r>
              <a:rPr lang="ko-KR" altLang="en-US" dirty="0"/>
              <a:t>리스트의 항목들을 오름차순</a:t>
            </a:r>
            <a:r>
              <a:rPr lang="en-US" altLang="ko-KR" dirty="0"/>
              <a:t>(ascending order)</a:t>
            </a:r>
            <a:r>
              <a:rPr lang="ko-KR" altLang="en-US" dirty="0"/>
              <a:t> 또는 </a:t>
            </a:r>
            <a:br>
              <a:rPr lang="en-US" altLang="ko-KR" dirty="0"/>
            </a:br>
            <a:r>
              <a:rPr lang="ko-KR" altLang="en-US" dirty="0"/>
              <a:t>내림차순</a:t>
            </a:r>
            <a:r>
              <a:rPr lang="en-US" altLang="ko-KR" dirty="0"/>
              <a:t>(descending order)</a:t>
            </a:r>
            <a:r>
              <a:rPr lang="ko-KR" altLang="en-US" dirty="0"/>
              <a:t>으로 정렬</a:t>
            </a:r>
            <a:endParaRPr lang="en-US" altLang="ko-KR" sz="800" dirty="0"/>
          </a:p>
          <a:p>
            <a:pPr lvl="1">
              <a:lnSpc>
                <a:spcPts val="4000"/>
              </a:lnSpc>
            </a:pPr>
            <a:r>
              <a:rPr lang="ko-KR" altLang="en-US" dirty="0"/>
              <a:t>정렬 기준을 사용자 정의할 수 있음</a:t>
            </a:r>
            <a:r>
              <a:rPr lang="en-US" altLang="ko-KR" dirty="0"/>
              <a:t> 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특정 키를 기준으로 정렬하기 등</a:t>
            </a:r>
            <a:r>
              <a:rPr lang="en-US" altLang="ko-KR" dirty="0"/>
              <a:t>)</a:t>
            </a:r>
          </a:p>
          <a:p>
            <a:pPr>
              <a:lnSpc>
                <a:spcPts val="4000"/>
              </a:lnSpc>
            </a:pPr>
            <a:r>
              <a:rPr lang="ko-KR" altLang="en-US" dirty="0"/>
              <a:t>기본 문법</a:t>
            </a:r>
            <a:endParaRPr lang="en-US" altLang="ko-KR" dirty="0"/>
          </a:p>
          <a:p>
            <a:pPr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key</a:t>
            </a:r>
            <a:r>
              <a:rPr lang="en-US" altLang="ko-KR" dirty="0"/>
              <a:t>: </a:t>
            </a:r>
            <a:r>
              <a:rPr lang="ko-KR" altLang="en-US" dirty="0"/>
              <a:t>정렬의 기준이 되는 함수</a:t>
            </a:r>
            <a:r>
              <a:rPr lang="en-US" altLang="ko-KR" dirty="0"/>
              <a:t>(function). </a:t>
            </a:r>
          </a:p>
          <a:p>
            <a:pPr lvl="1">
              <a:lnSpc>
                <a:spcPts val="4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reverse</a:t>
            </a:r>
            <a:r>
              <a:rPr lang="en-US" altLang="ko-KR" dirty="0"/>
              <a:t>: </a:t>
            </a:r>
            <a:r>
              <a:rPr lang="ko-KR" altLang="en-US" dirty="0"/>
              <a:t>정렬 순서를 지정</a:t>
            </a:r>
            <a:r>
              <a:rPr lang="en-US" altLang="ko-KR" dirty="0"/>
              <a:t>.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True</a:t>
            </a:r>
            <a:r>
              <a:rPr lang="ko-KR" altLang="en-US" dirty="0"/>
              <a:t>로 설정하면 내림차순으로 정렬</a:t>
            </a:r>
            <a:r>
              <a:rPr lang="en-US" altLang="ko-KR" dirty="0"/>
              <a:t>.</a:t>
            </a:r>
          </a:p>
          <a:p>
            <a:pPr lvl="1">
              <a:lnSpc>
                <a:spcPts val="4000"/>
              </a:lnSpc>
            </a:pPr>
            <a:r>
              <a:rPr lang="ko-KR" altLang="en-US" dirty="0">
                <a:solidFill>
                  <a:srgbClr val="FF0000"/>
                </a:solidFill>
              </a:rPr>
              <a:t>리스트 자체를 정렬</a:t>
            </a:r>
            <a:r>
              <a:rPr lang="en-US" altLang="ko-KR" dirty="0"/>
              <a:t>. (</a:t>
            </a:r>
            <a:r>
              <a:rPr lang="en-US" altLang="ko-KR" dirty="0" err="1"/>
              <a:t>inplace</a:t>
            </a:r>
            <a:r>
              <a:rPr lang="en-US" altLang="ko-KR" dirty="0"/>
              <a:t>), </a:t>
            </a:r>
            <a:r>
              <a:rPr lang="ko-KR" altLang="en-US" dirty="0" err="1"/>
              <a:t>반환값</a:t>
            </a:r>
            <a:r>
              <a:rPr lang="ko-KR" altLang="en-US" dirty="0"/>
              <a:t> 없음</a:t>
            </a:r>
            <a:r>
              <a:rPr lang="en-US" altLang="ko-KR" dirty="0"/>
              <a:t>. (chain method </a:t>
            </a:r>
            <a:r>
              <a:rPr lang="ko-KR" altLang="en-US" dirty="0"/>
              <a:t>사용 불가</a:t>
            </a:r>
            <a:r>
              <a:rPr lang="en-US" altLang="ko-KR" dirty="0"/>
              <a:t>)</a:t>
            </a:r>
          </a:p>
          <a:p>
            <a:pPr lvl="1">
              <a:lnSpc>
                <a:spcPts val="4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D858A2C-D7EF-9E1A-D5D7-B363752FCA6C}"/>
              </a:ext>
            </a:extLst>
          </p:cNvPr>
          <p:cNvSpPr/>
          <p:nvPr/>
        </p:nvSpPr>
        <p:spPr>
          <a:xfrm>
            <a:off x="1141332" y="3874511"/>
            <a:ext cx="10105416" cy="729929"/>
          </a:xfrm>
          <a:prstGeom prst="roundRect">
            <a:avLst>
              <a:gd name="adj" fmla="val 7958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4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list.</a:t>
            </a:r>
            <a:r>
              <a:rPr lang="en-US" altLang="ko-KR" sz="2400" b="1" dirty="0" err="1">
                <a:solidFill>
                  <a:srgbClr val="0070C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sort</a:t>
            </a:r>
            <a:r>
              <a:rPr lang="en-US" altLang="ko-KR" sz="24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(key=</a:t>
            </a:r>
            <a:r>
              <a:rPr lang="en-US" altLang="ko-KR" sz="2400" b="1" dirty="0">
                <a:solidFill>
                  <a:srgbClr val="0070C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None</a:t>
            </a:r>
            <a:r>
              <a:rPr lang="en-US" altLang="ko-KR" sz="24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reverse=</a:t>
            </a:r>
            <a:r>
              <a:rPr lang="en-US" altLang="ko-KR" sz="2400" b="1" dirty="0">
                <a:solidFill>
                  <a:srgbClr val="0070C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False</a:t>
            </a:r>
            <a:r>
              <a:rPr lang="en-US" altLang="ko-KR" sz="24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95651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7325-E662-A245-C8D3-4B7238BA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8A556-6098-0CA2-AED6-964C47670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List.sort</a:t>
            </a:r>
            <a:r>
              <a:rPr lang="en-US" altLang="ko-KR" dirty="0"/>
              <a:t>( ): </a:t>
            </a:r>
            <a:r>
              <a:rPr lang="ko-KR" altLang="en-US" dirty="0"/>
              <a:t>정렬  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)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5CA746-0D80-CF1D-824D-986DDC1DE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</a:pPr>
            <a:r>
              <a:rPr lang="en-US" altLang="ko-KR" dirty="0"/>
              <a:t>Examples</a:t>
            </a:r>
          </a:p>
          <a:p>
            <a:pPr lvl="1">
              <a:lnSpc>
                <a:spcPts val="4000"/>
              </a:lnSpc>
            </a:pPr>
            <a:r>
              <a:rPr lang="ko-KR" altLang="en-US" dirty="0"/>
              <a:t>기본 정렬 </a:t>
            </a:r>
            <a:r>
              <a:rPr lang="en-US" altLang="ko-KR" dirty="0"/>
              <a:t>(</a:t>
            </a:r>
            <a:r>
              <a:rPr lang="ko-KR" altLang="en-US" dirty="0"/>
              <a:t>오름차순</a:t>
            </a:r>
            <a:r>
              <a:rPr lang="en-US" altLang="ko-KR" dirty="0"/>
              <a:t>)</a:t>
            </a:r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r>
              <a:rPr lang="ko-KR" altLang="en-US" dirty="0"/>
              <a:t>내림 차순 정렬</a:t>
            </a: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5B711AF-5D20-9333-C0C3-081A9CA0C4E9}"/>
              </a:ext>
            </a:extLst>
          </p:cNvPr>
          <p:cNvSpPr/>
          <p:nvPr/>
        </p:nvSpPr>
        <p:spPr>
          <a:xfrm>
            <a:off x="1570654" y="2237892"/>
            <a:ext cx="10105416" cy="1455950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numbers = [5, 2, 9, 1, 7]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numbers.sort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print(numbers)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	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[1, 2, 5, 7, ,9]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4855A01-A900-F780-1C83-360AE93A2304}"/>
              </a:ext>
            </a:extLst>
          </p:cNvPr>
          <p:cNvSpPr/>
          <p:nvPr/>
        </p:nvSpPr>
        <p:spPr>
          <a:xfrm>
            <a:off x="1570654" y="4547945"/>
            <a:ext cx="10105416" cy="1455950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numbers = [5, 2, 9, 1, 7]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numbers.sort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 reverse=True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print(numbers)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	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[9, 7, 5, 2, 1]</a:t>
            </a:r>
            <a:endParaRPr lang="en-US" altLang="ko-KR" sz="2000" b="1" dirty="0">
              <a:solidFill>
                <a:schemeClr val="bg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5284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01666-109A-7377-545A-C2E167B03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DB6E1-CAA2-96F8-BE88-9702AB85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List.sort</a:t>
            </a:r>
            <a:r>
              <a:rPr lang="en-US" altLang="ko-KR" dirty="0"/>
              <a:t>( ): </a:t>
            </a:r>
            <a:r>
              <a:rPr lang="ko-KR" altLang="en-US" dirty="0"/>
              <a:t>정렬  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)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241DA4-E0AA-0A68-CE4D-A511924E2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</a:pPr>
            <a:r>
              <a:rPr lang="en-US" altLang="ko-KR" dirty="0"/>
              <a:t>Examples: </a:t>
            </a:r>
            <a:r>
              <a:rPr lang="ko-KR" altLang="en-US" dirty="0"/>
              <a:t>사용자 정의 기준 정렬 </a:t>
            </a:r>
            <a:r>
              <a:rPr lang="en-US" altLang="ko-KR" dirty="0"/>
              <a:t>(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key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pPr lvl="1">
              <a:lnSpc>
                <a:spcPts val="4000"/>
              </a:lnSpc>
            </a:pPr>
            <a:r>
              <a:rPr lang="ko-KR" altLang="en-US" dirty="0"/>
              <a:t>문자열 길이를 기준으로 정렬</a:t>
            </a:r>
            <a:r>
              <a:rPr lang="en-US" altLang="ko-KR" dirty="0"/>
              <a:t>:  </a:t>
            </a:r>
            <a:r>
              <a:rPr lang="en-US" altLang="ko-KR" b="1" dirty="0">
                <a:highlight>
                  <a:srgbClr val="C0C0C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key</a:t>
            </a:r>
            <a:r>
              <a:rPr lang="ko-KR" altLang="en-US" b="1" dirty="0">
                <a:highlight>
                  <a:srgbClr val="C0C0C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b="1" dirty="0">
                <a:highlight>
                  <a:srgbClr val="C0C0C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=</a:t>
            </a:r>
            <a:r>
              <a:rPr lang="ko-KR" altLang="en-US" b="1" dirty="0">
                <a:highlight>
                  <a:srgbClr val="C0C0C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b="1" dirty="0" err="1">
                <a:highlight>
                  <a:srgbClr val="C0C0C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b="1" dirty="0">
                <a:highlight>
                  <a:srgbClr val="C0C0C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 </a:t>
            </a:r>
          </a:p>
          <a:p>
            <a:pPr marL="457200" lvl="1" indent="0">
              <a:lnSpc>
                <a:spcPts val="4000"/>
              </a:lnSpc>
              <a:buNone/>
            </a:pPr>
            <a:endParaRPr lang="en-US" altLang="ko-KR" dirty="0"/>
          </a:p>
          <a:p>
            <a:pPr marL="457200" lvl="1" indent="0">
              <a:lnSpc>
                <a:spcPts val="4000"/>
              </a:lnSpc>
              <a:buNone/>
            </a:pPr>
            <a:r>
              <a:rPr lang="en-US" altLang="ko-KR" sz="1600" dirty="0"/>
              <a:t> </a:t>
            </a:r>
          </a:p>
          <a:p>
            <a:pPr lvl="1">
              <a:lnSpc>
                <a:spcPts val="4000"/>
              </a:lnSpc>
            </a:pPr>
            <a:endParaRPr lang="en-US" altLang="ko-KR" sz="1600" dirty="0"/>
          </a:p>
          <a:p>
            <a:pPr lvl="1">
              <a:lnSpc>
                <a:spcPts val="4000"/>
              </a:lnSpc>
            </a:pPr>
            <a:r>
              <a:rPr lang="ko-KR" altLang="en-US" dirty="0"/>
              <a:t>대소문자 구분 없이 정렬</a:t>
            </a:r>
            <a:r>
              <a:rPr lang="en-US" altLang="ko-KR" dirty="0"/>
              <a:t>: </a:t>
            </a:r>
            <a:r>
              <a:rPr lang="en-US" altLang="ko-KR" b="1" dirty="0">
                <a:highlight>
                  <a:srgbClr val="C0C0C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key=</a:t>
            </a:r>
            <a:r>
              <a:rPr lang="en-US" altLang="ko-KR" b="1" dirty="0" err="1">
                <a:highlight>
                  <a:srgbClr val="C0C0C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str.lower</a:t>
            </a:r>
            <a:endParaRPr lang="en-US" altLang="ko-KR" b="1" dirty="0">
              <a:highlight>
                <a:srgbClr val="C0C0C0"/>
              </a:highlight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B6EB4A7-8264-8B08-C233-C4767D93C1A5}"/>
              </a:ext>
            </a:extLst>
          </p:cNvPr>
          <p:cNvSpPr/>
          <p:nvPr/>
        </p:nvSpPr>
        <p:spPr>
          <a:xfrm>
            <a:off x="1570654" y="2237892"/>
            <a:ext cx="10105416" cy="1455950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[“apple”, “banana”, “kiwi”, “grape”]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fruits.sort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(key=</a:t>
            </a:r>
            <a:r>
              <a:rPr lang="en-US" altLang="ko-KR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리스트의 각 항목에 </a:t>
            </a:r>
            <a:r>
              <a:rPr lang="en-US" altLang="ko-KR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len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적용한 결과값에 따라 정렬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print(fruits)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	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[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'kiwi', 'grape', 'apple', 'banana'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7697CB3-A3A0-DCAD-387A-45F6433C5E73}"/>
              </a:ext>
            </a:extLst>
          </p:cNvPr>
          <p:cNvSpPr/>
          <p:nvPr/>
        </p:nvSpPr>
        <p:spPr>
          <a:xfrm>
            <a:off x="1570654" y="4547945"/>
            <a:ext cx="10105416" cy="1455950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words = ["Banana", "apple", "Cherry", "date"]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words.sort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 key=</a:t>
            </a:r>
            <a:r>
              <a:rPr lang="en-US" altLang="ko-KR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str.lower</a:t>
            </a:r>
            <a:r>
              <a:rPr lang="ko-KR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print(words)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	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[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'apple', 'Banana', 'Cherry', 'date'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66574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01666-109A-7377-545A-C2E167B03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DB6E1-CAA2-96F8-BE88-9702AB85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List.reverse</a:t>
            </a:r>
            <a:r>
              <a:rPr lang="en-US" altLang="ko-KR" dirty="0"/>
              <a:t>( ): </a:t>
            </a:r>
            <a:r>
              <a:rPr lang="ko-KR" altLang="en-US" dirty="0"/>
              <a:t>역순으로 정렬  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)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241DA4-E0AA-0A68-CE4D-A511924E2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 lvl="1">
              <a:lnSpc>
                <a:spcPts val="4000"/>
              </a:lnSpc>
            </a:pPr>
            <a:r>
              <a:rPr lang="ko-KR" altLang="en-US" dirty="0"/>
              <a:t>현재 리스트의 항목 순서를 역순으로 하기 </a:t>
            </a:r>
            <a:r>
              <a:rPr lang="en-US" altLang="ko-KR" dirty="0"/>
              <a:t>(sorting </a:t>
            </a:r>
            <a:r>
              <a:rPr lang="ko-KR" altLang="en-US" dirty="0"/>
              <a:t>과</a:t>
            </a:r>
            <a:r>
              <a:rPr lang="en-US" altLang="ko-KR" dirty="0"/>
              <a:t> </a:t>
            </a:r>
            <a:r>
              <a:rPr lang="ko-KR" altLang="en-US" dirty="0"/>
              <a:t>무관</a:t>
            </a:r>
            <a:r>
              <a:rPr lang="en-US" altLang="ko-KR" dirty="0"/>
              <a:t>): (in place)</a:t>
            </a:r>
          </a:p>
          <a:p>
            <a:pPr marL="457200" lvl="1" indent="0">
              <a:lnSpc>
                <a:spcPts val="4000"/>
              </a:lnSpc>
              <a:buNone/>
            </a:pPr>
            <a:r>
              <a:rPr lang="en-US" altLang="ko-KR" sz="1600" dirty="0"/>
              <a:t> </a:t>
            </a: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  <a:p>
            <a:pPr lvl="1">
              <a:lnSpc>
                <a:spcPts val="4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B6EB4A7-8264-8B08-C233-C4767D93C1A5}"/>
              </a:ext>
            </a:extLst>
          </p:cNvPr>
          <p:cNvSpPr/>
          <p:nvPr/>
        </p:nvSpPr>
        <p:spPr>
          <a:xfrm>
            <a:off x="1570654" y="1728845"/>
            <a:ext cx="10105416" cy="1455950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 = [“apple”, “banana”, “kiwi”, “grape”]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 err="1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fruits.reverse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()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리스트의 항목들을 역순으로 정렬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b="1" dirty="0" err="1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반환값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없음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print(fruits)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		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[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'grape’, ‘kiwi’, 'banana’, 'apple'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7282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</a:t>
            </a:r>
            <a:r>
              <a:rPr lang="ko-KR" altLang="en-US" dirty="0"/>
              <a:t>복사하기 </a:t>
            </a:r>
            <a:r>
              <a:rPr lang="en-US" altLang="ko-KR" dirty="0"/>
              <a:t>(copy)</a:t>
            </a:r>
            <a:endParaRPr lang="ko-KR" altLang="en-US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다음 코드에서 </a:t>
            </a:r>
            <a:r>
              <a:rPr lang="en-US" altLang="ko-KR" dirty="0"/>
              <a:t>list1</a:t>
            </a:r>
            <a:r>
              <a:rPr lang="ko-KR" altLang="en-US" dirty="0"/>
              <a:t>과 </a:t>
            </a:r>
            <a:r>
              <a:rPr lang="en-US" altLang="ko-KR" dirty="0"/>
              <a:t>list2</a:t>
            </a:r>
            <a:r>
              <a:rPr lang="ko-KR" altLang="en-US" dirty="0"/>
              <a:t>의 관계는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list2</a:t>
            </a:r>
            <a:r>
              <a:rPr lang="ko-KR" altLang="en-US" dirty="0"/>
              <a:t>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=</a:t>
            </a:r>
            <a:r>
              <a:rPr lang="ko-KR" altLang="en-US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list1  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list2</a:t>
            </a:r>
            <a:r>
              <a:rPr lang="ko-KR" altLang="en-US" dirty="0">
                <a:sym typeface="Wingdings" panose="05000000000000000000" pitchFamily="2" charset="2"/>
              </a:rPr>
              <a:t>는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list1</a:t>
            </a:r>
            <a:r>
              <a:rPr lang="ko-KR" altLang="en-US" dirty="0">
                <a:sym typeface="Wingdings" panose="05000000000000000000" pitchFamily="2" charset="2"/>
              </a:rPr>
              <a:t>과 같은 대상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리스트 객체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를 참조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US" altLang="ko-KR" sz="2400" b="1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list2</a:t>
            </a:r>
            <a:r>
              <a:rPr lang="ko-KR" altLang="en-US" dirty="0">
                <a:sym typeface="Wingdings" panose="05000000000000000000" pitchFamily="2" charset="2"/>
              </a:rPr>
              <a:t>를 변경하면 같은 대상을 참조하는 </a:t>
            </a:r>
            <a:r>
              <a:rPr lang="en-US" altLang="ko-KR" sz="2400" b="1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list1</a:t>
            </a:r>
            <a:r>
              <a:rPr lang="ko-KR" altLang="en-US" dirty="0">
                <a:sym typeface="Wingdings" panose="05000000000000000000" pitchFamily="2" charset="2"/>
              </a:rPr>
              <a:t>도 변경되는 결과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list1</a:t>
            </a:r>
            <a:r>
              <a:rPr lang="ko-KR" altLang="en-US" dirty="0"/>
              <a:t>의 사본을 새로 만들어 </a:t>
            </a:r>
            <a:r>
              <a:rPr lang="en-US" altLang="ko-KR" dirty="0"/>
              <a:t>list2</a:t>
            </a:r>
            <a:r>
              <a:rPr lang="ko-KR" altLang="en-US" dirty="0"/>
              <a:t>에 저장하려면</a:t>
            </a:r>
            <a:r>
              <a:rPr lang="en-US" altLang="ko-KR" dirty="0"/>
              <a:t>?</a:t>
            </a:r>
          </a:p>
          <a:p>
            <a:pPr lvl="1">
              <a:lnSpc>
                <a:spcPct val="110000"/>
              </a:lnSpc>
            </a:pPr>
            <a:r>
              <a:rPr lang="ko-KR" altLang="en-US" dirty="0">
                <a:latin typeface="+mj-lt"/>
                <a:ea typeface="나눔고딕코딩" panose="020D0009000000000000" pitchFamily="49" charset="-127"/>
              </a:rPr>
              <a:t>사본을 생성하는 별도의 방법들을 사용하여야 함</a:t>
            </a:r>
            <a:endParaRPr lang="en-US" altLang="ko-KR" sz="2000" dirty="0">
              <a:latin typeface="+mj-lt"/>
            </a:endParaRP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3200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38B8841-D520-4E02-951E-7147E1584FF6}"/>
              </a:ext>
            </a:extLst>
          </p:cNvPr>
          <p:cNvSpPr/>
          <p:nvPr/>
        </p:nvSpPr>
        <p:spPr>
          <a:xfrm>
            <a:off x="1570654" y="1728845"/>
            <a:ext cx="10105416" cy="1777926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list1 = [“apple”, “banana”, “kiwi”, “grape”]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list2 = list1	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list1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을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 저장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list2[0]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=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“pineapple”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list2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첫 항목을 변경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print(list1[0])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“apple”? “pineapple”?</a:t>
            </a:r>
          </a:p>
        </p:txBody>
      </p:sp>
    </p:spTree>
    <p:extLst>
      <p:ext uri="{BB962C8B-B14F-4D97-AF65-F5344CB8AC3E}">
        <p14:creationId xmlns:p14="http://schemas.microsoft.com/office/powerpoint/2010/main" val="832377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</a:t>
            </a:r>
            <a:r>
              <a:rPr lang="ko-KR" altLang="en-US" dirty="0"/>
              <a:t>복사하기 </a:t>
            </a:r>
            <a:r>
              <a:rPr lang="en-US" altLang="ko-KR" dirty="0"/>
              <a:t>(copy)  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(</a:t>
            </a:r>
            <a:r>
              <a:rPr lang="ko-KR" altLang="en-US" sz="2800" dirty="0">
                <a:solidFill>
                  <a:schemeClr val="bg2">
                    <a:lumMod val="75000"/>
                  </a:schemeClr>
                </a:solidFill>
                <a:effectLst/>
              </a:rPr>
              <a:t>계속</a:t>
            </a:r>
            <a:r>
              <a:rPr lang="en-US" altLang="ko-KR" sz="2800" dirty="0">
                <a:solidFill>
                  <a:schemeClr val="bg2">
                    <a:lumMod val="75000"/>
                  </a:schemeClr>
                </a:solidFill>
                <a:effectLst/>
              </a:rPr>
              <a:t>)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</a:t>
            </a:r>
            <a:r>
              <a:rPr lang="en-US" altLang="ko-KR" dirty="0">
                <a:highlight>
                  <a:srgbClr val="C0C0C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copy()</a:t>
            </a:r>
            <a:r>
              <a:rPr lang="ko-KR" altLang="en-US" dirty="0">
                <a:highlight>
                  <a:srgbClr val="C0C0C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ko-KR" altLang="en-US" dirty="0"/>
              <a:t>메소드 사용하기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sz="2800" dirty="0"/>
          </a:p>
          <a:p>
            <a:pPr lvl="1"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ko-KR" altLang="en-US" dirty="0"/>
              <a:t>리스트 생성 함수 </a:t>
            </a:r>
            <a:r>
              <a:rPr lang="en-US" altLang="ko-KR" dirty="0">
                <a:highlight>
                  <a:srgbClr val="C0C0C0"/>
                </a:highlight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list() </a:t>
            </a:r>
            <a:r>
              <a:rPr lang="ko-KR" altLang="en-US" dirty="0"/>
              <a:t>사용하기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3. </a:t>
            </a:r>
            <a:r>
              <a:rPr lang="ko-KR" altLang="en-US" dirty="0"/>
              <a:t>슬라이스 연산자 </a:t>
            </a:r>
            <a:r>
              <a:rPr lang="en-US" altLang="ko-KR" sz="3200" dirty="0">
                <a:solidFill>
                  <a:srgbClr val="FF0000"/>
                </a:solidFill>
              </a:rPr>
              <a:t>:</a:t>
            </a:r>
            <a:r>
              <a:rPr lang="ko-KR" altLang="en-US" dirty="0"/>
              <a:t> 사용하기 </a:t>
            </a:r>
            <a:r>
              <a:rPr lang="en-US" altLang="ko-KR" sz="2000" b="0" dirty="0">
                <a:solidFill>
                  <a:srgbClr val="00B050"/>
                </a:solidFill>
                <a:latin typeface="+mj-lt"/>
              </a:rPr>
              <a:t>( : </a:t>
            </a:r>
            <a:r>
              <a:rPr lang="ko-KR" altLang="en-US" sz="2000" b="0" dirty="0">
                <a:solidFill>
                  <a:srgbClr val="00B050"/>
                </a:solidFill>
                <a:latin typeface="+mj-lt"/>
              </a:rPr>
              <a:t>연산 결과는 사본 생성이 기본</a:t>
            </a:r>
            <a:r>
              <a:rPr lang="en-US" altLang="ko-KR" sz="2000" b="0" dirty="0">
                <a:solidFill>
                  <a:srgbClr val="00B050"/>
                </a:solidFill>
                <a:latin typeface="+mj-lt"/>
              </a:rPr>
              <a:t>)</a:t>
            </a: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3200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38B8841-D520-4E02-951E-7147E1584FF6}"/>
              </a:ext>
            </a:extLst>
          </p:cNvPr>
          <p:cNvSpPr/>
          <p:nvPr/>
        </p:nvSpPr>
        <p:spPr>
          <a:xfrm>
            <a:off x="1570654" y="1728845"/>
            <a:ext cx="10105416" cy="1777926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list1 = [“apple”, “banana”, “kiwi”, “grape”]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list2 = list1.copy()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list1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사본을 생성하여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 저장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list2[0]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=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“pineapple”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list2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첫 항목을 변경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print(list1[0])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“apple”,   list2[0]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“pineapple”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8DFA314-1BF6-42B9-BF38-31BC90B606D9}"/>
              </a:ext>
            </a:extLst>
          </p:cNvPr>
          <p:cNvSpPr/>
          <p:nvPr/>
        </p:nvSpPr>
        <p:spPr>
          <a:xfrm>
            <a:off x="1570654" y="4164894"/>
            <a:ext cx="10105416" cy="957308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list1 = [“apple”, “banana”, “kiwi”, “grape”]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list2 = list(list1)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7F72252-CE66-4912-A0F9-10319AEC7C23}"/>
              </a:ext>
            </a:extLst>
          </p:cNvPr>
          <p:cNvSpPr/>
          <p:nvPr/>
        </p:nvSpPr>
        <p:spPr>
          <a:xfrm>
            <a:off x="1570654" y="5787278"/>
            <a:ext cx="10105416" cy="957308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list1 = [“apple”, “banana”, “kiwi”, “grape”]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list2 = list1[ </a:t>
            </a:r>
            <a:r>
              <a:rPr lang="en-US" altLang="ko-KR" sz="2000" b="1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]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시작 인덱스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종료 인덱스 생략하여 전체 선택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7719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6A341-F69E-4EB6-800D-EC79A914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</a:t>
            </a:r>
            <a:r>
              <a:rPr lang="ko-KR" altLang="en-US" dirty="0"/>
              <a:t>연결</a:t>
            </a:r>
            <a:r>
              <a:rPr lang="en-US" altLang="ko-KR" dirty="0"/>
              <a:t>, </a:t>
            </a:r>
            <a:r>
              <a:rPr lang="ko-KR" altLang="en-US" dirty="0"/>
              <a:t>확장하기</a:t>
            </a:r>
            <a:endParaRPr lang="ko-KR" altLang="en-US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50960-7514-4742-9BFF-BC7E4C7D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2</a:t>
            </a:r>
            <a:r>
              <a:rPr lang="ko-KR" altLang="en-US" dirty="0"/>
              <a:t>개 이상의 리스트를 연결하여 하나의 리스트로 만들기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1. </a:t>
            </a:r>
            <a:r>
              <a:rPr lang="en-US" altLang="ko-KR" b="1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+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연산자 사용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결과는 사본으로 생성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pPr lvl="1">
              <a:lnSpc>
                <a:spcPct val="15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 lvl="2">
              <a:lnSpc>
                <a:spcPct val="150000"/>
              </a:lnSpc>
            </a:pPr>
            <a:r>
              <a:rPr lang="en-US" altLang="ko-KR" sz="2400" b="1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list2</a:t>
            </a:r>
            <a:r>
              <a:rPr lang="ko-KR" altLang="en-US" dirty="0">
                <a:sym typeface="Wingdings" panose="05000000000000000000" pitchFamily="2" charset="2"/>
              </a:rPr>
              <a:t>를 변경하면 같은 대상을 참조하는 </a:t>
            </a:r>
            <a:r>
              <a:rPr lang="en-US" altLang="ko-KR" sz="2400" b="1" dirty="0"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list1</a:t>
            </a:r>
            <a:r>
              <a:rPr lang="ko-KR" altLang="en-US" dirty="0">
                <a:sym typeface="Wingdings" panose="05000000000000000000" pitchFamily="2" charset="2"/>
              </a:rPr>
              <a:t>도 변경되는 결과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en-US" altLang="ko-KR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extend() </a:t>
            </a:r>
            <a:r>
              <a:rPr lang="ko-KR" altLang="en-US" dirty="0"/>
              <a:t>메소드 사용</a:t>
            </a:r>
            <a:r>
              <a:rPr lang="en-US" altLang="ko-KR" dirty="0"/>
              <a:t>: (in place)</a:t>
            </a:r>
          </a:p>
          <a:p>
            <a:pPr lvl="1">
              <a:lnSpc>
                <a:spcPct val="150000"/>
              </a:lnSpc>
            </a:pPr>
            <a:endParaRPr lang="en-US" altLang="ko-KR" dirty="0">
              <a:latin typeface="+mj-lt"/>
              <a:ea typeface="나눔고딕코딩" panose="020D0009000000000000" pitchFamily="49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j-lt"/>
                <a:ea typeface="나눔고딕코딩" panose="020D0009000000000000" pitchFamily="49" charset="-127"/>
              </a:rPr>
              <a:t>위의 </a:t>
            </a:r>
            <a:r>
              <a:rPr lang="en-US" altLang="ko-KR" dirty="0">
                <a:latin typeface="+mj-lt"/>
                <a:ea typeface="나눔고딕코딩" panose="020D0009000000000000" pitchFamily="49" charset="-127"/>
              </a:rPr>
              <a:t>extend() </a:t>
            </a:r>
            <a:r>
              <a:rPr lang="ko-KR" altLang="en-US" dirty="0">
                <a:latin typeface="+mj-lt"/>
                <a:ea typeface="나눔고딕코딩" panose="020D0009000000000000" pitchFamily="49" charset="-127"/>
              </a:rPr>
              <a:t>사용과 같은 결과</a:t>
            </a:r>
            <a:r>
              <a:rPr lang="en-US" altLang="ko-KR" dirty="0">
                <a:latin typeface="+mj-lt"/>
                <a:ea typeface="나눔고딕코딩" panose="020D0009000000000000" pitchFamily="49" charset="-127"/>
              </a:rPr>
              <a:t>:</a:t>
            </a:r>
            <a:endParaRPr lang="en-US" altLang="ko-KR" sz="1600" dirty="0">
              <a:latin typeface="+mj-lt"/>
            </a:endParaRP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3200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38B8841-D520-4E02-951E-7147E1584FF6}"/>
              </a:ext>
            </a:extLst>
          </p:cNvPr>
          <p:cNvSpPr/>
          <p:nvPr/>
        </p:nvSpPr>
        <p:spPr>
          <a:xfrm>
            <a:off x="1580081" y="2341587"/>
            <a:ext cx="10105416" cy="1344293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list1 = [“KOR”, “CHN”, “JPN”]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list2 = [10, 20, 30]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result = list1 </a:t>
            </a:r>
            <a:r>
              <a:rPr lang="en-US" altLang="ko-KR" sz="2000" b="1" dirty="0">
                <a:solidFill>
                  <a:srgbClr val="FF000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+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list2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# list1,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와는 다른 새 리스트 결과값 생성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4654557-156B-46B5-BF1A-0C94DFCC55A1}"/>
              </a:ext>
            </a:extLst>
          </p:cNvPr>
          <p:cNvSpPr/>
          <p:nvPr/>
        </p:nvSpPr>
        <p:spPr>
          <a:xfrm>
            <a:off x="1580081" y="4164083"/>
            <a:ext cx="10105416" cy="530466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list1.extend(list2)		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#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 list1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이 확장됨 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(list2</a:t>
            </a:r>
            <a:r>
              <a:rPr lang="ko-KR" altLang="en-US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의 항목들을 포함</a:t>
            </a:r>
            <a:r>
              <a:rPr lang="en-US" altLang="ko-KR" sz="2000" b="1" dirty="0">
                <a:solidFill>
                  <a:srgbClr val="92D050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  <a:sym typeface="Wingdings" panose="05000000000000000000" pitchFamily="2" charset="2"/>
              </a:rPr>
              <a:t>)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37E250B-A6FE-4914-947C-6AFEBD307793}"/>
              </a:ext>
            </a:extLst>
          </p:cNvPr>
          <p:cNvSpPr/>
          <p:nvPr/>
        </p:nvSpPr>
        <p:spPr>
          <a:xfrm>
            <a:off x="2023141" y="5400145"/>
            <a:ext cx="6036777" cy="1019509"/>
          </a:xfrm>
          <a:prstGeom prst="roundRect">
            <a:avLst>
              <a:gd name="adj" fmla="val 7958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for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item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in</a:t>
            </a:r>
            <a:r>
              <a:rPr lang="ko-KR" altLang="en-US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list2:</a:t>
            </a:r>
          </a:p>
          <a:p>
            <a:pPr>
              <a:lnSpc>
                <a:spcPts val="3100"/>
              </a:lnSpc>
            </a:pPr>
            <a:r>
              <a:rPr lang="en-US" altLang="ko-KR" sz="2000" b="1" dirty="0">
                <a:solidFill>
                  <a:schemeClr val="bg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list1.append(item)</a:t>
            </a:r>
            <a:endParaRPr lang="en-US" altLang="ko-KR" sz="2000" b="1" dirty="0">
              <a:solidFill>
                <a:srgbClr val="92D050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3461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165C21-874A-476C-B163-3587992AB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728" y="877230"/>
            <a:ext cx="9209398" cy="5745738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FCE57E65-CFCF-46A1-A745-7F6814D73AFB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26112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List:  Methods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19564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09D4-BD07-5FD8-8F78-56D0E4A3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A051E-D78A-725C-03A2-678E29D99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5338"/>
            <a:ext cx="10515600" cy="1338168"/>
          </a:xfrm>
        </p:spPr>
        <p:txBody>
          <a:bodyPr>
            <a:normAutofit/>
          </a:bodyPr>
          <a:lstStyle/>
          <a:p>
            <a:pPr algn="ctr"/>
            <a:r>
              <a:rPr lang="en-US" altLang="ko-KR" sz="8000" dirty="0"/>
              <a:t>Quiz</a:t>
            </a:r>
            <a:endParaRPr lang="ko-KR" altLang="en-US" sz="80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B5B5633-C0E9-034A-2ABD-721E9CA5DD9A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826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b="0" dirty="0">
                <a:effectLst/>
              </a:rPr>
              <a:t>학습한 내용에 대한 이해 정도를 확인합니다</a:t>
            </a:r>
            <a:r>
              <a:rPr lang="en-US" altLang="ko-KR" b="0" dirty="0">
                <a:effectLst/>
              </a:rPr>
              <a:t>.</a:t>
            </a:r>
            <a:endParaRPr lang="ko-KR" alt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27530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62343-DAAB-189E-4040-2F033845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E474B-C2BD-BFD9-7684-3F10B807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01AD2-D2CF-4ED4-8DF7-569C1CD40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1. </a:t>
            </a:r>
            <a:r>
              <a:rPr lang="ko-KR" altLang="en-US" dirty="0"/>
              <a:t>리스트의 기본적인 정의로 올바른 것을 고르세요</a:t>
            </a:r>
            <a:r>
              <a:rPr lang="en-US" altLang="ko-KR" dirty="0"/>
              <a:t>.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동일한 자료형의 값들만 저장할 수 있는 데이터 타입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값들이 순서 없이 저장되는 데이터 타입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값들을 순서대로 저장하며</a:t>
            </a: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다양한 자료형의 값을 저장할 수 있는 </a:t>
            </a:r>
            <a:b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</a:b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데이터 타입</a:t>
            </a:r>
            <a:endParaRPr lang="en-US" altLang="ko-KR" sz="2200" b="1" dirty="0"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값을 변경할 수 없는 데이터 타입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ADE1165-7C25-0D3D-F72F-4276BCBB6B07}"/>
              </a:ext>
            </a:extLst>
          </p:cNvPr>
          <p:cNvSpPr/>
          <p:nvPr/>
        </p:nvSpPr>
        <p:spPr>
          <a:xfrm>
            <a:off x="1793266" y="4672584"/>
            <a:ext cx="10093934" cy="1609344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❸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리스트는 순서가 있고 다양한 자료형의 값을 저장할 수 있는 가변형 데이터 타입입니다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400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D75D8-7DE6-2EB2-64EB-A83FB6F71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781AC-C917-5EC5-2F7C-F0864980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246BDE-80FC-9F52-49A3-3AB6E08CD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2.</a:t>
            </a:r>
            <a:r>
              <a:rPr lang="ko-KR" altLang="en-US" dirty="0"/>
              <a:t> 다음 코드의 </a:t>
            </a:r>
            <a:r>
              <a:rPr lang="ko-KR" altLang="en-US" dirty="0" err="1"/>
              <a:t>출력값으로</a:t>
            </a:r>
            <a:r>
              <a:rPr lang="ko-KR" altLang="en-US" dirty="0"/>
              <a:t> 올바른 것을 고르세요</a:t>
            </a:r>
            <a:r>
              <a:rPr lang="en-US" altLang="ko-KR" dirty="0"/>
              <a:t>.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3, 4]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[4, 1, 2, 3]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8A73915-0752-52B1-1F78-F9FE26AB2F0C}"/>
              </a:ext>
            </a:extLst>
          </p:cNvPr>
          <p:cNvSpPr/>
          <p:nvPr/>
        </p:nvSpPr>
        <p:spPr>
          <a:xfrm>
            <a:off x="1793266" y="4672584"/>
            <a:ext cx="10093934" cy="1609344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❷</a:t>
            </a: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append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메서드는 리스트의 끝에 요소를 추가합니다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9E96F1-2461-E087-EDB6-7CAD509C2199}"/>
              </a:ext>
            </a:extLst>
          </p:cNvPr>
          <p:cNvSpPr/>
          <p:nvPr/>
        </p:nvSpPr>
        <p:spPr>
          <a:xfrm>
            <a:off x="4890952" y="2103935"/>
            <a:ext cx="4437367" cy="1532166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[1, 2, 3]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my_list.append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(4)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433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AB22A-0CFB-A449-A840-8753AAEFE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EF872-9398-4C4C-F465-68BB78BD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0F0F39-CD5F-6D4E-9B3E-2A44A9B72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3.</a:t>
            </a:r>
            <a:r>
              <a:rPr lang="ko-KR" altLang="en-US" dirty="0"/>
              <a:t> 다음 코드에서 </a:t>
            </a:r>
            <a:r>
              <a:rPr lang="en-US" altLang="ko-KR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result</a:t>
            </a:r>
            <a:r>
              <a:rPr lang="ko-KR" altLang="en-US" dirty="0"/>
              <a:t>의 값은 무엇인가요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[2, 3, 4]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[2, 3, 4, 5]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8007D96-EC3C-7B1C-375A-920369DFFB84}"/>
              </a:ext>
            </a:extLst>
          </p:cNvPr>
          <p:cNvSpPr/>
          <p:nvPr/>
        </p:nvSpPr>
        <p:spPr>
          <a:xfrm>
            <a:off x="1793266" y="4672584"/>
            <a:ext cx="9205660" cy="1609344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❷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슬라이싱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[1:4]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은 시작 인덱스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(1)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부터 끝 인덱스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(4)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이전까지의 요소를 반환합니다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ED6832B-F814-1133-F5AD-8570AC371951}"/>
              </a:ext>
            </a:extLst>
          </p:cNvPr>
          <p:cNvSpPr/>
          <p:nvPr/>
        </p:nvSpPr>
        <p:spPr>
          <a:xfrm>
            <a:off x="4890952" y="2103935"/>
            <a:ext cx="4437367" cy="1126945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 = [1, 2, 3, 4, 5]</a:t>
            </a:r>
          </a:p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result = my_list[1:4]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432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DCD9-C2DD-B89D-0FD9-B76C6391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FA80F-2C9A-0353-1E3B-0AEED9D3B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0247F6-9117-6249-5D72-1299CF97D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4.</a:t>
            </a:r>
            <a:r>
              <a:rPr lang="ko-KR" altLang="en-US" dirty="0"/>
              <a:t> 다음 코드의 </a:t>
            </a:r>
            <a:r>
              <a:rPr lang="ko-KR" altLang="en-US" dirty="0" err="1"/>
              <a:t>출력값은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4, 5]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3, 5]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3, 4, 5]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3, 4, 5]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E2139D1-8716-7523-D45C-3A4252922242}"/>
              </a:ext>
            </a:extLst>
          </p:cNvPr>
          <p:cNvSpPr/>
          <p:nvPr/>
        </p:nvSpPr>
        <p:spPr>
          <a:xfrm>
            <a:off x="1793266" y="4672584"/>
            <a:ext cx="9205660" cy="1205702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❶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pop(2)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인덱스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의 요소를 제거하며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리스트는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4, 5]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846B546-070B-284D-4255-09789C36F191}"/>
              </a:ext>
            </a:extLst>
          </p:cNvPr>
          <p:cNvSpPr/>
          <p:nvPr/>
        </p:nvSpPr>
        <p:spPr>
          <a:xfrm>
            <a:off x="4890952" y="2103935"/>
            <a:ext cx="4437367" cy="1536248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 = [1, 2, 3, 4, 5]</a:t>
            </a:r>
          </a:p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my_list.pop(2)</a:t>
            </a:r>
          </a:p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print(my_list)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758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E8A3A-FC98-6BD7-001F-A772941C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6FF31-0827-F8A8-2552-8F0134B7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D8E88C-336E-5FDF-5661-7FF0592F2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5.</a:t>
            </a:r>
            <a:r>
              <a:rPr lang="ko-KR" altLang="en-US" dirty="0"/>
              <a:t> 다음 코드의 </a:t>
            </a:r>
            <a:r>
              <a:rPr lang="ko-KR" altLang="en-US" dirty="0" err="1"/>
              <a:t>출력값은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3, 4]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3, 4]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[2, 2, 3, 4]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2, 3, 4]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BDA463C-96E2-8698-B853-037CEA9F18BC}"/>
              </a:ext>
            </a:extLst>
          </p:cNvPr>
          <p:cNvSpPr/>
          <p:nvPr/>
        </p:nvSpPr>
        <p:spPr>
          <a:xfrm>
            <a:off x="1793266" y="4672584"/>
            <a:ext cx="9205660" cy="1205702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❶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remove(2)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리스트에서 첫 </a:t>
            </a:r>
            <a:r>
              <a:rPr lang="ko-KR" altLang="en-US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번째로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등장하는 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2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를 제거합니다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E4BBCFA-24E2-9BC2-3875-ECD338A55B29}"/>
              </a:ext>
            </a:extLst>
          </p:cNvPr>
          <p:cNvSpPr/>
          <p:nvPr/>
        </p:nvSpPr>
        <p:spPr>
          <a:xfrm>
            <a:off x="4890952" y="2103935"/>
            <a:ext cx="4437367" cy="1536248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[1, 2, 2, 3, 4]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my_list.remove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(2)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059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6A57-2A9D-8D16-DE61-3832629B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A86D4-C900-B36B-FF1B-390FB5CE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7DC0AC-438F-D00C-0FE9-B2857D631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6.</a:t>
            </a:r>
            <a:r>
              <a:rPr lang="ko-KR" altLang="en-US" dirty="0"/>
              <a:t> 리스트에 존재하지 않는 요소를 </a:t>
            </a:r>
            <a:r>
              <a:rPr lang="en-US" altLang="ko-KR" dirty="0"/>
              <a:t>remove</a:t>
            </a:r>
            <a:r>
              <a:rPr lang="ko-KR" altLang="en-US" dirty="0"/>
              <a:t>하려고 하면 어떻게 되나요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None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에러 발생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D2E2D15-70CC-11B2-F0EF-831BACB9BC19}"/>
              </a:ext>
            </a:extLst>
          </p:cNvPr>
          <p:cNvSpPr/>
          <p:nvPr/>
        </p:nvSpPr>
        <p:spPr>
          <a:xfrm>
            <a:off x="1793266" y="4672584"/>
            <a:ext cx="9327580" cy="1205702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❹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remove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는 존재하지 않는 요소를 삭제하려고 하면 </a:t>
            </a:r>
            <a:r>
              <a:rPr lang="en-US" altLang="ko-KR" sz="2000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ValueError</a:t>
            </a: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가 발생합니다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92B6C72-6E2E-2942-31BA-FA45292C1247}"/>
              </a:ext>
            </a:extLst>
          </p:cNvPr>
          <p:cNvSpPr/>
          <p:nvPr/>
        </p:nvSpPr>
        <p:spPr>
          <a:xfrm>
            <a:off x="4908369" y="2478404"/>
            <a:ext cx="4437367" cy="1092111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 = [1, 2, 3]</a:t>
            </a:r>
          </a:p>
          <a:p>
            <a:pPr>
              <a:lnSpc>
                <a:spcPct val="150000"/>
              </a:lnSpc>
            </a:pP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my_list.remove(4)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820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5D086-4D5B-583E-C31D-015074725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8A27C-C60C-F646-00D9-C9B04520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List: Quiz</a:t>
            </a:r>
            <a:endParaRPr lang="ko-KR" altLang="en-US" sz="2800" dirty="0">
              <a:solidFill>
                <a:schemeClr val="bg2">
                  <a:lumMod val="75000"/>
                </a:schemeClr>
              </a:solidFill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D34FF5-57B2-15B1-5216-0D3D8CD87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231880" cy="57872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7.</a:t>
            </a:r>
            <a:r>
              <a:rPr lang="ko-KR" altLang="en-US" dirty="0"/>
              <a:t> 다음 코드의 실행 결과는</a:t>
            </a:r>
            <a:r>
              <a:rPr lang="en-US" altLang="ko-KR" dirty="0"/>
              <a:t>?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3, 1, 2, 3]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3, 6]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[2, 4, 6]</a:t>
            </a:r>
          </a:p>
          <a:p>
            <a:pPr marL="914400" lvl="1" indent="-457200">
              <a:lnSpc>
                <a:spcPct val="130000"/>
              </a:lnSpc>
              <a:buFont typeface="+mj-ea"/>
              <a:buAutoNum type="circleNumDbPlain"/>
            </a:pPr>
            <a:r>
              <a:rPr lang="en-US" altLang="ko-KR" sz="2200" b="1" dirty="0"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3]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397A586-6307-5E86-50B2-EAEBC3FD365A}"/>
              </a:ext>
            </a:extLst>
          </p:cNvPr>
          <p:cNvSpPr/>
          <p:nvPr/>
        </p:nvSpPr>
        <p:spPr>
          <a:xfrm>
            <a:off x="1793265" y="4672584"/>
            <a:ext cx="10163603" cy="1205702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Answer: </a:t>
            </a:r>
            <a:r>
              <a:rPr lang="en-US" altLang="ko-KR" sz="2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❶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리스트에 * 연산자를 사용하면 리스트를 반복하여 새로운 리스트를 생성합니다</a:t>
            </a:r>
            <a:r>
              <a:rPr lang="en-US" altLang="ko-KR" sz="2000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7BF1ABC-93DF-050D-8944-5598FE674720}"/>
              </a:ext>
            </a:extLst>
          </p:cNvPr>
          <p:cNvSpPr/>
          <p:nvPr/>
        </p:nvSpPr>
        <p:spPr>
          <a:xfrm>
            <a:off x="4890952" y="2103935"/>
            <a:ext cx="4437367" cy="1536248"/>
          </a:xfrm>
          <a:prstGeom prst="roundRect">
            <a:avLst>
              <a:gd name="adj" fmla="val 2453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[1, 2, 3]</a:t>
            </a:r>
          </a:p>
          <a:p>
            <a:pPr>
              <a:lnSpc>
                <a:spcPct val="150000"/>
              </a:lnSpc>
            </a:pP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new_list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</a:t>
            </a: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my_list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* 2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new_list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3514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4CA2F-4F67-4F1C-B26D-F222DBCB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5338"/>
            <a:ext cx="10515600" cy="1338168"/>
          </a:xfrm>
        </p:spPr>
        <p:txBody>
          <a:bodyPr>
            <a:normAutofit/>
          </a:bodyPr>
          <a:lstStyle/>
          <a:p>
            <a:pPr algn="ctr"/>
            <a:r>
              <a:rPr lang="en-US" altLang="ko-KR" sz="8000" dirty="0"/>
              <a:t>Coding Problem</a:t>
            </a:r>
            <a:endParaRPr lang="ko-KR" altLang="en-US" sz="80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68AA711-0D20-446A-8CD5-667066D56E85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187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u="none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70000"/>
              </a:lnSpc>
            </a:pPr>
            <a:r>
              <a:rPr lang="ko-KR" altLang="en-US" b="0" dirty="0">
                <a:effectLst/>
              </a:rPr>
              <a:t>간단한 코딩 문제를 해결함으로써</a:t>
            </a:r>
            <a:endParaRPr lang="en-US" altLang="ko-KR" b="0" dirty="0">
              <a:effectLst/>
            </a:endParaRPr>
          </a:p>
          <a:p>
            <a:pPr algn="ctr">
              <a:lnSpc>
                <a:spcPct val="170000"/>
              </a:lnSpc>
            </a:pPr>
            <a:r>
              <a:rPr lang="ko-KR" altLang="en-US" b="0" dirty="0">
                <a:effectLst/>
              </a:rPr>
              <a:t>학습 결과의 활용 능력을 확인</a:t>
            </a:r>
          </a:p>
        </p:txBody>
      </p:sp>
    </p:spTree>
    <p:extLst>
      <p:ext uri="{BB962C8B-B14F-4D97-AF65-F5344CB8AC3E}">
        <p14:creationId xmlns:p14="http://schemas.microsoft.com/office/powerpoint/2010/main" val="17923662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89B45-030C-F3A0-6AE9-F4CB5465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8E9F8-CCB4-3EBC-4AFD-EC7A2266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ffectLst/>
              </a:rPr>
              <a:t>Coding Problem</a:t>
            </a:r>
            <a:endParaRPr lang="ko-KR" altLang="en-US" sz="2800" dirty="0"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A6E90-E4D1-8763-2C1F-E6C5B31F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Problem:                                       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en-US" altLang="ko-KR" dirty="0"/>
              <a:t>Solution Examples: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36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D96FF5-5B5D-F84E-61B0-6310F798C701}"/>
              </a:ext>
            </a:extLst>
          </p:cNvPr>
          <p:cNvSpPr/>
          <p:nvPr/>
        </p:nvSpPr>
        <p:spPr>
          <a:xfrm>
            <a:off x="838200" y="1694365"/>
            <a:ext cx="11049000" cy="2085783"/>
          </a:xfrm>
          <a:prstGeom prst="roundRect">
            <a:avLst>
              <a:gd name="adj" fmla="val 340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000"/>
              </a:lnSpc>
            </a:pP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리스트에서 중복된 요소를 제거한 새로운 리스트를 생성하는 코드를 작성하세요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-------------------------------------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테스트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입력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[1, 2, 2, 3, 4, 4, 5]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[1, 2, 3, 4, 5]</a:t>
            </a:r>
          </a:p>
          <a:p>
            <a:pPr>
              <a:lnSpc>
                <a:spcPts val="3000"/>
              </a:lnSpc>
            </a:pPr>
            <a:endParaRPr lang="en-US" altLang="ko-KR" sz="2000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C7850BA-CD36-45CB-8DC0-A4040A638A48}"/>
              </a:ext>
            </a:extLst>
          </p:cNvPr>
          <p:cNvSpPr/>
          <p:nvPr/>
        </p:nvSpPr>
        <p:spPr>
          <a:xfrm>
            <a:off x="838200" y="4268928"/>
            <a:ext cx="11049000" cy="1962190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[1, 2, 2, 3, 4, 4, 5]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result = list(set(</a:t>
            </a: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))  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print(result) #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[1, 2, 3, 4, 5]</a:t>
            </a: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5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89B45-030C-F3A0-6AE9-F4CB5465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8E9F8-CCB4-3EBC-4AFD-EC7A2266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ffectLst/>
              </a:rPr>
              <a:t>Coding Problem</a:t>
            </a:r>
            <a:endParaRPr lang="ko-KR" altLang="en-US" sz="2800" dirty="0"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A6E90-E4D1-8763-2C1F-E6C5B31F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Problem:                                       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en-US" altLang="ko-KR" dirty="0"/>
              <a:t>Solution Examples: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36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D96FF5-5B5D-F84E-61B0-6310F798C701}"/>
              </a:ext>
            </a:extLst>
          </p:cNvPr>
          <p:cNvSpPr/>
          <p:nvPr/>
        </p:nvSpPr>
        <p:spPr>
          <a:xfrm>
            <a:off x="838200" y="1694365"/>
            <a:ext cx="11049000" cy="2085783"/>
          </a:xfrm>
          <a:prstGeom prst="roundRect">
            <a:avLst>
              <a:gd name="adj" fmla="val 340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000"/>
              </a:lnSpc>
            </a:pP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리스트에서 중복된 요소를 제거한 새로운 리스트를 반환하는 함수 </a:t>
            </a:r>
            <a:r>
              <a:rPr lang="en-US" altLang="ko-K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remove_duplicates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를 작성하세요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-------------------------------------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테스트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remove_duplicates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([1, 2, 2, 3, 4, 4, 5]))  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[1, 2, 3, 4, 5]</a:t>
            </a:r>
          </a:p>
          <a:p>
            <a:pPr>
              <a:lnSpc>
                <a:spcPts val="3000"/>
              </a:lnSpc>
            </a:pPr>
            <a:endParaRPr lang="en-US" altLang="ko-KR" sz="2000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C7850BA-CD36-45CB-8DC0-A4040A638A48}"/>
              </a:ext>
            </a:extLst>
          </p:cNvPr>
          <p:cNvSpPr/>
          <p:nvPr/>
        </p:nvSpPr>
        <p:spPr>
          <a:xfrm>
            <a:off x="838200" y="4268928"/>
            <a:ext cx="11049000" cy="1962190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def </a:t>
            </a: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remove_duplicates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 return list(set(</a:t>
            </a: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테스트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remove_duplicates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([1, 2, 2, 3, 4, 4, 5]))  #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[1, 2, 3, 4, 5]</a:t>
            </a: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850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89B45-030C-F3A0-6AE9-F4CB5465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8E9F8-CCB4-3EBC-4AFD-EC7A2266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ffectLst/>
              </a:rPr>
              <a:t>Coding Problem</a:t>
            </a:r>
            <a:endParaRPr lang="ko-KR" altLang="en-US" sz="2800" dirty="0"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A6E90-E4D1-8763-2C1F-E6C5B31F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Problem:                                       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en-US" altLang="ko-KR" dirty="0"/>
              <a:t>Solution Examples: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36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D96FF5-5B5D-F84E-61B0-6310F798C701}"/>
              </a:ext>
            </a:extLst>
          </p:cNvPr>
          <p:cNvSpPr/>
          <p:nvPr/>
        </p:nvSpPr>
        <p:spPr>
          <a:xfrm>
            <a:off x="838200" y="1694365"/>
            <a:ext cx="11049000" cy="1868967"/>
          </a:xfrm>
          <a:prstGeom prst="roundRect">
            <a:avLst>
              <a:gd name="adj" fmla="val 340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000"/>
              </a:lnSpc>
            </a:pP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주어진 리스트를 뒤집은 결과를 반환하는 함수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en-US" altLang="ko-K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reverse_list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를 작성하세요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-------------------------------------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테스트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reverse_list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([1, 2, 3, 4, 5]))  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[5, 4, 3, 2, 1]</a:t>
            </a:r>
          </a:p>
          <a:p>
            <a:pPr>
              <a:lnSpc>
                <a:spcPts val="3000"/>
              </a:lnSpc>
            </a:pPr>
            <a:endParaRPr lang="en-US" altLang="ko-KR" sz="2000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C7850BA-CD36-45CB-8DC0-A4040A638A48}"/>
              </a:ext>
            </a:extLst>
          </p:cNvPr>
          <p:cNvSpPr/>
          <p:nvPr/>
        </p:nvSpPr>
        <p:spPr>
          <a:xfrm>
            <a:off x="838200" y="4268928"/>
            <a:ext cx="11049000" cy="2028178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def </a:t>
            </a: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reverse_list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   return </a:t>
            </a: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[::-1]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테스트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</a:t>
            </a: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reverse_list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([1, 2, 3, 4, 5]))  #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[5, 4, 3, 2, 1]</a:t>
            </a: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solidFill>
                <a:schemeClr val="tx1"/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22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89B45-030C-F3A0-6AE9-F4CB5465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8E9F8-CCB4-3EBC-4AFD-EC7A2266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ffectLst/>
              </a:rPr>
              <a:t>Coding Problem</a:t>
            </a:r>
            <a:endParaRPr lang="ko-KR" altLang="en-US" sz="2800" dirty="0"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A6E90-E4D1-8763-2C1F-E6C5B31F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Problem:                                       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4400" dirty="0"/>
          </a:p>
          <a:p>
            <a:pPr>
              <a:lnSpc>
                <a:spcPct val="150000"/>
              </a:lnSpc>
            </a:pPr>
            <a:r>
              <a:rPr lang="en-US" altLang="ko-KR" dirty="0"/>
              <a:t>Solution Examples: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36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D96FF5-5B5D-F84E-61B0-6310F798C701}"/>
              </a:ext>
            </a:extLst>
          </p:cNvPr>
          <p:cNvSpPr/>
          <p:nvPr/>
        </p:nvSpPr>
        <p:spPr>
          <a:xfrm>
            <a:off x="838200" y="1694365"/>
            <a:ext cx="11049000" cy="2131186"/>
          </a:xfrm>
          <a:prstGeom prst="roundRect">
            <a:avLst>
              <a:gd name="adj" fmla="val 340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000"/>
              </a:lnSpc>
            </a:pP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리스트에서 짝수인 요소들만 추출하여 저장한 새 리스트를 </a:t>
            </a:r>
            <a:r>
              <a:rPr lang="ko-KR" alt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생성하시오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(list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comprehension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사용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-------------------------------------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입력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[1, 2, 3, 4, 5, 6]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[2, 4, 6]</a:t>
            </a:r>
          </a:p>
          <a:p>
            <a:pPr>
              <a:lnSpc>
                <a:spcPts val="3000"/>
              </a:lnSpc>
            </a:pPr>
            <a:endParaRPr lang="en-US" altLang="ko-KR" sz="2000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C7850BA-CD36-45CB-8DC0-A4040A638A48}"/>
              </a:ext>
            </a:extLst>
          </p:cNvPr>
          <p:cNvSpPr/>
          <p:nvPr/>
        </p:nvSpPr>
        <p:spPr>
          <a:xfrm>
            <a:off x="838200" y="4388717"/>
            <a:ext cx="11049000" cy="1600027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[1, 2, 3, 4, 5, 6]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result = [x for x in </a:t>
            </a: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if x % 2 == 0]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print(result) # </a:t>
            </a:r>
            <a:r>
              <a:rPr lang="ko-KR" altLang="en-US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[2, 4, 6]</a:t>
            </a:r>
          </a:p>
        </p:txBody>
      </p:sp>
    </p:spTree>
    <p:extLst>
      <p:ext uri="{BB962C8B-B14F-4D97-AF65-F5344CB8AC3E}">
        <p14:creationId xmlns:p14="http://schemas.microsoft.com/office/powerpoint/2010/main" val="397923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89B45-030C-F3A0-6AE9-F4CB54652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8E9F8-CCB4-3EBC-4AFD-EC7A2266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effectLst/>
              </a:rPr>
              <a:t>Coding Problem</a:t>
            </a:r>
            <a:endParaRPr lang="ko-KR" altLang="en-US" sz="2800" dirty="0">
              <a:effectLst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A6E90-E4D1-8763-2C1F-E6C5B31F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722"/>
            <a:ext cx="11049000" cy="5787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Problem:                                       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sz="4000" dirty="0"/>
          </a:p>
          <a:p>
            <a:pPr>
              <a:lnSpc>
                <a:spcPct val="150000"/>
              </a:lnSpc>
            </a:pPr>
            <a:r>
              <a:rPr lang="en-US" altLang="ko-KR" dirty="0"/>
              <a:t>Solution Examples: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36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2D96FF5-5B5D-F84E-61B0-6310F798C701}"/>
              </a:ext>
            </a:extLst>
          </p:cNvPr>
          <p:cNvSpPr/>
          <p:nvPr/>
        </p:nvSpPr>
        <p:spPr>
          <a:xfrm>
            <a:off x="838200" y="1694365"/>
            <a:ext cx="11049000" cy="2131186"/>
          </a:xfrm>
          <a:prstGeom prst="roundRect">
            <a:avLst>
              <a:gd name="adj" fmla="val 340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ts val="3000"/>
              </a:lnSpc>
            </a:pP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리스트의 각 항목들에 대해 항목과 항목의 등장 회수를 </a:t>
            </a:r>
            <a:r>
              <a:rPr lang="ko-KR" alt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항목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,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회수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로 표현하고 이 </a:t>
            </a:r>
            <a:r>
              <a:rPr lang="ko-KR" alt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튜플들을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저장한 리스트를 </a:t>
            </a:r>
            <a:r>
              <a:rPr lang="ko-KR" altLang="en-US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생성하시오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. (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항목 순서는 상관 없음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-------------------------------------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입력 예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[1, 2, 2, 3, 4, 3, 2, 5]</a:t>
            </a:r>
          </a:p>
          <a:p>
            <a:pPr>
              <a:lnSpc>
                <a:spcPts val="3000"/>
              </a:lnSpc>
            </a:pP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# </a:t>
            </a:r>
            <a:r>
              <a:rPr lang="ko-KR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출력 예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: [(1, 1), (2, 3), (3, 2), (4, 1), (5, 1)]</a:t>
            </a:r>
          </a:p>
          <a:p>
            <a:pPr>
              <a:lnSpc>
                <a:spcPts val="3000"/>
              </a:lnSpc>
            </a:pPr>
            <a:endParaRPr lang="en-US" altLang="ko-KR" sz="2000" b="1" dirty="0">
              <a:solidFill>
                <a:schemeClr val="tx1">
                  <a:lumMod val="65000"/>
                  <a:lumOff val="3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C7850BA-CD36-45CB-8DC0-A4040A638A48}"/>
              </a:ext>
            </a:extLst>
          </p:cNvPr>
          <p:cNvSpPr/>
          <p:nvPr/>
        </p:nvSpPr>
        <p:spPr>
          <a:xfrm>
            <a:off x="838200" y="4268928"/>
            <a:ext cx="11049000" cy="2028178"/>
          </a:xfrm>
          <a:prstGeom prst="roundRect">
            <a:avLst>
              <a:gd name="adj" fmla="val 242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 = </a:t>
            </a:r>
            <a:r>
              <a:rPr lang="en-US" altLang="ko-K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[1, 2, 2, 3, 4, 3, 2, 5]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items = list(set(</a:t>
            </a: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result = [(item, </a:t>
            </a:r>
            <a:r>
              <a:rPr lang="en-US" altLang="ko-KR" sz="2000" b="1" dirty="0" err="1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lst.count</a:t>
            </a:r>
            <a:r>
              <a:rPr lang="en-US" altLang="ko-KR" sz="2000" b="1" dirty="0">
                <a:solidFill>
                  <a:schemeClr val="tx1"/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(item)) for item in items]</a:t>
            </a:r>
          </a:p>
        </p:txBody>
      </p:sp>
    </p:spTree>
    <p:extLst>
      <p:ext uri="{BB962C8B-B14F-4D97-AF65-F5344CB8AC3E}">
        <p14:creationId xmlns:p14="http://schemas.microsoft.com/office/powerpoint/2010/main" val="353498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2979</TotalTime>
  <Words>3883</Words>
  <Application>Microsoft Office PowerPoint</Application>
  <PresentationFormat>와이드스크린</PresentationFormat>
  <Paragraphs>520</Paragraphs>
  <Slides>47</Slides>
  <Notes>0</Notes>
  <HiddenSlides>2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3" baseType="lpstr">
      <vt:lpstr>나눔고딕</vt:lpstr>
      <vt:lpstr>나눔고딕코딩</vt:lpstr>
      <vt:lpstr>맑은 고딕</vt:lpstr>
      <vt:lpstr>Arial</vt:lpstr>
      <vt:lpstr>Wingdings</vt:lpstr>
      <vt:lpstr>Office 테마</vt:lpstr>
      <vt:lpstr>컬렉션 자료형 (list, tuple, set, dict)</vt:lpstr>
      <vt:lpstr>컬렉션 자료형들 (Collection Data Types)</vt:lpstr>
      <vt:lpstr>컬렉션 자료형 특징 미리 살펴보기</vt:lpstr>
      <vt:lpstr>list (리스트)</vt:lpstr>
      <vt:lpstr>list (리스트) (계속)</vt:lpstr>
      <vt:lpstr>tuple (튜플)</vt:lpstr>
      <vt:lpstr>tuple (튜플)   (계속)</vt:lpstr>
      <vt:lpstr>set (셋: 집합)</vt:lpstr>
      <vt:lpstr>set (셋: 집합) (계속)</vt:lpstr>
      <vt:lpstr>dict (딕셔너리)</vt:lpstr>
      <vt:lpstr>dict (딕셔너리) (계속)</vt:lpstr>
      <vt:lpstr>컬렉션 자료형 (list, tuple, set, dict)</vt:lpstr>
      <vt:lpstr>List</vt:lpstr>
      <vt:lpstr>List: 항목 접근하기</vt:lpstr>
      <vt:lpstr>List: 슬라이싱(slicing)</vt:lpstr>
      <vt:lpstr>List: 항목 변경</vt:lpstr>
      <vt:lpstr>List: 항목 추가</vt:lpstr>
      <vt:lpstr>List: 항목 삭제</vt:lpstr>
      <vt:lpstr>List: 항목 삭제  (계속)</vt:lpstr>
      <vt:lpstr>List: 항목 삭제: del  (계속)</vt:lpstr>
      <vt:lpstr>List: 반복 처리하기 (loop lists)</vt:lpstr>
      <vt:lpstr>List: List Comprehension</vt:lpstr>
      <vt:lpstr>List: List Comprehension (계속)</vt:lpstr>
      <vt:lpstr>List: List Comprehension  (계속)</vt:lpstr>
      <vt:lpstr>List Comprehension</vt:lpstr>
      <vt:lpstr>List.sort( ): 정렬</vt:lpstr>
      <vt:lpstr>List.sort( ): 정렬  (계속)</vt:lpstr>
      <vt:lpstr>List.sort( ): 정렬  (계속)</vt:lpstr>
      <vt:lpstr>List.reverse( ): 역순으로 정렬  (계속)</vt:lpstr>
      <vt:lpstr>List: 복사하기 (copy)</vt:lpstr>
      <vt:lpstr>List: 복사하기 (copy)  (계속)</vt:lpstr>
      <vt:lpstr>List: 연결, 확장하기</vt:lpstr>
      <vt:lpstr>PowerPoint 프레젠테이션</vt:lpstr>
      <vt:lpstr>Quiz</vt:lpstr>
      <vt:lpstr>List: Quiz</vt:lpstr>
      <vt:lpstr>List: Quiz</vt:lpstr>
      <vt:lpstr>List: Quiz</vt:lpstr>
      <vt:lpstr>List: Quiz</vt:lpstr>
      <vt:lpstr>List: Quiz</vt:lpstr>
      <vt:lpstr>List: Quiz</vt:lpstr>
      <vt:lpstr>List: Quiz</vt:lpstr>
      <vt:lpstr>Coding Problem</vt:lpstr>
      <vt:lpstr>Coding Problem</vt:lpstr>
      <vt:lpstr>Coding Problem</vt:lpstr>
      <vt:lpstr>Coding Problem</vt:lpstr>
      <vt:lpstr>Coding Problem</vt:lpstr>
      <vt:lpstr>Coding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100</cp:revision>
  <dcterms:created xsi:type="dcterms:W3CDTF">2024-10-14T09:30:03Z</dcterms:created>
  <dcterms:modified xsi:type="dcterms:W3CDTF">2025-04-02T02:53:49Z</dcterms:modified>
</cp:coreProperties>
</file>