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54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D86DC-93BB-4339-9BDD-42FC321FC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A344E-008C-4E53-ADB3-83CFFD56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31910-BFDD-421E-8BBD-569585D9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DB3BA-9485-4314-8A26-BCCE90C9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E58D3-7355-458F-900C-3E383E1D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2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F8E39-46E8-464B-A674-958C1F77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D387A-43CD-4E81-95A5-3B1845324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428EB-B737-43A1-AAC6-1423B571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8BB03-87F3-4D84-8367-B1AB5FD5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CB920-FA9B-49BF-82D4-B5370153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05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C8EFE-236B-4105-AF77-8A416793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3D7F8E-4426-4C84-B117-AFE62CE89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46D55-5500-41E9-91B3-2340A17B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944E1-9315-4BF1-8187-5B9699E4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2DBD-DF5A-4E63-8E5F-97E9D74A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27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F5CC4-F059-445E-B415-36FC3A2B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77F23-694E-4FA0-9641-627C72EEE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50A4FE-FB44-4946-96E0-BC0231DB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6EF637-4546-476C-B193-8842C0C1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DF0C97-C3A2-42EE-94FB-54F17173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9BDA3-B1A4-4AD5-9249-E034EAF5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99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8101F-D907-46DA-946A-D2B2149D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41DC6E-0683-4021-8AE7-A4EBDD2EA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9159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053797-63D6-4AE6-810B-883510033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070"/>
            <a:ext cx="5157787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7946ED-968C-4A57-A30C-26D29F721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915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554736-9C59-46AF-87F0-30A064780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070"/>
            <a:ext cx="5183188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0DAE7-AA3F-4DE1-A664-9522F81C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6412A0-9581-48C7-89F3-AF1D229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089263-4AD4-491C-9F42-CB58E4A9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91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E209C-722B-473A-90B3-E348835E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678FCA-D2BE-4E63-A32C-D60C9A6E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2EA221-6DCC-4BC5-A81E-768CE220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5FC41-8E62-4400-B879-89456859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3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C23E74-A946-4BD4-B1A6-BB8D4DF1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233B18-BC0A-4D59-8258-3A190858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AB66A-C2FA-4979-B9BD-161FB2B8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1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A6DCE-86DA-41B8-9502-667C7BEE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8BD5E-04CE-464C-A33B-916BDD0B8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7CBA3E-5FAF-4337-B262-D80E94857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BAC1B-4776-434F-9597-E182BA47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A89E86-6054-4D5D-8E54-CCD0162E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43B474-E94D-4EF8-AB33-514C8510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46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B8770-4BAB-4F44-BF3D-ECE22824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319EE5-D893-42EF-8C3C-68DBD2EA0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A099B-7BF3-4B62-91CF-45F21E42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615233-4D6F-477C-B804-5B7A1793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F83FD5-9AAD-4F5D-A25D-72DB18CE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B0A6C3-635F-400E-A2AB-2CCD4D33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0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7436F-CDBA-4D84-A1FB-3F536A2F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1F495E-CDD2-47AB-8793-02B183FE4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870600-0649-4D1A-9AD7-66BD9EDC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4E463-F895-48B8-8D4A-FF33558E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40781-D1B4-42DC-ACC9-526E18B2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5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C5086C-930C-4571-BED0-F3A0C1AD3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AF0234-FB9D-4EFB-BB50-53012AA1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1838B-1DBE-40E7-B941-36424308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755EC-95FA-4F91-BC05-B0BF2919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0AB81-8518-46E7-BDCF-E5B60F78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84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29D8E7-54E9-47C0-BB1D-0186D712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2BDB8A-8843-4388-8FB5-09C6F45EF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4517"/>
            <a:ext cx="10515600" cy="4742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EA0F6-61FB-4AE9-B6D6-FD2FF09B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28F03-DF8D-4633-976C-282120709532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5FD13-2D9B-4252-810C-336D80DAB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4F594-EDEF-4565-9BDF-4221F067A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C6F08-00A3-4C97-8475-2E1C74E726A9}"/>
              </a:ext>
            </a:extLst>
          </p:cNvPr>
          <p:cNvSpPr txBox="1"/>
          <p:nvPr userDrawn="1"/>
        </p:nvSpPr>
        <p:spPr>
          <a:xfrm>
            <a:off x="160615" y="102616"/>
            <a:ext cx="38779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RIS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지역혁신 부산공유대학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(BITS) 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스마트물류 </a:t>
            </a:r>
            <a:r>
              <a:rPr lang="ko-KR" altLang="en-US" sz="1050" b="1" dirty="0" err="1">
                <a:solidFill>
                  <a:schemeClr val="bg1">
                    <a:lumMod val="65000"/>
                  </a:schemeClr>
                </a:solidFill>
                <a:latin typeface="+mn-lt"/>
              </a:rPr>
              <a:t>나노디그리과정</a:t>
            </a:r>
            <a:endParaRPr lang="ko-KR" altLang="en-US" sz="105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06751-CC6F-482E-9269-4B731E8E10AB}"/>
              </a:ext>
            </a:extLst>
          </p:cNvPr>
          <p:cNvSpPr txBox="1"/>
          <p:nvPr userDrawn="1"/>
        </p:nvSpPr>
        <p:spPr>
          <a:xfrm>
            <a:off x="7933508" y="102616"/>
            <a:ext cx="42584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이 개발과제는 지자체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-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대학 협력기반 지역혁신 사업비로 개발되었음</a:t>
            </a:r>
          </a:p>
        </p:txBody>
      </p:sp>
    </p:spTree>
    <p:extLst>
      <p:ext uri="{BB962C8B-B14F-4D97-AF65-F5344CB8AC3E}">
        <p14:creationId xmlns:p14="http://schemas.microsoft.com/office/powerpoint/2010/main" val="46165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u="none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com/" TargetMode="External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://www.github.com/" TargetMode="External"/><Relationship Id="rId4" Type="http://schemas.openxmlformats.org/officeDocument/2006/relationships/hyperlink" Target="http://www.pypi.org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F619-2E32-4824-95EF-B0D9D5300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소개 및 설치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7F749-8E0D-44E5-8734-326DF7E0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9144000" cy="1143000"/>
          </a:xfrm>
        </p:spPr>
        <p:txBody>
          <a:bodyPr/>
          <a:lstStyle/>
          <a:p>
            <a:r>
              <a:rPr lang="ko-KR" altLang="en-US" dirty="0" err="1"/>
              <a:t>컴퓨터소프트웨어과</a:t>
            </a:r>
            <a:endParaRPr lang="en-US" altLang="ko-KR" dirty="0"/>
          </a:p>
          <a:p>
            <a:r>
              <a:rPr lang="ko-KR" altLang="en-US" dirty="0"/>
              <a:t>동의과학대학교</a:t>
            </a:r>
          </a:p>
        </p:txBody>
      </p:sp>
    </p:spTree>
    <p:extLst>
      <p:ext uri="{BB962C8B-B14F-4D97-AF65-F5344CB8AC3E}">
        <p14:creationId xmlns:p14="http://schemas.microsoft.com/office/powerpoint/2010/main" val="333619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역사와 탄생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탄생 배경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1980</a:t>
            </a:r>
            <a:r>
              <a:rPr lang="ko-KR" altLang="en-US" dirty="0"/>
              <a:t>년대 말</a:t>
            </a:r>
            <a:r>
              <a:rPr lang="en-US" altLang="ko-KR" dirty="0"/>
              <a:t>, </a:t>
            </a:r>
            <a:r>
              <a:rPr lang="ko-KR" altLang="en-US" dirty="0"/>
              <a:t>네덜란드의 프로그래머 </a:t>
            </a:r>
            <a:r>
              <a:rPr lang="en-US" altLang="ko-KR" b="1" dirty="0"/>
              <a:t>Guido van Rossum</a:t>
            </a:r>
            <a:r>
              <a:rPr lang="ko-KR" altLang="en-US" dirty="0"/>
              <a:t>이 개발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ABC </a:t>
            </a:r>
            <a:r>
              <a:rPr lang="ko-KR" altLang="en-US" dirty="0"/>
              <a:t>언어의 후계자로서 교육용이면서도 실용적인 언어를 만들기 위해 시작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탄생 시기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1991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 err="1"/>
              <a:t>파이썬의</a:t>
            </a:r>
            <a:r>
              <a:rPr lang="ko-KR" altLang="en-US" dirty="0"/>
              <a:t> 첫 번째 버전</a:t>
            </a:r>
            <a:r>
              <a:rPr lang="en-US" altLang="ko-KR" dirty="0"/>
              <a:t>(Python 0.9.0)</a:t>
            </a:r>
            <a:r>
              <a:rPr lang="ko-KR" altLang="en-US" dirty="0"/>
              <a:t>이 공개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이후 꾸준히 발전하면서 세계적으로 가장 인기 있는 프로그래밍 언어 중 하나로 자리 잡음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72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철학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ko-KR" altLang="en-US" b="1" dirty="0"/>
              <a:t>문서 </a:t>
            </a:r>
            <a:r>
              <a:rPr lang="en-US" altLang="ko-KR" b="1" dirty="0"/>
              <a:t>The Zen of Python</a:t>
            </a:r>
            <a:r>
              <a:rPr lang="ko-KR" altLang="en-US" dirty="0"/>
              <a:t>에서 다양한 핵심 철학을 소개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명료함이 </a:t>
            </a:r>
            <a:r>
              <a:rPr lang="ko-KR" altLang="en-US" dirty="0" err="1"/>
              <a:t>복잡함보다</a:t>
            </a:r>
            <a:r>
              <a:rPr lang="ko-KR" altLang="en-US" dirty="0"/>
              <a:t> 낫다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파이썬</a:t>
            </a:r>
            <a:r>
              <a:rPr lang="ko-KR" altLang="en-US" dirty="0"/>
              <a:t> 코드는 읽기 쉽고 직관적인 것을 목표로 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단순함이 </a:t>
            </a:r>
            <a:r>
              <a:rPr lang="ko-KR" altLang="en-US" dirty="0" err="1"/>
              <a:t>복잡함보다</a:t>
            </a:r>
            <a:r>
              <a:rPr lang="ko-KR" altLang="en-US" dirty="0"/>
              <a:t> 낫다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가능한 간단하게 설계된 구조와 문법을 선호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가독성 중시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코드를 한눈에 쉽게 파악할 수 있도록 하는 것이 중요한 가치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668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주요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읽기 쉬운 문법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명확하고 간결한 문법을 가지고 있어 초보자도 빠르게 익힐 수 있음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협업과 유지보수에 매우 유리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인터프리터 언어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파이썬은</a:t>
            </a:r>
            <a:r>
              <a:rPr lang="ko-KR" altLang="en-US" dirty="0"/>
              <a:t> 컴파일하지 않고 소스 코드를 한 </a:t>
            </a:r>
            <a:r>
              <a:rPr lang="ko-KR" altLang="en-US" dirty="0" err="1"/>
              <a:t>줄씩</a:t>
            </a:r>
            <a:r>
              <a:rPr lang="ko-KR" altLang="en-US" dirty="0"/>
              <a:t> 읽어 즉시 실행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덕분에 코드 실행이 빠르고 개발 과정에서의 디버깅이 용이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790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주요 특징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광범위한 표준 라이브러리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파이썬은</a:t>
            </a:r>
            <a:r>
              <a:rPr lang="ko-KR" altLang="en-US" dirty="0"/>
              <a:t> 기본적으로 내장된 라이브러리들이 매우 풍부하여 다양한 기능을 별도의 설치 없이 사용 가능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파일 처리</a:t>
            </a:r>
            <a:r>
              <a:rPr lang="en-US" altLang="ko-KR" dirty="0"/>
              <a:t>, </a:t>
            </a:r>
            <a:r>
              <a:rPr lang="ko-KR" altLang="en-US" dirty="0"/>
              <a:t>네트워크 통신</a:t>
            </a:r>
            <a:r>
              <a:rPr lang="en-US" altLang="ko-KR" dirty="0"/>
              <a:t>, </a:t>
            </a:r>
            <a:r>
              <a:rPr lang="ko-KR" altLang="en-US" dirty="0"/>
              <a:t>데이터베이스 연결 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크로스 플랫폼 지원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파이썬은</a:t>
            </a:r>
            <a:r>
              <a:rPr lang="ko-KR" altLang="en-US" dirty="0"/>
              <a:t> </a:t>
            </a:r>
            <a:r>
              <a:rPr lang="en-US" altLang="ko-KR" dirty="0"/>
              <a:t>Windows, macOS, Linux </a:t>
            </a:r>
            <a:r>
              <a:rPr lang="ko-KR" altLang="en-US" dirty="0"/>
              <a:t>등 여러 운영체제에서 동일하게 동작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2040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설치 및 환경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파이썬</a:t>
            </a:r>
            <a:r>
              <a:rPr lang="ko-KR" altLang="en-US" dirty="0"/>
              <a:t> 공식 웹사이트</a:t>
            </a:r>
            <a:r>
              <a:rPr lang="en-US" altLang="ko-KR" dirty="0"/>
              <a:t>: https://www.python.org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7D5143-EB31-4BF7-B5F0-38DCC5C86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91" y="2158738"/>
            <a:ext cx="8059478" cy="459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91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설치 및 환경 설정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207326-929C-4612-9570-F1457C7E7AF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087614"/>
            <a:ext cx="12192000" cy="6500858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881"/>
            <a:ext cx="10515600" cy="47424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파이썬</a:t>
            </a:r>
            <a:r>
              <a:rPr lang="ko-KR" altLang="en-US" dirty="0"/>
              <a:t> 다운로드 및 설치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Windows</a:t>
            </a:r>
            <a:r>
              <a:rPr lang="en-US" altLang="ko-KR" dirty="0"/>
              <a:t>: .exe 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macOS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.pkg </a:t>
            </a:r>
            <a:r>
              <a:rPr lang="ko-KR" altLang="en-US" dirty="0"/>
              <a:t> 파일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Linux</a:t>
            </a:r>
            <a:r>
              <a:rPr lang="en-US" altLang="ko-KR" dirty="0"/>
              <a:t>: 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패키지</a:t>
            </a:r>
            <a:r>
              <a:rPr lang="ko-KR" altLang="en-US" dirty="0"/>
              <a:t> 관리자 또는 소스코드로 설치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B383F96-7471-4C99-A83F-56A7F32D9933}"/>
              </a:ext>
            </a:extLst>
          </p:cNvPr>
          <p:cNvSpPr/>
          <p:nvPr/>
        </p:nvSpPr>
        <p:spPr>
          <a:xfrm>
            <a:off x="2777066" y="2614231"/>
            <a:ext cx="756355" cy="46393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.pkg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184395-3F10-432D-80A2-CC8DBA3F461D}"/>
              </a:ext>
            </a:extLst>
          </p:cNvPr>
          <p:cNvSpPr/>
          <p:nvPr/>
        </p:nvSpPr>
        <p:spPr>
          <a:xfrm>
            <a:off x="3087510" y="1986560"/>
            <a:ext cx="756355" cy="46393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.exe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350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설치 및 환경 설정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20691B01-2E63-4DC3-A791-665209B865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55" r="25032"/>
          <a:stretch/>
        </p:blipFill>
        <p:spPr bwMode="auto">
          <a:xfrm>
            <a:off x="6506633" y="5660291"/>
            <a:ext cx="5393267" cy="10377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881"/>
            <a:ext cx="10515600" cy="47424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환경 변수 설정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Windows</a:t>
            </a:r>
            <a:r>
              <a:rPr lang="en-US" altLang="ko-KR" dirty="0"/>
              <a:t>: </a:t>
            </a:r>
            <a:r>
              <a:rPr lang="ko-KR" altLang="en-US" dirty="0"/>
              <a:t>시스템 속성 → 고급 시스템 설정 → 환경 변수에서 </a:t>
            </a:r>
            <a:r>
              <a:rPr lang="en-US" altLang="ko-KR" dirty="0"/>
              <a:t>PATH</a:t>
            </a:r>
            <a:r>
              <a:rPr lang="ko-KR" altLang="en-US" dirty="0"/>
              <a:t>에 </a:t>
            </a:r>
            <a:r>
              <a:rPr lang="ko-KR" altLang="en-US" dirty="0" err="1"/>
              <a:t>파이썬</a:t>
            </a:r>
            <a:r>
              <a:rPr lang="ko-KR" altLang="en-US" dirty="0"/>
              <a:t> 설치 경로 추가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macOS/Linux</a:t>
            </a:r>
            <a:r>
              <a:rPr lang="en-US" altLang="ko-KR" dirty="0"/>
              <a:t>:</a:t>
            </a:r>
            <a:r>
              <a:rPr lang="ko-KR" altLang="en-US" dirty="0"/>
              <a:t>             또는                   에 </a:t>
            </a:r>
            <a:r>
              <a:rPr lang="ko-KR" altLang="en-US" dirty="0" err="1"/>
              <a:t>파이썬</a:t>
            </a:r>
            <a:r>
              <a:rPr lang="ko-KR" altLang="en-US" dirty="0"/>
              <a:t> 경로를 추가하여 터미널에서 </a:t>
            </a:r>
            <a:r>
              <a:rPr lang="ko-KR" altLang="en-US" dirty="0" err="1"/>
              <a:t>파이썬</a:t>
            </a:r>
            <a:r>
              <a:rPr lang="ko-KR" altLang="en-US" dirty="0"/>
              <a:t> 명령어를 실행할 수 있도록 설정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명령어</a:t>
            </a:r>
            <a:r>
              <a:rPr lang="en-US" altLang="ko-KR" dirty="0"/>
              <a:t>: 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설치 과정</a:t>
            </a:r>
            <a:r>
              <a:rPr lang="en-US" altLang="ko-KR" dirty="0"/>
              <a:t>: </a:t>
            </a:r>
            <a:r>
              <a:rPr lang="ko-KR" altLang="en-US" dirty="0"/>
              <a:t>설치 파일을 실행하고 설치 옵션에서 </a:t>
            </a:r>
            <a:r>
              <a:rPr lang="en-US" altLang="ko-KR" dirty="0"/>
              <a:t>"Add Python to PATH"</a:t>
            </a:r>
            <a:r>
              <a:rPr lang="ko-KR" altLang="en-US" dirty="0"/>
              <a:t>를 체크하여 환경 변수에 </a:t>
            </a:r>
            <a:r>
              <a:rPr lang="ko-KR" altLang="en-US" dirty="0" err="1"/>
              <a:t>파이썬</a:t>
            </a:r>
            <a:r>
              <a:rPr lang="ko-KR" altLang="en-US" dirty="0"/>
              <a:t> 경로를 자동으로 추가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A564979-D3E7-4FF6-963E-99F92725EA4E}"/>
              </a:ext>
            </a:extLst>
          </p:cNvPr>
          <p:cNvSpPr/>
          <p:nvPr/>
        </p:nvSpPr>
        <p:spPr>
          <a:xfrm>
            <a:off x="3719687" y="3197034"/>
            <a:ext cx="1157113" cy="46393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bashrc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80B0B8-9D6C-40E8-8609-37FDAD00AAE3}"/>
              </a:ext>
            </a:extLst>
          </p:cNvPr>
          <p:cNvSpPr/>
          <p:nvPr/>
        </p:nvSpPr>
        <p:spPr>
          <a:xfrm>
            <a:off x="5700885" y="3197034"/>
            <a:ext cx="1899356" cy="46393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bash_profile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3DB6BFB-5BB5-463F-BBFB-294EC2EFEFD0}"/>
              </a:ext>
            </a:extLst>
          </p:cNvPr>
          <p:cNvSpPr/>
          <p:nvPr/>
        </p:nvSpPr>
        <p:spPr>
          <a:xfrm>
            <a:off x="2977444" y="4229968"/>
            <a:ext cx="7058378" cy="46393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$export PATH=“/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usr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/local/bin/python3:$PATH”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79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C724BFA-8EBB-4D7B-962E-733E535CE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170" y="4137700"/>
            <a:ext cx="3975630" cy="28106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설치 및 환경 설정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881"/>
            <a:ext cx="10515600" cy="47424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IDLE </a:t>
            </a:r>
            <a:r>
              <a:rPr lang="ko-KR" altLang="en-US" dirty="0"/>
              <a:t>사용법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IDLE (Integrated Development and Learning Environment)</a:t>
            </a:r>
            <a:r>
              <a:rPr lang="en-US" altLang="ko-KR" dirty="0"/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u="sng" dirty="0"/>
              <a:t>한 줄 씩 입력하고 바로 실행</a:t>
            </a:r>
            <a:r>
              <a:rPr lang="ko-KR" altLang="en-US" dirty="0"/>
              <a:t> 및 결과를 확인하는 환경</a:t>
            </a:r>
            <a:r>
              <a:rPr lang="en-US" altLang="ko-KR" dirty="0"/>
              <a:t>, </a:t>
            </a:r>
            <a:r>
              <a:rPr lang="ko-KR" altLang="en-US" dirty="0"/>
              <a:t>간단한 코딩 및 테스트용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여러 줄 이상의 코딩은 파일을 작성하여 실행하는 것이 효율적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IDLE </a:t>
            </a:r>
            <a:r>
              <a:rPr lang="ko-KR" altLang="en-US" b="1" dirty="0"/>
              <a:t>실행</a:t>
            </a:r>
            <a:r>
              <a:rPr lang="en-US" altLang="ko-KR" dirty="0"/>
              <a:t>: </a:t>
            </a:r>
            <a:r>
              <a:rPr lang="ko-KR" altLang="en-US" dirty="0" err="1"/>
              <a:t>파이썬</a:t>
            </a:r>
            <a:r>
              <a:rPr lang="ko-KR" altLang="en-US" dirty="0"/>
              <a:t> 설치 후</a:t>
            </a:r>
            <a:r>
              <a:rPr lang="en-US" altLang="ko-KR" dirty="0"/>
              <a:t>, </a:t>
            </a:r>
            <a:r>
              <a:rPr lang="ko-KR" altLang="en-US" dirty="0"/>
              <a:t>프로그램 목록에서 </a:t>
            </a:r>
            <a:r>
              <a:rPr lang="en-US" altLang="ko-KR" dirty="0"/>
              <a:t>IDLE</a:t>
            </a:r>
            <a:r>
              <a:rPr lang="ko-KR" altLang="en-US" dirty="0"/>
              <a:t>을 찾아 실행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0369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25682-349C-4D8C-AE25-887D7CD0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&amp; Answer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9A3F7-2882-4A1D-AB2D-2C7AF6E1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창시자와</a:t>
            </a:r>
            <a:r>
              <a:rPr lang="en-US" altLang="ko-KR" dirty="0"/>
              <a:t> </a:t>
            </a:r>
            <a:r>
              <a:rPr lang="ko-KR" altLang="en-US" dirty="0"/>
              <a:t>탄생 배경은</a:t>
            </a:r>
            <a:r>
              <a:rPr lang="en-US" altLang="ko-KR" dirty="0"/>
              <a:t>?</a:t>
            </a:r>
            <a:br>
              <a:rPr lang="en-US" altLang="ko-KR" dirty="0"/>
            </a:br>
            <a:endParaRPr lang="en-US" altLang="ko-KR" dirty="0"/>
          </a:p>
          <a:p>
            <a:pPr lvl="1"/>
            <a:r>
              <a:rPr lang="en-US" altLang="ko-KR" dirty="0"/>
              <a:t>a) Linus Torvalds, </a:t>
            </a:r>
            <a:r>
              <a:rPr lang="ko-KR" altLang="en-US" dirty="0"/>
              <a:t>운영체제 개발을 위해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b) Guido van Rossum, </a:t>
            </a:r>
            <a:r>
              <a:rPr lang="ko-KR" altLang="en-US" dirty="0"/>
              <a:t>교육용 프로그래밍 언어 개발을 위해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c) James Gosling, </a:t>
            </a:r>
            <a:r>
              <a:rPr lang="ko-KR" altLang="en-US" dirty="0"/>
              <a:t>자바 개발 과정에서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d) Dennis Ritchie, C </a:t>
            </a:r>
            <a:r>
              <a:rPr lang="ko-KR" altLang="en-US" dirty="0"/>
              <a:t>언어의 대안으로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06A235-BF4E-4490-A290-A74E0C44E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713" y="4121149"/>
            <a:ext cx="4476750" cy="23717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6325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25682-349C-4D8C-AE25-887D7CD0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&amp; Answer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9A3F7-2882-4A1D-AB2D-2C7AF6E1F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199"/>
            <a:ext cx="10515600" cy="4742446"/>
          </a:xfrm>
        </p:spPr>
        <p:txBody>
          <a:bodyPr/>
          <a:lstStyle/>
          <a:p>
            <a:r>
              <a:rPr lang="ko-KR" altLang="en-US" dirty="0"/>
              <a:t>다음 중 </a:t>
            </a:r>
            <a:r>
              <a:rPr lang="ko-KR" altLang="en-US" dirty="0" err="1"/>
              <a:t>파이썬의</a:t>
            </a:r>
            <a:r>
              <a:rPr lang="ko-KR" altLang="en-US" dirty="0"/>
              <a:t> 주요 특징이 아닌 것은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a) </a:t>
            </a:r>
            <a:r>
              <a:rPr lang="ko-KR" altLang="en-US" dirty="0"/>
              <a:t>읽기 쉬운 문법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b) </a:t>
            </a:r>
            <a:r>
              <a:rPr lang="ko-KR" altLang="en-US" dirty="0"/>
              <a:t>컴파일러 기반 언어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c) </a:t>
            </a:r>
            <a:r>
              <a:rPr lang="ko-KR" altLang="en-US" dirty="0"/>
              <a:t>광범위한 라이브러리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d) </a:t>
            </a:r>
            <a:r>
              <a:rPr lang="ko-KR" altLang="en-US" dirty="0"/>
              <a:t>인터프리터 언어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8B6897-0489-422C-B4C2-5F637644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641" y="2189937"/>
            <a:ext cx="4438650" cy="2009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9BA7613-D13C-4E35-B27E-49F477B4A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641" y="4356683"/>
            <a:ext cx="4476750" cy="2133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2768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25682-349C-4D8C-AE25-887D7CD0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&amp; Answer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9A3F7-2882-4A1D-AB2D-2C7AF6E1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파이썬을</a:t>
            </a:r>
            <a:r>
              <a:rPr lang="ko-KR" altLang="en-US" dirty="0"/>
              <a:t> 설치하기 위한 공식 웹사이트는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pt-BR" altLang="ko-KR" dirty="0"/>
              <a:t>a) </a:t>
            </a:r>
            <a:r>
              <a:rPr lang="pt-BR" altLang="ko-KR" dirty="0">
                <a:hlinkClick r:id="rId2"/>
              </a:rPr>
              <a:t>www.python.org</a:t>
            </a:r>
            <a:endParaRPr lang="pt-BR" altLang="ko-KR" dirty="0"/>
          </a:p>
          <a:p>
            <a:pPr lvl="1">
              <a:lnSpc>
                <a:spcPct val="150000"/>
              </a:lnSpc>
            </a:pPr>
            <a:r>
              <a:rPr lang="pt-BR" altLang="ko-KR" dirty="0"/>
              <a:t>b) </a:t>
            </a:r>
            <a:r>
              <a:rPr lang="pt-BR" altLang="ko-KR" dirty="0">
                <a:hlinkClick r:id="rId3"/>
              </a:rPr>
              <a:t>www.python.com</a:t>
            </a:r>
            <a:endParaRPr lang="pt-BR" altLang="ko-KR" dirty="0"/>
          </a:p>
          <a:p>
            <a:pPr lvl="1">
              <a:lnSpc>
                <a:spcPct val="150000"/>
              </a:lnSpc>
            </a:pPr>
            <a:r>
              <a:rPr lang="pt-BR" altLang="ko-KR" dirty="0"/>
              <a:t>c) </a:t>
            </a:r>
            <a:r>
              <a:rPr lang="pt-BR" altLang="ko-KR" dirty="0">
                <a:hlinkClick r:id="rId4"/>
              </a:rPr>
              <a:t>www.pypi.org</a:t>
            </a:r>
            <a:endParaRPr lang="pt-BR" altLang="ko-KR" dirty="0"/>
          </a:p>
          <a:p>
            <a:pPr lvl="1">
              <a:lnSpc>
                <a:spcPct val="150000"/>
              </a:lnSpc>
            </a:pPr>
            <a:r>
              <a:rPr lang="pt-BR" altLang="ko-KR" dirty="0"/>
              <a:t>d) </a:t>
            </a:r>
            <a:r>
              <a:rPr lang="pt-BR" altLang="ko-KR" dirty="0">
                <a:hlinkClick r:id="rId5"/>
              </a:rPr>
              <a:t>www.github.com</a:t>
            </a:r>
            <a:endParaRPr lang="pt-BR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7AB081-7A04-40CB-AD95-7E9FBE4F1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372" y="2572252"/>
            <a:ext cx="5617427" cy="35659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0878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25682-349C-4D8C-AE25-887D7CD0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&amp; Answer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9A3F7-2882-4A1D-AB2D-2C7AF6E1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중 </a:t>
            </a:r>
            <a:r>
              <a:rPr lang="ko-KR" altLang="en-US" dirty="0" err="1"/>
              <a:t>파이썬에서</a:t>
            </a:r>
            <a:r>
              <a:rPr lang="ko-KR" altLang="en-US" dirty="0"/>
              <a:t> 변수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x</a:t>
            </a:r>
            <a:r>
              <a:rPr lang="ko-KR" altLang="en-US" dirty="0"/>
              <a:t>를 선언하는 올바른 방법은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sv-SE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a) int x = 5</a:t>
            </a:r>
          </a:p>
          <a:p>
            <a:pPr lvl="1">
              <a:lnSpc>
                <a:spcPct val="150000"/>
              </a:lnSpc>
            </a:pPr>
            <a:r>
              <a:rPr lang="sv-SE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b) var x = 5</a:t>
            </a:r>
          </a:p>
          <a:p>
            <a:pPr lvl="1">
              <a:lnSpc>
                <a:spcPct val="150000"/>
              </a:lnSpc>
            </a:pPr>
            <a:r>
              <a:rPr lang="sv-SE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c) x = 5</a:t>
            </a:r>
          </a:p>
          <a:p>
            <a:pPr lvl="1">
              <a:lnSpc>
                <a:spcPct val="150000"/>
              </a:lnSpc>
            </a:pPr>
            <a:r>
              <a:rPr lang="sv-SE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d) declare x = 5</a:t>
            </a:r>
            <a:endParaRPr lang="pt-BR" altLang="ko-KR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360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F619-2E32-4824-95EF-B0D9D5300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Syntax, Comments, Variables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241420BA-2257-43F3-BC9F-349FC88FB6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49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문장</a:t>
            </a:r>
            <a:r>
              <a:rPr lang="en-US" altLang="ko-KR" dirty="0"/>
              <a:t>(Syntax)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517"/>
            <a:ext cx="10515600" cy="5345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Python IDLE CLI</a:t>
            </a:r>
            <a:r>
              <a:rPr lang="ko-KR" altLang="en-US" dirty="0"/>
              <a:t>에서 한 </a:t>
            </a:r>
            <a:r>
              <a:rPr lang="ko-KR" altLang="en-US" dirty="0" err="1"/>
              <a:t>문장씩</a:t>
            </a:r>
            <a:r>
              <a:rPr lang="ko-KR" altLang="en-US" dirty="0"/>
              <a:t> 바로 실행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Python</a:t>
            </a:r>
            <a:r>
              <a:rPr lang="ko-KR" altLang="en-US" dirty="0"/>
              <a:t> 코드를 확장자        파일에 저장 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CLI</a:t>
            </a:r>
            <a:r>
              <a:rPr lang="ko-KR" altLang="en-US" dirty="0"/>
              <a:t>로 실행 가능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Windows:</a:t>
            </a:r>
            <a:r>
              <a:rPr lang="ko-KR" altLang="en-US" dirty="0"/>
              <a:t> 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Linux:</a:t>
            </a:r>
          </a:p>
          <a:p>
            <a:pPr lvl="1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3E9449-F16F-4537-9354-598F90D1BB80}"/>
              </a:ext>
            </a:extLst>
          </p:cNvPr>
          <p:cNvSpPr/>
          <p:nvPr/>
        </p:nvSpPr>
        <p:spPr>
          <a:xfrm>
            <a:off x="1326443" y="2159971"/>
            <a:ext cx="9539113" cy="110176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&gt;&gt;&gt; print(“Hello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Python”)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Hello, Python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8C5FC7F-EC19-46FC-86FD-55714F41F359}"/>
              </a:ext>
            </a:extLst>
          </p:cNvPr>
          <p:cNvSpPr/>
          <p:nvPr/>
        </p:nvSpPr>
        <p:spPr>
          <a:xfrm>
            <a:off x="4845960" y="3573774"/>
            <a:ext cx="740801" cy="46393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py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76BE19-1F8D-4D12-910D-DFFFC382DD15}"/>
              </a:ext>
            </a:extLst>
          </p:cNvPr>
          <p:cNvSpPr/>
          <p:nvPr/>
        </p:nvSpPr>
        <p:spPr>
          <a:xfrm>
            <a:off x="1627522" y="4615520"/>
            <a:ext cx="9539113" cy="72591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C:\Users\user\python myfile.py</a:t>
            </a:r>
          </a:p>
          <a:p>
            <a:pPr>
              <a:lnSpc>
                <a:spcPct val="150000"/>
              </a:lnSpc>
            </a:pP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531FB9E-C7FF-446A-BB90-FF1CD6532EFC}"/>
              </a:ext>
            </a:extLst>
          </p:cNvPr>
          <p:cNvSpPr/>
          <p:nvPr/>
        </p:nvSpPr>
        <p:spPr>
          <a:xfrm>
            <a:off x="1627521" y="5919249"/>
            <a:ext cx="9539113" cy="72591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$ python myfile.py</a:t>
            </a:r>
          </a:p>
          <a:p>
            <a:pPr>
              <a:lnSpc>
                <a:spcPct val="150000"/>
              </a:lnSpc>
            </a:pP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893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다른 프로그래밍 언어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들여쓰기는 코드의 가독성을 높이기 위함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들여쓰기를 하지 않아도 올바른 실행에 문제가 되지 않음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Python</a:t>
            </a:r>
            <a:r>
              <a:rPr lang="ko-KR" altLang="en-US" dirty="0"/>
              <a:t>에서의 들여쓰기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매우 중요함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들여쓰기를 제대로 하지 않으면 오류 발생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2703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Indentation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들여쓰기는 코드</a:t>
            </a:r>
            <a:r>
              <a:rPr lang="en-US" altLang="ko-KR" dirty="0"/>
              <a:t> </a:t>
            </a:r>
            <a:r>
              <a:rPr lang="ko-KR" altLang="en-US" dirty="0"/>
              <a:t>블록의 표현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들여쓰기를</a:t>
            </a:r>
            <a:r>
              <a:rPr lang="en-US" altLang="ko-KR" dirty="0"/>
              <a:t> </a:t>
            </a:r>
            <a:r>
              <a:rPr lang="ko-KR" altLang="en-US" dirty="0"/>
              <a:t>하지 않으면 오류 발생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B5841F0-3BFC-4D36-BCF6-770C76BBB6A2}"/>
              </a:ext>
            </a:extLst>
          </p:cNvPr>
          <p:cNvSpPr/>
          <p:nvPr/>
        </p:nvSpPr>
        <p:spPr>
          <a:xfrm>
            <a:off x="1159175" y="2137668"/>
            <a:ext cx="9539113" cy="110176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 &gt; 1 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print(“2 &gt; 1 is True!”)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332D2B3-A556-49C7-989A-9273497F4813}"/>
              </a:ext>
            </a:extLst>
          </p:cNvPr>
          <p:cNvSpPr/>
          <p:nvPr/>
        </p:nvSpPr>
        <p:spPr>
          <a:xfrm>
            <a:off x="1159175" y="4620673"/>
            <a:ext cx="9539113" cy="1101761"/>
          </a:xfrm>
          <a:prstGeom prst="roundRect">
            <a:avLst/>
          </a:prstGeom>
          <a:solidFill>
            <a:srgbClr val="FF65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 &gt; 1 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print(“2 &gt; 1 is True!”)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0034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Indentation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들여쓰기는 </a:t>
            </a:r>
            <a:r>
              <a:rPr lang="en-US" altLang="ko-KR" dirty="0"/>
              <a:t>1</a:t>
            </a:r>
            <a:r>
              <a:rPr lang="ko-KR" altLang="en-US" dirty="0"/>
              <a:t>개 이상의 </a:t>
            </a:r>
            <a:r>
              <a:rPr lang="en-US" altLang="ko-KR" dirty="0"/>
              <a:t>space</a:t>
            </a:r>
            <a:r>
              <a:rPr lang="ko-KR" altLang="en-US" dirty="0"/>
              <a:t>로 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같은 블록은 같은 개수의 </a:t>
            </a:r>
            <a:r>
              <a:rPr lang="en-US" altLang="ko-KR" dirty="0"/>
              <a:t>space</a:t>
            </a:r>
            <a:r>
              <a:rPr lang="ko-KR" altLang="en-US" dirty="0"/>
              <a:t>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B5841F0-3BFC-4D36-BCF6-770C76BBB6A2}"/>
              </a:ext>
            </a:extLst>
          </p:cNvPr>
          <p:cNvSpPr/>
          <p:nvPr/>
        </p:nvSpPr>
        <p:spPr>
          <a:xfrm>
            <a:off x="1159175" y="1992702"/>
            <a:ext cx="9539113" cy="202847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 &gt; 1 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print(“2 &gt; 1 is True!”)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 print(“2 &gt; 1 is True!”)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332D2B3-A556-49C7-989A-9273497F4813}"/>
              </a:ext>
            </a:extLst>
          </p:cNvPr>
          <p:cNvSpPr/>
          <p:nvPr/>
        </p:nvSpPr>
        <p:spPr>
          <a:xfrm>
            <a:off x="1159174" y="4709883"/>
            <a:ext cx="9539113" cy="1710359"/>
          </a:xfrm>
          <a:prstGeom prst="roundRect">
            <a:avLst/>
          </a:prstGeom>
          <a:solidFill>
            <a:srgbClr val="FF65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 &gt; 1 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print(“2 &gt; 1 is True!”)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print(“2 &gt; 1 is True!”)</a:t>
            </a: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ko-KR" altLang="en-US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8178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25682-349C-4D8C-AE25-887D7CD0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5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☝</a:t>
            </a:r>
            <a:r>
              <a:rPr lang="en-US" altLang="ko-KR" dirty="0"/>
              <a:t>Check !!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9A3F7-2882-4A1D-AB2D-2C7AF6E1F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517"/>
            <a:ext cx="10515600" cy="2981366"/>
          </a:xfrm>
        </p:spPr>
        <p:txBody>
          <a:bodyPr/>
          <a:lstStyle/>
          <a:p>
            <a:r>
              <a:rPr lang="ko-KR" altLang="en-US" dirty="0"/>
              <a:t>다음 들여쓰기는 오류일까</a:t>
            </a:r>
            <a:r>
              <a:rPr lang="en-US" altLang="ko-KR" dirty="0"/>
              <a:t>? </a:t>
            </a:r>
            <a:r>
              <a:rPr lang="ko-KR" altLang="en-US" dirty="0"/>
              <a:t>허용될까</a:t>
            </a:r>
            <a:r>
              <a:rPr lang="en-US" altLang="ko-KR" dirty="0"/>
              <a:t>?</a:t>
            </a:r>
            <a:br>
              <a:rPr lang="en-US" altLang="ko-KR" dirty="0"/>
            </a:b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DC2297-F455-4CEF-BFCC-25A58DE35166}"/>
              </a:ext>
            </a:extLst>
          </p:cNvPr>
          <p:cNvSpPr/>
          <p:nvPr/>
        </p:nvSpPr>
        <p:spPr>
          <a:xfrm>
            <a:off x="1159175" y="1992702"/>
            <a:ext cx="9539113" cy="20284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 &lt; 1 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print(“True!!!!”)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else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   print(“False!!!”)</a:t>
            </a:r>
            <a:endParaRPr lang="ko-KR" altLang="en-US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0C0E944-71C6-4F43-8638-8C0A1759FA7C}"/>
              </a:ext>
            </a:extLst>
          </p:cNvPr>
          <p:cNvSpPr txBox="1">
            <a:spLocks/>
          </p:cNvSpPr>
          <p:nvPr/>
        </p:nvSpPr>
        <p:spPr>
          <a:xfrm>
            <a:off x="670931" y="4436138"/>
            <a:ext cx="10515600" cy="1429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60000"/>
              </a:lnSpc>
            </a:pPr>
            <a:r>
              <a:rPr lang="ko-KR" altLang="en-US" sz="2000" dirty="0"/>
              <a:t>블록이 다르면 들여쓰기의 </a:t>
            </a:r>
            <a:r>
              <a:rPr lang="en-US" altLang="ko-KR" sz="2000" dirty="0"/>
              <a:t>space </a:t>
            </a:r>
            <a:r>
              <a:rPr lang="ko-KR" altLang="en-US" sz="2000" dirty="0"/>
              <a:t>개수가 달라도 됨</a:t>
            </a:r>
            <a:endParaRPr lang="en-US" altLang="ko-KR" sz="2000" dirty="0"/>
          </a:p>
          <a:p>
            <a:pPr lvl="1">
              <a:lnSpc>
                <a:spcPct val="160000"/>
              </a:lnSpc>
            </a:pPr>
            <a:r>
              <a:rPr lang="en-US" altLang="ko-KR" sz="2000" dirty="0"/>
              <a:t>==&gt; (</a:t>
            </a:r>
            <a:r>
              <a:rPr lang="ko-KR" altLang="en-US" sz="2000" dirty="0"/>
              <a:t>단</a:t>
            </a:r>
            <a:r>
              <a:rPr lang="en-US" altLang="ko-KR" sz="2000" dirty="0"/>
              <a:t>, </a:t>
            </a:r>
            <a:r>
              <a:rPr lang="ko-KR" altLang="en-US" sz="2000" dirty="0"/>
              <a:t>같은 블록 내에서의 들여쓰기는 같아야 함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3394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Comments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설명문</a:t>
            </a:r>
            <a:r>
              <a:rPr lang="en-US" altLang="ko-KR" dirty="0"/>
              <a:t>(comments)</a:t>
            </a:r>
            <a:r>
              <a:rPr lang="ko-KR" altLang="en-US" dirty="0"/>
              <a:t>의 용도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소스 코드를 설명 </a:t>
            </a:r>
            <a:r>
              <a:rPr lang="en-US" altLang="ko-KR" dirty="0"/>
              <a:t>(</a:t>
            </a:r>
            <a:r>
              <a:rPr lang="ko-KR" altLang="en-US" dirty="0"/>
              <a:t>개발자를 위함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코드를 더 쉽게 파악할 수 있도록 하기 위해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코드가 실행되는 것을 막기 위해 </a:t>
            </a:r>
            <a:r>
              <a:rPr lang="en-US" altLang="ko-KR" dirty="0"/>
              <a:t>( </a:t>
            </a:r>
            <a:r>
              <a:rPr lang="en-US" altLang="ko-KR" dirty="0">
                <a:sym typeface="Wingdings" panose="05000000000000000000" pitchFamily="2" charset="2"/>
              </a:rPr>
              <a:t> comment</a:t>
            </a:r>
            <a:r>
              <a:rPr lang="ko-KR" altLang="en-US" dirty="0">
                <a:sym typeface="Wingdings" panose="05000000000000000000" pitchFamily="2" charset="2"/>
              </a:rPr>
              <a:t>가 꼭 설명일 필요 </a:t>
            </a:r>
            <a:r>
              <a:rPr lang="en-US" altLang="ko-KR" dirty="0">
                <a:sym typeface="Wingdings" panose="05000000000000000000" pitchFamily="2" charset="2"/>
              </a:rPr>
              <a:t>X)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Comment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설명문은 </a:t>
            </a:r>
            <a:r>
              <a:rPr lang="en-US" altLang="ko-KR" sz="3600" b="1" dirty="0">
                <a:solidFill>
                  <a:srgbClr val="0000FF"/>
                </a:solidFill>
              </a:rPr>
              <a:t>#</a:t>
            </a:r>
            <a:r>
              <a:rPr lang="ko-KR" altLang="en-US" dirty="0"/>
              <a:t>으로 시작</a:t>
            </a:r>
            <a:r>
              <a:rPr lang="en-US" altLang="ko-KR" dirty="0"/>
              <a:t>, # </a:t>
            </a:r>
            <a:r>
              <a:rPr lang="ko-KR" altLang="en-US" dirty="0"/>
              <a:t>이후 그 줄의 끝까지의 내용을 무시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7426ED-4F6A-F7E0-F5FD-1B9AF4321BA3}"/>
              </a:ext>
            </a:extLst>
          </p:cNvPr>
          <p:cNvSpPr/>
          <p:nvPr/>
        </p:nvSpPr>
        <p:spPr>
          <a:xfrm>
            <a:off x="1578360" y="5423482"/>
            <a:ext cx="9539113" cy="1291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이것은 설명문입니다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print(“Hello, Python”);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이후 그 줄의 나머지 내용은 무시됨</a:t>
            </a:r>
          </a:p>
        </p:txBody>
      </p:sp>
    </p:spTree>
    <p:extLst>
      <p:ext uri="{BB962C8B-B14F-4D97-AF65-F5344CB8AC3E}">
        <p14:creationId xmlns:p14="http://schemas.microsoft.com/office/powerpoint/2010/main" val="3202496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Comments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설명문의 종류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한 줄 설명문</a:t>
            </a:r>
            <a:r>
              <a:rPr lang="en-US" altLang="ko-KR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#</a:t>
            </a:r>
            <a:r>
              <a:rPr lang="ko-KR" altLang="en-US" dirty="0">
                <a:sym typeface="Wingdings" panose="05000000000000000000" pitchFamily="2" charset="2"/>
              </a:rPr>
              <a:t>으로 시작한 줄의 </a:t>
            </a:r>
            <a:r>
              <a:rPr lang="ko-KR" altLang="en-US" dirty="0" err="1">
                <a:sym typeface="Wingdings" panose="05000000000000000000" pitchFamily="2" charset="2"/>
              </a:rPr>
              <a:t>끝까지만</a:t>
            </a:r>
            <a:r>
              <a:rPr lang="ko-KR" altLang="en-US" dirty="0">
                <a:sym typeface="Wingdings" panose="05000000000000000000" pitchFamily="2" charset="2"/>
              </a:rPr>
              <a:t> 설명문으로 처리됨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sym typeface="Wingdings" panose="05000000000000000000" pitchFamily="2" charset="2"/>
              </a:rPr>
              <a:t>설명문이 여러 줄이면 각 줄마다 </a:t>
            </a:r>
            <a:r>
              <a:rPr lang="en-US" altLang="ko-KR" dirty="0">
                <a:sym typeface="Wingdings" panose="05000000000000000000" pitchFamily="2" charset="2"/>
              </a:rPr>
              <a:t>#</a:t>
            </a:r>
            <a:r>
              <a:rPr lang="ko-KR" altLang="en-US" dirty="0">
                <a:sym typeface="Wingdings" panose="05000000000000000000" pitchFamily="2" charset="2"/>
              </a:rPr>
              <a:t>으로 시작해야 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7426ED-4F6A-F7E0-F5FD-1B9AF4321BA3}"/>
              </a:ext>
            </a:extLst>
          </p:cNvPr>
          <p:cNvSpPr/>
          <p:nvPr/>
        </p:nvSpPr>
        <p:spPr>
          <a:xfrm>
            <a:off x="2040477" y="3429000"/>
            <a:ext cx="9539113" cy="1291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이것은 설명문입니다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print(“Hello, Python”);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이후 그 줄의 나머지 내용은 무시됨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A56BCE-570A-D0DB-DFA9-E270690058EA}"/>
              </a:ext>
            </a:extLst>
          </p:cNvPr>
          <p:cNvSpPr/>
          <p:nvPr/>
        </p:nvSpPr>
        <p:spPr>
          <a:xfrm>
            <a:off x="2040477" y="5331542"/>
            <a:ext cx="9539113" cy="1291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여러 줄 설명문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(block comments, multiline comments)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각 줄마다 앞에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으로 시작해야 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2778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Comments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Multiline Comments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줄마다 </a:t>
            </a:r>
            <a:r>
              <a:rPr lang="en-US" altLang="ko-KR" dirty="0"/>
              <a:t>#</a:t>
            </a:r>
            <a:r>
              <a:rPr lang="ko-KR" altLang="en-US" dirty="0"/>
              <a:t>으로 시작 하거나</a:t>
            </a:r>
            <a:r>
              <a:rPr lang="en-US" altLang="ko-KR" dirty="0"/>
              <a:t>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ko-KR" altLang="en-US" dirty="0"/>
              <a:t>다음과 같이 </a:t>
            </a:r>
            <a:r>
              <a:rPr lang="en-US" altLang="ko-KR" dirty="0"/>
              <a:t>multiline string</a:t>
            </a:r>
            <a:r>
              <a:rPr lang="ko-KR" altLang="en-US" dirty="0"/>
              <a:t>을 활용</a:t>
            </a:r>
            <a:r>
              <a:rPr lang="en-US" altLang="ko-KR" dirty="0"/>
              <a:t>(?) </a:t>
            </a:r>
            <a:r>
              <a:rPr lang="ko-KR" altLang="en-US" dirty="0"/>
              <a:t>할 수도 있음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7426ED-4F6A-F7E0-F5FD-1B9AF4321BA3}"/>
              </a:ext>
            </a:extLst>
          </p:cNvPr>
          <p:cNvSpPr/>
          <p:nvPr/>
        </p:nvSpPr>
        <p:spPr>
          <a:xfrm>
            <a:off x="1519367" y="4823563"/>
            <a:ext cx="9539113" cy="189186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>
                <a:solidFill>
                  <a:srgbClr val="00B0F0"/>
                </a:solidFill>
                <a:latin typeface="Courier New" panose="02070309020205020404" pitchFamily="49" charset="0"/>
                <a:ea typeface="나눔고딕코딩" panose="020D0009000000000000" pitchFamily="49" charset="-127"/>
                <a:cs typeface="Courier New" panose="02070309020205020404" pitchFamily="49" charset="0"/>
              </a:rPr>
              <a:t>”””</a:t>
            </a:r>
          </a:p>
          <a:p>
            <a:r>
              <a:rPr lang="ko-KR" altLang="en-US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파이썬은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변수에 저장되지 않은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여러 줄의 문자열 값은 무시하기 때문에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실질적인 여러 줄 설명문으로 활용되기도 한다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r>
              <a:rPr lang="en-US" altLang="ko-KR" sz="2000" b="1" dirty="0">
                <a:solidFill>
                  <a:srgbClr val="00B0F0"/>
                </a:solidFill>
                <a:latin typeface="Courier New" panose="02070309020205020404" pitchFamily="49" charset="0"/>
                <a:ea typeface="나눔고딕코딩" panose="020D0009000000000000" pitchFamily="49" charset="-127"/>
                <a:cs typeface="Courier New" panose="02070309020205020404" pitchFamily="49" charset="0"/>
              </a:rPr>
              <a:t>”””</a:t>
            </a:r>
            <a:endParaRPr lang="ko-KR" altLang="en-US" sz="2000" b="1" dirty="0">
              <a:solidFill>
                <a:srgbClr val="00B0F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A56BCE-570A-D0DB-DFA9-E270690058EA}"/>
              </a:ext>
            </a:extLst>
          </p:cNvPr>
          <p:cNvSpPr/>
          <p:nvPr/>
        </p:nvSpPr>
        <p:spPr>
          <a:xfrm>
            <a:off x="1519368" y="2783025"/>
            <a:ext cx="9539113" cy="1291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여러 줄 설명문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(block comments, multiline comments)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각 줄마다 앞에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으로 시작해야 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0820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Variables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변수 </a:t>
            </a:r>
            <a:r>
              <a:rPr lang="en-US" altLang="ko-KR" dirty="0"/>
              <a:t>(variables)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r>
              <a:rPr lang="ko-KR" altLang="en-US" dirty="0"/>
              <a:t>을 저장하는 장소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Python </a:t>
            </a:r>
            <a:r>
              <a:rPr lang="ko-KR" altLang="en-US" dirty="0"/>
              <a:t>변수 생성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Python</a:t>
            </a:r>
            <a:r>
              <a:rPr lang="ko-KR" altLang="en-US" dirty="0"/>
              <a:t>은 변수를 선언</a:t>
            </a:r>
            <a:r>
              <a:rPr lang="en-US" altLang="ko-KR" dirty="0"/>
              <a:t>(</a:t>
            </a:r>
            <a:r>
              <a:rPr lang="ko-KR" altLang="en-US" dirty="0"/>
              <a:t>생성</a:t>
            </a:r>
            <a:r>
              <a:rPr lang="en-US" altLang="ko-KR" dirty="0"/>
              <a:t>)</a:t>
            </a:r>
            <a:r>
              <a:rPr lang="ko-KR" altLang="en-US" dirty="0"/>
              <a:t>하는 별도의 명령어</a:t>
            </a:r>
            <a:r>
              <a:rPr lang="en-US" altLang="ko-KR" dirty="0"/>
              <a:t>(keyword)</a:t>
            </a:r>
            <a:r>
              <a:rPr lang="ko-KR" altLang="en-US" dirty="0"/>
              <a:t>가 없음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변수명을 만들어 값을 저장하는 순간에 변수가 생성됨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456109-D981-BD35-E333-9272E8976B18}"/>
              </a:ext>
            </a:extLst>
          </p:cNvPr>
          <p:cNvSpPr/>
          <p:nvPr/>
        </p:nvSpPr>
        <p:spPr>
          <a:xfrm>
            <a:off x="1568527" y="4885014"/>
            <a:ext cx="9539113" cy="129194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days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365   	   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변수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days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생성되면서 데이터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365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저장됨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Name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홍길동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변수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name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 생성되면서 값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홍길동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 저장됨</a:t>
            </a:r>
          </a:p>
        </p:txBody>
      </p:sp>
    </p:spTree>
    <p:extLst>
      <p:ext uri="{BB962C8B-B14F-4D97-AF65-F5344CB8AC3E}">
        <p14:creationId xmlns:p14="http://schemas.microsoft.com/office/powerpoint/2010/main" val="3135940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Variables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변수명</a:t>
            </a:r>
            <a:r>
              <a:rPr lang="ko-KR" altLang="en-US" dirty="0"/>
              <a:t> </a:t>
            </a:r>
            <a:r>
              <a:rPr lang="en-US" altLang="ko-KR" dirty="0"/>
              <a:t>(Variable</a:t>
            </a:r>
            <a:r>
              <a:rPr lang="ko-KR" altLang="en-US" dirty="0"/>
              <a:t> </a:t>
            </a:r>
            <a:r>
              <a:rPr lang="en-US" altLang="ko-KR" dirty="0"/>
              <a:t>Names)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1</a:t>
            </a:r>
            <a:r>
              <a:rPr lang="ko-KR" altLang="en-US" dirty="0"/>
              <a:t>개 이상의 문자로 변수명을 작성 가능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dirty="0" err="1"/>
              <a:t>변수명</a:t>
            </a:r>
            <a:r>
              <a:rPr lang="ko-KR" altLang="en-US" dirty="0"/>
              <a:t> 작성 규칙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문자나 </a:t>
            </a:r>
            <a:r>
              <a:rPr lang="en-US" altLang="ko-KR" dirty="0"/>
              <a:t>underscore( _ )</a:t>
            </a:r>
            <a:r>
              <a:rPr lang="ko-KR" altLang="en-US" dirty="0"/>
              <a:t>로 시작</a:t>
            </a:r>
            <a:r>
              <a:rPr lang="en-US" altLang="ko-KR" dirty="0"/>
              <a:t>, (</a:t>
            </a:r>
            <a:r>
              <a:rPr lang="ko-KR" altLang="en-US" dirty="0"/>
              <a:t>숫자로 시작할 수 없음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사용가능 문자</a:t>
            </a:r>
            <a:r>
              <a:rPr lang="en-US" altLang="ko-KR" dirty="0"/>
              <a:t>(</a:t>
            </a:r>
            <a:r>
              <a:rPr lang="ko-KR" altLang="en-US" dirty="0"/>
              <a:t>영문 알파벳</a:t>
            </a:r>
            <a:r>
              <a:rPr lang="en-US" altLang="ko-KR" dirty="0"/>
              <a:t>, </a:t>
            </a:r>
            <a:r>
              <a:rPr lang="ko-KR" altLang="en-US" dirty="0"/>
              <a:t>숫자</a:t>
            </a:r>
            <a:r>
              <a:rPr lang="en-US" altLang="ko-KR" dirty="0"/>
              <a:t>, </a:t>
            </a:r>
            <a:r>
              <a:rPr lang="en-US" altLang="ko-KR" sz="3200" b="1" dirty="0"/>
              <a:t>_</a:t>
            </a:r>
            <a:r>
              <a:rPr lang="en-US" altLang="ko-KR" dirty="0"/>
              <a:t> , </a:t>
            </a:r>
            <a:r>
              <a:rPr lang="ko-KR" altLang="en-US" dirty="0"/>
              <a:t>한글 등</a:t>
            </a:r>
            <a:r>
              <a:rPr lang="en-US" altLang="ko-KR" dirty="0"/>
              <a:t>. </a:t>
            </a:r>
            <a:r>
              <a:rPr lang="ko-KR" altLang="en-US" dirty="0"/>
              <a:t> 단</a:t>
            </a:r>
            <a:r>
              <a:rPr lang="en-US" altLang="ko-KR" dirty="0"/>
              <a:t>, </a:t>
            </a:r>
            <a:r>
              <a:rPr lang="ko-KR" altLang="en-US" dirty="0"/>
              <a:t>특수문자 안됨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영문 대소문자 구분함 </a:t>
            </a:r>
            <a:r>
              <a:rPr lang="en-US" altLang="ko-KR" dirty="0"/>
              <a:t>(Case Sensitive)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Python</a:t>
            </a:r>
            <a:r>
              <a:rPr lang="ko-KR" altLang="en-US" dirty="0"/>
              <a:t> 키워드</a:t>
            </a:r>
            <a:r>
              <a:rPr lang="en-US" altLang="ko-KR" dirty="0"/>
              <a:t>(keywords)</a:t>
            </a:r>
            <a:r>
              <a:rPr lang="ko-KR" altLang="en-US" dirty="0"/>
              <a:t>는 변수명으로 사용 불가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4250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Python Variables </a:t>
            </a:r>
            <a:r>
              <a:rPr lang="en-US" altLang="ko-KR" sz="200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Python Keywords</a:t>
            </a:r>
          </a:p>
          <a:p>
            <a:pPr lvl="1">
              <a:lnSpc>
                <a:spcPct val="150000"/>
              </a:lnSpc>
            </a:pPr>
            <a:endParaRPr lang="en-US" altLang="ko-KR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4598C3-3B9E-639D-00C8-4F532E07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78" y="2531080"/>
            <a:ext cx="10810879" cy="3341083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01D699-54F5-72C6-5B97-FE8DF36B33D9}"/>
              </a:ext>
            </a:extLst>
          </p:cNvPr>
          <p:cNvSpPr/>
          <p:nvPr/>
        </p:nvSpPr>
        <p:spPr>
          <a:xfrm>
            <a:off x="6315050" y="254021"/>
            <a:ext cx="5405002" cy="171243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&gt;&gt;&gt; help()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IDLE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help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호출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… … …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help&gt; keywords</a:t>
            </a:r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743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25682-349C-4D8C-AE25-887D7CD0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5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☝</a:t>
            </a:r>
            <a:r>
              <a:rPr lang="en-US" altLang="ko-KR" dirty="0"/>
              <a:t>Check !!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9A3F7-2882-4A1D-AB2D-2C7AF6E1F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516"/>
            <a:ext cx="10515600" cy="5423484"/>
          </a:xfrm>
        </p:spPr>
        <p:txBody>
          <a:bodyPr>
            <a:normAutofit/>
          </a:bodyPr>
          <a:lstStyle/>
          <a:p>
            <a:r>
              <a:rPr lang="ko-KR" altLang="en-US" dirty="0"/>
              <a:t>다음은 올바른 </a:t>
            </a:r>
            <a:r>
              <a:rPr lang="ko-KR" altLang="en-US" dirty="0" err="1"/>
              <a:t>변수명</a:t>
            </a:r>
            <a:r>
              <a:rPr lang="en-US" altLang="ko-KR" dirty="0"/>
              <a:t>? </a:t>
            </a:r>
            <a:r>
              <a:rPr lang="ko-KR" altLang="en-US" dirty="0"/>
              <a:t>오류 발생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 (</a:t>
            </a:r>
            <a:r>
              <a:rPr lang="en-US" altLang="ko-KR" b="1" dirty="0">
                <a:solidFill>
                  <a:srgbClr val="FF6565"/>
                </a:solidFill>
                <a:sym typeface="Wingdings" panose="05000000000000000000" pitchFamily="2" charset="2"/>
              </a:rPr>
              <a:t>X</a:t>
            </a:r>
            <a:r>
              <a:rPr lang="en-US" altLang="ko-KR" dirty="0">
                <a:sym typeface="Wingdings" panose="05000000000000000000" pitchFamily="2" charset="2"/>
              </a:rPr>
              <a:t>) : space</a:t>
            </a:r>
            <a:r>
              <a:rPr lang="ko-KR" altLang="en-US" dirty="0">
                <a:sym typeface="Wingdings" panose="05000000000000000000" pitchFamily="2" charset="2"/>
              </a:rPr>
              <a:t>는 변수명에 포함될 수 없음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추천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sz="2000" b="1" dirty="0" err="1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MyName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sz="2000" b="1" dirty="0" err="1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My_Name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 (</a:t>
            </a:r>
            <a:r>
              <a:rPr lang="en-US" altLang="ko-KR" b="1" dirty="0">
                <a:solidFill>
                  <a:srgbClr val="FF6565"/>
                </a:solidFill>
                <a:sym typeface="Wingdings" panose="05000000000000000000" pitchFamily="2" charset="2"/>
              </a:rPr>
              <a:t>X</a:t>
            </a:r>
            <a:r>
              <a:rPr lang="en-US" altLang="ko-KR" dirty="0">
                <a:sym typeface="Wingdings" panose="05000000000000000000" pitchFamily="2" charset="2"/>
              </a:rPr>
              <a:t>) : </a:t>
            </a:r>
            <a:r>
              <a:rPr lang="ko-KR" altLang="en-US" dirty="0">
                <a:sym typeface="Wingdings" panose="05000000000000000000" pitchFamily="2" charset="2"/>
              </a:rPr>
              <a:t>숫자로 시작할 수 없음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추천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sz="2000" b="1" dirty="0" err="1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oneYear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sz="2000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year1</a:t>
            </a:r>
            <a:r>
              <a:rPr lang="en-US" altLang="ko-KR" dirty="0">
                <a:sym typeface="Wingdings" panose="05000000000000000000" pitchFamily="2" charset="2"/>
              </a:rPr>
              <a:t>, … )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 (</a:t>
            </a:r>
            <a:r>
              <a:rPr lang="en-US" altLang="ko-KR" b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ko-KR" dirty="0">
                <a:sym typeface="Wingdings" panose="05000000000000000000" pitchFamily="2" charset="2"/>
              </a:rPr>
              <a:t>) : </a:t>
            </a:r>
            <a:r>
              <a:rPr lang="ko-KR" altLang="en-US" dirty="0">
                <a:sym typeface="Wingdings" panose="05000000000000000000" pitchFamily="2" charset="2"/>
              </a:rPr>
              <a:t>여러 단어의 변수명은 </a:t>
            </a:r>
            <a:r>
              <a:rPr lang="en-US" altLang="ko-KR" dirty="0">
                <a:sym typeface="Wingdings" panose="05000000000000000000" pitchFamily="2" charset="2"/>
              </a:rPr>
              <a:t>_ </a:t>
            </a:r>
            <a:r>
              <a:rPr lang="ko-KR" altLang="en-US" dirty="0">
                <a:sym typeface="Wingdings" panose="05000000000000000000" pitchFamily="2" charset="2"/>
              </a:rPr>
              <a:t>로 연결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추천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sz="2000" b="1" dirty="0" err="1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myCollegeName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 (</a:t>
            </a:r>
            <a:r>
              <a:rPr lang="en-US" altLang="ko-KR" b="1" dirty="0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r>
              <a:rPr lang="en-US" altLang="ko-KR" dirty="0">
                <a:sym typeface="Wingdings" panose="05000000000000000000" pitchFamily="2" charset="2"/>
              </a:rPr>
              <a:t>) : </a:t>
            </a:r>
            <a:r>
              <a:rPr lang="ko-KR" altLang="en-US" dirty="0">
                <a:sym typeface="Wingdings" panose="05000000000000000000" pitchFamily="2" charset="2"/>
              </a:rPr>
              <a:t>한글도 변수명에 사용할 수 있음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DC2297-F455-4CEF-BFCC-25A58DE35166}"/>
              </a:ext>
            </a:extLst>
          </p:cNvPr>
          <p:cNvSpPr/>
          <p:nvPr/>
        </p:nvSpPr>
        <p:spPr>
          <a:xfrm>
            <a:off x="1326443" y="1953373"/>
            <a:ext cx="9539113" cy="6816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 Name = “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홍길동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</a:t>
            </a:r>
            <a:endParaRPr lang="ko-KR" altLang="en-US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659DDC7-70B2-9B58-5DDC-570E519819B6}"/>
              </a:ext>
            </a:extLst>
          </p:cNvPr>
          <p:cNvSpPr/>
          <p:nvPr/>
        </p:nvSpPr>
        <p:spPr>
          <a:xfrm>
            <a:off x="1326443" y="3088164"/>
            <a:ext cx="9539113" cy="6816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1year = 365</a:t>
            </a:r>
            <a:endParaRPr lang="ko-KR" altLang="en-US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DBAD5D-7920-CC76-6738-A32D5022426E}"/>
              </a:ext>
            </a:extLst>
          </p:cNvPr>
          <p:cNvSpPr/>
          <p:nvPr/>
        </p:nvSpPr>
        <p:spPr>
          <a:xfrm>
            <a:off x="1326442" y="4331945"/>
            <a:ext cx="9539113" cy="6816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my_college_name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“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동의과학대학교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</a:t>
            </a:r>
            <a:endParaRPr lang="ko-KR" altLang="en-US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1F9B13B-F96D-0FBD-D3D6-B6D6710E2578}"/>
              </a:ext>
            </a:extLst>
          </p:cNvPr>
          <p:cNvSpPr/>
          <p:nvPr/>
        </p:nvSpPr>
        <p:spPr>
          <a:xfrm>
            <a:off x="1326441" y="5475104"/>
            <a:ext cx="9539113" cy="6816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국적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“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대한민국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</a:t>
            </a:r>
            <a:endParaRPr lang="ko-KR" altLang="en-US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657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5" grpId="0" animBg="1"/>
      <p:bldP spid="4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Variables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여러 단어 변수명의 가독성 높이는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camelCase</a:t>
            </a:r>
            <a:r>
              <a:rPr lang="en-US" altLang="ko-KR" dirty="0"/>
              <a:t>: </a:t>
            </a:r>
            <a:r>
              <a:rPr lang="ko-KR" altLang="en-US" dirty="0"/>
              <a:t>첫 단어를 제외한 나머지 단어의 첫 글자만 대문자로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 err="1"/>
              <a:t>PascalCase</a:t>
            </a:r>
            <a:r>
              <a:rPr lang="en-US" altLang="ko-KR" dirty="0"/>
              <a:t>: </a:t>
            </a:r>
            <a:r>
              <a:rPr lang="ko-KR" altLang="en-US" dirty="0"/>
              <a:t>모든 단어의 첫 글자만 대문자로 </a:t>
            </a:r>
            <a:r>
              <a:rPr lang="en-US" altLang="ko-KR" dirty="0"/>
              <a:t>(</a:t>
            </a:r>
            <a:r>
              <a:rPr lang="ko-KR" altLang="en-US" dirty="0"/>
              <a:t>첫 단어도 포함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 err="1"/>
              <a:t>Snake_Case</a:t>
            </a:r>
            <a:r>
              <a:rPr lang="en-US" altLang="ko-KR" dirty="0"/>
              <a:t>: </a:t>
            </a:r>
            <a:r>
              <a:rPr lang="ko-KR" altLang="en-US" dirty="0"/>
              <a:t>각 단어를 </a:t>
            </a:r>
            <a:r>
              <a:rPr lang="en-US" altLang="ko-KR" dirty="0"/>
              <a:t>underscore( _ )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C522CA-A925-A97B-DF3B-A67EDDCDF98E}"/>
              </a:ext>
            </a:extLst>
          </p:cNvPr>
          <p:cNvSpPr/>
          <p:nvPr/>
        </p:nvSpPr>
        <p:spPr>
          <a:xfrm>
            <a:off x="1591795" y="2766992"/>
            <a:ext cx="4622194" cy="6620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myFavoriteCar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“Tico”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E5EB61D-A313-8690-244D-F67ED8EA34BD}"/>
              </a:ext>
            </a:extLst>
          </p:cNvPr>
          <p:cNvSpPr/>
          <p:nvPr/>
        </p:nvSpPr>
        <p:spPr>
          <a:xfrm>
            <a:off x="1591794" y="3951779"/>
            <a:ext cx="4622194" cy="6620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MyFatherCar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“Grandeur”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5FD3E8-2288-49B6-F1E6-140237BE0B14}"/>
              </a:ext>
            </a:extLst>
          </p:cNvPr>
          <p:cNvSpPr/>
          <p:nvPr/>
        </p:nvSpPr>
        <p:spPr>
          <a:xfrm>
            <a:off x="1591793" y="5215225"/>
            <a:ext cx="4622194" cy="66200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Fastest_Train_Of_Korea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“KTX”</a:t>
            </a:r>
          </a:p>
        </p:txBody>
      </p:sp>
    </p:spTree>
    <p:extLst>
      <p:ext uri="{BB962C8B-B14F-4D97-AF65-F5344CB8AC3E}">
        <p14:creationId xmlns:p14="http://schemas.microsoft.com/office/powerpoint/2010/main" val="243961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Variables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effectLst/>
              </a:rPr>
              <a:t>)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517"/>
            <a:ext cx="10515600" cy="53202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여러 개의 값들을 변수들에 저장하는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여러 개의 변수에 값들을 각각 저장하는 두 가지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여러 개의 변수에 같은 값을 저장하기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Unpacking Collection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C522CA-A925-A97B-DF3B-A67EDDCDF98E}"/>
              </a:ext>
            </a:extLst>
          </p:cNvPr>
          <p:cNvSpPr/>
          <p:nvPr/>
        </p:nvSpPr>
        <p:spPr>
          <a:xfrm>
            <a:off x="1591795" y="2766991"/>
            <a:ext cx="2685237" cy="113641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k = “Korea”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j = “Japan”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 = “China”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FDF6B47-0F25-0915-78BD-755EECB22F64}"/>
              </a:ext>
            </a:extLst>
          </p:cNvPr>
          <p:cNvSpPr/>
          <p:nvPr/>
        </p:nvSpPr>
        <p:spPr>
          <a:xfrm>
            <a:off x="4600466" y="2766991"/>
            <a:ext cx="5733237" cy="66201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k, j, c = “Korea”, “Japan”, “China”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43431C7-C066-A3CB-62E3-E75E1F9A027C}"/>
              </a:ext>
            </a:extLst>
          </p:cNvPr>
          <p:cNvSpPr/>
          <p:nvPr/>
        </p:nvSpPr>
        <p:spPr>
          <a:xfrm>
            <a:off x="1591795" y="4442325"/>
            <a:ext cx="8741908" cy="66201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= b = c = “Apple”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a, b, c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“Apple”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저장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50CD1B3-2F3B-2FA6-614B-B518BFDC1065}"/>
              </a:ext>
            </a:extLst>
          </p:cNvPr>
          <p:cNvSpPr/>
          <p:nvPr/>
        </p:nvSpPr>
        <p:spPr>
          <a:xfrm>
            <a:off x="1591795" y="5655711"/>
            <a:ext cx="8741908" cy="10990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 b, c = fruits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a=“apple”, b=“kiwi”, c=“mango”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와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같음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13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5" grpId="0" animBg="1"/>
      <p:bldP spid="4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1405</Words>
  <Application>Microsoft Office PowerPoint</Application>
  <PresentationFormat>와이드스크린</PresentationFormat>
  <Paragraphs>231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나눔고딕</vt:lpstr>
      <vt:lpstr>나눔고딕코딩</vt:lpstr>
      <vt:lpstr>맑은 고딕</vt:lpstr>
      <vt:lpstr>Arial</vt:lpstr>
      <vt:lpstr>Courier New</vt:lpstr>
      <vt:lpstr>Wingdings</vt:lpstr>
      <vt:lpstr>Office 테마</vt:lpstr>
      <vt:lpstr>파이썬 소개 및 설치</vt:lpstr>
      <vt:lpstr>파이썬의 역사와 탄생 배경</vt:lpstr>
      <vt:lpstr>파이썬의 철학</vt:lpstr>
      <vt:lpstr>파이썬의 주요 특징</vt:lpstr>
      <vt:lpstr>파이썬의 주요 특징 (계속)</vt:lpstr>
      <vt:lpstr>파이썬 설치 및 환경 설정</vt:lpstr>
      <vt:lpstr>파이썬 설치 및 환경 설정 (계속)</vt:lpstr>
      <vt:lpstr>파이썬 설치 및 환경 설정 (계속)</vt:lpstr>
      <vt:lpstr>파이썬 설치 및 환경 설정 (계속)</vt:lpstr>
      <vt:lpstr>Quiz &amp; Answer </vt:lpstr>
      <vt:lpstr>Quiz &amp; Answer </vt:lpstr>
      <vt:lpstr>Quiz &amp; Answer </vt:lpstr>
      <vt:lpstr>Quiz &amp; Answer </vt:lpstr>
      <vt:lpstr>Syntax, Comments, Variables</vt:lpstr>
      <vt:lpstr>문장(Syntax)</vt:lpstr>
      <vt:lpstr>들여쓰기(Indentation)</vt:lpstr>
      <vt:lpstr>Python Indentation</vt:lpstr>
      <vt:lpstr>Python Indentation (계속)</vt:lpstr>
      <vt:lpstr>☝Check !!</vt:lpstr>
      <vt:lpstr>Python Comments</vt:lpstr>
      <vt:lpstr>Python Comments (계속)</vt:lpstr>
      <vt:lpstr>Python Comments (계속)</vt:lpstr>
      <vt:lpstr>Python Variables</vt:lpstr>
      <vt:lpstr>Python Variables (계속)</vt:lpstr>
      <vt:lpstr>Python Variables (계속)</vt:lpstr>
      <vt:lpstr>☝Check !!</vt:lpstr>
      <vt:lpstr>Python Variables (계속)</vt:lpstr>
      <vt:lpstr>Python Variables (계속)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</cp:revision>
  <dcterms:created xsi:type="dcterms:W3CDTF">2024-10-14T09:30:03Z</dcterms:created>
  <dcterms:modified xsi:type="dcterms:W3CDTF">2025-03-12T02:23:45Z</dcterms:modified>
</cp:coreProperties>
</file>