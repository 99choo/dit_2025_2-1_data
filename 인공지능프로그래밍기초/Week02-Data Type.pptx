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412" r:id="rId20"/>
    <p:sldId id="383" r:id="rId21"/>
    <p:sldId id="413" r:id="rId22"/>
    <p:sldId id="415" r:id="rId23"/>
    <p:sldId id="414" r:id="rId24"/>
    <p:sldId id="416" r:id="rId25"/>
    <p:sldId id="417" r:id="rId26"/>
    <p:sldId id="418" r:id="rId27"/>
    <p:sldId id="419" r:id="rId28"/>
    <p:sldId id="420" r:id="rId29"/>
    <p:sldId id="421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54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D86DC-93BB-4339-9BDD-42FC321FC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A344E-008C-4E53-ADB3-83CFFD56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31910-BFDD-421E-8BBD-569585D9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DB3BA-9485-4314-8A26-BCCE90C9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E58D3-7355-458F-900C-3E383E1D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2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F8E39-46E8-464B-A674-958C1F77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D387A-43CD-4E81-95A5-3B1845324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428EB-B737-43A1-AAC6-1423B571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8BB03-87F3-4D84-8367-B1AB5FD5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CB920-FA9B-49BF-82D4-B5370153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05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C8EFE-236B-4105-AF77-8A416793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3D7F8E-4426-4C84-B117-AFE62CE89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46D55-5500-41E9-91B3-2340A17B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944E1-9315-4BF1-8187-5B9699E4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2DBD-DF5A-4E63-8E5F-97E9D74A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27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F5CC4-F059-445E-B415-36FC3A2B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77F23-694E-4FA0-9641-627C72EEE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50A4FE-FB44-4946-96E0-BC0231DB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6EF637-4546-476C-B193-8842C0C1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DF0C97-C3A2-42EE-94FB-54F17173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9BDA3-B1A4-4AD5-9249-E034EAF5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99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8101F-D907-46DA-946A-D2B2149D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41DC6E-0683-4021-8AE7-A4EBDD2EA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9159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053797-63D6-4AE6-810B-883510033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070"/>
            <a:ext cx="5157787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7946ED-968C-4A57-A30C-26D29F721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915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554736-9C59-46AF-87F0-30A064780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070"/>
            <a:ext cx="5183188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0DAE7-AA3F-4DE1-A664-9522F81C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6412A0-9581-48C7-89F3-AF1D229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089263-4AD4-491C-9F42-CB58E4A9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91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E209C-722B-473A-90B3-E348835E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678FCA-D2BE-4E63-A32C-D60C9A6E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2EA221-6DCC-4BC5-A81E-768CE220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5FC41-8E62-4400-B879-89456859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3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C23E74-A946-4BD4-B1A6-BB8D4DF1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233B18-BC0A-4D59-8258-3A190858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AB66A-C2FA-4979-B9BD-161FB2B8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1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A6DCE-86DA-41B8-9502-667C7BEE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8BD5E-04CE-464C-A33B-916BDD0B8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7CBA3E-5FAF-4337-B262-D80E94857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BAC1B-4776-434F-9597-E182BA47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A89E86-6054-4D5D-8E54-CCD0162E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43B474-E94D-4EF8-AB33-514C8510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46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B8770-4BAB-4F44-BF3D-ECE22824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319EE5-D893-42EF-8C3C-68DBD2EA0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A099B-7BF3-4B62-91CF-45F21E42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615233-4D6F-477C-B804-5B7A1793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F83FD5-9AAD-4F5D-A25D-72DB18CE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B0A6C3-635F-400E-A2AB-2CCD4D33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0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7436F-CDBA-4D84-A1FB-3F536A2F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1F495E-CDD2-47AB-8793-02B183FE4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870600-0649-4D1A-9AD7-66BD9EDC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4E463-F895-48B8-8D4A-FF33558E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40781-D1B4-42DC-ACC9-526E18B2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5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C5086C-930C-4571-BED0-F3A0C1AD3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AF0234-FB9D-4EFB-BB50-53012AA1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1838B-1DBE-40E7-B941-36424308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755EC-95FA-4F91-BC05-B0BF2919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0AB81-8518-46E7-BDCF-E5B60F78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84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29D8E7-54E9-47C0-BB1D-0186D712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2BDB8A-8843-4388-8FB5-09C6F45EF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4517"/>
            <a:ext cx="10515600" cy="4742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EA0F6-61FB-4AE9-B6D6-FD2FF09B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28F03-DF8D-4633-976C-282120709532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5FD13-2D9B-4252-810C-336D80DAB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4F594-EDEF-4565-9BDF-4221F067A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C6F08-00A3-4C97-8475-2E1C74E726A9}"/>
              </a:ext>
            </a:extLst>
          </p:cNvPr>
          <p:cNvSpPr txBox="1"/>
          <p:nvPr userDrawn="1"/>
        </p:nvSpPr>
        <p:spPr>
          <a:xfrm>
            <a:off x="160615" y="102616"/>
            <a:ext cx="38779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RIS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지역혁신 부산공유대학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(BITS) 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스마트물류 </a:t>
            </a:r>
            <a:r>
              <a:rPr lang="ko-KR" altLang="en-US" sz="1050" b="1" dirty="0" err="1">
                <a:solidFill>
                  <a:schemeClr val="bg1">
                    <a:lumMod val="65000"/>
                  </a:schemeClr>
                </a:solidFill>
                <a:latin typeface="+mn-lt"/>
              </a:rPr>
              <a:t>나노디그리과정</a:t>
            </a:r>
            <a:endParaRPr lang="ko-KR" altLang="en-US" sz="105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06751-CC6F-482E-9269-4B731E8E10AB}"/>
              </a:ext>
            </a:extLst>
          </p:cNvPr>
          <p:cNvSpPr txBox="1"/>
          <p:nvPr userDrawn="1"/>
        </p:nvSpPr>
        <p:spPr>
          <a:xfrm>
            <a:off x="7933509" y="102616"/>
            <a:ext cx="42584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이 개발과제는 지자체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-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대학 협력기반 지역혁신 사업비로 개발되었음</a:t>
            </a:r>
          </a:p>
        </p:txBody>
      </p:sp>
    </p:spTree>
    <p:extLst>
      <p:ext uri="{BB962C8B-B14F-4D97-AF65-F5344CB8AC3E}">
        <p14:creationId xmlns:p14="http://schemas.microsoft.com/office/powerpoint/2010/main" val="46165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u="none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strings_methods.as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F619-2E32-4824-95EF-B0D9D5300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Types)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7F749-8E0D-44E5-8734-326DF7E0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9144000" cy="1143000"/>
          </a:xfrm>
        </p:spPr>
        <p:txBody>
          <a:bodyPr/>
          <a:lstStyle/>
          <a:p>
            <a:r>
              <a:rPr lang="ko-KR" altLang="en-US" dirty="0" err="1"/>
              <a:t>컴퓨터소프트웨어과</a:t>
            </a:r>
            <a:endParaRPr lang="en-US" altLang="ko-KR" dirty="0"/>
          </a:p>
          <a:p>
            <a:r>
              <a:rPr lang="ko-KR" altLang="en-US" dirty="0"/>
              <a:t>동의과학대학교</a:t>
            </a:r>
          </a:p>
        </p:txBody>
      </p:sp>
    </p:spTree>
    <p:extLst>
      <p:ext uri="{BB962C8B-B14F-4D97-AF65-F5344CB8AC3E}">
        <p14:creationId xmlns:p14="http://schemas.microsoft.com/office/powerpoint/2010/main" val="333619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Type) </a:t>
            </a:r>
            <a:r>
              <a:rPr lang="ko-KR" altLang="en-US" dirty="0"/>
              <a:t>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345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자료형 </a:t>
            </a:r>
            <a:r>
              <a:rPr lang="en-US" altLang="ko-KR" dirty="0"/>
              <a:t>(Data Type)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데이터의 형태를 정의하는 것으로</a:t>
            </a:r>
            <a:r>
              <a:rPr lang="en-US" altLang="ko-KR" dirty="0"/>
              <a:t>, </a:t>
            </a:r>
            <a:r>
              <a:rPr lang="ko-KR" altLang="en-US" dirty="0"/>
              <a:t>변수에 저장할 수 있는 데이터 종류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각 자료형마다 저장할 수 있는 값과 적용할 수 있는 연산이 다름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en-US" altLang="ko-KR" dirty="0"/>
              <a:t>Built-in Data Types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5004A32-8293-CB97-D71A-EF9D6F026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7369"/>
              </p:ext>
            </p:extLst>
          </p:nvPr>
        </p:nvGraphicFramePr>
        <p:xfrm>
          <a:off x="1432233" y="3429000"/>
          <a:ext cx="8128000" cy="321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664">
                  <a:extLst>
                    <a:ext uri="{9D8B030D-6E8A-4147-A177-3AD203B41FA5}">
                      <a16:colId xmlns:a16="http://schemas.microsoft.com/office/drawing/2014/main" val="1089981063"/>
                    </a:ext>
                  </a:extLst>
                </a:gridCol>
                <a:gridCol w="5568336">
                  <a:extLst>
                    <a:ext uri="{9D8B030D-6E8A-4147-A177-3AD203B41FA5}">
                      <a16:colId xmlns:a16="http://schemas.microsoft.com/office/drawing/2014/main" val="1697719655"/>
                    </a:ext>
                  </a:extLst>
                </a:gridCol>
              </a:tblGrid>
              <a:tr h="4022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Python class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079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Text 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str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01429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Numeric Types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int, float, complex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597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Sequence Types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list, tuple, range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442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Mapping 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dict</a:t>
                      </a:r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9660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Set Types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set, </a:t>
                      </a:r>
                      <a:r>
                        <a:rPr lang="en-US" altLang="ko-KR" sz="20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frozenset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243093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Binary Types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bytes, </a:t>
                      </a:r>
                      <a:r>
                        <a:rPr lang="en-US" altLang="ko-KR" sz="20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bytearray</a:t>
                      </a:r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, </a:t>
                      </a:r>
                      <a:r>
                        <a:rPr lang="en-US" altLang="ko-KR" sz="20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memoryview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8557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None 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NoneType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82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72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r>
              <a:rPr lang="en-US" altLang="ko-KR" dirty="0"/>
              <a:t>, </a:t>
            </a:r>
            <a:r>
              <a:rPr lang="ko-KR" altLang="en-US" dirty="0"/>
              <a:t>자료 유형별 값 살펴보기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345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주어진 변수</a:t>
            </a:r>
            <a:r>
              <a:rPr lang="en-US" altLang="ko-KR" dirty="0"/>
              <a:t>, </a:t>
            </a:r>
            <a:r>
              <a:rPr lang="ko-KR" altLang="en-US" dirty="0"/>
              <a:t>값의 자료형은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type( ) </a:t>
            </a:r>
            <a:r>
              <a:rPr lang="ko-KR" altLang="en-US" dirty="0"/>
              <a:t>함수로 확인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en-US" altLang="ko-KR" dirty="0"/>
              <a:t>Built-in Data Types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5004A32-8293-CB97-D71A-EF9D6F026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21613"/>
              </p:ext>
            </p:extLst>
          </p:nvPr>
        </p:nvGraphicFramePr>
        <p:xfrm>
          <a:off x="1159173" y="3262976"/>
          <a:ext cx="5477601" cy="321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375">
                  <a:extLst>
                    <a:ext uri="{9D8B030D-6E8A-4147-A177-3AD203B41FA5}">
                      <a16:colId xmlns:a16="http://schemas.microsoft.com/office/drawing/2014/main" val="1089981063"/>
                    </a:ext>
                  </a:extLst>
                </a:gridCol>
                <a:gridCol w="4031226">
                  <a:extLst>
                    <a:ext uri="{9D8B030D-6E8A-4147-A177-3AD203B41FA5}">
                      <a16:colId xmlns:a16="http://schemas.microsoft.com/office/drawing/2014/main" val="1697719655"/>
                    </a:ext>
                  </a:extLst>
                </a:gridCol>
              </a:tblGrid>
              <a:tr h="402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Data 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079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str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“Hello Python”</a:t>
                      </a:r>
                      <a:endParaRPr lang="ko-KR" altLang="en-US" sz="2000" b="1" dirty="0">
                        <a:solidFill>
                          <a:srgbClr val="0000FF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01429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int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100</a:t>
                      </a:r>
                      <a:endParaRPr lang="ko-KR" altLang="en-US" sz="2000" b="1" dirty="0">
                        <a:solidFill>
                          <a:srgbClr val="0000FF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597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float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kern="1200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36.5</a:t>
                      </a:r>
                      <a:endParaRPr lang="ko-KR" altLang="en-US" sz="2000" b="1" kern="1200" dirty="0">
                        <a:solidFill>
                          <a:srgbClr val="0000FF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442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complex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kern="1200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2+3j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# </a:t>
                      </a:r>
                      <a:r>
                        <a:rPr lang="ko-KR" alt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복소수형 </a:t>
                      </a:r>
                      <a:r>
                        <a:rPr lang="en-US" altLang="ko-KR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허수 부분은 </a:t>
                      </a:r>
                      <a:r>
                        <a:rPr lang="en-US" altLang="ko-KR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j </a:t>
                      </a:r>
                      <a:r>
                        <a:rPr lang="ko-KR" altLang="en-US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사용</a:t>
                      </a:r>
                      <a:r>
                        <a:rPr lang="en-US" altLang="ko-KR" sz="1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)</a:t>
                      </a:r>
                      <a:endParaRPr lang="ko-KR" alt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9660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list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kern="1200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[10, 20, 30]</a:t>
                      </a:r>
                      <a:endParaRPr lang="ko-KR" altLang="en-US" sz="2000" b="1" kern="1200" dirty="0">
                        <a:solidFill>
                          <a:srgbClr val="0000FF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243093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tuple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kern="1200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(“</a:t>
                      </a:r>
                      <a:r>
                        <a:rPr lang="en-US" altLang="ko-KR" sz="2000" b="1" kern="1200" dirty="0" err="1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Jan”,”Feb</a:t>
                      </a:r>
                      <a:r>
                        <a:rPr lang="en-US" altLang="ko-KR" sz="2000" b="1" kern="1200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”, “Mar”)</a:t>
                      </a:r>
                      <a:endParaRPr lang="ko-KR" altLang="en-US" sz="2000" b="1" kern="1200" dirty="0">
                        <a:solidFill>
                          <a:srgbClr val="0000FF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8557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range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kern="1200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range(10)</a:t>
                      </a:r>
                      <a:endParaRPr lang="ko-KR" altLang="en-US" sz="2000" b="1" kern="1200" dirty="0">
                        <a:solidFill>
                          <a:srgbClr val="0000FF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82349"/>
                  </a:ext>
                </a:extLst>
              </a:tr>
            </a:tbl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56BB38A-06E3-A005-4508-001E78F33D51}"/>
              </a:ext>
            </a:extLst>
          </p:cNvPr>
          <p:cNvSpPr/>
          <p:nvPr/>
        </p:nvSpPr>
        <p:spPr>
          <a:xfrm>
            <a:off x="1159175" y="1665721"/>
            <a:ext cx="9539113" cy="102831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 = “apple”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 type(f) ) 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&lt;class ‘str’&gt;</a:t>
            </a:r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CAB1A2-5F44-81DF-DF35-60997F2C6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359271"/>
              </p:ext>
            </p:extLst>
          </p:nvPr>
        </p:nvGraphicFramePr>
        <p:xfrm>
          <a:off x="6714400" y="3262976"/>
          <a:ext cx="4995820" cy="321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81">
                  <a:extLst>
                    <a:ext uri="{9D8B030D-6E8A-4147-A177-3AD203B41FA5}">
                      <a16:colId xmlns:a16="http://schemas.microsoft.com/office/drawing/2014/main" val="1089981063"/>
                    </a:ext>
                  </a:extLst>
                </a:gridCol>
                <a:gridCol w="3303639">
                  <a:extLst>
                    <a:ext uri="{9D8B030D-6E8A-4147-A177-3AD203B41FA5}">
                      <a16:colId xmlns:a16="http://schemas.microsoft.com/office/drawing/2014/main" val="1697719655"/>
                    </a:ext>
                  </a:extLst>
                </a:gridCol>
              </a:tblGrid>
              <a:tr h="402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Data 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079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dict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dirty="0">
                          <a:solidFill>
                            <a:srgbClr val="0000FF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{“key1”:”value”}</a:t>
                      </a:r>
                      <a:endParaRPr lang="ko-KR" altLang="en-US" sz="2000" b="1" dirty="0">
                        <a:solidFill>
                          <a:srgbClr val="0000FF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01429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set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{10, 20, 30}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597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bool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True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442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NoneType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None 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9660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bytes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b”Hello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”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243093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bytearray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bytearray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(5)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8557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2000" b="1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memoryview</a:t>
                      </a:r>
                      <a:endParaRPr lang="ko-KR" altLang="en-US" sz="20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</a:t>
                      </a:r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memoryview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(bytes(5))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82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63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Type: </a:t>
            </a:r>
            <a:r>
              <a:rPr lang="en-US" altLang="ko-KR" dirty="0">
                <a:solidFill>
                  <a:srgbClr val="C00000"/>
                </a:solidFill>
              </a:rPr>
              <a:t>Numbers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345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 Numeric Types</a:t>
            </a:r>
          </a:p>
          <a:p>
            <a:pPr lvl="1">
              <a:lnSpc>
                <a:spcPct val="100000"/>
              </a:lnSpc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int, float, complex</a:t>
            </a: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en-US" altLang="ko-KR" dirty="0"/>
              <a:t>Type Conversion </a:t>
            </a:r>
            <a:r>
              <a:rPr lang="en-US" altLang="ko-KR" dirty="0" err="1"/>
              <a:t>btwn</a:t>
            </a:r>
            <a:r>
              <a:rPr lang="en-US" altLang="ko-KR" dirty="0"/>
              <a:t>. Numeric Types</a:t>
            </a: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593143" y="2284835"/>
            <a:ext cx="9539113" cy="11441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123	   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int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정수형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 = 3.141592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float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실수형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 = 2 + 3j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complex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복소수형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허수 부분은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j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사용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593142" y="4134597"/>
            <a:ext cx="9539113" cy="1519753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x = complex(a)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(123+0j)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y =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(b)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3,  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소수점 아래는 버림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z = float(a)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123.0</a:t>
            </a:r>
          </a:p>
          <a:p>
            <a:r>
              <a:rPr lang="en-US" altLang="ko-KR" sz="2000" b="1" strike="sngStrike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z = </a:t>
            </a:r>
            <a:r>
              <a:rPr lang="en-US" altLang="ko-KR" sz="2000" b="1" strike="sngStrike" dirty="0" err="1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</a:t>
            </a:r>
            <a:r>
              <a:rPr lang="en-US" altLang="ko-KR" sz="2000" b="1" strike="sngStrike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(c)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complex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형 값을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float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형으로 변환은 불가능</a:t>
            </a:r>
          </a:p>
          <a:p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9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Operators: </a:t>
            </a:r>
            <a:r>
              <a:rPr lang="en-US" altLang="ko-KR" dirty="0">
                <a:solidFill>
                  <a:srgbClr val="C00000"/>
                </a:solidFill>
              </a:rPr>
              <a:t>Numbers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345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산술 연산자 </a:t>
            </a:r>
            <a:r>
              <a:rPr lang="en-US" altLang="ko-KR" dirty="0"/>
              <a:t>(Arithmetic Operators)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5004A32-8293-CB97-D71A-EF9D6F026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159389"/>
              </p:ext>
            </p:extLst>
          </p:nvPr>
        </p:nvGraphicFramePr>
        <p:xfrm>
          <a:off x="1189637" y="1805473"/>
          <a:ext cx="9531236" cy="3602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226">
                  <a:extLst>
                    <a:ext uri="{9D8B030D-6E8A-4147-A177-3AD203B41FA5}">
                      <a16:colId xmlns:a16="http://schemas.microsoft.com/office/drawing/2014/main" val="1089981063"/>
                    </a:ext>
                  </a:extLst>
                </a:gridCol>
                <a:gridCol w="2709990">
                  <a:extLst>
                    <a:ext uri="{9D8B030D-6E8A-4147-A177-3AD203B41FA5}">
                      <a16:colId xmlns:a16="http://schemas.microsoft.com/office/drawing/2014/main" val="1697719655"/>
                    </a:ext>
                  </a:extLst>
                </a:gridCol>
                <a:gridCol w="5645020">
                  <a:extLst>
                    <a:ext uri="{9D8B030D-6E8A-4147-A177-3AD203B41FA5}">
                      <a16:colId xmlns:a16="http://schemas.microsoft.com/office/drawing/2014/main" val="2190068652"/>
                    </a:ext>
                  </a:extLst>
                </a:gridCol>
              </a:tblGrid>
              <a:tr h="4022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 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079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+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덧셈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+ y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01429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-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뺄셈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</a:t>
                      </a:r>
                      <a:r>
                        <a:rPr lang="en-US" altLang="ko-KR" sz="20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- y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597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*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곱셈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* y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442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/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나눗셈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/ y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9660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%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나머지 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(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정수 나눗셈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)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% y      5 % 3 -&gt; 2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243093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**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지수 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** y     2</a:t>
                      </a:r>
                      <a:r>
                        <a:rPr lang="en-US" altLang="ko-KR" sz="20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** 10 -&gt; 1024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8557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//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몫 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(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정수 나눗셈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)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// y     5 % 3 -&gt; 1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82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57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Type: </a:t>
            </a:r>
            <a:r>
              <a:rPr lang="en-US" altLang="ko-KR" dirty="0">
                <a:solidFill>
                  <a:srgbClr val="C00000"/>
                </a:solidFill>
              </a:rPr>
              <a:t>Strings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</a:t>
            </a:r>
            <a:r>
              <a:rPr lang="en-US" altLang="ko-KR" b="0" dirty="0"/>
              <a:t>(string): </a:t>
            </a:r>
            <a:r>
              <a:rPr lang="en-US" altLang="ko-KR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</a:t>
            </a:r>
            <a:r>
              <a:rPr lang="en-US" altLang="ko-KR" b="0" dirty="0"/>
              <a:t> </a:t>
            </a:r>
            <a:r>
              <a:rPr lang="ko-KR" altLang="en-US" b="0" dirty="0"/>
              <a:t>또는 </a:t>
            </a:r>
            <a:r>
              <a:rPr lang="en-US" altLang="ko-KR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ko-KR" altLang="en-US" b="0" dirty="0"/>
              <a:t>로 묶은 텍스트</a:t>
            </a:r>
            <a:r>
              <a:rPr lang="en-US" altLang="ko-KR" b="0" dirty="0"/>
              <a:t>: </a:t>
            </a:r>
            <a:r>
              <a:rPr lang="en-US" altLang="ko-KR" dirty="0">
                <a:solidFill>
                  <a:srgbClr val="C0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</a:t>
            </a:r>
            <a:r>
              <a:rPr lang="en-US" altLang="ko-KR" dirty="0" err="1">
                <a:solidFill>
                  <a:srgbClr val="C0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hello”</a:t>
            </a:r>
            <a:r>
              <a:rPr lang="en-US" altLang="ko-KR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</a:t>
            </a:r>
            <a:r>
              <a:rPr lang="en-US" altLang="ko-KR" dirty="0" err="1">
                <a:solidFill>
                  <a:srgbClr val="C0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‘python</a:t>
            </a:r>
            <a:r>
              <a:rPr lang="en-US" altLang="ko-KR" dirty="0">
                <a:solidFill>
                  <a:srgbClr val="C0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’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따옴표 내의 따옴표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36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문자열 표시 따옴표와 같은 문자를 문자열 내에서 사용하려면</a:t>
            </a:r>
            <a:r>
              <a:rPr lang="en-US" altLang="ko-KR" dirty="0"/>
              <a:t>?</a:t>
            </a: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4" y="2574496"/>
            <a:ext cx="10601967" cy="99912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print(“I like </a:t>
            </a:r>
            <a:r>
              <a:rPr lang="en-US" altLang="ko-KR" sz="24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‘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Python</a:t>
            </a:r>
            <a:r>
              <a:rPr lang="en-US" altLang="ko-KR" sz="24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’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.”)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I like ‘Python’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print(‘I like </a:t>
            </a:r>
            <a:r>
              <a:rPr lang="en-US" altLang="ko-KR" sz="24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Python</a:t>
            </a:r>
            <a:r>
              <a:rPr lang="en-US" altLang="ko-KR" sz="24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.’)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I like “Python”</a:t>
            </a: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4" y="4321518"/>
            <a:ext cx="10601967" cy="999127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print(“I like </a:t>
            </a:r>
            <a:r>
              <a:rPr lang="en-US" altLang="ko-KR" sz="24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\”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Python</a:t>
            </a:r>
            <a:r>
              <a:rPr lang="en-US" altLang="ko-KR" sz="24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\”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.”)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 Escape Sequence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문자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\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사용</a:t>
            </a:r>
          </a:p>
          <a:p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I like “Python”</a:t>
            </a:r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34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Type: </a:t>
            </a:r>
            <a:r>
              <a:rPr lang="en-US" altLang="ko-KR" dirty="0">
                <a:solidFill>
                  <a:srgbClr val="C00000"/>
                </a:solidFill>
              </a:rPr>
              <a:t>Strings</a:t>
            </a:r>
            <a:r>
              <a:rPr lang="en-US" altLang="ko-KR" dirty="0"/>
              <a:t>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여러 줄 문자열은 </a:t>
            </a:r>
            <a:r>
              <a:rPr lang="en-US" altLang="ko-KR" b="0" dirty="0"/>
              <a:t> </a:t>
            </a:r>
            <a:r>
              <a:rPr lang="en-US" altLang="ko-KR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’ ’ </a:t>
            </a:r>
            <a:r>
              <a:rPr lang="en-US" altLang="ko-KR" b="0" dirty="0"/>
              <a:t> </a:t>
            </a:r>
            <a:r>
              <a:rPr lang="ko-KR" altLang="en-US" b="0" dirty="0"/>
              <a:t>또는 </a:t>
            </a:r>
            <a:r>
              <a:rPr lang="en-US" altLang="ko-KR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 ” ”</a:t>
            </a:r>
            <a:r>
              <a:rPr lang="ko-KR" altLang="en-US" b="0" dirty="0"/>
              <a:t>로 묶은 텍스트 영역</a:t>
            </a:r>
            <a:endParaRPr lang="en-US" altLang="ko-KR" b="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b="0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변수에 저장되지 않은 문자열은 </a:t>
            </a:r>
            <a:r>
              <a:rPr lang="en-US" altLang="ko-KR" dirty="0"/>
              <a:t>comments </a:t>
            </a:r>
            <a:r>
              <a:rPr lang="ko-KR" altLang="en-US" dirty="0"/>
              <a:t>역할을 함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여러 줄 문자열의 텍스트는 띄어쓰기</a:t>
            </a:r>
            <a:r>
              <a:rPr lang="en-US" altLang="ko-KR" dirty="0"/>
              <a:t>, </a:t>
            </a:r>
            <a:r>
              <a:rPr lang="ko-KR" altLang="en-US" dirty="0" err="1"/>
              <a:t>줄바꿈</a:t>
            </a:r>
            <a:r>
              <a:rPr lang="ko-KR" altLang="en-US" dirty="0"/>
              <a:t> 등이 그대로 저장됨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949332" y="1896834"/>
            <a:ext cx="4443762" cy="21339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rgbClr val="FFFF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‘‘‘</a:t>
            </a:r>
          </a:p>
          <a:p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Lorem ipsum dolor sit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amet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</a:p>
          <a:p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consectetur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adipiscing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elit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</a:p>
          <a:p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sed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do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eiusmod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tempor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</a:p>
          <a:p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incididunt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ut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labore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et </a:t>
            </a:r>
          </a:p>
          <a:p>
            <a:r>
              <a:rPr lang="en-US" altLang="ko-KR" sz="2400" b="1" dirty="0">
                <a:solidFill>
                  <a:srgbClr val="FFFF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’’’</a:t>
            </a: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5745267" y="1896431"/>
            <a:ext cx="4443762" cy="21343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</a:t>
            </a:r>
            <a:r>
              <a:rPr lang="en-US" altLang="ko-KR" sz="2400" b="1" dirty="0">
                <a:solidFill>
                  <a:srgbClr val="FFFF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“““</a:t>
            </a:r>
          </a:p>
          <a:p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Lorem ipsum dolor sit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amet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</a:p>
          <a:p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consectetur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adipiscing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elit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</a:p>
          <a:p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sed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do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eiusmod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tempor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</a:p>
          <a:p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incididunt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ut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labore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et </a:t>
            </a:r>
          </a:p>
          <a:p>
            <a:r>
              <a:rPr lang="en-US" altLang="ko-KR" sz="2400" b="1" dirty="0">
                <a:solidFill>
                  <a:srgbClr val="FFFF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”””</a:t>
            </a:r>
          </a:p>
        </p:txBody>
      </p:sp>
      <p:sp>
        <p:nvSpPr>
          <p:cNvPr id="4" name="아래쪽 화살표 3"/>
          <p:cNvSpPr/>
          <p:nvPr/>
        </p:nvSpPr>
        <p:spPr>
          <a:xfrm rot="10800000">
            <a:off x="2835311" y="4066192"/>
            <a:ext cx="671804" cy="6119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033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</a:t>
            </a:r>
            <a:r>
              <a:rPr lang="ko-KR" altLang="en-US" dirty="0"/>
              <a:t>문자열은 배열</a:t>
            </a:r>
            <a:r>
              <a:rPr lang="en-US" altLang="ko-KR" dirty="0"/>
              <a:t>(array)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문자열은 문자들의 배열</a:t>
            </a:r>
            <a:endParaRPr lang="en-US" altLang="ko-KR" dirty="0">
              <a:solidFill>
                <a:srgbClr val="C0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배열 인덱싱 적용됨</a:t>
            </a:r>
            <a:r>
              <a:rPr lang="en-US" altLang="ko-KR" dirty="0"/>
              <a:t>: </a:t>
            </a:r>
            <a:r>
              <a:rPr lang="en-US" altLang="ko-KR" sz="24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(0~n-1, n=length)</a:t>
            </a:r>
            <a:endParaRPr lang="en-US" altLang="ko-KR" sz="20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문자열의 문자들 처리에 </a:t>
            </a:r>
            <a:r>
              <a:rPr lang="ko-KR" altLang="en-US" dirty="0" err="1"/>
              <a:t>반복문</a:t>
            </a:r>
            <a:r>
              <a:rPr lang="ko-KR" altLang="en-US" dirty="0"/>
              <a:t> 이용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sz="3200" dirty="0"/>
          </a:p>
          <a:p>
            <a:pPr>
              <a:lnSpc>
                <a:spcPct val="100000"/>
              </a:lnSpc>
            </a:pPr>
            <a:r>
              <a:rPr lang="ko-KR" altLang="en-US" dirty="0"/>
              <a:t>문자열의 길이 확인</a:t>
            </a:r>
            <a:r>
              <a:rPr lang="en-US" altLang="ko-KR" dirty="0"/>
              <a:t>: </a:t>
            </a:r>
            <a:r>
              <a:rPr lang="en-US" altLang="ko-KR" sz="2400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4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)</a:t>
            </a: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5" y="2574496"/>
            <a:ext cx="8381282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“Hello Python”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print(a[1])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“e”</a:t>
            </a: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4" y="4088251"/>
            <a:ext cx="3529363" cy="1155551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“Hello Python”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in a: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</p:txBody>
      </p:sp>
      <p:sp>
        <p:nvSpPr>
          <p:cNvPr id="9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5176098" y="4017962"/>
            <a:ext cx="4359788" cy="1155551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in “Hello Python” :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</p:txBody>
      </p:sp>
      <p:sp>
        <p:nvSpPr>
          <p:cNvPr id="10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5" y="5828099"/>
            <a:ext cx="8381282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“Hello”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(a))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5</a:t>
            </a:r>
          </a:p>
        </p:txBody>
      </p:sp>
    </p:spTree>
    <p:extLst>
      <p:ext uri="{BB962C8B-B14F-4D97-AF65-F5344CB8AC3E}">
        <p14:creationId xmlns:p14="http://schemas.microsoft.com/office/powerpoint/2010/main" val="61181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</a:t>
            </a:r>
            <a:r>
              <a:rPr lang="ko-KR" altLang="en-US" dirty="0"/>
              <a:t>문자열은 배열</a:t>
            </a:r>
            <a:r>
              <a:rPr lang="en-US" altLang="ko-KR" dirty="0"/>
              <a:t>(array)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문자열은 문자들의 배열</a:t>
            </a:r>
            <a:endParaRPr lang="en-US" altLang="ko-KR" dirty="0">
              <a:solidFill>
                <a:srgbClr val="C0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배열 인덱싱 적용됨</a:t>
            </a:r>
            <a:r>
              <a:rPr lang="en-US" altLang="ko-KR" dirty="0"/>
              <a:t>: </a:t>
            </a:r>
            <a:r>
              <a:rPr lang="en-US" altLang="ko-KR" sz="24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(0~n-1, n=length)</a:t>
            </a:r>
            <a:endParaRPr lang="en-US" altLang="ko-KR" sz="20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문자열의 문자들 처리에 </a:t>
            </a:r>
            <a:r>
              <a:rPr lang="ko-KR" altLang="en-US" dirty="0" err="1"/>
              <a:t>반복문</a:t>
            </a:r>
            <a:r>
              <a:rPr lang="ko-KR" altLang="en-US" dirty="0"/>
              <a:t> 이용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sz="3200" dirty="0"/>
          </a:p>
          <a:p>
            <a:pPr>
              <a:lnSpc>
                <a:spcPct val="100000"/>
              </a:lnSpc>
            </a:pPr>
            <a:r>
              <a:rPr lang="ko-KR" altLang="en-US" dirty="0"/>
              <a:t>문자열의 길이 확인 함수</a:t>
            </a:r>
            <a:r>
              <a:rPr lang="en-US" altLang="ko-KR" dirty="0"/>
              <a:t>: </a:t>
            </a:r>
            <a:r>
              <a:rPr lang="en-US" altLang="ko-KR" sz="2400" dirty="0" err="1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40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)</a:t>
            </a: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5" y="2574496"/>
            <a:ext cx="8381282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“Hello Python”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print(a</a:t>
            </a:r>
            <a:r>
              <a:rPr lang="en-US" altLang="ko-KR" sz="2000" b="1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[1]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“e”</a:t>
            </a: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4" y="4088251"/>
            <a:ext cx="3529363" cy="1155551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“Hello Python”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in a: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</p:txBody>
      </p:sp>
      <p:sp>
        <p:nvSpPr>
          <p:cNvPr id="9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5176098" y="4017962"/>
            <a:ext cx="4359788" cy="1155551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in “Hello Python” :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ch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</p:txBody>
      </p:sp>
      <p:sp>
        <p:nvSpPr>
          <p:cNvPr id="10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5" y="5828099"/>
            <a:ext cx="3529362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“Hello”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(a))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5</a:t>
            </a:r>
          </a:p>
        </p:txBody>
      </p:sp>
      <p:sp>
        <p:nvSpPr>
          <p:cNvPr id="8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5176098" y="5828098"/>
            <a:ext cx="4359788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(“ABCDE”))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5</a:t>
            </a:r>
          </a:p>
        </p:txBody>
      </p:sp>
    </p:spTree>
    <p:extLst>
      <p:ext uri="{BB962C8B-B14F-4D97-AF65-F5344CB8AC3E}">
        <p14:creationId xmlns:p14="http://schemas.microsoft.com/office/powerpoint/2010/main" val="3024770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</a:t>
            </a:r>
            <a:r>
              <a:rPr lang="ko-KR" altLang="en-US" dirty="0"/>
              <a:t>문자열</a:t>
            </a:r>
            <a:r>
              <a:rPr lang="en-US" altLang="ko-KR" dirty="0"/>
              <a:t> </a:t>
            </a:r>
            <a:r>
              <a:rPr lang="ko-KR" altLang="en-US" dirty="0"/>
              <a:t>내용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문자열에 특정 문자열의 포함 여부 확인하기</a:t>
            </a:r>
            <a:endParaRPr lang="en-US" altLang="ko-KR" dirty="0">
              <a:solidFill>
                <a:srgbClr val="C0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</a:t>
            </a:r>
            <a:r>
              <a:rPr lang="en-US" altLang="ko-KR" dirty="0"/>
              <a:t> : </a:t>
            </a:r>
            <a:r>
              <a:rPr lang="ko-KR" altLang="en-US" dirty="0"/>
              <a:t>문자열이 포함되어 있으면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True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not in</a:t>
            </a:r>
            <a:r>
              <a:rPr lang="en-US" altLang="ko-KR" dirty="0"/>
              <a:t> : </a:t>
            </a:r>
            <a:r>
              <a:rPr lang="ko-KR" altLang="en-US" dirty="0"/>
              <a:t>문자열이 포함되어 있지 않으면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True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5" y="2574496"/>
            <a:ext cx="4639705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txt = “I love Korea.”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print(“Korea” 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txt)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True</a:t>
            </a:r>
          </a:p>
        </p:txBody>
      </p:sp>
      <p:sp>
        <p:nvSpPr>
          <p:cNvPr id="10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4" y="5249601"/>
            <a:ext cx="6132604" cy="143111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favFruits</a:t>
            </a:r>
            <a:r>
              <a:rPr lang="en-US" altLang="ko-KR" sz="16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“apple, mango, kiwi”</a:t>
            </a:r>
          </a:p>
          <a:p>
            <a:r>
              <a:rPr lang="en-US" altLang="ko-KR" sz="16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 “mango” in </a:t>
            </a:r>
            <a:r>
              <a:rPr lang="en-US" altLang="ko-KR" sz="16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favFruits</a:t>
            </a:r>
            <a:r>
              <a:rPr lang="en-US" altLang="ko-KR" sz="16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</a:t>
            </a:r>
          </a:p>
          <a:p>
            <a:r>
              <a:rPr lang="en-US" altLang="ko-KR" sz="16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print(“He likes mango.”)</a:t>
            </a:r>
          </a:p>
          <a:p>
            <a:r>
              <a:rPr lang="en-US" altLang="ko-KR" sz="16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else:</a:t>
            </a:r>
          </a:p>
          <a:p>
            <a:r>
              <a:rPr lang="en-US" altLang="ko-KR" sz="16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print(“Mango is not his favorite fruits.”)</a:t>
            </a:r>
            <a:endParaRPr lang="en-US" altLang="ko-KR" sz="16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11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6351753" y="2574495"/>
            <a:ext cx="4854310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txt = “I love Korea.”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print(“Japan” 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txt)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False</a:t>
            </a:r>
          </a:p>
        </p:txBody>
      </p:sp>
      <p:sp>
        <p:nvSpPr>
          <p:cNvPr id="12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5" y="4186546"/>
            <a:ext cx="4639705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“I love Korea.”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print(“Korea” 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not in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a)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False</a:t>
            </a:r>
          </a:p>
        </p:txBody>
      </p:sp>
      <p:sp>
        <p:nvSpPr>
          <p:cNvPr id="13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6351753" y="4186545"/>
            <a:ext cx="4854310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“I love Korea.”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print(“Japan” </a:t>
            </a:r>
            <a:r>
              <a:rPr lang="en-US" altLang="ko-KR" sz="2000" b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not in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a)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True</a:t>
            </a:r>
          </a:p>
        </p:txBody>
      </p:sp>
    </p:spTree>
    <p:extLst>
      <p:ext uri="{BB962C8B-B14F-4D97-AF65-F5344CB8AC3E}">
        <p14:creationId xmlns:p14="http://schemas.microsoft.com/office/powerpoint/2010/main" val="261329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</a:t>
            </a:r>
            <a:r>
              <a:rPr lang="ko-KR" altLang="en-US" dirty="0"/>
              <a:t>문자열</a:t>
            </a:r>
            <a:r>
              <a:rPr lang="en-US" altLang="ko-KR" dirty="0"/>
              <a:t> </a:t>
            </a:r>
            <a:r>
              <a:rPr lang="ko-KR" altLang="en-US" dirty="0"/>
              <a:t>자르기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문자열의 일부를 지정하여 </a:t>
            </a:r>
            <a:r>
              <a:rPr lang="ko-KR" altLang="en-US" b="0" dirty="0" err="1"/>
              <a:t>잘라내기</a:t>
            </a:r>
            <a:r>
              <a:rPr lang="en-US" altLang="ko-KR" sz="2000" b="0" dirty="0">
                <a:solidFill>
                  <a:srgbClr val="0000FF"/>
                </a:solidFill>
              </a:rPr>
              <a:t>(</a:t>
            </a:r>
            <a:r>
              <a:rPr lang="ko-KR" altLang="en-US" sz="2000" b="0" dirty="0">
                <a:solidFill>
                  <a:srgbClr val="0000FF"/>
                </a:solidFill>
              </a:rPr>
              <a:t>복사본 반환</a:t>
            </a:r>
            <a:r>
              <a:rPr lang="en-US" altLang="ko-KR" sz="2000" b="0" dirty="0">
                <a:solidFill>
                  <a:srgbClr val="0000FF"/>
                </a:solidFill>
              </a:rPr>
              <a:t>, </a:t>
            </a:r>
            <a:r>
              <a:rPr lang="ko-KR" altLang="en-US" sz="2000" b="0" dirty="0">
                <a:solidFill>
                  <a:srgbClr val="0000FF"/>
                </a:solidFill>
              </a:rPr>
              <a:t>원본 유지</a:t>
            </a:r>
            <a:r>
              <a:rPr lang="en-US" altLang="ko-KR" sz="2000" b="0" dirty="0">
                <a:solidFill>
                  <a:srgbClr val="0000FF"/>
                </a:solidFill>
              </a:rPr>
              <a:t>)</a:t>
            </a:r>
            <a:endParaRPr lang="en-US" altLang="ko-KR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형식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str[ </a:t>
            </a:r>
            <a:r>
              <a:rPr lang="en-US" altLang="ko-KR" b="0" i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indexFrom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: </a:t>
            </a:r>
            <a:r>
              <a:rPr lang="en-US" altLang="ko-KR" b="0" i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indexTo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]  </a:t>
            </a:r>
            <a:r>
              <a:rPr lang="en-US" altLang="ko-KR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0" i="1" u="sng" dirty="0" err="1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indexTo</a:t>
            </a:r>
            <a:r>
              <a:rPr lang="ko-KR" altLang="en-US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앞까지</a:t>
            </a:r>
            <a:r>
              <a:rPr lang="en-US" altLang="ko-KR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800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문자열 처음부터 자르기</a:t>
            </a:r>
            <a:r>
              <a:rPr lang="en-US" altLang="ko-KR" dirty="0"/>
              <a:t>: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str[ : </a:t>
            </a:r>
            <a:r>
              <a:rPr lang="en-US" altLang="ko-KR" b="0" i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indexTo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]  </a:t>
            </a:r>
            <a:r>
              <a:rPr lang="en-US" altLang="ko-KR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0" i="1" u="sng" dirty="0" err="1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indexFrom</a:t>
            </a:r>
            <a:r>
              <a:rPr lang="ko-KR" altLang="en-US" sz="2000" b="0" i="1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생략</a:t>
            </a:r>
            <a:r>
              <a:rPr lang="en-US" altLang="ko-KR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ct val="100000"/>
              </a:lnSpc>
            </a:pPr>
            <a:endParaRPr lang="en-US" altLang="ko-KR" sz="2000" u="sng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u="sng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문자열 끝까지 자르기</a:t>
            </a:r>
            <a:r>
              <a:rPr lang="en-US" altLang="ko-KR" dirty="0"/>
              <a:t>: str[ </a:t>
            </a:r>
            <a:r>
              <a:rPr lang="en-US" altLang="ko-KR" b="0" i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indexFrom</a:t>
            </a:r>
            <a:r>
              <a:rPr lang="en-US" altLang="ko-KR" b="0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dirty="0"/>
              <a:t>: ]  </a:t>
            </a:r>
            <a:r>
              <a:rPr lang="en-US" altLang="ko-KR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0" i="1" u="sng" dirty="0" err="1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indexTo</a:t>
            </a:r>
            <a:r>
              <a:rPr lang="ko-KR" altLang="en-US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생략</a:t>
            </a:r>
            <a:r>
              <a:rPr lang="en-US" altLang="ko-KR" sz="2000" u="sng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ct val="100000"/>
              </a:lnSpc>
            </a:pPr>
            <a:endParaRPr lang="en-US" altLang="ko-KR" sz="2000" u="sng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154605" y="2574496"/>
            <a:ext cx="4639705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“ABCDEFGHIJKLMN”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print(a[2:5])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“CDE” F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앞까지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11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6351753" y="4236482"/>
            <a:ext cx="4854310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“I love Korea.”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A[ :1]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?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D35F3F9-E9EA-0E1A-1864-501D26260A38}"/>
              </a:ext>
            </a:extLst>
          </p:cNvPr>
          <p:cNvSpPr/>
          <p:nvPr/>
        </p:nvSpPr>
        <p:spPr>
          <a:xfrm>
            <a:off x="1154605" y="4236482"/>
            <a:ext cx="4639705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“ABCDEFGHIJKLMN”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print(a[ :5])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“ABCDE” F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앞까지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4D36170C-2970-389A-0039-47F9DD120019}"/>
              </a:ext>
            </a:extLst>
          </p:cNvPr>
          <p:cNvSpPr/>
          <p:nvPr/>
        </p:nvSpPr>
        <p:spPr>
          <a:xfrm>
            <a:off x="6351753" y="5701389"/>
            <a:ext cx="4854310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“I love Korea.”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A[0:]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?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B92972-557D-598F-306F-B9CD466F3893}"/>
              </a:ext>
            </a:extLst>
          </p:cNvPr>
          <p:cNvSpPr/>
          <p:nvPr/>
        </p:nvSpPr>
        <p:spPr>
          <a:xfrm>
            <a:off x="1154605" y="5701389"/>
            <a:ext cx="4639705" cy="8591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“ABCDEFGHI”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print(a[5:])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“FGHI”</a:t>
            </a:r>
          </a:p>
        </p:txBody>
      </p:sp>
    </p:spTree>
    <p:extLst>
      <p:ext uri="{BB962C8B-B14F-4D97-AF65-F5344CB8AC3E}">
        <p14:creationId xmlns:p14="http://schemas.microsoft.com/office/powerpoint/2010/main" val="25030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7475-07A4-89B5-A37F-0BA58028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7130A-AD43-42C7-C4CD-456ED9F8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Negative Indexing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203FDA-1F3D-1D52-BB4A-F60D50806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0" dirty="0"/>
              <a:t>Python</a:t>
            </a:r>
            <a:r>
              <a:rPr lang="ko-KR" altLang="en-US" b="0" dirty="0"/>
              <a:t>은 다음과 같이</a:t>
            </a:r>
            <a:r>
              <a:rPr lang="en-US" altLang="ko-KR" b="0" dirty="0"/>
              <a:t>, Negative Indexing</a:t>
            </a:r>
            <a:r>
              <a:rPr lang="ko-KR" altLang="en-US" b="0" dirty="0"/>
              <a:t>을 지원</a:t>
            </a:r>
            <a:endParaRPr lang="en-US" altLang="ko-KR" b="0" dirty="0"/>
          </a:p>
          <a:p>
            <a:pPr>
              <a:lnSpc>
                <a:spcPct val="150000"/>
              </a:lnSpc>
            </a:pPr>
            <a:r>
              <a:rPr lang="ko-KR" altLang="en-US" dirty="0"/>
              <a:t>형식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Example:</a:t>
            </a:r>
          </a:p>
          <a:p>
            <a:pPr lvl="1">
              <a:lnSpc>
                <a:spcPct val="10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a[-1] 		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’J’</a:t>
            </a:r>
          </a:p>
          <a:p>
            <a:pPr lvl="1">
              <a:lnSpc>
                <a:spcPct val="10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a[-4:-1] 	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‘GHI’</a:t>
            </a:r>
          </a:p>
          <a:p>
            <a:pPr lvl="1">
              <a:lnSpc>
                <a:spcPct val="10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a[:-6] 		 ‘ABCD’</a:t>
            </a:r>
          </a:p>
          <a:p>
            <a:pPr lvl="1">
              <a:lnSpc>
                <a:spcPct val="10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a[-5:] 		 ‘FGHIJ’</a:t>
            </a:r>
          </a:p>
          <a:p>
            <a:pPr lvl="1">
              <a:lnSpc>
                <a:spcPct val="10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a[:]		 ?</a:t>
            </a:r>
            <a:endParaRPr lang="en-US" altLang="ko-KR" b="1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CC4BE36-0FC3-A147-E5B5-093230464CFC}"/>
              </a:ext>
            </a:extLst>
          </p:cNvPr>
          <p:cNvGrpSpPr/>
          <p:nvPr/>
        </p:nvGrpSpPr>
        <p:grpSpPr>
          <a:xfrm>
            <a:off x="2106329" y="1845323"/>
            <a:ext cx="6020635" cy="1419410"/>
            <a:chOff x="949332" y="2872673"/>
            <a:chExt cx="6020635" cy="141941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5ABA3A41-1001-C04E-0F99-565A1EA1333F}"/>
                </a:ext>
              </a:extLst>
            </p:cNvPr>
            <p:cNvSpPr/>
            <p:nvPr/>
          </p:nvSpPr>
          <p:spPr>
            <a:xfrm>
              <a:off x="949332" y="2872673"/>
              <a:ext cx="6020635" cy="141941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11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endParaRPr>
            </a:p>
            <a:p>
              <a:r>
                <a:rPr lang="en-US" altLang="ko-KR" sz="4400" b="1" dirty="0">
                  <a:solidFill>
                    <a:schemeClr val="bg1"/>
                  </a:solidFill>
                  <a:latin typeface="나눔고딕코딩" panose="020D0009000000000000" pitchFamily="49" charset="-127"/>
                  <a:ea typeface="나눔고딕코딩" panose="020D0009000000000000" pitchFamily="49" charset="-127"/>
                </a:rPr>
                <a:t>a = </a:t>
              </a:r>
              <a:r>
                <a:rPr lang="en-US" altLang="ko-KR" sz="4400" b="1" dirty="0">
                  <a:solidFill>
                    <a:schemeClr val="bg1"/>
                  </a:solidFill>
                  <a:latin typeface="Courier New" panose="02070309020205020404" pitchFamily="49" charset="0"/>
                  <a:ea typeface="나눔고딕코딩" panose="020D0009000000000000" pitchFamily="49" charset="-127"/>
                  <a:cs typeface="Courier New" panose="02070309020205020404" pitchFamily="49" charset="0"/>
                </a:rPr>
                <a:t>“</a:t>
              </a:r>
              <a:r>
                <a:rPr lang="en-US" altLang="ko-KR" sz="4400" b="1" spc="300" dirty="0">
                  <a:solidFill>
                    <a:schemeClr val="bg1"/>
                  </a:solidFill>
                  <a:latin typeface="Courier New" panose="02070309020205020404" pitchFamily="49" charset="0"/>
                  <a:ea typeface="나눔고딕코딩" panose="020D0009000000000000" pitchFamily="49" charset="-127"/>
                  <a:cs typeface="Courier New" panose="02070309020205020404" pitchFamily="49" charset="0"/>
                </a:rPr>
                <a:t>ABCDEFGHIJ</a:t>
              </a:r>
              <a:r>
                <a:rPr lang="en-US" altLang="ko-KR" sz="4400" b="1" dirty="0">
                  <a:solidFill>
                    <a:schemeClr val="bg1"/>
                  </a:solidFill>
                  <a:latin typeface="Courier New" panose="02070309020205020404" pitchFamily="49" charset="0"/>
                  <a:ea typeface="나눔고딕코딩" panose="020D0009000000000000" pitchFamily="49" charset="-127"/>
                  <a:cs typeface="Courier New" panose="02070309020205020404" pitchFamily="49" charset="0"/>
                </a:rPr>
                <a:t>”</a:t>
              </a:r>
              <a:endParaRPr lang="en-US" altLang="ko-KR" sz="4400" b="1" dirty="0">
                <a:solidFill>
                  <a:srgbClr val="92D050"/>
                </a:solidFill>
                <a:latin typeface="Courier New" panose="02070309020205020404" pitchFamily="49" charset="0"/>
                <a:ea typeface="나눔고딕코딩" panose="020D0009000000000000" pitchFamily="49" charset="-127"/>
                <a:cs typeface="Courier New" panose="02070309020205020404" pitchFamily="49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22E9CC-796B-7BF1-117F-2014B79B661D}"/>
                </a:ext>
              </a:extLst>
            </p:cNvPr>
            <p:cNvSpPr txBox="1"/>
            <p:nvPr/>
          </p:nvSpPr>
          <p:spPr>
            <a:xfrm>
              <a:off x="2554973" y="2926927"/>
              <a:ext cx="3761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ko-KR" sz="1600" dirty="0"/>
                <a:t>0 1 2 3 4 5 6 7 8 9</a:t>
              </a:r>
              <a:endParaRPr lang="ko-KR" altLang="en-US" sz="1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73B9DB-348D-FE7E-9314-E7018809E670}"/>
                </a:ext>
              </a:extLst>
            </p:cNvPr>
            <p:cNvSpPr txBox="1"/>
            <p:nvPr/>
          </p:nvSpPr>
          <p:spPr>
            <a:xfrm>
              <a:off x="2453951" y="3855439"/>
              <a:ext cx="38620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ko-KR" sz="16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-10 -9 -8 -7 -6 -5 -4 -3 -2 -1</a:t>
              </a:r>
              <a:endParaRPr lang="ko-KR" alt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2C0A801-EF87-8A46-5FAD-96E25204B2AF}"/>
              </a:ext>
            </a:extLst>
          </p:cNvPr>
          <p:cNvSpPr/>
          <p:nvPr/>
        </p:nvSpPr>
        <p:spPr>
          <a:xfrm flipH="1">
            <a:off x="7735077" y="2522371"/>
            <a:ext cx="3086878" cy="92130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Negative Indexing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240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4A84-7E64-271D-8218-906CFC05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C7A36-E15D-E827-1F2E-D03E4F25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</a:t>
            </a:r>
            <a:r>
              <a:rPr lang="ko-KR" altLang="en-US" dirty="0"/>
              <a:t>문자열</a:t>
            </a:r>
            <a:r>
              <a:rPr lang="en-US" altLang="ko-KR" dirty="0"/>
              <a:t> </a:t>
            </a:r>
            <a:r>
              <a:rPr lang="ko-KR" altLang="en-US" dirty="0"/>
              <a:t>연결하기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BF54ED-D077-2581-A5A9-8BF667586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문자열들 간의 연결은 </a:t>
            </a:r>
            <a:r>
              <a:rPr lang="en-US" altLang="ko-KR" b="0" dirty="0"/>
              <a:t>‘</a:t>
            </a:r>
            <a:r>
              <a:rPr lang="en-US" altLang="ko-KR" sz="3600" dirty="0"/>
              <a:t>+</a:t>
            </a:r>
            <a:r>
              <a:rPr lang="en-US" altLang="ko-KR" b="0" dirty="0"/>
              <a:t>’ </a:t>
            </a:r>
            <a:r>
              <a:rPr lang="ko-KR" altLang="en-US" b="0" dirty="0"/>
              <a:t>연산으로 처리한다</a:t>
            </a:r>
            <a:r>
              <a:rPr lang="en-US" altLang="ko-KR" b="0" dirty="0"/>
              <a:t>.</a:t>
            </a:r>
            <a:endParaRPr lang="en-US" altLang="ko-KR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형식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str1 + str2 + …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&gt;&gt;&gt; </a:t>
            </a:r>
            <a:r>
              <a:rPr lang="en-US" altLang="ko-KR" sz="2400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“Korea” + 2   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오류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!, 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문자열과 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Number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의 덧셈은 불가능</a:t>
            </a:r>
            <a:endParaRPr lang="en-US" altLang="ko-KR" sz="2400" dirty="0">
              <a:solidFill>
                <a:schemeClr val="accent6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&gt;&gt;&gt; </a:t>
            </a:r>
            <a:r>
              <a:rPr lang="en-US" altLang="ko-KR" sz="240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“Korea” * 2   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“</a:t>
            </a:r>
            <a:r>
              <a:rPr lang="en-US" altLang="ko-KR" sz="2400" dirty="0" err="1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KoreaKorea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” 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정수와의 곱셈은 문자열 복사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!</a:t>
            </a:r>
            <a:endParaRPr lang="en-US" altLang="ko-KR" sz="2400" dirty="0">
              <a:solidFill>
                <a:schemeClr val="accent6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BF93BA8-4FEC-4703-D1CF-D158885AC528}"/>
              </a:ext>
            </a:extLst>
          </p:cNvPr>
          <p:cNvSpPr/>
          <p:nvPr/>
        </p:nvSpPr>
        <p:spPr>
          <a:xfrm>
            <a:off x="2115658" y="2863746"/>
            <a:ext cx="4490415" cy="183888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&gt;&gt;&gt; str1 = “Hello”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&gt;&gt;&gt; str2 = “ 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&gt;&gt;&gt; str3 = “Python!”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&gt;&gt;&gt; print(str1 + str2 + str3)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Hello Python! 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966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AF41E-4F15-A43E-08A1-B8FD18E1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1DC33-A150-D36E-2E99-A3BFEAD5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</a:t>
            </a:r>
            <a:r>
              <a:rPr lang="en-US" altLang="ko-KR" dirty="0">
                <a:solidFill>
                  <a:srgbClr val="C00000"/>
                </a:solidFill>
              </a:rPr>
              <a:t>Methods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C4AC7-CCF8-6869-4893-32BC21B65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49620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문자열 처리에 필요한 다양한 </a:t>
            </a:r>
            <a:r>
              <a:rPr lang="en-US" altLang="ko-KR" dirty="0"/>
              <a:t>method</a:t>
            </a:r>
            <a:r>
              <a:rPr lang="ko-KR" altLang="en-US" dirty="0"/>
              <a:t>들을 제공</a:t>
            </a: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32F922-37D4-5BD8-3E31-14F53788B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625903"/>
              </p:ext>
            </p:extLst>
          </p:nvPr>
        </p:nvGraphicFramePr>
        <p:xfrm>
          <a:off x="1189636" y="1805473"/>
          <a:ext cx="10697564" cy="402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283">
                  <a:extLst>
                    <a:ext uri="{9D8B030D-6E8A-4147-A177-3AD203B41FA5}">
                      <a16:colId xmlns:a16="http://schemas.microsoft.com/office/drawing/2014/main" val="1089981063"/>
                    </a:ext>
                  </a:extLst>
                </a:gridCol>
                <a:gridCol w="7341281">
                  <a:extLst>
                    <a:ext uri="{9D8B030D-6E8A-4147-A177-3AD203B41FA5}">
                      <a16:colId xmlns:a16="http://schemas.microsoft.com/office/drawing/2014/main" val="1697719655"/>
                    </a:ext>
                  </a:extLst>
                </a:gridCol>
              </a:tblGrid>
              <a:tr h="402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Metho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079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lower(), upper()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소문자로 변환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대문자로 변환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01429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upper()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대문자로 변환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597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split(</a:t>
                      </a:r>
                      <a:r>
                        <a:rPr lang="en-US" altLang="ko-KR" sz="2000" b="1" i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sep</a:t>
                      </a:r>
                      <a:r>
                        <a:rPr lang="en-US" altLang="ko-KR" sz="2000" b="1" i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=‘ ‘</a:t>
                      </a:r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sep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를 구분자로 문자열 분리하여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list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로 반환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sep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기본값은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space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442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replace(</a:t>
                      </a:r>
                      <a:r>
                        <a:rPr lang="en-US" altLang="ko-KR" sz="2000" b="1" i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old</a:t>
                      </a:r>
                      <a:r>
                        <a:rPr lang="en-US" altLang="ko-KR" sz="2000" b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,</a:t>
                      </a:r>
                      <a:r>
                        <a:rPr lang="en-US" altLang="ko-KR" sz="2000" b="1" i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new</a:t>
                      </a:r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문자열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old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를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new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로 치환하여 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9660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strip() 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문자열 앞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,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뒷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 부분의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white space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제거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243093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index(str)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문자열에서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str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을 검색하여 시작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index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를 반환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, </a:t>
                      </a:r>
                      <a:r>
                        <a:rPr lang="en-US" altLang="ko-KR" sz="2000" b="1" kern="120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or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 </a:t>
                      </a:r>
                      <a:r>
                        <a:rPr lang="en-US" altLang="ko-KR" sz="2000" b="1" kern="120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not</a:t>
                      </a:r>
                      <a:r>
                        <a:rPr lang="ko-KR" altLang="en-US" sz="2000" b="1" kern="120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 </a:t>
                      </a:r>
                      <a:r>
                        <a:rPr lang="en-US" altLang="ko-KR" sz="2000" b="1" kern="120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in</a:t>
                      </a:r>
                      <a:r>
                        <a:rPr lang="ko-KR" altLang="en-US" sz="2000" b="1" kern="1200" dirty="0">
                          <a:solidFill>
                            <a:schemeClr val="dk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연산자도 활용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8557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isspace</a:t>
                      </a:r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()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문자열이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whitespace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인지 확인 결과 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82349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ljust</a:t>
                      </a:r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(length, </a:t>
                      </a:r>
                      <a:r>
                        <a:rPr lang="en-US" altLang="ko-KR" sz="2000" b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fillchar</a:t>
                      </a:r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Length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만큼의 공간 확보 후 왼쪽 정렬하고 빈 공간은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fillchar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로 채움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92712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2000" b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startswith</a:t>
                      </a:r>
                      <a:r>
                        <a:rPr lang="en-US" altLang="ko-KR" sz="20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(str)</a:t>
                      </a:r>
                      <a:endParaRPr lang="ko-KR" altLang="en-US" sz="20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문자열이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str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로 시작하는지 여부를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678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F457FE-DD6C-4D44-9A47-AAD442740894}"/>
              </a:ext>
            </a:extLst>
          </p:cNvPr>
          <p:cNvSpPr txBox="1"/>
          <p:nvPr/>
        </p:nvSpPr>
        <p:spPr>
          <a:xfrm>
            <a:off x="1189636" y="6032810"/>
            <a:ext cx="289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☞ More string methods…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3361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</a:t>
            </a:r>
            <a:r>
              <a:rPr lang="ko-KR" altLang="en-US" dirty="0"/>
              <a:t>형식 문자열</a:t>
            </a:r>
            <a:r>
              <a:rPr lang="en-US" altLang="ko-KR" dirty="0"/>
              <a:t>(format string)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8261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 앞에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</a:t>
            </a:r>
            <a:r>
              <a:rPr lang="ko-KR" altLang="en-US" b="0" dirty="0"/>
              <a:t>를 붙여 표현</a:t>
            </a:r>
            <a:r>
              <a:rPr lang="en-US" altLang="ko-KR" b="0" dirty="0"/>
              <a:t>, </a:t>
            </a:r>
            <a:r>
              <a:rPr lang="ko-KR" altLang="en-US" b="0" dirty="0"/>
              <a:t>문자열 내에 자리표시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 }</a:t>
            </a:r>
            <a:r>
              <a:rPr lang="ko-KR" altLang="en-US" b="0" dirty="0"/>
              <a:t>로 표현식 삽입 </a:t>
            </a: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C674F98-AE5C-4127-9383-B789D3AD9A74}"/>
              </a:ext>
            </a:extLst>
          </p:cNvPr>
          <p:cNvSpPr/>
          <p:nvPr/>
        </p:nvSpPr>
        <p:spPr>
          <a:xfrm>
            <a:off x="2147670" y="4133264"/>
            <a:ext cx="9449597" cy="235961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age = 20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txt = </a:t>
            </a:r>
            <a:r>
              <a:rPr lang="en-US" altLang="ko-KR" sz="2000" b="1" dirty="0" err="1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“I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am 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{age}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years old”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“I am 20 years old”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principal = 100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txt = f”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원금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:{principal}, 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이율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3.5% 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포함 금액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principal*1.035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}”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pi = 3.141592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txt =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f”Pi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={pi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:.3f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}.”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658270C-1394-43FB-8981-9CFC90B47921}"/>
              </a:ext>
            </a:extLst>
          </p:cNvPr>
          <p:cNvSpPr/>
          <p:nvPr/>
        </p:nvSpPr>
        <p:spPr>
          <a:xfrm>
            <a:off x="2147671" y="2557872"/>
            <a:ext cx="9449597" cy="904685"/>
          </a:xfrm>
          <a:prstGeom prst="roundRect">
            <a:avLst/>
          </a:prstGeom>
          <a:solidFill>
            <a:srgbClr val="FF65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age = 20</a:t>
            </a:r>
          </a:p>
          <a:p>
            <a:r>
              <a:rPr lang="en-US" altLang="ko-KR" sz="2000" b="1" strike="sngStrike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txt = “I am ” + age + “ years old”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FFFF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+</a:t>
            </a:r>
            <a:r>
              <a:rPr lang="ko-KR" altLang="en-US" sz="2000" b="1" dirty="0">
                <a:solidFill>
                  <a:srgbClr val="FFFF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연산 적용 오류</a:t>
            </a:r>
            <a:endParaRPr lang="ko-KR" altLang="en-US" sz="2000" b="1" strike="sngStrike" dirty="0">
              <a:solidFill>
                <a:srgbClr val="FFFF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B733162-CDC6-4F4F-8628-210DAB2A4878}"/>
              </a:ext>
            </a:extLst>
          </p:cNvPr>
          <p:cNvSpPr txBox="1">
            <a:spLocks/>
          </p:cNvSpPr>
          <p:nvPr/>
        </p:nvSpPr>
        <p:spPr>
          <a:xfrm>
            <a:off x="838200" y="1070723"/>
            <a:ext cx="11049000" cy="564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 앞에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</a:t>
            </a:r>
            <a:r>
              <a:rPr lang="ko-KR" altLang="en-US" b="0" dirty="0"/>
              <a:t>를 붙여 표현</a:t>
            </a:r>
            <a:r>
              <a:rPr lang="en-US" altLang="ko-KR" b="0" dirty="0"/>
              <a:t>, </a:t>
            </a:r>
            <a:r>
              <a:rPr lang="ko-KR" altLang="en-US" b="0" dirty="0"/>
              <a:t>문자열 내에 자리표시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 }</a:t>
            </a:r>
            <a:r>
              <a:rPr lang="ko-KR" altLang="en-US" b="0" dirty="0"/>
              <a:t>로 표현식 삽입 </a:t>
            </a: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형식 문자열이 필요한 상황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형식 문자열 사용 예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52038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Strings: Escape </a:t>
            </a:r>
            <a:r>
              <a:rPr lang="ko-KR" altLang="en-US" dirty="0"/>
              <a:t>문자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6869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/>
              <a:t>문자열</a:t>
            </a:r>
            <a:r>
              <a:rPr lang="en-US" altLang="ko-KR" b="0" dirty="0"/>
              <a:t> </a:t>
            </a:r>
            <a:r>
              <a:rPr lang="ko-KR" altLang="en-US" b="0" dirty="0"/>
              <a:t>내에서 정상 표현이 어려운 문자들은 </a:t>
            </a:r>
            <a:r>
              <a:rPr lang="en-US" altLang="ko-KR" b="0" dirty="0"/>
              <a:t>Escape </a:t>
            </a:r>
            <a:r>
              <a:rPr lang="ko-KR" altLang="en-US" b="0" dirty="0"/>
              <a:t>문자로 표현 </a:t>
            </a:r>
            <a:endParaRPr lang="en-US" altLang="ko-KR" b="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b="0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0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0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b="0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ko-KR" altLang="en-US" b="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단</a:t>
            </a:r>
            <a:r>
              <a:rPr lang="en-US" altLang="ko-KR" b="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print()</a:t>
            </a:r>
            <a:r>
              <a:rPr lang="ko-KR" altLang="en-US" b="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으로 출력해야 결과를 제대로 확인할 수 있음</a:t>
            </a:r>
            <a:r>
              <a:rPr lang="en-US" altLang="ko-KR" b="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.</a:t>
            </a:r>
            <a:endParaRPr lang="en-US" altLang="ko-KR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96BC8D9-1E03-4EC4-9778-9E88244C3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748241"/>
              </p:ext>
            </p:extLst>
          </p:nvPr>
        </p:nvGraphicFramePr>
        <p:xfrm>
          <a:off x="988916" y="2084254"/>
          <a:ext cx="9531236" cy="2688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30">
                  <a:extLst>
                    <a:ext uri="{9D8B030D-6E8A-4147-A177-3AD203B41FA5}">
                      <a16:colId xmlns:a16="http://schemas.microsoft.com/office/drawing/2014/main" val="1089981063"/>
                    </a:ext>
                  </a:extLst>
                </a:gridCol>
                <a:gridCol w="2165386">
                  <a:extLst>
                    <a:ext uri="{9D8B030D-6E8A-4147-A177-3AD203B41FA5}">
                      <a16:colId xmlns:a16="http://schemas.microsoft.com/office/drawing/2014/main" val="1697719655"/>
                    </a:ext>
                  </a:extLst>
                </a:gridCol>
                <a:gridCol w="5645020">
                  <a:extLst>
                    <a:ext uri="{9D8B030D-6E8A-4147-A177-3AD203B41FA5}">
                      <a16:colId xmlns:a16="http://schemas.microsoft.com/office/drawing/2014/main" val="2190068652"/>
                    </a:ext>
                  </a:extLst>
                </a:gridCol>
              </a:tblGrid>
              <a:tr h="402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Escape Code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 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079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\’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Single Quote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‘\’K\’</a:t>
                      </a:r>
                      <a:r>
                        <a:rPr lang="en-US" altLang="ko-KR" sz="20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orea</a:t>
                      </a:r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’ </a:t>
                      </a:r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 ‘</a:t>
                      </a:r>
                      <a:r>
                        <a:rPr lang="en-US" altLang="ko-KR" sz="20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K’orea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01429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\\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Backslash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“Use \\ to escape”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597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\n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New Line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“1st Line\n2nd Line”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4426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\t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Tab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“1\t2\t3”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96600"/>
                  </a:ext>
                </a:extLst>
              </a:tr>
              <a:tr h="40220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24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\</a:t>
                      </a:r>
                      <a:r>
                        <a:rPr lang="en-US" altLang="ko-KR" sz="2400" b="1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xhh</a:t>
                      </a:r>
                      <a:endParaRPr lang="ko-KR" altLang="en-US" sz="24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Hex value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“\x61” </a:t>
                      </a:r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 “a”</a:t>
                      </a:r>
                      <a:endParaRPr lang="ko-KR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24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355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Type: </a:t>
            </a:r>
            <a:r>
              <a:rPr lang="en-US" altLang="ko-KR" dirty="0">
                <a:solidFill>
                  <a:srgbClr val="C00000"/>
                </a:solidFill>
              </a:rPr>
              <a:t>Booleans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345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 Boolean Values: </a:t>
            </a:r>
            <a:r>
              <a:rPr lang="en-US" altLang="ko-KR" dirty="0">
                <a:solidFill>
                  <a:srgbClr val="0070C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True</a:t>
            </a:r>
            <a:r>
              <a:rPr lang="en-US" altLang="ko-KR" dirty="0"/>
              <a:t> / </a:t>
            </a:r>
            <a:r>
              <a:rPr lang="en-US" altLang="ko-KR" dirty="0">
                <a:solidFill>
                  <a:srgbClr val="0070C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False</a:t>
            </a: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ct val="10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r>
              <a:rPr lang="en-US" altLang="ko-KR" dirty="0"/>
              <a:t>True values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False values: </a:t>
            </a:r>
            <a:r>
              <a:rPr lang="en-US" altLang="ko-KR" dirty="0">
                <a:solidFill>
                  <a:srgbClr val="00B0F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“”, (), {}, [], 0, None</a:t>
            </a:r>
          </a:p>
          <a:p>
            <a:pPr>
              <a:lnSpc>
                <a:spcPct val="100000"/>
              </a:lnSpc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593142" y="1839914"/>
            <a:ext cx="9539113" cy="11441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print(2 &gt; 3) 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False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print(2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False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print(2 &lt; 3)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True</a:t>
            </a:r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C97BBCD3-18E8-46E8-853F-BF1EF970C668}"/>
              </a:ext>
            </a:extLst>
          </p:cNvPr>
          <p:cNvSpPr/>
          <p:nvPr/>
        </p:nvSpPr>
        <p:spPr>
          <a:xfrm>
            <a:off x="1593142" y="3689677"/>
            <a:ext cx="9539113" cy="1144165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bool(“Korea”)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True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bool(365)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True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bool([1]) 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True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1A4096A3-9345-40C5-888B-F91969960E10}"/>
              </a:ext>
            </a:extLst>
          </p:cNvPr>
          <p:cNvSpPr/>
          <p:nvPr/>
        </p:nvSpPr>
        <p:spPr>
          <a:xfrm>
            <a:off x="1593142" y="5348709"/>
            <a:ext cx="9539113" cy="1144165"/>
          </a:xfrm>
          <a:prstGeom prst="roundRect">
            <a:avLst>
              <a:gd name="adj" fmla="val 18109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bool(“”)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False, empty string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bool(0)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False, 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을 제외한 나머지 모든 수는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True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bool([])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False, set, tuple,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dict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에 원소를 포함하면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True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A50C72-D054-4FA4-B6B3-C895F0411434}"/>
              </a:ext>
            </a:extLst>
          </p:cNvPr>
          <p:cNvSpPr/>
          <p:nvPr/>
        </p:nvSpPr>
        <p:spPr>
          <a:xfrm>
            <a:off x="5715126" y="3193006"/>
            <a:ext cx="761747" cy="471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just" fontAlgn="base">
              <a:lnSpc>
                <a:spcPct val="160000"/>
              </a:lnSpc>
              <a:buFont typeface="Wingdings" panose="05000000000000000000" pitchFamily="2" charset="2"/>
              <a:buChar char="l"/>
            </a:pPr>
            <a:r>
              <a:rPr lang="ko-KR" altLang="en-US" kern="0" dirty="0">
                <a:solidFill>
                  <a:srgbClr val="00000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➜</a:t>
            </a:r>
            <a:endParaRPr lang="ko-KR" altLang="en-US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2350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Type: </a:t>
            </a:r>
            <a:r>
              <a:rPr lang="en-US" altLang="ko-KR" dirty="0">
                <a:solidFill>
                  <a:srgbClr val="C00000"/>
                </a:solidFill>
              </a:rPr>
              <a:t>Booleans: </a:t>
            </a:r>
            <a:r>
              <a:rPr lang="ko-KR" altLang="en-US" dirty="0">
                <a:solidFill>
                  <a:srgbClr val="C00000"/>
                </a:solidFill>
              </a:rPr>
              <a:t>논리 연산자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1F2BDE1-2223-4027-B123-3E46F2780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134438"/>
              </p:ext>
            </p:extLst>
          </p:nvPr>
        </p:nvGraphicFramePr>
        <p:xfrm>
          <a:off x="838200" y="1258140"/>
          <a:ext cx="10580649" cy="4863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30">
                  <a:extLst>
                    <a:ext uri="{9D8B030D-6E8A-4147-A177-3AD203B41FA5}">
                      <a16:colId xmlns:a16="http://schemas.microsoft.com/office/drawing/2014/main" val="1089981063"/>
                    </a:ext>
                  </a:extLst>
                </a:gridCol>
                <a:gridCol w="3328814">
                  <a:extLst>
                    <a:ext uri="{9D8B030D-6E8A-4147-A177-3AD203B41FA5}">
                      <a16:colId xmlns:a16="http://schemas.microsoft.com/office/drawing/2014/main" val="1697719655"/>
                    </a:ext>
                  </a:extLst>
                </a:gridCol>
                <a:gridCol w="5531005">
                  <a:extLst>
                    <a:ext uri="{9D8B030D-6E8A-4147-A177-3AD203B41FA5}">
                      <a16:colId xmlns:a16="http://schemas.microsoft.com/office/drawing/2014/main" val="2190068652"/>
                    </a:ext>
                  </a:extLst>
                </a:gridCol>
              </a:tblGrid>
              <a:tr h="7174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 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580796"/>
                  </a:ext>
                </a:extLst>
              </a:tr>
              <a:tr h="1395235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32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and</a:t>
                      </a:r>
                      <a:endParaRPr lang="ko-KR" altLang="en-US" sz="32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연산자 양쪽이 모두 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True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일 때만 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True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j-lt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5</a:t>
                      </a: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&gt; 1 and x &lt; 10  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#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 True</a:t>
                      </a: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x &gt; 1 and x &lt; 4   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#  False</a:t>
                      </a:r>
                      <a:endParaRPr lang="ko-KR" altLang="en-US" sz="2000" b="1" dirty="0">
                        <a:solidFill>
                          <a:schemeClr val="accent6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01429"/>
                  </a:ext>
                </a:extLst>
              </a:tr>
              <a:tr h="1395235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32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or</a:t>
                      </a:r>
                      <a:endParaRPr lang="ko-KR" altLang="en-US" sz="32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나눔고딕코딩" panose="020D0009000000000000" pitchFamily="49" charset="-127"/>
                          <a:cs typeface="+mn-cs"/>
                        </a:rPr>
                        <a:t>연산자 양쪽이 모두 </a:t>
                      </a:r>
                      <a:r>
                        <a:rPr lang="en-US" altLang="ko-KR" sz="2000" b="0" kern="1200" dirty="0">
                          <a:solidFill>
                            <a:schemeClr val="tx1"/>
                          </a:solidFill>
                          <a:latin typeface="+mn-lt"/>
                          <a:ea typeface="나눔고딕코딩" panose="020D0009000000000000" pitchFamily="49" charset="-127"/>
                          <a:cs typeface="+mn-cs"/>
                        </a:rPr>
                        <a:t>False</a:t>
                      </a:r>
                      <a:r>
                        <a:rPr lang="ko-KR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나눔고딕코딩" panose="020D0009000000000000" pitchFamily="49" charset="-127"/>
                          <a:cs typeface="+mn-cs"/>
                        </a:rPr>
                        <a:t>일 때만 </a:t>
                      </a:r>
                      <a:r>
                        <a:rPr lang="en-US" altLang="ko-KR" sz="2000" b="0" kern="1200" dirty="0">
                          <a:solidFill>
                            <a:schemeClr val="tx1"/>
                          </a:solidFill>
                          <a:latin typeface="+mn-lt"/>
                          <a:ea typeface="나눔고딕코딩" panose="020D0009000000000000" pitchFamily="49" charset="-127"/>
                          <a:cs typeface="+mn-cs"/>
                        </a:rPr>
                        <a:t>False</a:t>
                      </a:r>
                      <a:endParaRPr lang="ko-KR" altLang="en-US" sz="2000" b="0" kern="1200" dirty="0">
                        <a:solidFill>
                          <a:schemeClr val="tx1"/>
                        </a:solidFill>
                        <a:latin typeface="+mn-lt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= 7</a:t>
                      </a: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x &gt; 5 or x &lt; 6    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#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 True</a:t>
                      </a: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x &lt; 5 or x &gt; 10   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#  False</a:t>
                      </a:r>
                      <a:endParaRPr lang="ko-KR" altLang="en-US" sz="2000" b="1" dirty="0">
                        <a:solidFill>
                          <a:schemeClr val="accent6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597"/>
                  </a:ext>
                </a:extLst>
              </a:tr>
              <a:tr h="1355933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3200" b="1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not</a:t>
                      </a:r>
                      <a:endParaRPr lang="ko-KR" altLang="en-US" sz="3200" b="1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 err="1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진리값을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j-lt"/>
                          <a:ea typeface="나눔고딕코딩" panose="020D0009000000000000" pitchFamily="49" charset="-127"/>
                        </a:rPr>
                        <a:t> 반전 시킴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not 1 &gt; 2         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# </a:t>
                      </a:r>
                      <a:r>
                        <a:rPr lang="en-US" altLang="ko-KR" sz="2000" b="1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 True</a:t>
                      </a: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not 1 &lt; 2          </a:t>
                      </a:r>
                      <a:r>
                        <a:rPr lang="en-US" altLang="ko-KR" sz="2000" b="1" kern="1200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#  False</a:t>
                      </a: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not “Korea”      </a:t>
                      </a:r>
                      <a:r>
                        <a:rPr lang="en-US" altLang="ko-KR" sz="2000" b="1" kern="1200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#  False</a:t>
                      </a: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sym typeface="Wingdings" panose="05000000000000000000" pitchFamily="2" charset="2"/>
                        </a:rPr>
                        <a:t>not []             </a:t>
                      </a:r>
                      <a:r>
                        <a:rPr lang="en-US" altLang="ko-KR" sz="2000" b="1" kern="1200" dirty="0">
                          <a:solidFill>
                            <a:schemeClr val="accent6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  <a:cs typeface="+mn-cs"/>
                          <a:sym typeface="Wingdings" panose="05000000000000000000" pitchFamily="2" charset="2"/>
                        </a:rPr>
                        <a:t>#  True</a:t>
                      </a:r>
                      <a:endParaRPr lang="ko-KR" altLang="en-US" sz="2000" b="1" kern="1200" dirty="0">
                        <a:solidFill>
                          <a:schemeClr val="accent6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4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792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4CA2F-4F67-4F1C-B26D-F222DBCB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338"/>
            <a:ext cx="10515600" cy="1338168"/>
          </a:xfrm>
        </p:spPr>
        <p:txBody>
          <a:bodyPr>
            <a:normAutofit/>
          </a:bodyPr>
          <a:lstStyle/>
          <a:p>
            <a:pPr algn="ctr"/>
            <a:r>
              <a:rPr lang="en-US" altLang="ko-KR" sz="8000" dirty="0"/>
              <a:t>Quiz</a:t>
            </a:r>
            <a:endParaRPr lang="ko-KR" altLang="en-US" sz="8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8AA711-0D20-446A-8CD5-667066D56E85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0" dirty="0">
                <a:effectLst/>
              </a:rPr>
              <a:t>학습한 내용에 대한 이해 정도를 확인합니다</a:t>
            </a:r>
            <a:r>
              <a:rPr lang="en-US" altLang="ko-KR" b="0" dirty="0">
                <a:effectLst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57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1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2.333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3"/>
            <a:ext cx="9539113" cy="2028586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7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 = 3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a // b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print(result)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3850340" y="3949431"/>
            <a:ext cx="7281916" cy="1792220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//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나눗셈의 몫을 반환하는 연산자입니다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따라서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7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으로 나눈 몫은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237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2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중 올바른 문자열 선언이 아닌 것은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"Hello“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'World’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"Python’s”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'</a:t>
            </a:r>
            <a:r>
              <a:rPr lang="en-US" altLang="ko-KR" b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Python"s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’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Hello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1378039" y="4219887"/>
            <a:ext cx="9975761" cy="1792220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❺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문자열은 반드시 큰따옴표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(")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또는 **작은따옴표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(')**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감싸야 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선택지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따옴표 없이 작성되어 문법 오류가 발생합니다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123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3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중 올바른 문자열 선언이 아닌 것은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"Hello World“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'Python is fun’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"""This is a multi-line string""“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'It's a beautiful day'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1378039" y="4219887"/>
            <a:ext cx="9975761" cy="2142276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❹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문자열에 작은따옴표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(')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사용할 때 내부에도 작은따옴표가 있으면 문법 오류가 발생합니다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큰따옴표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(")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문자열을 감싸거나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백슬래시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(\)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사용해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'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이스케이프 처리해야 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84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4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5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6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7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3"/>
            <a:ext cx="9539113" cy="1307369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 = "Python"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print(len(text))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3340095" y="3964360"/>
            <a:ext cx="7792161" cy="1792220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함수는 문자열의 문자 개수를 반환합니다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"Python"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6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개의 문자로 구성되어 있으므로 </a:t>
            </a:r>
            <a:r>
              <a:rPr lang="ko-KR" altLang="en-US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출력값은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6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738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5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"H"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"o"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"l" 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"e"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3"/>
            <a:ext cx="9539113" cy="1307369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 = "Hello"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print(text[-1])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3340095" y="3964360"/>
            <a:ext cx="7792161" cy="1792220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문자열의 인덱싱에서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-1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문자열의 마지막 문자를 나타냅니다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"Hello"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마지막 문자는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"o"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639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6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"HELLO"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"Hello"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"hello" 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3"/>
            <a:ext cx="9539113" cy="1307369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 = "hello"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print(text.upper())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3340095" y="3964360"/>
            <a:ext cx="7792161" cy="1792220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❶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문자열의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upper()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메서드는 문자열을 모두 대문자로 변환합니다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따라서 결과는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"HELLO"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76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7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7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10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11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-1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3"/>
            <a:ext cx="9539113" cy="1307369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 = "Python programming"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text.find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("gram"))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2859111" y="3964360"/>
            <a:ext cx="8273146" cy="1792220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❶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find()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메서드는 검색 문자열이 처음 등장하는 위치의 인덱스를 반환합니다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"gram"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인덱스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7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시작하므로 </a:t>
            </a:r>
            <a:r>
              <a:rPr lang="ko-KR" altLang="en-US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출력값은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7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905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8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['I', 'love', 'Python’]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['I love Python’]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['I', 'l', 'o', 'v', 'e', ' ', 'P', 'y', 't', 'h', 'o', 'n’]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['I', ' ', 'love', ' ', 'Python']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3"/>
            <a:ext cx="9539113" cy="1307369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 = "I love Python"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print(text.split())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1828800" y="5183584"/>
            <a:ext cx="8273146" cy="1526309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❶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split()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메서드는 기본적으로 공백을 기준으로 문자열을 나누어 리스트로 반환합니다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결과는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['I', 'love', 'Python']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11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9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 love Java"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 love Python"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 love"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3"/>
            <a:ext cx="9539113" cy="1526309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 = "I love Java"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new_text = text.replace("Java", "Python")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print(new_text)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1828800" y="5183584"/>
            <a:ext cx="8273146" cy="1526309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❷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replace()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메서드는 지정된 문자열을 다른 문자열로 바꿉니다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"Java"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"Python"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으로 대체되어 결과는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 love Python"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205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95-3368-0CE3-205A-5A013766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DB0A-C57D-0CC5-B2D1-DB2F7FC6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/>
              </a:rPr>
              <a:t>Quiz 10</a:t>
            </a:r>
            <a:endParaRPr lang="ko-KR" alt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61C5B-E644-E6C7-4F64-957654FC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코드의 출력 결과는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"Int"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"Intelligence"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"ell"</a:t>
            </a:r>
          </a:p>
          <a:p>
            <a:pPr marL="914400" lvl="1" indent="-457200">
              <a:lnSpc>
                <a:spcPct val="100000"/>
              </a:lnSpc>
              <a:buFont typeface="+mj-ea"/>
              <a:buAutoNum type="circleNumDbPlain"/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"Int"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CA4019-99B7-3572-9BA1-2ECCCA81031A}"/>
              </a:ext>
            </a:extLst>
          </p:cNvPr>
          <p:cNvSpPr/>
          <p:nvPr/>
        </p:nvSpPr>
        <p:spPr>
          <a:xfrm>
            <a:off x="1593143" y="1757804"/>
            <a:ext cx="9539113" cy="1178580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text = "Artificial Intelligence"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print(text[11:14])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39D556-17BB-4158-F59A-68BECC6459EA}"/>
              </a:ext>
            </a:extLst>
          </p:cNvPr>
          <p:cNvSpPr/>
          <p:nvPr/>
        </p:nvSpPr>
        <p:spPr>
          <a:xfrm>
            <a:off x="1828800" y="5183584"/>
            <a:ext cx="8273146" cy="1526309"/>
          </a:xfrm>
          <a:prstGeom prst="roundRect">
            <a:avLst>
              <a:gd name="adj" fmla="val 1028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❹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슬라이싱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[11:14]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인덱스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11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부터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14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바로 전까지의 문자열을 반환합니다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따라서 결과는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"Int"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431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2669</TotalTime>
  <Words>2357</Words>
  <Application>Microsoft Office PowerPoint</Application>
  <PresentationFormat>와이드스크린</PresentationFormat>
  <Paragraphs>480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나눔고딕</vt:lpstr>
      <vt:lpstr>나눔고딕코딩</vt:lpstr>
      <vt:lpstr>나눔명조</vt:lpstr>
      <vt:lpstr>맑은 고딕</vt:lpstr>
      <vt:lpstr>함초롬바탕</vt:lpstr>
      <vt:lpstr>Arial</vt:lpstr>
      <vt:lpstr>Courier New</vt:lpstr>
      <vt:lpstr>Wingdings</vt:lpstr>
      <vt:lpstr>Office 테마</vt:lpstr>
      <vt:lpstr>자료형(Data Types)</vt:lpstr>
      <vt:lpstr>자료형(Data Type) 개념</vt:lpstr>
      <vt:lpstr>자료형 확인, 자료 유형별 값 살펴보기</vt:lpstr>
      <vt:lpstr>Data Type: Numbers</vt:lpstr>
      <vt:lpstr>Operators: Numbers</vt:lpstr>
      <vt:lpstr>Data Type: Strings</vt:lpstr>
      <vt:lpstr>Data Type: Strings (계속)</vt:lpstr>
      <vt:lpstr>Strings: 문자열은 배열(array)</vt:lpstr>
      <vt:lpstr>Strings: 문자열은 배열(array)</vt:lpstr>
      <vt:lpstr>Strings: 문자열 내용 확인</vt:lpstr>
      <vt:lpstr>Strings: 문자열 자르기</vt:lpstr>
      <vt:lpstr>Strings: Negative Indexing</vt:lpstr>
      <vt:lpstr>Strings: 문자열 연결하기</vt:lpstr>
      <vt:lpstr>Strings: Methods</vt:lpstr>
      <vt:lpstr>Strings: 형식 문자열(format string)</vt:lpstr>
      <vt:lpstr>Strings: Escape 문자</vt:lpstr>
      <vt:lpstr>Data Type: Booleans</vt:lpstr>
      <vt:lpstr>Data Type: Booleans: 논리 연산자</vt:lpstr>
      <vt:lpstr>Quiz</vt:lpstr>
      <vt:lpstr>Quiz 1</vt:lpstr>
      <vt:lpstr>Quiz 2</vt:lpstr>
      <vt:lpstr>Quiz 3</vt:lpstr>
      <vt:lpstr>Quiz 4</vt:lpstr>
      <vt:lpstr>Quiz 5</vt:lpstr>
      <vt:lpstr>Quiz 6</vt:lpstr>
      <vt:lpstr>Quiz 7</vt:lpstr>
      <vt:lpstr>Quiz 8</vt:lpstr>
      <vt:lpstr>Quiz 9</vt:lpstr>
      <vt:lpstr>Quiz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DIT</cp:lastModifiedBy>
  <cp:revision>86</cp:revision>
  <dcterms:created xsi:type="dcterms:W3CDTF">2024-10-14T09:30:03Z</dcterms:created>
  <dcterms:modified xsi:type="dcterms:W3CDTF">2025-03-19T04:25:25Z</dcterms:modified>
</cp:coreProperties>
</file>