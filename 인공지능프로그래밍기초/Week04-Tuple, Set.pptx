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0" r:id="rId4"/>
    <p:sldId id="311" r:id="rId5"/>
    <p:sldId id="312" r:id="rId6"/>
    <p:sldId id="328" r:id="rId7"/>
    <p:sldId id="313" r:id="rId8"/>
    <p:sldId id="330" r:id="rId9"/>
    <p:sldId id="317" r:id="rId10"/>
    <p:sldId id="309" r:id="rId11"/>
    <p:sldId id="487" r:id="rId12"/>
    <p:sldId id="488" r:id="rId13"/>
    <p:sldId id="489" r:id="rId14"/>
    <p:sldId id="490" r:id="rId15"/>
    <p:sldId id="491" r:id="rId16"/>
    <p:sldId id="492" r:id="rId17"/>
    <p:sldId id="493" r:id="rId18"/>
    <p:sldId id="494" r:id="rId19"/>
    <p:sldId id="495" r:id="rId20"/>
    <p:sldId id="496" r:id="rId21"/>
    <p:sldId id="413" r:id="rId22"/>
    <p:sldId id="497" r:id="rId23"/>
    <p:sldId id="498" r:id="rId24"/>
    <p:sldId id="499" r:id="rId25"/>
    <p:sldId id="500" r:id="rId26"/>
    <p:sldId id="501" r:id="rId27"/>
    <p:sldId id="502" r:id="rId28"/>
    <p:sldId id="332" r:id="rId29"/>
    <p:sldId id="333" r:id="rId30"/>
    <p:sldId id="316" r:id="rId31"/>
    <p:sldId id="334" r:id="rId32"/>
    <p:sldId id="336" r:id="rId33"/>
    <p:sldId id="335" r:id="rId34"/>
    <p:sldId id="337" r:id="rId35"/>
    <p:sldId id="331" r:id="rId36"/>
    <p:sldId id="338" r:id="rId37"/>
    <p:sldId id="503" r:id="rId38"/>
    <p:sldId id="504" r:id="rId39"/>
    <p:sldId id="505" r:id="rId40"/>
    <p:sldId id="506" r:id="rId41"/>
    <p:sldId id="507" r:id="rId42"/>
    <p:sldId id="508" r:id="rId43"/>
    <p:sldId id="509" r:id="rId44"/>
    <p:sldId id="510" r:id="rId45"/>
    <p:sldId id="511" r:id="rId46"/>
    <p:sldId id="513" r:id="rId47"/>
    <p:sldId id="514" r:id="rId48"/>
    <p:sldId id="515" r:id="rId4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565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D86DC-93BB-4339-9BDD-42FC321FC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EA344E-008C-4E53-ADB3-83CFFD56E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831910-BFDD-421E-8BBD-569585D9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0DB3BA-9485-4314-8A26-BCCE90C9C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8E58D3-7355-458F-900C-3E383E1D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2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F8E39-46E8-464B-A674-958C1F77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2D387A-43CD-4E81-95A5-3B1845324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1428EB-B737-43A1-AAC6-1423B571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8BB03-87F3-4D84-8367-B1AB5FD5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CB920-FA9B-49BF-82D4-B53701535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05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C8EFE-236B-4105-AF77-8A416793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3D7F8E-4426-4C84-B117-AFE62CE89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D46D55-5500-41E9-91B3-2340A17B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C944E1-9315-4BF1-8187-5B9699E4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12DBD-DF5A-4E63-8E5F-97E9D74A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277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F5CC4-F059-445E-B415-36FC3A2BE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E77F23-694E-4FA0-9641-627C72EEE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42906"/>
            <a:ext cx="5181600" cy="473405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50A4FE-FB44-4946-96E0-BC0231DB6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42906"/>
            <a:ext cx="5181600" cy="473405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6EF637-4546-476C-B193-8842C0C1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DF0C97-C3A2-42EE-94FB-54F17173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29BDA3-B1A4-4AD5-9249-E034EAF5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992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98101F-D907-46DA-946A-D2B2149D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2391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41DC6E-0683-4021-8AE7-A4EBDD2EA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9159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053797-63D6-4AE6-810B-883510033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03070"/>
            <a:ext cx="5157787" cy="394605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7946ED-968C-4A57-A30C-26D29F721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915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554736-9C59-46AF-87F0-30A064780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03070"/>
            <a:ext cx="5183188" cy="394605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00DAE7-AA3F-4DE1-A664-9522F81C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6412A0-9581-48C7-89F3-AF1D2290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089263-4AD4-491C-9F42-CB58E4A9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912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E209C-722B-473A-90B3-E348835E9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678FCA-D2BE-4E63-A32C-D60C9A6E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2EA221-6DCC-4BC5-A81E-768CE2205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15FC41-8E62-4400-B879-89456859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53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C23E74-A946-4BD4-B1A6-BB8D4DF1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233B18-BC0A-4D59-8258-3A190858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3AB66A-C2FA-4979-B9BD-161FB2B88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21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A6DCE-86DA-41B8-9502-667C7BEE9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28BD5E-04CE-464C-A33B-916BDD0B8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7CBA3E-5FAF-4337-B262-D80E94857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1BAC1B-4776-434F-9597-E182BA47F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A89E86-6054-4D5D-8E54-CCD0162EC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43B474-E94D-4EF8-AB33-514C8510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460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B8770-4BAB-4F44-BF3D-ECE22824E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319EE5-D893-42EF-8C3C-68DBD2EA0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1A099B-7BF3-4B62-91CF-45F21E42C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615233-4D6F-477C-B804-5B7A17935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F83FD5-9AAD-4F5D-A25D-72DB18CE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B0A6C3-635F-400E-A2AB-2CCD4D337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004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F7436F-CDBA-4D84-A1FB-3F536A2F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1F495E-CDD2-47AB-8793-02B183FE4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870600-0649-4D1A-9AD7-66BD9EDC6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D4E463-F895-48B8-8D4A-FF33558E8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40781-D1B4-42DC-ACC9-526E18B2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45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C5086C-930C-4571-BED0-F3A0C1AD3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AF0234-FB9D-4EFB-BB50-53012AA19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1838B-1DBE-40E7-B941-36424308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C755EC-95FA-4F91-BC05-B0BF2919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0AB81-8518-46E7-BDCF-E5B60F78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841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29D8E7-54E9-47C0-BB1D-0186D712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2BDB8A-8843-4388-8FB5-09C6F45EF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4517"/>
            <a:ext cx="10515600" cy="4742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3EA0F6-61FB-4AE9-B6D6-FD2FF09B7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28F03-DF8D-4633-976C-282120709532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5FD13-2D9B-4252-810C-336D80DAB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84F594-EDEF-4565-9BDF-4221F067A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C6F08-00A3-4C97-8475-2E1C74E726A9}"/>
              </a:ext>
            </a:extLst>
          </p:cNvPr>
          <p:cNvSpPr txBox="1"/>
          <p:nvPr userDrawn="1"/>
        </p:nvSpPr>
        <p:spPr>
          <a:xfrm>
            <a:off x="160615" y="102616"/>
            <a:ext cx="38779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RIS</a:t>
            </a:r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지역혁신 부산공유대학</a:t>
            </a:r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(BITS) </a:t>
            </a:r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스마트물류 </a:t>
            </a:r>
            <a:r>
              <a:rPr lang="ko-KR" altLang="en-US" sz="1050" b="1" dirty="0" err="1">
                <a:solidFill>
                  <a:schemeClr val="bg1">
                    <a:lumMod val="65000"/>
                  </a:schemeClr>
                </a:solidFill>
                <a:latin typeface="+mn-lt"/>
              </a:rPr>
              <a:t>나노디그리과정</a:t>
            </a:r>
            <a:endParaRPr lang="ko-KR" altLang="en-US" sz="1050" b="1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06751-CC6F-482E-9269-4B731E8E10AB}"/>
              </a:ext>
            </a:extLst>
          </p:cNvPr>
          <p:cNvSpPr txBox="1"/>
          <p:nvPr userDrawn="1"/>
        </p:nvSpPr>
        <p:spPr>
          <a:xfrm>
            <a:off x="7933509" y="102616"/>
            <a:ext cx="42584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이 개발과제는 지자체</a:t>
            </a:r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-</a:t>
            </a:r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대학 협력기반 지역혁신 사업비로 개발되었음</a:t>
            </a:r>
          </a:p>
        </p:txBody>
      </p:sp>
    </p:spTree>
    <p:extLst>
      <p:ext uri="{BB962C8B-B14F-4D97-AF65-F5344CB8AC3E}">
        <p14:creationId xmlns:p14="http://schemas.microsoft.com/office/powerpoint/2010/main" val="46165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u="none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DF619-2E32-4824-95EF-B0D9D53009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컬렉션 자료형</a:t>
            </a:r>
            <a:br>
              <a:rPr lang="en-US" altLang="ko-KR" dirty="0"/>
            </a:br>
            <a:r>
              <a:rPr lang="en-US" altLang="ko-KR" sz="3600" dirty="0"/>
              <a:t>(list,</a:t>
            </a:r>
            <a:r>
              <a:rPr lang="ko-KR" altLang="en-US" sz="3600" dirty="0"/>
              <a:t> </a:t>
            </a:r>
            <a:r>
              <a:rPr lang="en-US" altLang="ko-KR" sz="3600" dirty="0">
                <a:solidFill>
                  <a:srgbClr val="0070C0"/>
                </a:solidFill>
              </a:rPr>
              <a:t>tuple</a:t>
            </a:r>
            <a:r>
              <a:rPr lang="en-US" altLang="ko-KR" sz="3600" dirty="0"/>
              <a:t>, set, </a:t>
            </a:r>
            <a:r>
              <a:rPr lang="en-US" altLang="ko-KR" sz="3600" dirty="0" err="1"/>
              <a:t>dict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57F749-8E0D-44E5-8734-326DF7E03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4800"/>
            <a:ext cx="9144000" cy="1143000"/>
          </a:xfrm>
        </p:spPr>
        <p:txBody>
          <a:bodyPr/>
          <a:lstStyle/>
          <a:p>
            <a:r>
              <a:rPr lang="ko-KR" altLang="en-US" dirty="0" err="1"/>
              <a:t>컴퓨터소프트웨어과</a:t>
            </a:r>
            <a:endParaRPr lang="en-US" altLang="ko-KR" dirty="0"/>
          </a:p>
          <a:p>
            <a:r>
              <a:rPr lang="ko-KR" altLang="en-US" dirty="0"/>
              <a:t>동의과학대학교</a:t>
            </a:r>
          </a:p>
        </p:txBody>
      </p:sp>
    </p:spTree>
    <p:extLst>
      <p:ext uri="{BB962C8B-B14F-4D97-AF65-F5344CB8AC3E}">
        <p14:creationId xmlns:p14="http://schemas.microsoft.com/office/powerpoint/2010/main" val="333619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Tuple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하나의 변수에 여러 개의 값들을 저장</a:t>
            </a:r>
            <a:r>
              <a:rPr lang="en-US" altLang="ko-KR" dirty="0"/>
              <a:t>, </a:t>
            </a:r>
            <a:r>
              <a:rPr lang="ko-KR" altLang="en-US" dirty="0"/>
              <a:t>관리하는 자료형들 중의 하나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sz="2800" b="1" dirty="0">
                <a:solidFill>
                  <a:srgbClr val="0070C0"/>
                </a:solidFill>
              </a:rPr>
              <a:t>( ) </a:t>
            </a:r>
            <a:r>
              <a:rPr lang="ko-KR" altLang="en-US" dirty="0"/>
              <a:t>에 항목들을 저장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항목 값들은 순서가 있음 </a:t>
            </a:r>
            <a:r>
              <a:rPr lang="en-US" altLang="ko-KR" dirty="0"/>
              <a:t>(Index</a:t>
            </a:r>
            <a:r>
              <a:rPr lang="ko-KR" altLang="en-US" dirty="0"/>
              <a:t>는 </a:t>
            </a:r>
            <a:r>
              <a:rPr lang="en-US" altLang="ko-KR" dirty="0"/>
              <a:t>0</a:t>
            </a:r>
            <a:r>
              <a:rPr lang="ko-KR" altLang="en-US" dirty="0"/>
              <a:t>부터 시작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항목 </a:t>
            </a:r>
            <a:r>
              <a:rPr lang="ko-KR" altLang="en-US" dirty="0">
                <a:solidFill>
                  <a:srgbClr val="FF0000"/>
                </a:solidFill>
              </a:rPr>
              <a:t>변경 불가능</a:t>
            </a:r>
            <a:r>
              <a:rPr lang="en-US" altLang="ko-KR" dirty="0"/>
              <a:t> (</a:t>
            </a:r>
            <a:r>
              <a:rPr lang="ko-KR" altLang="en-US" dirty="0"/>
              <a:t>추가</a:t>
            </a:r>
            <a:r>
              <a:rPr lang="en-US" altLang="ko-KR" dirty="0"/>
              <a:t>, </a:t>
            </a:r>
            <a:r>
              <a:rPr lang="ko-KR" altLang="en-US" dirty="0"/>
              <a:t>삭제 및 변경 </a:t>
            </a:r>
            <a:r>
              <a:rPr lang="ko-KR" altLang="en-US" dirty="0">
                <a:solidFill>
                  <a:srgbClr val="FF0000"/>
                </a:solidFill>
              </a:rPr>
              <a:t>불가능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중복된 값을 허용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다양한 자료형의 혼합 저장 가능 </a:t>
            </a:r>
            <a:r>
              <a:rPr lang="en-US" altLang="ko-KR" dirty="0"/>
              <a:t>(</a:t>
            </a:r>
            <a:r>
              <a:rPr lang="ko-KR" altLang="en-US" dirty="0" err="1"/>
              <a:t>파이썬의</a:t>
            </a:r>
            <a:r>
              <a:rPr lang="ko-KR" altLang="en-US" dirty="0"/>
              <a:t> 모든 자료형 저장 가능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b="1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 ) </a:t>
            </a:r>
            <a:r>
              <a:rPr lang="en-US" altLang="ko-KR" dirty="0"/>
              <a:t>: </a:t>
            </a:r>
            <a:r>
              <a:rPr lang="ko-KR" altLang="en-US" dirty="0"/>
              <a:t>항목의 개수 확인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type</a:t>
            </a:r>
            <a:r>
              <a:rPr lang="en-US" altLang="ko-KR" dirty="0"/>
              <a:t>: ‘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tuple</a:t>
            </a:r>
            <a:r>
              <a:rPr lang="en-US" altLang="ko-KR" dirty="0"/>
              <a:t>’ </a:t>
            </a:r>
            <a:r>
              <a:rPr lang="ko-KR" altLang="en-US" dirty="0"/>
              <a:t>객체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tuple(</a:t>
            </a:r>
            <a:r>
              <a:rPr lang="ko-KR" altLang="en-US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  <a:r>
              <a:rPr lang="ko-KR" altLang="en-US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dirty="0"/>
              <a:t>:</a:t>
            </a:r>
            <a:r>
              <a:rPr lang="ko-KR" altLang="en-US"/>
              <a:t> </a:t>
            </a:r>
            <a:r>
              <a:rPr lang="en-US" altLang="ko-KR" b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tuple</a:t>
            </a:r>
            <a:r>
              <a:rPr lang="ko-KR" altLang="en-US" dirty="0"/>
              <a:t> 객체 생성자</a:t>
            </a:r>
            <a:r>
              <a:rPr lang="en-US" altLang="ko-KR" dirty="0"/>
              <a:t>/</a:t>
            </a:r>
            <a:r>
              <a:rPr lang="ko-KR" altLang="en-US" dirty="0"/>
              <a:t>변환 함수</a:t>
            </a:r>
            <a:r>
              <a:rPr lang="en-US" altLang="ko-KR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0472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</a:t>
            </a:r>
            <a:r>
              <a:rPr lang="ko-KR" altLang="en-US" dirty="0"/>
              <a:t>항목 접근하기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Index</a:t>
            </a:r>
            <a:r>
              <a:rPr lang="ko-KR" altLang="en-US" dirty="0"/>
              <a:t>로 접근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Negative Indexing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248384" y="1688023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(“apple”, “kiwi”, “mango”)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fruits[0]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“apple”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fruits[2]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“mango”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248383" y="3964360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(“apple”, “kiwi”, “mango”)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fruits[-1]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“mango”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fruits[-2]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“kiwi”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1253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</a:t>
            </a:r>
            <a:r>
              <a:rPr lang="ko-KR" altLang="en-US" dirty="0" err="1"/>
              <a:t>슬라이싱</a:t>
            </a:r>
            <a:r>
              <a:rPr lang="en-US" altLang="ko-KR" dirty="0"/>
              <a:t>(slicing)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시작과 종료 인덱스로 지정 </a:t>
            </a:r>
            <a:r>
              <a:rPr lang="en-US" altLang="ko-KR" sz="2000" dirty="0">
                <a:solidFill>
                  <a:srgbClr val="FF0000"/>
                </a:solidFill>
              </a:rPr>
              <a:t>(! </a:t>
            </a:r>
            <a:r>
              <a:rPr lang="ko-KR" altLang="en-US" sz="2000" dirty="0">
                <a:solidFill>
                  <a:srgbClr val="FF0000"/>
                </a:solidFill>
              </a:rPr>
              <a:t>종료 인덱스 항목은 미포함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생략된 인덱스는 </a:t>
            </a:r>
            <a:r>
              <a:rPr lang="en-US" altLang="ko-KR" dirty="0"/>
              <a:t>0 </a:t>
            </a:r>
            <a:r>
              <a:rPr lang="ko-KR" altLang="en-US" dirty="0"/>
              <a:t>또는 마지막 </a:t>
            </a:r>
            <a:r>
              <a:rPr lang="ko-KR" altLang="en-US" dirty="0" err="1"/>
              <a:t>항목까지를</a:t>
            </a:r>
            <a:r>
              <a:rPr lang="ko-KR" altLang="en-US" dirty="0"/>
              <a:t> 의미함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248382" y="1805111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(10, 20, 30, 40, 50)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[1:3]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[20, 30], list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로 반환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, 40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은 미포함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[2:5]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[30, 40], 50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은 미포함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248383" y="4273011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(10, 20, 30, 40, 50)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2 ]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[10, 20],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시작 인덱스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: 0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[ 2 : 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[30, 40, 50],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종료 인덱스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: 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len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(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),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마지막 항목 포함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303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</a:t>
            </a:r>
            <a:r>
              <a:rPr lang="ko-KR" altLang="en-US" dirty="0"/>
              <a:t>항목 변경 방법</a:t>
            </a:r>
            <a:r>
              <a:rPr lang="en-US" altLang="ko-KR" dirty="0"/>
              <a:t>(</a:t>
            </a:r>
            <a:r>
              <a:rPr lang="ko-KR" altLang="en-US" dirty="0"/>
              <a:t>절차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Tuple</a:t>
            </a:r>
            <a:r>
              <a:rPr lang="ko-KR" altLang="en-US" dirty="0"/>
              <a:t>은 항목 변경 불가능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list</a:t>
            </a:r>
            <a:r>
              <a:rPr lang="ko-KR" altLang="en-US" dirty="0">
                <a:sym typeface="Wingdings" panose="05000000000000000000" pitchFamily="2" charset="2"/>
              </a:rPr>
              <a:t>로 변환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변경 후 </a:t>
            </a:r>
            <a:r>
              <a:rPr lang="en-US" altLang="ko-KR" dirty="0">
                <a:sym typeface="Wingdings" panose="05000000000000000000" pitchFamily="2" charset="2"/>
              </a:rPr>
              <a:t>tuple</a:t>
            </a:r>
            <a:r>
              <a:rPr lang="ko-KR" altLang="en-US" dirty="0">
                <a:sym typeface="Wingdings" panose="05000000000000000000" pitchFamily="2" charset="2"/>
              </a:rPr>
              <a:t>로 변환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튜플</a:t>
            </a:r>
            <a:r>
              <a:rPr lang="ko-KR" altLang="en-US" dirty="0"/>
              <a:t> 항목 추가하기</a:t>
            </a: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248382" y="1805111"/>
            <a:ext cx="9539113" cy="203159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(10, 20, 30, 40, 50)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list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로 변환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[1] = 200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list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에서 항목 변경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pPr>
              <a:lnSpc>
                <a:spcPts val="3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=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tuple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list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를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tuple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로 변환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(10, </a:t>
            </a: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200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, 30, 40, 50)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248381" y="4339677"/>
            <a:ext cx="9539113" cy="203159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(10, 20, 30, 40, 50)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list(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[10, 20, 30, 40, 50]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lst.append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(60)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[10, 20, 30, 40, 50,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60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tpl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=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tuple(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	#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(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10, 20, 30, 40, 50, 60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6412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+ </a:t>
            </a:r>
            <a:r>
              <a:rPr lang="ko-KR" altLang="en-US" dirty="0"/>
              <a:t>연산자 허용됨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Tuple</a:t>
            </a:r>
            <a:r>
              <a:rPr lang="ko-KR" altLang="en-US" dirty="0"/>
              <a:t>들 간의 </a:t>
            </a:r>
            <a:r>
              <a:rPr lang="en-US" altLang="ko-KR" dirty="0"/>
              <a:t>+ </a:t>
            </a:r>
            <a:r>
              <a:rPr lang="ko-KR" altLang="en-US" dirty="0"/>
              <a:t>연산으로 확장 </a:t>
            </a:r>
            <a:r>
              <a:rPr lang="en-US" altLang="ko-KR" dirty="0"/>
              <a:t>tuple</a:t>
            </a:r>
            <a:r>
              <a:rPr lang="ko-KR" altLang="en-US" dirty="0"/>
              <a:t>을 생성 가능</a:t>
            </a:r>
            <a:endParaRPr lang="en-US" altLang="ko-KR" sz="3600" dirty="0"/>
          </a:p>
          <a:p>
            <a:pPr lvl="1">
              <a:lnSpc>
                <a:spcPct val="150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</a:t>
            </a:r>
            <a:r>
              <a:rPr lang="ko-KR" altLang="en-US" dirty="0"/>
              <a:t>로의 변환 과정이 필요 없음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3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+</a:t>
            </a:r>
            <a:r>
              <a:rPr lang="en-US" altLang="ko-KR" dirty="0"/>
              <a:t> </a:t>
            </a:r>
            <a:r>
              <a:rPr lang="ko-KR" altLang="en-US" dirty="0"/>
              <a:t>연산의 결과는 사본으로 생성됨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en-US" altLang="ko-KR" sz="3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+=</a:t>
            </a:r>
            <a:r>
              <a:rPr lang="en-US" altLang="ko-KR" dirty="0"/>
              <a:t> </a:t>
            </a:r>
            <a:r>
              <a:rPr lang="ko-KR" altLang="en-US" dirty="0" err="1"/>
              <a:t>복합대입연산자도</a:t>
            </a:r>
            <a:r>
              <a:rPr lang="ko-KR" altLang="en-US" dirty="0"/>
              <a:t> 적용 가능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593142" y="3144166"/>
            <a:ext cx="9539113" cy="144433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tpl1 = (10, 20, 30)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tpl2 = (40, 50, 60)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tpl3 = tpl1 + tpl2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tpl3  (10, 20, 30, 40, 50, 60)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B9D27E4-8026-4CEC-850D-8969E53A3CF4}"/>
              </a:ext>
            </a:extLst>
          </p:cNvPr>
          <p:cNvSpPr/>
          <p:nvPr/>
        </p:nvSpPr>
        <p:spPr>
          <a:xfrm>
            <a:off x="1593141" y="5294092"/>
            <a:ext cx="9539113" cy="144433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tpl1 = (10, 20, 30)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tpl2 = (40, 50, 60)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tpl1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+=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tpl2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tpl1  (10, 20, 30, 40, 50, 60)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546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</a:t>
            </a:r>
            <a:r>
              <a:rPr lang="ko-KR" altLang="en-US" dirty="0" err="1"/>
              <a:t>튜플</a:t>
            </a:r>
            <a:r>
              <a:rPr lang="ko-KR" altLang="en-US" dirty="0"/>
              <a:t> 풀기</a:t>
            </a:r>
            <a:r>
              <a:rPr lang="en-US" altLang="ko-KR" dirty="0"/>
              <a:t>(unpack tuples)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Unpacking: </a:t>
            </a:r>
            <a:r>
              <a:rPr lang="ko-KR" altLang="en-US" dirty="0" err="1"/>
              <a:t>튜플의</a:t>
            </a:r>
            <a:r>
              <a:rPr lang="ko-KR" altLang="en-US" dirty="0"/>
              <a:t> 값들을 </a:t>
            </a:r>
            <a:r>
              <a:rPr lang="ko-KR" altLang="en-US" dirty="0" err="1"/>
              <a:t>여러변수에</a:t>
            </a:r>
            <a:r>
              <a:rPr lang="ko-KR" altLang="en-US" dirty="0"/>
              <a:t> 차례대로 풀어서 저장하기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튜플의</a:t>
            </a:r>
            <a:r>
              <a:rPr lang="ko-KR" altLang="en-US" dirty="0"/>
              <a:t> 항목 수와 저장할 변수의 수가 기본적으로 일치해야 함</a:t>
            </a:r>
            <a:endParaRPr lang="en-US" altLang="ko-KR" sz="4000" dirty="0"/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sz="3200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변수명</a:t>
            </a:r>
            <a:r>
              <a:rPr lang="ko-KR" altLang="en-US" dirty="0"/>
              <a:t> 앞에 </a:t>
            </a:r>
            <a:r>
              <a:rPr lang="en-US" altLang="ko-KR" sz="3200" b="1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*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붙여 나머지 </a:t>
            </a:r>
            <a:r>
              <a:rPr lang="ko-KR" altLang="en-US" dirty="0" err="1"/>
              <a:t>튜플</a:t>
            </a:r>
            <a:r>
              <a:rPr lang="ko-KR" altLang="en-US" dirty="0"/>
              <a:t> 항목들을 리스트로 받기 가능</a:t>
            </a: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593143" y="2400729"/>
            <a:ext cx="9539113" cy="1623889"/>
          </a:xfrm>
          <a:prstGeom prst="roundRect">
            <a:avLst>
              <a:gd name="adj" fmla="val 970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(“apple”, “kiwi”, “mango”)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fruit1, fruit2, fruit3 =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fruit1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 “apple”, fruit2  “kiwi”, fruit3  “mango”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593143" y="4629364"/>
            <a:ext cx="9539113" cy="1623889"/>
          </a:xfrm>
          <a:prstGeom prst="roundRect">
            <a:avLst>
              <a:gd name="adj" fmla="val 873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(10, 20, 30, 40, 50)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a,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*b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</a:t>
            </a:r>
            <a:r>
              <a:rPr lang="en-US" altLang="ko-KR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a</a:t>
            </a:r>
            <a:r>
              <a:rPr lang="en-US" altLang="ko-KR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10, b</a:t>
            </a:r>
            <a:r>
              <a:rPr lang="en-US" altLang="ko-KR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[20, 30, 40, 50]</a:t>
            </a:r>
            <a:r>
              <a:rPr lang="en-US" altLang="ko-KR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, b</a:t>
            </a:r>
            <a:r>
              <a:rPr lang="ko-KR" altLang="en-US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에 나머지 값들을 리스트로 저장</a:t>
            </a:r>
            <a:endParaRPr lang="en-US" altLang="ko-KR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a,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*b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, c =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a10, b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[20, 30, 40]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, c50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7100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</a:t>
            </a:r>
            <a:r>
              <a:rPr lang="ko-KR" altLang="en-US" dirty="0" err="1"/>
              <a:t>튜플</a:t>
            </a:r>
            <a:r>
              <a:rPr lang="ko-KR" altLang="en-US" dirty="0"/>
              <a:t> 풀기</a:t>
            </a:r>
            <a:r>
              <a:rPr lang="en-US" altLang="ko-KR" dirty="0"/>
              <a:t>(unpack tuples)  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)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ko-KR" altLang="en-US" dirty="0" err="1"/>
              <a:t>튜플의</a:t>
            </a:r>
            <a:r>
              <a:rPr lang="ko-KR" altLang="en-US" dirty="0"/>
              <a:t> 항목 수와 저장할 변수의 수가 기본적으로 일치해야 함</a:t>
            </a:r>
            <a:endParaRPr lang="en-US" altLang="ko-KR" sz="4000" dirty="0"/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중복 적용하여 </a:t>
            </a:r>
            <a:r>
              <a:rPr lang="en-US" altLang="ko-KR" dirty="0"/>
              <a:t>unpacking </a:t>
            </a:r>
            <a:r>
              <a:rPr lang="ko-KR" altLang="en-US" dirty="0"/>
              <a:t>가능</a:t>
            </a: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593143" y="1665438"/>
            <a:ext cx="9539113" cy="1134323"/>
          </a:xfrm>
          <a:prstGeom prst="roundRect">
            <a:avLst>
              <a:gd name="adj" fmla="val 970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((10, 20), (30, 40))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의 항목은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개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a, b =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a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 (10,20),  b  (30, 40)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593143" y="3568673"/>
            <a:ext cx="9539113" cy="1623889"/>
          </a:xfrm>
          <a:prstGeom prst="roundRect">
            <a:avLst>
              <a:gd name="adj" fmla="val 8734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((10, 20), (30, 40))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의 항목은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개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a,b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),(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c,d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 =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	</a:t>
            </a:r>
            <a:r>
              <a:rPr lang="en-US" altLang="ko-KR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a </a:t>
            </a:r>
            <a:r>
              <a:rPr lang="en-US" altLang="ko-KR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 10, b  20, c  30, d  40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a, b, c, d = </a:t>
            </a:r>
            <a:r>
              <a:rPr lang="en-US" altLang="ko-KR" sz="2000" b="1" dirty="0" err="1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		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!</a:t>
            </a:r>
            <a:r>
              <a:rPr lang="ko-KR" altLang="en-US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오류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, </a:t>
            </a:r>
            <a:r>
              <a:rPr lang="ko-KR" altLang="en-US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항목 수와 변수 수가 일치 하지 않음</a:t>
            </a:r>
            <a:endParaRPr lang="en-US" altLang="ko-KR" sz="2000" b="1" dirty="0">
              <a:solidFill>
                <a:srgbClr val="FF6565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1008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</a:t>
            </a:r>
            <a:r>
              <a:rPr lang="ko-KR" altLang="en-US" dirty="0"/>
              <a:t>반복 처리하기 </a:t>
            </a:r>
            <a:r>
              <a:rPr lang="en-US" altLang="ko-KR" dirty="0"/>
              <a:t>(loop lists)</a:t>
            </a:r>
            <a:endParaRPr lang="ko-KR" altLang="en-US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Tuple</a:t>
            </a:r>
            <a:r>
              <a:rPr lang="ko-KR" altLang="en-US" dirty="0"/>
              <a:t> 항목들을 차례대로 반복처리 하기</a:t>
            </a:r>
            <a:endParaRPr lang="en-US" altLang="ko-KR" sz="2000" dirty="0">
              <a:solidFill>
                <a:srgbClr val="FF0000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ko-KR" sz="3200" dirty="0"/>
          </a:p>
          <a:p>
            <a:pPr>
              <a:lnSpc>
                <a:spcPct val="150000"/>
              </a:lnSpc>
            </a:pPr>
            <a:endParaRPr lang="en-US" altLang="ko-KR" sz="3200" dirty="0"/>
          </a:p>
          <a:p>
            <a:pPr>
              <a:lnSpc>
                <a:spcPct val="150000"/>
              </a:lnSpc>
            </a:pPr>
            <a:r>
              <a:rPr lang="ko-KR" altLang="en-US" dirty="0"/>
              <a:t>인덱스로 </a:t>
            </a:r>
            <a:r>
              <a:rPr lang="en-US" altLang="ko-KR" dirty="0"/>
              <a:t>tuple</a:t>
            </a:r>
            <a:r>
              <a:rPr lang="ko-KR" altLang="en-US" dirty="0"/>
              <a:t>의 항목들을 반복처리 하기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248383" y="1733658"/>
            <a:ext cx="10105416" cy="1623890"/>
          </a:xfrm>
          <a:prstGeom prst="roundRect">
            <a:avLst>
              <a:gd name="adj" fmla="val 1028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(“apple”, “kiwi”, “mango”)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 item in fruits: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# tuple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의 항목들을 처음부터 순서대로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item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 대입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print(item)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248383" y="4331555"/>
            <a:ext cx="10105416" cy="1623889"/>
          </a:xfrm>
          <a:prstGeom prst="roundRect">
            <a:avLst>
              <a:gd name="adj" fmla="val 970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(10, 20, 10, 40, 50)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in range(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(fruits) ):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# range(), 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함수 이해하기 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print(fruits[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333247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CE57E65-CFCF-46A1-A745-7F6814D73AFB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26112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Tuple:  Methods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FADCEC9-A2C1-48DA-8136-5795AFB25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9028"/>
            <a:ext cx="8701916" cy="1744745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D0BD25D-6767-407F-946F-D13C2A7D8EF4}"/>
              </a:ext>
            </a:extLst>
          </p:cNvPr>
          <p:cNvSpPr/>
          <p:nvPr/>
        </p:nvSpPr>
        <p:spPr>
          <a:xfrm>
            <a:off x="949024" y="2733773"/>
            <a:ext cx="10105416" cy="1623890"/>
          </a:xfrm>
          <a:prstGeom prst="roundRect">
            <a:avLst>
              <a:gd name="adj" fmla="val 1028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(10, 20, 30, 10, 10, 20)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tpl.count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(10)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	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3,  </a:t>
            </a:r>
            <a:r>
              <a:rPr lang="ko-KR" altLang="en-US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튜플에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항목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10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이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3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개 있음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tpl.count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(20)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2,  </a:t>
            </a:r>
            <a:r>
              <a:rPr lang="ko-KR" altLang="en-US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튜플에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항목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20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이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개 있음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.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3DA4C72-D0F0-4B16-A3DD-1B855BC52A65}"/>
              </a:ext>
            </a:extLst>
          </p:cNvPr>
          <p:cNvSpPr/>
          <p:nvPr/>
        </p:nvSpPr>
        <p:spPr>
          <a:xfrm>
            <a:off x="949024" y="4713402"/>
            <a:ext cx="10105416" cy="1623890"/>
          </a:xfrm>
          <a:prstGeom prst="roundRect">
            <a:avLst>
              <a:gd name="adj" fmla="val 1028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(10, 20, 30, 10, 10, 20)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tpl.index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(10)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	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0, 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항목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10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의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index, 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개 이상이면 첫 번째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index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tpl.index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(30)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2, 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항목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30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의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index.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5774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09D4-BD07-5FD8-8F78-56D0E4A3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1A051E-D78A-725C-03A2-678E29D99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5338"/>
            <a:ext cx="10515600" cy="1338168"/>
          </a:xfrm>
        </p:spPr>
        <p:txBody>
          <a:bodyPr>
            <a:normAutofit/>
          </a:bodyPr>
          <a:lstStyle/>
          <a:p>
            <a:pPr algn="ctr"/>
            <a:r>
              <a:rPr lang="en-US" altLang="ko-KR" sz="8000" dirty="0"/>
              <a:t>Quiz</a:t>
            </a:r>
            <a:endParaRPr lang="ko-KR" altLang="en-US" sz="80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B5B5633-C0E9-034A-2ABD-721E9CA5DD9A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826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b="0" dirty="0">
                <a:effectLst/>
              </a:rPr>
              <a:t>학습한 내용에 대한 이해 정도를 확인합니다</a:t>
            </a:r>
            <a:r>
              <a:rPr lang="en-US" altLang="ko-KR" b="0" dirty="0">
                <a:effectLst/>
              </a:rPr>
              <a:t>.</a:t>
            </a:r>
            <a:endParaRPr lang="ko-KR" alt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27530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62343-DAAB-189E-4040-2F033845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AE474B-C2BD-BFD9-7684-3F10B807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01AD2-D2CF-4ED4-8DF7-569C1CD40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1. Python</a:t>
            </a:r>
            <a:r>
              <a:rPr lang="ko-KR" altLang="en-US" dirty="0"/>
              <a:t>에서 </a:t>
            </a:r>
            <a:r>
              <a:rPr lang="ko-KR" altLang="en-US" dirty="0" err="1"/>
              <a:t>튜플을</a:t>
            </a:r>
            <a:r>
              <a:rPr lang="ko-KR" altLang="en-US" dirty="0"/>
              <a:t> 올바르게 정의한 것은 무엇입니까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3]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2, 3}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(1, 2, 3)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"1, 2, 3"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ADE1165-7C25-0D3D-F72F-4276BCBB6B07}"/>
              </a:ext>
            </a:extLst>
          </p:cNvPr>
          <p:cNvSpPr/>
          <p:nvPr/>
        </p:nvSpPr>
        <p:spPr>
          <a:xfrm>
            <a:off x="1558903" y="4373663"/>
            <a:ext cx="10093934" cy="1626543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❸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튜플은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소괄호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를 사용하여 정의하며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쉼표로 요소를 구분합니다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예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(1, 2, 3).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대괄호는 리스트를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중괄호는 집합 또는 </a:t>
            </a: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딕셔너리를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나타냅니다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400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721D5-4486-A3F3-93C2-9DEE08BAB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FBFA0-FE62-B05F-7A15-28D881020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BBD687-06CC-EC53-0C72-25B641A85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2. </a:t>
            </a:r>
            <a:r>
              <a:rPr lang="ko-KR" altLang="en-US" dirty="0"/>
              <a:t>다음 코드의 출력 결과는 무엇인가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(1, 4, 3)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(1, 2, 3)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에러 발생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4, 3]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55F8DB8-7A03-F7A3-B197-3F39A4E400DB}"/>
              </a:ext>
            </a:extLst>
          </p:cNvPr>
          <p:cNvSpPr/>
          <p:nvPr/>
        </p:nvSpPr>
        <p:spPr>
          <a:xfrm>
            <a:off x="1820159" y="4215150"/>
            <a:ext cx="10093934" cy="1822918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❸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튜플은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불변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(immutable)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데이터 구조이므로 생성 후 요소를 변경할 수 없습니다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따라서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t[1] = 4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에서 </a:t>
            </a:r>
            <a:r>
              <a:rPr lang="en-US" altLang="ko-KR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TypeError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가 발생합니다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E14A81D-7055-8A22-3EB9-17A5541E01DF}"/>
              </a:ext>
            </a:extLst>
          </p:cNvPr>
          <p:cNvSpPr/>
          <p:nvPr/>
        </p:nvSpPr>
        <p:spPr>
          <a:xfrm>
            <a:off x="4648443" y="2034256"/>
            <a:ext cx="4437367" cy="1475298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fr-FR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 = (1, 2, 3)</a:t>
            </a:r>
          </a:p>
          <a:p>
            <a:pPr>
              <a:lnSpc>
                <a:spcPct val="150000"/>
              </a:lnSpc>
            </a:pPr>
            <a:r>
              <a:rPr lang="fr-FR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t[1] = 4</a:t>
            </a:r>
          </a:p>
          <a:p>
            <a:pPr>
              <a:lnSpc>
                <a:spcPct val="150000"/>
              </a:lnSpc>
            </a:pPr>
            <a:r>
              <a:rPr lang="fr-FR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print(t)</a:t>
            </a:r>
            <a:endParaRPr lang="fr-FR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726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9741F-30F8-CE9A-EBE5-E62E2BA1C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6130E-6BFE-666F-5B5D-0712C0C35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B6A461-8076-9B70-EC38-011619AFA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3.</a:t>
            </a:r>
            <a:r>
              <a:rPr lang="ko-KR" altLang="en-US" dirty="0"/>
              <a:t> 단일 요소 </a:t>
            </a:r>
            <a:r>
              <a:rPr lang="ko-KR" altLang="en-US" dirty="0" err="1"/>
              <a:t>튜플을</a:t>
            </a:r>
            <a:r>
              <a:rPr lang="ko-KR" altLang="en-US" dirty="0"/>
              <a:t> 올바르게 생성한 것은 무엇입니까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(1,)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(1)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1,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1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1C6C17-FE95-A10B-99F0-83249F336BF0}"/>
              </a:ext>
            </a:extLst>
          </p:cNvPr>
          <p:cNvSpPr/>
          <p:nvPr/>
        </p:nvSpPr>
        <p:spPr>
          <a:xfrm>
            <a:off x="1558903" y="4373663"/>
            <a:ext cx="10093934" cy="1974886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❶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단일 요소 </a:t>
            </a: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튜플을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생성하려면 요소 뒤에 반드시 쉼표를 추가해야 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(1)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는 단순히 정수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1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로 인식되며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1,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은 쉼표로 끝나는 값이지만 </a:t>
            </a: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튜플로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명시하지 않았습니다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514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7DE3B-B147-AB48-12FB-CFC6639E0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94F8A-31DA-3A87-68CB-59A5D702C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D4BF92-CB2B-A266-A892-B4C1DE703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4.</a:t>
            </a:r>
            <a:r>
              <a:rPr lang="ko-KR" altLang="en-US" dirty="0"/>
              <a:t> 다음 중 </a:t>
            </a:r>
            <a:r>
              <a:rPr lang="ko-KR" altLang="en-US" dirty="0" err="1"/>
              <a:t>튜플에서</a:t>
            </a:r>
            <a:r>
              <a:rPr lang="ko-KR" altLang="en-US" dirty="0"/>
              <a:t> 사용할 수 있는 메서드는 무엇입니까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append()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remove()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count()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sort()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57E1B06-D838-B496-520C-AFEB473F8B12}"/>
              </a:ext>
            </a:extLst>
          </p:cNvPr>
          <p:cNvSpPr/>
          <p:nvPr/>
        </p:nvSpPr>
        <p:spPr>
          <a:xfrm>
            <a:off x="1558902" y="4373663"/>
            <a:ext cx="10363131" cy="1626543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❸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튜플은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불변 객체이므로 요소를 추가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제거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정렬하는 메서드는 제공되지 않습니다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count()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는 </a:t>
            </a: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튜플에서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특정 값의 개수를 반환하는 메서드입니다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248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B858E-BFD1-F5E9-3F9C-114B5C1AF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4BD3E2-2C67-5400-FB89-6E1FA5DA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BCAD0D-D02C-6CEC-523C-754B65F43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5. </a:t>
            </a:r>
            <a:r>
              <a:rPr lang="ko-KR" altLang="en-US" dirty="0"/>
              <a:t>다음 코드의 출력 결과는 무엇인가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6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123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(1, 2, 3)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에러 발생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4FBE95C-7AAF-3E0E-9D1F-5E90B3F86BE5}"/>
              </a:ext>
            </a:extLst>
          </p:cNvPr>
          <p:cNvSpPr/>
          <p:nvPr/>
        </p:nvSpPr>
        <p:spPr>
          <a:xfrm>
            <a:off x="1820159" y="4215150"/>
            <a:ext cx="10093934" cy="1822918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❶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(1, 2, 3)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의 요소는 변수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a, b, c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 각각 할당됩니다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이후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 + b + c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는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1 + 2 + 3 = 6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을 출력합니다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C872D4C-C867-0A3E-5578-6AAFA6BB5107}"/>
              </a:ext>
            </a:extLst>
          </p:cNvPr>
          <p:cNvSpPr/>
          <p:nvPr/>
        </p:nvSpPr>
        <p:spPr>
          <a:xfrm>
            <a:off x="4648443" y="2034256"/>
            <a:ext cx="4437367" cy="1031161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fr-FR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a, b, c = (1, 2, 3)</a:t>
            </a:r>
          </a:p>
          <a:p>
            <a:pPr>
              <a:lnSpc>
                <a:spcPct val="150000"/>
              </a:lnSpc>
            </a:pPr>
            <a:r>
              <a:rPr lang="fr-FR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print(a + b + c)</a:t>
            </a:r>
          </a:p>
          <a:p>
            <a:pPr>
              <a:lnSpc>
                <a:spcPct val="150000"/>
              </a:lnSpc>
            </a:pPr>
            <a:endParaRPr lang="fr-FR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124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ADCC-50FA-D8E4-8FB6-BEF05C6B8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AA0D6-F113-F3DD-BE25-6AF79F26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D4CBE9-75BB-09B3-55B2-B40D9DC1E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6. </a:t>
            </a:r>
            <a:r>
              <a:rPr lang="ko-KR" altLang="en-US" dirty="0"/>
              <a:t>다음 코드의 출력 결과는 무엇인가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(1, 2, 3, 4)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(2, 3, 4)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[2, 3, 4]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에러 발생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3A5E319-D9A5-9FBF-2C87-5692517C962B}"/>
              </a:ext>
            </a:extLst>
          </p:cNvPr>
          <p:cNvSpPr/>
          <p:nvPr/>
        </p:nvSpPr>
        <p:spPr>
          <a:xfrm>
            <a:off x="1820159" y="4215150"/>
            <a:ext cx="10093934" cy="1822918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❷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슬라이싱은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시작 인덱스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부터 끝 인덱스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(4)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전까지의 요소를 포함합니다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결과는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(2, 3, 4)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입니다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EF8161D-4BF6-09DA-1762-AB3A96DD768B}"/>
              </a:ext>
            </a:extLst>
          </p:cNvPr>
          <p:cNvSpPr/>
          <p:nvPr/>
        </p:nvSpPr>
        <p:spPr>
          <a:xfrm>
            <a:off x="4648443" y="2034256"/>
            <a:ext cx="4437367" cy="1031161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fr-FR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 = (1, 2, 3, 4, 5)</a:t>
            </a:r>
          </a:p>
          <a:p>
            <a:pPr>
              <a:lnSpc>
                <a:spcPct val="150000"/>
              </a:lnSpc>
            </a:pPr>
            <a:r>
              <a:rPr lang="fr-FR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print(t[1:4])</a:t>
            </a:r>
            <a:endParaRPr lang="fr-FR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545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EE0A5-B21F-AAB3-22AF-99150C3A1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A28D3-D5C4-F070-4CB4-FC75D650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AC3E93-C9E9-C06A-D6DE-552D20220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7. </a:t>
            </a:r>
            <a:r>
              <a:rPr lang="ko-KR" altLang="en-US" dirty="0"/>
              <a:t>다음 코드의 출력 결과는 무엇인가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 [2, 3, 5], 4)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 [2, 3], 4, 5)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에러 발생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 [2, 3], 4)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9EFFA97-F167-8821-5985-18D8E3F322B0}"/>
              </a:ext>
            </a:extLst>
          </p:cNvPr>
          <p:cNvSpPr/>
          <p:nvPr/>
        </p:nvSpPr>
        <p:spPr>
          <a:xfrm>
            <a:off x="1820159" y="4215150"/>
            <a:ext cx="10093934" cy="1822918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❶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자체는 불변이지만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내부에 있는 가변 객체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예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리스트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는 변경 가능합니다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따라서 리스트에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5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가 추가됩니다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46699BA-59C7-1A00-0D04-5E79C8D3CA0B}"/>
              </a:ext>
            </a:extLst>
          </p:cNvPr>
          <p:cNvSpPr/>
          <p:nvPr/>
        </p:nvSpPr>
        <p:spPr>
          <a:xfrm>
            <a:off x="4648443" y="2034256"/>
            <a:ext cx="4437367" cy="1394744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fr-FR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 = (1, [2, 3], 4)</a:t>
            </a:r>
          </a:p>
          <a:p>
            <a:pPr>
              <a:lnSpc>
                <a:spcPct val="150000"/>
              </a:lnSpc>
            </a:pPr>
            <a:r>
              <a:rPr lang="fr-FR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t[1].append(5)</a:t>
            </a:r>
          </a:p>
          <a:p>
            <a:pPr>
              <a:lnSpc>
                <a:spcPct val="150000"/>
              </a:lnSpc>
            </a:pPr>
            <a:r>
              <a:rPr lang="fr-FR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print(t)</a:t>
            </a:r>
            <a:endParaRPr lang="fr-FR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336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BF111-A505-D375-C91C-32C15AD6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F35FC2-D802-5474-2003-612F6D7B3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B5D9CD-DEFC-E263-510B-B5CBA8EBF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8. </a:t>
            </a:r>
            <a:r>
              <a:rPr lang="ko-KR" altLang="en-US" dirty="0"/>
              <a:t>다음 코드의 출력 결과는 무엇인가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</a:t>
            </a: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4</a:t>
            </a: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(1, 2, 1, 2)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(1, 2, 2)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1, 2]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2E3FE5F-F8B6-ED67-8524-DF2F2590AE76}"/>
              </a:ext>
            </a:extLst>
          </p:cNvPr>
          <p:cNvSpPr/>
          <p:nvPr/>
        </p:nvSpPr>
        <p:spPr>
          <a:xfrm>
            <a:off x="1820159" y="4215150"/>
            <a:ext cx="10093934" cy="1822918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❷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튜플에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정수를 곱하면 해당 </a:t>
            </a: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튜플이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반복된 새 </a:t>
            </a: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튜플이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생성됩니다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결과는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(1, 2, 1, 2)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입니다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5C154A6-D6CD-AEAB-82C3-C3FF3E727FDA}"/>
              </a:ext>
            </a:extLst>
          </p:cNvPr>
          <p:cNvSpPr/>
          <p:nvPr/>
        </p:nvSpPr>
        <p:spPr>
          <a:xfrm>
            <a:off x="4648443" y="2034256"/>
            <a:ext cx="4437367" cy="1057287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fr-FR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 = (1, 2)</a:t>
            </a:r>
          </a:p>
          <a:p>
            <a:pPr>
              <a:lnSpc>
                <a:spcPct val="150000"/>
              </a:lnSpc>
            </a:pPr>
            <a:r>
              <a:rPr lang="fr-FR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print(t * 2)</a:t>
            </a:r>
            <a:endParaRPr lang="fr-FR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066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E62F6-1E1D-A199-70DE-2E0C48CC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C98DCA-A7ED-D977-3149-77EE30675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341D09-8883-CA16-8A52-A3D35B31E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9. </a:t>
            </a:r>
            <a:r>
              <a:rPr lang="ko-KR" altLang="en-US" dirty="0"/>
              <a:t>다음 코드의 출력 결과는 무엇인가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True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False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에러 발생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pl-PL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None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269545-8D86-6B08-37F2-98B84B38116E}"/>
              </a:ext>
            </a:extLst>
          </p:cNvPr>
          <p:cNvSpPr/>
          <p:nvPr/>
        </p:nvSpPr>
        <p:spPr>
          <a:xfrm>
            <a:off x="1820159" y="4215150"/>
            <a:ext cx="10093934" cy="1822918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❶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튜플은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사전식 순서로 비교됩니다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첫 번째 요소가 같으면 두 번째 요소를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두 </a:t>
            </a: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번째도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같으면 세 </a:t>
            </a: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번째를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비교합니다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(1, 2, 3)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은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(1, 2, 4)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보다 작습니다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AC94F0E-A65B-88B6-F0A7-E46B76CE119E}"/>
              </a:ext>
            </a:extLst>
          </p:cNvPr>
          <p:cNvSpPr/>
          <p:nvPr/>
        </p:nvSpPr>
        <p:spPr>
          <a:xfrm>
            <a:off x="4648443" y="2034256"/>
            <a:ext cx="4437367" cy="1394744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fr-FR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t1 = (1, 2, 3)</a:t>
            </a:r>
          </a:p>
          <a:p>
            <a:pPr>
              <a:lnSpc>
                <a:spcPct val="150000"/>
              </a:lnSpc>
            </a:pPr>
            <a:r>
              <a:rPr lang="fr-FR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t2 = (1, 2, 4)</a:t>
            </a:r>
          </a:p>
          <a:p>
            <a:pPr>
              <a:lnSpc>
                <a:spcPct val="150000"/>
              </a:lnSpc>
            </a:pPr>
            <a:r>
              <a:rPr lang="fr-FR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print(t1 &lt; t2)</a:t>
            </a:r>
            <a:endParaRPr lang="fr-FR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199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4CA2F-4F67-4F1C-B26D-F222DBCB3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5338"/>
            <a:ext cx="10515600" cy="1338168"/>
          </a:xfrm>
        </p:spPr>
        <p:txBody>
          <a:bodyPr>
            <a:normAutofit/>
          </a:bodyPr>
          <a:lstStyle/>
          <a:p>
            <a:pPr algn="ctr"/>
            <a:r>
              <a:rPr lang="en-US" altLang="ko-KR" sz="8000" dirty="0"/>
              <a:t>Coding Problem</a:t>
            </a:r>
            <a:endParaRPr lang="ko-KR" altLang="en-US" sz="80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68AA711-0D20-446A-8CD5-667066D56E85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187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70000"/>
              </a:lnSpc>
            </a:pPr>
            <a:r>
              <a:rPr lang="ko-KR" altLang="en-US" b="0" dirty="0">
                <a:effectLst/>
              </a:rPr>
              <a:t>간단한 코딩 문제를 해결함으로써</a:t>
            </a:r>
            <a:endParaRPr lang="en-US" altLang="ko-KR" b="0" dirty="0">
              <a:effectLst/>
            </a:endParaRPr>
          </a:p>
          <a:p>
            <a:pPr algn="ctr">
              <a:lnSpc>
                <a:spcPct val="170000"/>
              </a:lnSpc>
            </a:pPr>
            <a:r>
              <a:rPr lang="ko-KR" altLang="en-US" b="0" dirty="0">
                <a:effectLst/>
              </a:rPr>
              <a:t>학습 결과의 활용 능력을 확인</a:t>
            </a:r>
          </a:p>
        </p:txBody>
      </p:sp>
    </p:spTree>
    <p:extLst>
      <p:ext uri="{BB962C8B-B14F-4D97-AF65-F5344CB8AC3E}">
        <p14:creationId xmlns:p14="http://schemas.microsoft.com/office/powerpoint/2010/main" val="1792366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99C6C-0E49-1420-CE38-C6D50C7D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6D32A9-EBE3-393C-F96B-B73F5D40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 문제 </a:t>
            </a:r>
            <a:r>
              <a:rPr lang="en-US" altLang="ko-KR" dirty="0"/>
              <a:t>1, 2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203401-63A6-B816-831A-7D6762A4B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Problem 1:</a:t>
            </a:r>
          </a:p>
          <a:p>
            <a:pPr>
              <a:lnSpc>
                <a:spcPct val="150000"/>
              </a:lnSpc>
            </a:pPr>
            <a:endParaRPr lang="en-US" altLang="ko-KR" sz="1050" dirty="0"/>
          </a:p>
          <a:p>
            <a:pPr>
              <a:lnSpc>
                <a:spcPct val="150000"/>
              </a:lnSpc>
            </a:pPr>
            <a:r>
              <a:rPr lang="en-US" altLang="ko-KR" dirty="0"/>
              <a:t>Solution Example: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900" dirty="0"/>
          </a:p>
          <a:p>
            <a:pPr>
              <a:lnSpc>
                <a:spcPct val="150000"/>
              </a:lnSpc>
            </a:pPr>
            <a:r>
              <a:rPr lang="en-US" altLang="ko-KR" dirty="0"/>
              <a:t>Problem 2:</a:t>
            </a:r>
          </a:p>
          <a:p>
            <a:pPr>
              <a:lnSpc>
                <a:spcPct val="150000"/>
              </a:lnSpc>
            </a:pPr>
            <a:endParaRPr lang="en-US" altLang="ko-KR" sz="400" dirty="0"/>
          </a:p>
          <a:p>
            <a:pPr>
              <a:lnSpc>
                <a:spcPct val="150000"/>
              </a:lnSpc>
            </a:pPr>
            <a:r>
              <a:rPr lang="en-US" altLang="ko-KR" dirty="0"/>
              <a:t>Solution Example: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CE46948-C316-2768-9F50-5C116A04116F}"/>
              </a:ext>
            </a:extLst>
          </p:cNvPr>
          <p:cNvSpPr/>
          <p:nvPr/>
        </p:nvSpPr>
        <p:spPr>
          <a:xfrm>
            <a:off x="966652" y="1764394"/>
            <a:ext cx="10659292" cy="499836"/>
          </a:xfrm>
          <a:prstGeom prst="roundRect">
            <a:avLst>
              <a:gd name="adj" fmla="val 241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(1, 5, 3, 7, 2, 8, 4, 6)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에서 짝수만 포함하는 새 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튜플을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생성하는 코드를 작성하세요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3353333-2051-1479-C520-2A9F63D60E6A}"/>
              </a:ext>
            </a:extLst>
          </p:cNvPr>
          <p:cNvSpPr/>
          <p:nvPr/>
        </p:nvSpPr>
        <p:spPr>
          <a:xfrm>
            <a:off x="966652" y="2836278"/>
            <a:ext cx="10659292" cy="1047745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 = (1, 5, 3, 7, 2, 8, 4, 6)</a:t>
            </a:r>
          </a:p>
          <a:p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result = tuple(x for x in t if x % 2 == 0)</a:t>
            </a:r>
          </a:p>
          <a:p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print(result)  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(2, 8, 4, 6)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47983D2-E158-4E7C-1A0A-3AF5D9280B11}"/>
              </a:ext>
            </a:extLst>
          </p:cNvPr>
          <p:cNvSpPr/>
          <p:nvPr/>
        </p:nvSpPr>
        <p:spPr>
          <a:xfrm>
            <a:off x="966652" y="4339701"/>
            <a:ext cx="10659292" cy="499836"/>
          </a:xfrm>
          <a:prstGeom prst="roundRect">
            <a:avLst>
              <a:gd name="adj" fmla="val 241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두 숫자의 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예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(5, 10))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을 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언패킹한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후에 값을 서로 교환하는 코드를 작성하세요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6449AC7-A8E4-BBCA-323C-7B5CC02A5BE2}"/>
              </a:ext>
            </a:extLst>
          </p:cNvPr>
          <p:cNvSpPr/>
          <p:nvPr/>
        </p:nvSpPr>
        <p:spPr>
          <a:xfrm>
            <a:off x="966652" y="5359729"/>
            <a:ext cx="10659292" cy="1398122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a, b = (5, 10)</a:t>
            </a:r>
          </a:p>
          <a:p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a, b = b, a</a:t>
            </a:r>
          </a:p>
          <a:p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print("a:", a)  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a: 10</a:t>
            </a:r>
          </a:p>
          <a:p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print("b:", b)  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b: 5</a:t>
            </a:r>
          </a:p>
        </p:txBody>
      </p:sp>
    </p:spTree>
    <p:extLst>
      <p:ext uri="{BB962C8B-B14F-4D97-AF65-F5344CB8AC3E}">
        <p14:creationId xmlns:p14="http://schemas.microsoft.com/office/powerpoint/2010/main" val="295935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8D4ED-BBEE-7F82-5187-3551C875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F35B8-1CA0-FE78-4CF7-83DA9561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 문제 </a:t>
            </a:r>
            <a:r>
              <a:rPr lang="en-US" altLang="ko-KR" dirty="0"/>
              <a:t>3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28AE51-7BE1-E45D-FFE1-30FBF60C9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Problem:</a:t>
            </a:r>
          </a:p>
          <a:p>
            <a:pPr>
              <a:lnSpc>
                <a:spcPct val="150000"/>
              </a:lnSpc>
            </a:pPr>
            <a:endParaRPr lang="en-US" altLang="ko-KR" sz="1050" dirty="0"/>
          </a:p>
          <a:p>
            <a:pPr>
              <a:lnSpc>
                <a:spcPct val="150000"/>
              </a:lnSpc>
            </a:pPr>
            <a:endParaRPr lang="en-US" altLang="ko-KR" sz="1050" dirty="0"/>
          </a:p>
          <a:p>
            <a:pPr>
              <a:lnSpc>
                <a:spcPct val="150000"/>
              </a:lnSpc>
            </a:pPr>
            <a:endParaRPr lang="en-US" altLang="ko-KR" sz="1050" dirty="0"/>
          </a:p>
          <a:p>
            <a:pPr>
              <a:lnSpc>
                <a:spcPct val="150000"/>
              </a:lnSpc>
            </a:pPr>
            <a:endParaRPr lang="en-US" altLang="ko-KR" sz="1050" dirty="0"/>
          </a:p>
          <a:p>
            <a:pPr>
              <a:lnSpc>
                <a:spcPct val="150000"/>
              </a:lnSpc>
            </a:pPr>
            <a:r>
              <a:rPr lang="en-US" altLang="ko-KR" dirty="0"/>
              <a:t>Solution Example: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9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26F8F06-675D-9869-4EE5-CA74C7D6B68E}"/>
              </a:ext>
            </a:extLst>
          </p:cNvPr>
          <p:cNvSpPr/>
          <p:nvPr/>
        </p:nvSpPr>
        <p:spPr>
          <a:xfrm>
            <a:off x="966652" y="1764394"/>
            <a:ext cx="10659292" cy="1562280"/>
          </a:xfrm>
          <a:prstGeom prst="roundRect">
            <a:avLst>
              <a:gd name="adj" fmla="val 241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다음과 같은 중첩 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튜플이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주어졌을 때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각 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튜플의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두 번째 요소를 기준으로 오름차순 정렬하는 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코드를 작성하세요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data = ((1, 5), (2, 3), (4, 1), (3, 4))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FEB67E1-0702-520A-C3FB-01CBDEAB4AD1}"/>
              </a:ext>
            </a:extLst>
          </p:cNvPr>
          <p:cNvSpPr/>
          <p:nvPr/>
        </p:nvSpPr>
        <p:spPr>
          <a:xfrm>
            <a:off x="966652" y="4032269"/>
            <a:ext cx="10659292" cy="1562279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data = ((1, 5), (2, 3), (4, 1), (3, 4))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sorted_data = tuple(sorted(data, key=lambda x: x[1]))</a:t>
            </a:r>
          </a:p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print(sorted_data)  # </a:t>
            </a:r>
            <a:r>
              <a:rPr lang="ko-KR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</a:t>
            </a:r>
            <a:r>
              <a:rPr lang="en-US" altLang="ko-KR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((4, 1), (2, 3), (3, 4), (1, 5))</a:t>
            </a:r>
            <a:endParaRPr lang="en-US" altLang="ko-KR" sz="2000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5233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8656B-5E01-B9AC-EBF6-3C892F8D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500C8-A7E6-8D2A-29D7-2250E645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연습 문제 </a:t>
            </a:r>
            <a:r>
              <a:rPr lang="en-US" altLang="ko-KR" dirty="0"/>
              <a:t>4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2BB3A2-BD9A-EA4D-493E-8F6FD5D86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Problem:</a:t>
            </a:r>
          </a:p>
          <a:p>
            <a:pPr>
              <a:lnSpc>
                <a:spcPct val="150000"/>
              </a:lnSpc>
            </a:pPr>
            <a:endParaRPr lang="en-US" altLang="ko-KR" sz="1050" dirty="0"/>
          </a:p>
          <a:p>
            <a:pPr>
              <a:lnSpc>
                <a:spcPct val="150000"/>
              </a:lnSpc>
            </a:pPr>
            <a:endParaRPr lang="en-US" altLang="ko-KR" sz="1050" dirty="0"/>
          </a:p>
          <a:p>
            <a:pPr>
              <a:lnSpc>
                <a:spcPct val="150000"/>
              </a:lnSpc>
            </a:pPr>
            <a:endParaRPr lang="en-US" altLang="ko-KR" sz="1050" dirty="0"/>
          </a:p>
          <a:p>
            <a:pPr>
              <a:lnSpc>
                <a:spcPct val="150000"/>
              </a:lnSpc>
            </a:pPr>
            <a:endParaRPr lang="en-US" altLang="ko-KR" sz="1050" dirty="0"/>
          </a:p>
          <a:p>
            <a:pPr>
              <a:lnSpc>
                <a:spcPct val="150000"/>
              </a:lnSpc>
            </a:pPr>
            <a:r>
              <a:rPr lang="en-US" altLang="ko-KR" dirty="0"/>
              <a:t>Solution Example: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9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6165847E-070A-1073-560A-DB74F638791E}"/>
                  </a:ext>
                </a:extLst>
              </p:cNvPr>
              <p:cNvSpPr/>
              <p:nvPr/>
            </p:nvSpPr>
            <p:spPr>
              <a:xfrm>
                <a:off x="966652" y="1764394"/>
                <a:ext cx="10659292" cy="1562280"/>
              </a:xfrm>
              <a:prstGeom prst="roundRect">
                <a:avLst>
                  <a:gd name="adj" fmla="val 2417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ko-KR" alt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나눔고딕코딩" panose="020D0009000000000000" pitchFamily="49" charset="-127"/>
                    <a:ea typeface="나눔고딕코딩" panose="020D0009000000000000" pitchFamily="49" charset="-127"/>
                  </a:rPr>
                  <a:t>두 점의 좌표를 </a:t>
                </a:r>
                <a:r>
                  <a:rPr lang="ko-KR" altLang="en-US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나눔고딕코딩" panose="020D0009000000000000" pitchFamily="49" charset="-127"/>
                    <a:ea typeface="나눔고딕코딩" panose="020D0009000000000000" pitchFamily="49" charset="-127"/>
                  </a:rPr>
                  <a:t>튜플로</a:t>
                </a:r>
                <a:r>
                  <a:rPr lang="ko-KR" alt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나눔고딕코딩" panose="020D0009000000000000" pitchFamily="49" charset="-127"/>
                    <a:ea typeface="나눔고딕코딩" panose="020D0009000000000000" pitchFamily="49" charset="-127"/>
                  </a:rPr>
                  <a:t> </a:t>
                </a:r>
                <a:r>
                  <a:rPr lang="ko-KR" altLang="en-US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나눔고딕코딩" panose="020D0009000000000000" pitchFamily="49" charset="-127"/>
                    <a:ea typeface="나눔고딕코딩" panose="020D0009000000000000" pitchFamily="49" charset="-127"/>
                  </a:rPr>
                  <a:t>입력받아</a:t>
                </a:r>
                <a:r>
                  <a:rPr lang="ko-KR" alt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나눔고딕코딩" panose="020D0009000000000000" pitchFamily="49" charset="-127"/>
                    <a:ea typeface="나눔고딕코딩" panose="020D0009000000000000" pitchFamily="49" charset="-127"/>
                  </a:rPr>
                  <a:t> 두 점 사이의 유클리드 거리를 계산하는 코드를 작성하세요</a:t>
                </a:r>
                <a:r>
                  <a:rPr lang="en-US" altLang="ko-K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나눔고딕코딩" panose="020D0009000000000000" pitchFamily="49" charset="-127"/>
                    <a:ea typeface="나눔고딕코딩" panose="020D0009000000000000" pitchFamily="49" charset="-127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나눔고딕코딩" panose="020D0009000000000000" pitchFamily="49" charset="-127"/>
                    <a:ea typeface="나눔고딕코딩" panose="020D0009000000000000" pitchFamily="49" charset="-127"/>
                  </a:rPr>
                  <a:t>공식</a:t>
                </a:r>
                <a:r>
                  <a:rPr lang="en-US" altLang="ko-K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나눔고딕코딩" panose="020D0009000000000000" pitchFamily="49" charset="-127"/>
                    <a:ea typeface="나눔고딕코딩" panose="020D0009000000000000" pitchFamily="49" charset="-127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b="1" i="1" dirty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pt-BR" altLang="ko-KR" b="1" i="1" dirty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dirty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ko-KR" b="1" i="1" dirty="0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1" i="1" dirty="0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b="1" i="1" dirty="0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b>
                              <m:sup/>
                            </m:sSubSup>
                            <m:r>
                              <a:rPr lang="en-US" altLang="ko-KR" b="1" i="1" dirty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b="1" i="1" dirty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1" i="1" dirty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b="1" i="1" dirty="0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  <m:sup/>
                            </m:sSubSup>
                            <m:r>
                              <a:rPr lang="en-US" altLang="ko-KR" b="1" i="1" dirty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pt-BR" altLang="ko-KR" b="1" i="1" dirty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pt-BR" altLang="ko-KR" b="1" i="1" dirty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pt-BR" altLang="ko-KR" b="1" i="1" dirty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dirty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Sup>
                              <m:sSubSupPr>
                                <m:ctrlPr>
                                  <a:rPr lang="en-US" altLang="ko-KR" b="1" i="1" dirty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1" i="1" dirty="0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ko-KR" b="1" i="1" dirty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b>
                              <m:sup/>
                            </m:sSubSup>
                            <m:r>
                              <a:rPr lang="en-US" altLang="ko-KR" b="1" i="1" dirty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b="1" i="1" dirty="0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1" i="1" dirty="0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ko-KR" b="1" i="1" dirty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  <m:sup/>
                            </m:sSubSup>
                            <m:r>
                              <a:rPr lang="en-US" altLang="ko-KR" b="1" i="1" dirty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pt-BR" altLang="ko-KR" b="1" i="1" dirty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ko-K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나눔고딕코딩" panose="020D0009000000000000" pitchFamily="49" charset="-127"/>
                    <a:cs typeface="Times New Roman" panose="02020603050405020304" pitchFamily="18" charset="0"/>
                  </a:rPr>
                  <a:t> ​</a:t>
                </a:r>
              </a:p>
            </p:txBody>
          </p:sp>
        </mc:Choice>
        <mc:Fallback xmlns=""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6165847E-070A-1073-560A-DB74F63879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52" y="1764394"/>
                <a:ext cx="10659292" cy="1562280"/>
              </a:xfrm>
              <a:prstGeom prst="roundRect">
                <a:avLst>
                  <a:gd name="adj" fmla="val 2417"/>
                </a:avLst>
              </a:prstGeom>
              <a:blipFill>
                <a:blip r:embed="rId2"/>
                <a:stretch>
                  <a:fillRect l="-3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444D3F5-1898-31AC-31A5-268DC345A8B3}"/>
              </a:ext>
            </a:extLst>
          </p:cNvPr>
          <p:cNvSpPr/>
          <p:nvPr/>
        </p:nvSpPr>
        <p:spPr>
          <a:xfrm>
            <a:off x="966652" y="4032269"/>
            <a:ext cx="10659292" cy="2460605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import math</a:t>
            </a:r>
          </a:p>
          <a:p>
            <a:endParaRPr lang="en-US" altLang="ko-KR" sz="2000" b="1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p1 = tuple(map(int, input("</a:t>
            </a:r>
            <a:r>
              <a:rPr lang="ko-KR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첫 번째 점의 좌표</a:t>
            </a:r>
            <a:r>
              <a:rPr lang="en-US" altLang="ko-KR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(x, y)</a:t>
            </a:r>
            <a:r>
              <a:rPr lang="ko-KR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를 입력하세요</a:t>
            </a:r>
            <a:r>
              <a:rPr lang="en-US" altLang="ko-KR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").split()))</a:t>
            </a:r>
          </a:p>
          <a:p>
            <a:r>
              <a:rPr lang="en-US" altLang="ko-KR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p2 = tuple(map(int, input("</a:t>
            </a:r>
            <a:r>
              <a:rPr lang="ko-KR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두 번째 점의 좌표</a:t>
            </a:r>
            <a:r>
              <a:rPr lang="en-US" altLang="ko-KR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(x, y)</a:t>
            </a:r>
            <a:r>
              <a:rPr lang="ko-KR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를 입력하세요</a:t>
            </a:r>
            <a:r>
              <a:rPr lang="en-US" altLang="ko-KR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").split()))</a:t>
            </a:r>
          </a:p>
          <a:p>
            <a:endParaRPr lang="en-US" altLang="ko-KR" sz="2000" b="1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distance = math.sqrt((p2[0] - p1[0]) ** 2 + (p2[1] - p1[1]) ** 2)</a:t>
            </a:r>
          </a:p>
          <a:p>
            <a:r>
              <a:rPr lang="en-US" altLang="ko-KR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print(f"</a:t>
            </a:r>
            <a:r>
              <a:rPr lang="ko-KR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두 점 사이의 거리</a:t>
            </a:r>
            <a:r>
              <a:rPr lang="en-US" altLang="ko-KR" sz="20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{distance:.2f}")</a:t>
            </a:r>
            <a:endParaRPr lang="en-US" altLang="ko-KR" sz="2000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4535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DF619-2E32-4824-95EF-B0D9D53009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컬렉션 자료형</a:t>
            </a:r>
            <a:br>
              <a:rPr lang="en-US" altLang="ko-KR" dirty="0"/>
            </a:br>
            <a:r>
              <a:rPr lang="en-US" altLang="ko-KR" sz="3600" dirty="0"/>
              <a:t>(</a:t>
            </a:r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list,</a:t>
            </a:r>
            <a:r>
              <a:rPr lang="ko-KR" alt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tuple, </a:t>
            </a:r>
            <a:r>
              <a:rPr lang="en-US" altLang="ko-KR" sz="3600" dirty="0">
                <a:solidFill>
                  <a:srgbClr val="0070C0"/>
                </a:solidFill>
              </a:rPr>
              <a:t>set</a:t>
            </a:r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ko-KR" sz="3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dict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57F749-8E0D-44E5-8734-326DF7E03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4800"/>
            <a:ext cx="9144000" cy="1143000"/>
          </a:xfrm>
        </p:spPr>
        <p:txBody>
          <a:bodyPr/>
          <a:lstStyle/>
          <a:p>
            <a:r>
              <a:rPr lang="ko-KR" altLang="en-US" dirty="0" err="1"/>
              <a:t>컴퓨터소프트웨어과</a:t>
            </a:r>
            <a:endParaRPr lang="en-US" altLang="ko-KR" dirty="0"/>
          </a:p>
          <a:p>
            <a:r>
              <a:rPr lang="ko-KR" altLang="en-US" dirty="0"/>
              <a:t>동의과학대학교</a:t>
            </a:r>
          </a:p>
        </p:txBody>
      </p:sp>
    </p:spTree>
    <p:extLst>
      <p:ext uri="{BB962C8B-B14F-4D97-AF65-F5344CB8AC3E}">
        <p14:creationId xmlns:p14="http://schemas.microsoft.com/office/powerpoint/2010/main" val="2991676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Set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하나의 변수에 여러 개의 값들을 저장</a:t>
            </a:r>
            <a:r>
              <a:rPr lang="en-US" altLang="ko-KR" dirty="0"/>
              <a:t>, </a:t>
            </a:r>
            <a:r>
              <a:rPr lang="ko-KR" altLang="en-US" dirty="0"/>
              <a:t>관리하는 자료형들 중의 하나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sz="2800" b="1" dirty="0">
                <a:solidFill>
                  <a:srgbClr val="0070C0"/>
                </a:solidFill>
              </a:rPr>
              <a:t>{  } </a:t>
            </a:r>
            <a:r>
              <a:rPr lang="ko-KR" altLang="en-US" dirty="0"/>
              <a:t>에 항목들을 저장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항목 값들은 </a:t>
            </a:r>
            <a:r>
              <a:rPr lang="ko-KR" altLang="en-US" dirty="0">
                <a:solidFill>
                  <a:srgbClr val="FF0000"/>
                </a:solidFill>
              </a:rPr>
              <a:t>순서가 없음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rgbClr val="FF0000"/>
                </a:solidFill>
              </a:rPr>
              <a:t>Index </a:t>
            </a:r>
            <a:r>
              <a:rPr lang="ko-KR" altLang="en-US" dirty="0">
                <a:solidFill>
                  <a:srgbClr val="FF0000"/>
                </a:solidFill>
              </a:rPr>
              <a:t>사용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불가능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항목을 지정하여 </a:t>
            </a:r>
            <a:r>
              <a:rPr lang="ko-KR" altLang="en-US" dirty="0">
                <a:solidFill>
                  <a:srgbClr val="FF0000"/>
                </a:solidFill>
              </a:rPr>
              <a:t>변경 불가능</a:t>
            </a:r>
            <a:r>
              <a:rPr lang="en-US" altLang="ko-KR" dirty="0"/>
              <a:t> (</a:t>
            </a:r>
            <a:r>
              <a:rPr lang="ko-KR" altLang="en-US" dirty="0">
                <a:solidFill>
                  <a:srgbClr val="0000FF"/>
                </a:solidFill>
              </a:rPr>
              <a:t>단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항목을 삭제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추가는 가능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solidFill>
                  <a:srgbClr val="FF0000"/>
                </a:solidFill>
              </a:rPr>
              <a:t>중복된 값을 허용하지 않음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다양한 자료형의 혼합 저장 가능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en-US" altLang="ko-KR" dirty="0" err="1">
                <a:solidFill>
                  <a:srgbClr val="FF0000"/>
                </a:solidFill>
              </a:rPr>
              <a:t>hashable</a:t>
            </a:r>
            <a:r>
              <a:rPr lang="ko-KR" altLang="en-US" dirty="0">
                <a:solidFill>
                  <a:srgbClr val="FF0000"/>
                </a:solidFill>
              </a:rPr>
              <a:t> 자료형만 가능</a:t>
            </a:r>
            <a:r>
              <a:rPr lang="en-US" altLang="ko-KR" dirty="0">
                <a:solidFill>
                  <a:srgbClr val="FF0000"/>
                </a:solidFill>
              </a:rPr>
              <a:t>, list, </a:t>
            </a:r>
            <a:r>
              <a:rPr lang="en-US" altLang="ko-KR" dirty="0" err="1">
                <a:solidFill>
                  <a:srgbClr val="FF0000"/>
                </a:solidFill>
              </a:rPr>
              <a:t>dict</a:t>
            </a:r>
            <a:r>
              <a:rPr lang="en-US" altLang="ko-KR" dirty="0">
                <a:solidFill>
                  <a:srgbClr val="FF0000"/>
                </a:solidFill>
              </a:rPr>
              <a:t>, set </a:t>
            </a:r>
            <a:r>
              <a:rPr lang="ko-KR" altLang="en-US" dirty="0">
                <a:solidFill>
                  <a:srgbClr val="FF0000"/>
                </a:solidFill>
              </a:rPr>
              <a:t>불가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b="1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 ) </a:t>
            </a:r>
            <a:r>
              <a:rPr lang="en-US" altLang="ko-KR" dirty="0"/>
              <a:t>: </a:t>
            </a:r>
            <a:r>
              <a:rPr lang="ko-KR" altLang="en-US" dirty="0"/>
              <a:t>항목의 개수 확인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type: ‘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set</a:t>
            </a:r>
            <a:r>
              <a:rPr lang="en-US" altLang="ko-KR" dirty="0"/>
              <a:t>’ </a:t>
            </a:r>
            <a:r>
              <a:rPr lang="ko-KR" altLang="en-US" dirty="0"/>
              <a:t>객체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set(</a:t>
            </a:r>
            <a:r>
              <a:rPr lang="ko-KR" altLang="en-US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  <a:r>
              <a:rPr lang="ko-KR" altLang="en-US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set</a:t>
            </a:r>
            <a:r>
              <a:rPr lang="ko-KR" altLang="en-US" dirty="0"/>
              <a:t> 객체 생성자</a:t>
            </a:r>
            <a:r>
              <a:rPr lang="en-US" altLang="ko-KR" dirty="0"/>
              <a:t>/</a:t>
            </a:r>
            <a:r>
              <a:rPr lang="ko-KR" altLang="en-US" dirty="0"/>
              <a:t>변환 함수</a:t>
            </a:r>
            <a:r>
              <a:rPr lang="en-US" altLang="ko-KR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772502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Set: </a:t>
            </a:r>
            <a:r>
              <a:rPr lang="ko-KR" altLang="en-US" dirty="0"/>
              <a:t>항목 접근하기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Index</a:t>
            </a:r>
            <a:r>
              <a:rPr lang="ko-KR" altLang="en-US" dirty="0"/>
              <a:t>나 </a:t>
            </a:r>
            <a:r>
              <a:rPr lang="en-US" altLang="ko-KR" dirty="0"/>
              <a:t>Key</a:t>
            </a:r>
            <a:r>
              <a:rPr lang="ko-KR" altLang="en-US" dirty="0"/>
              <a:t>로 항목에 접근할 수 없음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for loop</a:t>
            </a:r>
            <a:r>
              <a:rPr lang="ko-KR" altLang="en-US" dirty="0"/>
              <a:t>로 하나씩 접근하거나</a:t>
            </a:r>
            <a:r>
              <a:rPr lang="en-US" altLang="ko-KR" dirty="0"/>
              <a:t>,</a:t>
            </a:r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항목의 포함 여부 확인만 가능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593143" y="2400729"/>
            <a:ext cx="9539113" cy="1623889"/>
          </a:xfrm>
          <a:prstGeom prst="roundRect">
            <a:avLst>
              <a:gd name="adj" fmla="val 1028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{“apple”, “kiwi”, “mango”}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 item in fruits: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어떤 순서로 할당될 지 알 수 없고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중요하지 않음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  print(item)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항목 값 출력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33DE9B4-8A31-4D10-85E7-A05F1EADE1F2}"/>
              </a:ext>
            </a:extLst>
          </p:cNvPr>
          <p:cNvSpPr/>
          <p:nvPr/>
        </p:nvSpPr>
        <p:spPr>
          <a:xfrm>
            <a:off x="1593142" y="4868985"/>
            <a:ext cx="9539113" cy="1623889"/>
          </a:xfrm>
          <a:prstGeom prst="roundRect">
            <a:avLst>
              <a:gd name="adj" fmla="val 9120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{“apple”, “kiwi”, “mango”}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print(“apple”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fruits)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True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print(“banana”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not in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fruits)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True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6498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Set: </a:t>
            </a:r>
            <a:r>
              <a:rPr lang="ko-KR" altLang="en-US" dirty="0"/>
              <a:t>항목 추가하기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ko-KR" altLang="en-US" dirty="0"/>
              <a:t>새 항목 추가하기</a:t>
            </a:r>
            <a:r>
              <a:rPr lang="en-US" altLang="ko-KR" dirty="0"/>
              <a:t>: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add(</a:t>
            </a:r>
            <a:r>
              <a:rPr lang="en-US" altLang="ko-KR" i="1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new_item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 </a:t>
            </a:r>
            <a:r>
              <a:rPr lang="ko-KR" altLang="en-US" dirty="0"/>
              <a:t>메소드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다른 </a:t>
            </a:r>
            <a:r>
              <a:rPr lang="en-US" altLang="ko-KR" dirty="0"/>
              <a:t>Set</a:t>
            </a:r>
            <a:r>
              <a:rPr lang="ko-KR" altLang="en-US" dirty="0"/>
              <a:t>을 추가하기</a:t>
            </a:r>
            <a:r>
              <a:rPr lang="en-US" altLang="ko-KR" dirty="0"/>
              <a:t> :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update(</a:t>
            </a:r>
            <a:r>
              <a:rPr lang="en-US" altLang="ko-KR" i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set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 </a:t>
            </a:r>
            <a:r>
              <a:rPr lang="ko-KR" altLang="en-US" dirty="0"/>
              <a:t>메소드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sz="4400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그 외 추가 가능한 </a:t>
            </a:r>
            <a:r>
              <a:rPr lang="en-US" altLang="ko-KR" dirty="0" err="1"/>
              <a:t>Iterable</a:t>
            </a:r>
            <a:r>
              <a:rPr lang="ko-KR" altLang="en-US" dirty="0"/>
              <a:t> 객체들</a:t>
            </a:r>
            <a:r>
              <a:rPr lang="en-US" altLang="ko-KR" dirty="0"/>
              <a:t>: tuple, list, </a:t>
            </a:r>
            <a:r>
              <a:rPr lang="en-US" altLang="ko-KR" dirty="0" err="1"/>
              <a:t>dict</a:t>
            </a:r>
            <a:r>
              <a:rPr lang="en-US" altLang="ko-KR" dirty="0"/>
              <a:t>, …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593142" y="1665438"/>
            <a:ext cx="9539113" cy="1032047"/>
          </a:xfrm>
          <a:prstGeom prst="roundRect">
            <a:avLst>
              <a:gd name="adj" fmla="val 1028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{“apple”, “kiwi”, “mango”}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fruits.</a:t>
            </a:r>
            <a:r>
              <a:rPr lang="en-US" altLang="ko-KR" sz="20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add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(“banana”)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 #  {“apple”, “kiwi”, “mango”,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“banana”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}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33DE9B4-8A31-4D10-85E7-A05F1EADE1F2}"/>
              </a:ext>
            </a:extLst>
          </p:cNvPr>
          <p:cNvSpPr/>
          <p:nvPr/>
        </p:nvSpPr>
        <p:spPr>
          <a:xfrm>
            <a:off x="1593140" y="3209397"/>
            <a:ext cx="9539113" cy="1179767"/>
          </a:xfrm>
          <a:prstGeom prst="roundRect">
            <a:avLst>
              <a:gd name="adj" fmla="val 9120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24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set1 = {“apple”, “kiwi”, “mango”}</a:t>
            </a:r>
          </a:p>
          <a:p>
            <a:pPr>
              <a:lnSpc>
                <a:spcPts val="24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set2 = {“tomato”, “onion”}</a:t>
            </a:r>
          </a:p>
          <a:p>
            <a:pPr>
              <a:lnSpc>
                <a:spcPts val="24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set1.update(set2)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{“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apple”,“kiwi”,“mango”,”tomato”,”onion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”}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C165BCE-5DB5-4569-BB96-A011FF8CDB99}"/>
              </a:ext>
            </a:extLst>
          </p:cNvPr>
          <p:cNvSpPr/>
          <p:nvPr/>
        </p:nvSpPr>
        <p:spPr>
          <a:xfrm>
            <a:off x="1593139" y="4954891"/>
            <a:ext cx="9539113" cy="1804128"/>
          </a:xfrm>
          <a:prstGeom prst="roundRect">
            <a:avLst>
              <a:gd name="adj" fmla="val 9120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 = {10, 20}</a:t>
            </a:r>
          </a:p>
          <a:p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s.update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[“</a:t>
            </a:r>
            <a:r>
              <a:rPr lang="en-US" altLang="ko-KR" sz="20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DIT”,”Korea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”]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list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항목 추가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s.update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(True, False)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	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tuple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항목 추가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s.update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</a:t>
            </a:r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</a:t>
            </a:r>
            <a:r>
              <a:rPr lang="en-US" altLang="ko-KR" sz="2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name”</a:t>
            </a:r>
            <a:r>
              <a:rPr lang="en-US" altLang="ko-KR" sz="20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:”Hong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”, </a:t>
            </a:r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“age”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:25}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key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만 추가됨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.(value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제외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s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{10,20,”DIT”,”Korea”,True,False,”name”,”age”}</a:t>
            </a:r>
          </a:p>
        </p:txBody>
      </p:sp>
    </p:spTree>
    <p:extLst>
      <p:ext uri="{BB962C8B-B14F-4D97-AF65-F5344CB8AC3E}">
        <p14:creationId xmlns:p14="http://schemas.microsoft.com/office/powerpoint/2010/main" val="1181433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Set: </a:t>
            </a:r>
            <a:r>
              <a:rPr lang="ko-KR" altLang="en-US" dirty="0"/>
              <a:t>항목 삭제하기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ko-KR" altLang="en-US" dirty="0"/>
              <a:t>항목 삭제하기</a:t>
            </a:r>
            <a:r>
              <a:rPr lang="en-US" altLang="ko-KR" dirty="0"/>
              <a:t>: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remove(</a:t>
            </a:r>
            <a:r>
              <a:rPr lang="en-US" altLang="ko-KR" i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item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 </a:t>
            </a:r>
            <a:r>
              <a:rPr lang="ko-KR" altLang="en-US" dirty="0"/>
              <a:t>메소드</a:t>
            </a:r>
            <a:r>
              <a:rPr lang="en-US" altLang="ko-KR" dirty="0"/>
              <a:t>: </a:t>
            </a:r>
            <a:r>
              <a:rPr lang="en-US" altLang="ko-KR" sz="2000" dirty="0">
                <a:solidFill>
                  <a:srgbClr val="FF0000"/>
                </a:solidFill>
              </a:rPr>
              <a:t>(!</a:t>
            </a:r>
            <a:r>
              <a:rPr lang="en-US" altLang="ko-KR" sz="2000" i="1" dirty="0">
                <a:solidFill>
                  <a:srgbClr val="FF0000"/>
                </a:solidFill>
              </a:rPr>
              <a:t> item</a:t>
            </a:r>
            <a:r>
              <a:rPr lang="ko-KR" altLang="en-US" sz="2000" dirty="0">
                <a:solidFill>
                  <a:srgbClr val="FF0000"/>
                </a:solidFill>
              </a:rPr>
              <a:t>이 없으면 오류 발생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항목 삭제하기</a:t>
            </a:r>
            <a:r>
              <a:rPr lang="en-US" altLang="ko-KR" dirty="0"/>
              <a:t> :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discard(</a:t>
            </a:r>
            <a:r>
              <a:rPr lang="en-US" altLang="ko-KR" i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item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 </a:t>
            </a:r>
            <a:r>
              <a:rPr lang="ko-KR" altLang="en-US" dirty="0"/>
              <a:t>메소드</a:t>
            </a:r>
            <a:r>
              <a:rPr lang="en-US" altLang="ko-KR" dirty="0"/>
              <a:t>: </a:t>
            </a:r>
            <a:r>
              <a:rPr lang="en-US" altLang="ko-KR" sz="2000" dirty="0">
                <a:solidFill>
                  <a:srgbClr val="0000FF"/>
                </a:solidFill>
              </a:rPr>
              <a:t>(!</a:t>
            </a:r>
            <a:r>
              <a:rPr lang="en-US" altLang="ko-KR" sz="2000" i="1" dirty="0">
                <a:solidFill>
                  <a:srgbClr val="0000FF"/>
                </a:solidFill>
              </a:rPr>
              <a:t> item</a:t>
            </a:r>
            <a:r>
              <a:rPr lang="ko-KR" altLang="en-US" sz="2000" dirty="0">
                <a:solidFill>
                  <a:srgbClr val="0000FF"/>
                </a:solidFill>
              </a:rPr>
              <a:t>이 없어도 오류 발생하지 않음</a:t>
            </a:r>
            <a:r>
              <a:rPr lang="en-US" altLang="ko-KR" sz="2000" dirty="0">
                <a:solidFill>
                  <a:srgbClr val="0000FF"/>
                </a:solidFill>
              </a:rPr>
              <a:t>)</a:t>
            </a:r>
            <a:endParaRPr lang="en-US" altLang="ko-KR" dirty="0">
              <a:solidFill>
                <a:srgbClr val="0000FF"/>
              </a:solidFill>
            </a:endParaRPr>
          </a:p>
          <a:p>
            <a:pPr lvl="1">
              <a:lnSpc>
                <a:spcPct val="150000"/>
              </a:lnSpc>
            </a:pPr>
            <a:endParaRPr lang="en-US" altLang="ko-KR" sz="4400" dirty="0"/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rgbClr val="0000FF"/>
                </a:solidFill>
              </a:rPr>
              <a:t>랜덤</a:t>
            </a:r>
            <a:r>
              <a:rPr lang="ko-KR" altLang="en-US" dirty="0"/>
              <a:t> 선택 항목 삭제하기</a:t>
            </a:r>
            <a:r>
              <a:rPr lang="en-US" altLang="ko-KR" dirty="0"/>
              <a:t> :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pop() </a:t>
            </a:r>
            <a:r>
              <a:rPr lang="ko-KR" altLang="en-US" dirty="0"/>
              <a:t>메소드</a:t>
            </a:r>
            <a:r>
              <a:rPr lang="en-US" altLang="ko-KR" dirty="0"/>
              <a:t>: </a:t>
            </a:r>
            <a:r>
              <a:rPr lang="en-US" altLang="ko-KR" sz="1800" dirty="0">
                <a:solidFill>
                  <a:srgbClr val="0000FF"/>
                </a:solidFill>
              </a:rPr>
              <a:t>(!</a:t>
            </a:r>
            <a:r>
              <a:rPr lang="en-US" altLang="ko-KR" sz="1800" i="1" dirty="0">
                <a:solidFill>
                  <a:srgbClr val="0000FF"/>
                </a:solidFill>
              </a:rPr>
              <a:t> </a:t>
            </a:r>
            <a:r>
              <a:rPr lang="ko-KR" altLang="en-US" sz="1800" i="1" dirty="0">
                <a:solidFill>
                  <a:srgbClr val="0000FF"/>
                </a:solidFill>
              </a:rPr>
              <a:t>랜덤으로 선택된 항목 삭제 후 반환함</a:t>
            </a:r>
            <a:r>
              <a:rPr lang="en-US" altLang="ko-KR" sz="1800" dirty="0">
                <a:solidFill>
                  <a:srgbClr val="0000FF"/>
                </a:solidFill>
              </a:rPr>
              <a:t>)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593142" y="1665438"/>
            <a:ext cx="9539113" cy="1407700"/>
          </a:xfrm>
          <a:prstGeom prst="roundRect">
            <a:avLst>
              <a:gd name="adj" fmla="val 10281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{“apple”, “kiwi”, “mango”}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fruits.</a:t>
            </a:r>
            <a:r>
              <a:rPr lang="en-US" altLang="ko-KR" sz="20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remove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(“kiwi”)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 #  {“apple”, mango”},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’kiwi’ </a:t>
            </a:r>
            <a:r>
              <a:rPr lang="ko-KR" altLang="en-US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반환 안됨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.</a:t>
            </a:r>
          </a:p>
          <a:p>
            <a:pPr>
              <a:lnSpc>
                <a:spcPts val="26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fruits.</a:t>
            </a:r>
            <a:r>
              <a:rPr lang="en-US" altLang="ko-KR" sz="20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remove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(“banana”)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오류 발생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!! (</a:t>
            </a:r>
            <a:r>
              <a:rPr lang="ko-KR" altLang="en-US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없는 항목 삭제 시도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</a:t>
            </a:r>
            <a:endParaRPr lang="en-US" altLang="ko-KR" sz="2000" b="1" dirty="0">
              <a:solidFill>
                <a:srgbClr val="FF6565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33DE9B4-8A31-4D10-85E7-A05F1EADE1F2}"/>
              </a:ext>
            </a:extLst>
          </p:cNvPr>
          <p:cNvSpPr/>
          <p:nvPr/>
        </p:nvSpPr>
        <p:spPr>
          <a:xfrm>
            <a:off x="1593140" y="3726457"/>
            <a:ext cx="9539113" cy="1179767"/>
          </a:xfrm>
          <a:prstGeom prst="roundRect">
            <a:avLst>
              <a:gd name="adj" fmla="val 9120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24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 = {“apple”, “kiwi”, “mango”}</a:t>
            </a:r>
          </a:p>
          <a:p>
            <a:pPr>
              <a:lnSpc>
                <a:spcPts val="24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s.discard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(“kiwi”)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“kiwi”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삭제 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’kiwi’ </a:t>
            </a:r>
            <a:r>
              <a:rPr lang="ko-KR" altLang="en-US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반환 안됨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.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24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s.discard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(“banana”)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“banana”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없어도 오류 발생하지 않음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C165BCE-5DB5-4569-BB96-A011FF8CDB99}"/>
              </a:ext>
            </a:extLst>
          </p:cNvPr>
          <p:cNvSpPr/>
          <p:nvPr/>
        </p:nvSpPr>
        <p:spPr>
          <a:xfrm>
            <a:off x="1602170" y="5541422"/>
            <a:ext cx="9539113" cy="927435"/>
          </a:xfrm>
          <a:prstGeom prst="roundRect">
            <a:avLst>
              <a:gd name="adj" fmla="val 9120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 = {10, 20, 30, 40}</a:t>
            </a:r>
          </a:p>
          <a:p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s.pop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 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랜덤 항목 삭제 후 반환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어느 항목이 삭제될지 모름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2708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Set: </a:t>
            </a:r>
            <a:r>
              <a:rPr lang="ko-KR" altLang="en-US" dirty="0"/>
              <a:t>항목 삭제</a:t>
            </a:r>
            <a:r>
              <a:rPr lang="en-US" altLang="ko-KR" dirty="0"/>
              <a:t>: </a:t>
            </a:r>
            <a:r>
              <a:rPr lang="en-US" altLang="ko-KR" sz="4000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cs typeface="+mn-cs"/>
              </a:rPr>
              <a:t>del</a:t>
            </a:r>
            <a:r>
              <a:rPr lang="ko-KR" altLang="en-US" dirty="0"/>
              <a:t> </a:t>
            </a:r>
            <a:endParaRPr lang="ko-KR" altLang="en-US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Set </a:t>
            </a:r>
            <a:r>
              <a:rPr lang="ko-KR" altLang="en-US" dirty="0"/>
              <a:t>객체 삭제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del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set</a:t>
            </a:r>
            <a:endParaRPr lang="en-US" altLang="ko-KR" sz="2000" dirty="0">
              <a:solidFill>
                <a:srgbClr val="FF0000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ko-KR" sz="3200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>
              <a:lnSpc>
                <a:spcPct val="150000"/>
              </a:lnSpc>
            </a:pPr>
            <a:r>
              <a:rPr lang="ko-KR" altLang="en-US" dirty="0"/>
              <a:t>리스트의 항목들만 모두 삭제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clear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248384" y="1773044"/>
            <a:ext cx="9539113" cy="181856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{“apple”, “kiwi”, “mango”}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del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fruits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fruits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변수 자체가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삭제됨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print(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fruits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	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</a:t>
            </a:r>
            <a:r>
              <a:rPr lang="ko-KR" altLang="en-US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오류 발생 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(name ‘fruits’ is not defined)</a:t>
            </a:r>
          </a:p>
          <a:p>
            <a:pPr>
              <a:lnSpc>
                <a:spcPct val="150000"/>
              </a:lnSpc>
            </a:pP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248383" y="4483321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 = {10, 20, 10, 40, 50}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s.</a:t>
            </a:r>
            <a:r>
              <a:rPr lang="en-US" altLang="ko-KR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clear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s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의 모든 항목을 삭제함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print(s)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[ 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1337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180975" cy="826112"/>
          </a:xfrm>
        </p:spPr>
        <p:txBody>
          <a:bodyPr>
            <a:normAutofit/>
          </a:bodyPr>
          <a:lstStyle/>
          <a:p>
            <a:r>
              <a:rPr lang="en-US" altLang="ko-KR" dirty="0"/>
              <a:t>Set: </a:t>
            </a:r>
            <a:r>
              <a:rPr lang="ko-KR" altLang="en-US" dirty="0"/>
              <a:t>집합 연산 메소드</a:t>
            </a:r>
            <a:r>
              <a:rPr lang="en-US" altLang="ko-KR" dirty="0"/>
              <a:t> </a:t>
            </a:r>
            <a:r>
              <a:rPr lang="ko-KR" altLang="en-US" dirty="0"/>
              <a:t>및 연산자</a:t>
            </a:r>
            <a:endParaRPr lang="ko-KR" altLang="en-US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0000FF"/>
                </a:solidFill>
              </a:rPr>
              <a:t>합집합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union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 </a:t>
            </a:r>
            <a:r>
              <a:rPr lang="en-US" altLang="ko-KR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|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en-US" altLang="ko-KR" sz="2400" dirty="0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ko-KR" altLang="en-US" sz="2400" dirty="0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처리 결과로 사본 반환</a:t>
            </a:r>
            <a:r>
              <a:rPr lang="en-US" altLang="ko-KR" sz="2400" dirty="0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  <a:endParaRPr lang="en-US" altLang="ko-KR" sz="2000" dirty="0">
              <a:solidFill>
                <a:srgbClr val="0000FF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>
              <a:lnSpc>
                <a:spcPct val="150000"/>
              </a:lnSpc>
            </a:pPr>
            <a:endParaRPr lang="en-US" altLang="ko-KR" sz="3600" dirty="0"/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0000FF"/>
                </a:solidFill>
              </a:rPr>
              <a:t>합집합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update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 </a:t>
            </a:r>
            <a:r>
              <a:rPr lang="en-US" altLang="ko-KR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|=</a:t>
            </a: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248384" y="1773043"/>
            <a:ext cx="9539113" cy="2650101"/>
          </a:xfrm>
          <a:prstGeom prst="roundRect">
            <a:avLst>
              <a:gd name="adj" fmla="val 5782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= {10, 20, 30}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= {30, 40, 50}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s3 = {1, 2}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s1.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union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(s2)	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{10,20,30,40,50}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|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s2       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{10,20,30,40,50}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집합 연산에 </a:t>
            </a:r>
            <a:r>
              <a:rPr lang="en-US" altLang="ko-KR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tuple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en-US" altLang="ko-KR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도 가능하다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s1.union(</a:t>
            </a:r>
            <a:r>
              <a:rPr lang="en-US" altLang="ko-KR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[12, 23]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en-US" altLang="ko-KR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(45, 56)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{10,20,30,12,23,45,56}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248383" y="5131909"/>
            <a:ext cx="9539113" cy="162524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= {10, 20, 30}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= {30, 40, 50}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s1.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update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(s2)	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s1 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{10,20,30,40,50}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합집합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</a:t>
            </a:r>
            <a:r>
              <a:rPr lang="ko-KR" alt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변경됨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,s2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는 유지됨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|=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s2</a:t>
            </a:r>
          </a:p>
        </p:txBody>
      </p:sp>
    </p:spTree>
    <p:extLst>
      <p:ext uri="{BB962C8B-B14F-4D97-AF65-F5344CB8AC3E}">
        <p14:creationId xmlns:p14="http://schemas.microsoft.com/office/powerpoint/2010/main" val="3547825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2B3CE-02CE-63D5-DE70-C6E051B9A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3AF0F8-690B-2DBD-3F7B-C94C81139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180975" cy="826112"/>
          </a:xfrm>
        </p:spPr>
        <p:txBody>
          <a:bodyPr>
            <a:normAutofit/>
          </a:bodyPr>
          <a:lstStyle/>
          <a:p>
            <a:r>
              <a:rPr lang="en-US" altLang="ko-KR" dirty="0"/>
              <a:t>Set: </a:t>
            </a:r>
            <a:r>
              <a:rPr lang="ko-KR" altLang="en-US" dirty="0"/>
              <a:t>집합 연산 메소드</a:t>
            </a:r>
            <a:r>
              <a:rPr lang="en-US" altLang="ko-KR" dirty="0"/>
              <a:t> </a:t>
            </a:r>
            <a:r>
              <a:rPr lang="ko-KR" altLang="en-US" dirty="0"/>
              <a:t>및 연산자  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)</a:t>
            </a:r>
            <a:endParaRPr lang="ko-KR" altLang="en-US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7E9738-4B69-E883-4CD1-1E602E6C2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0000FF"/>
                </a:solidFill>
              </a:rPr>
              <a:t>교집합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intersection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 </a:t>
            </a:r>
            <a:r>
              <a:rPr lang="en-US" altLang="ko-KR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&amp;</a:t>
            </a: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rgbClr val="FF000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rgbClr val="FF000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0000FF"/>
                </a:solidFill>
              </a:rPr>
              <a:t>교집합</a:t>
            </a:r>
            <a:r>
              <a:rPr lang="en-US" altLang="ko-KR" dirty="0"/>
              <a:t>: </a:t>
            </a:r>
            <a:r>
              <a:rPr lang="en-US" altLang="ko-KR" dirty="0" err="1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intersection_update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 </a:t>
            </a:r>
            <a:r>
              <a:rPr lang="en-US" altLang="ko-KR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&amp;=</a:t>
            </a: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B8731E6-CC04-E6A0-7C20-171EE1B22028}"/>
              </a:ext>
            </a:extLst>
          </p:cNvPr>
          <p:cNvSpPr/>
          <p:nvPr/>
        </p:nvSpPr>
        <p:spPr>
          <a:xfrm>
            <a:off x="1163322" y="1803752"/>
            <a:ext cx="9539113" cy="162524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= {10, 20, 30}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= {30, 40, 50}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s1.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intersection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(s2)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{30}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교집합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(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사본 반환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, s1,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s2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는 유지됨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&amp;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 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{30}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교집합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(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사본 반환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, s1,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s2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는 유지됨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</a:t>
            </a:r>
          </a:p>
          <a:p>
            <a:pPr>
              <a:lnSpc>
                <a:spcPts val="2800"/>
              </a:lnSpc>
            </a:pP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4207DDE-1B8E-02BF-A84D-F1CE8AF4D03F}"/>
              </a:ext>
            </a:extLst>
          </p:cNvPr>
          <p:cNvSpPr/>
          <p:nvPr/>
        </p:nvSpPr>
        <p:spPr>
          <a:xfrm>
            <a:off x="1163321" y="4134596"/>
            <a:ext cx="9539113" cy="162524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= {10, 20, 30}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= {30, 40, 50}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s1.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intersection_update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(s2)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s1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 {30}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교집합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(s2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는 유지됨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&amp;=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 	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s1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 {30}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교집합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(s2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는 유지됨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</a:t>
            </a:r>
          </a:p>
          <a:p>
            <a:pPr>
              <a:lnSpc>
                <a:spcPts val="2800"/>
              </a:lnSpc>
            </a:pP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77385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B82FE-B5C4-2FDC-D673-4F6F4D4EE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8D2AE-61F6-B5B6-6934-43483C4AA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180975" cy="826112"/>
          </a:xfrm>
        </p:spPr>
        <p:txBody>
          <a:bodyPr>
            <a:normAutofit/>
          </a:bodyPr>
          <a:lstStyle/>
          <a:p>
            <a:r>
              <a:rPr lang="en-US" altLang="ko-KR" dirty="0"/>
              <a:t>Set: </a:t>
            </a:r>
            <a:r>
              <a:rPr lang="ko-KR" altLang="en-US" dirty="0"/>
              <a:t>집합 연산 메소드</a:t>
            </a:r>
            <a:r>
              <a:rPr lang="en-US" altLang="ko-KR" dirty="0"/>
              <a:t> </a:t>
            </a:r>
            <a:r>
              <a:rPr lang="ko-KR" altLang="en-US" dirty="0"/>
              <a:t>및 연산자  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)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624041-AA03-56D8-5E6D-A55B868E4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>
                <a:solidFill>
                  <a:srgbClr val="0000FF"/>
                </a:solidFill>
              </a:rPr>
              <a:t>차집합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difference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 </a:t>
            </a:r>
            <a:r>
              <a:rPr lang="en-US" altLang="ko-KR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-</a:t>
            </a:r>
            <a:endParaRPr lang="en-US" altLang="ko-KR" sz="2000" dirty="0">
              <a:solidFill>
                <a:srgbClr val="FF000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3200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>
              <a:lnSpc>
                <a:spcPct val="150000"/>
              </a:lnSpc>
            </a:pPr>
            <a:r>
              <a:rPr lang="ko-KR" altLang="en-US" dirty="0" err="1">
                <a:solidFill>
                  <a:srgbClr val="0000FF"/>
                </a:solidFill>
              </a:rPr>
              <a:t>차집합</a:t>
            </a:r>
            <a:r>
              <a:rPr lang="en-US" altLang="ko-KR" dirty="0"/>
              <a:t>: </a:t>
            </a:r>
            <a:r>
              <a:rPr lang="en-US" altLang="ko-KR" dirty="0" err="1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difference_update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 </a:t>
            </a:r>
            <a:r>
              <a:rPr lang="en-US" altLang="ko-KR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-=</a:t>
            </a:r>
            <a:endParaRPr lang="en-US" altLang="ko-KR" sz="2000" dirty="0">
              <a:solidFill>
                <a:srgbClr val="FF000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0455040-EA02-B0BC-0EBE-96804D3ACB87}"/>
              </a:ext>
            </a:extLst>
          </p:cNvPr>
          <p:cNvSpPr/>
          <p:nvPr/>
        </p:nvSpPr>
        <p:spPr>
          <a:xfrm>
            <a:off x="1248384" y="1773043"/>
            <a:ext cx="9539113" cy="182799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= {10, 20, 30}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= {30, 40, 50}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s1.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difference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(s2)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{10,20} (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사본 반환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s1,s2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는 유지됨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s1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-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s2	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{10,20} (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사본 반환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s1,s2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는 유지됨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pPr>
              <a:lnSpc>
                <a:spcPts val="2800"/>
              </a:lnSpc>
            </a:pPr>
            <a:endParaRPr lang="en-US" altLang="ko-KR" sz="2000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0BCC2B8-F2BA-C8C6-B00C-A65E60624CDE}"/>
              </a:ext>
            </a:extLst>
          </p:cNvPr>
          <p:cNvSpPr/>
          <p:nvPr/>
        </p:nvSpPr>
        <p:spPr>
          <a:xfrm>
            <a:off x="1248383" y="4483322"/>
            <a:ext cx="9539113" cy="162524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= {10, 20, 30}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= {30, 40, 50}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s1.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difference_update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(s2) 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s1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 {10,20} (s2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는 유지됨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-=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	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s1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 {10,20} (s2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는 유지됨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</a:t>
            </a:r>
          </a:p>
          <a:p>
            <a:pPr>
              <a:lnSpc>
                <a:spcPts val="2800"/>
              </a:lnSpc>
            </a:pP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6286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FD7D9-A738-7FA3-6F71-57DE08FA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43B733-F570-BCFD-AA12-A8369604C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180975" cy="826112"/>
          </a:xfrm>
        </p:spPr>
        <p:txBody>
          <a:bodyPr>
            <a:normAutofit/>
          </a:bodyPr>
          <a:lstStyle/>
          <a:p>
            <a:r>
              <a:rPr lang="en-US" altLang="ko-KR" dirty="0"/>
              <a:t>Set: </a:t>
            </a:r>
            <a:r>
              <a:rPr lang="ko-KR" altLang="en-US" dirty="0"/>
              <a:t>집합 연산 메소드</a:t>
            </a:r>
            <a:r>
              <a:rPr lang="en-US" altLang="ko-KR" dirty="0"/>
              <a:t> </a:t>
            </a:r>
            <a:r>
              <a:rPr lang="ko-KR" altLang="en-US" dirty="0"/>
              <a:t>및 연산자  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)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BCBB5F-A309-E745-8B27-767170ACA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>
                <a:solidFill>
                  <a:srgbClr val="0000FF"/>
                </a:solidFill>
              </a:rPr>
              <a:t>대칭차집합</a:t>
            </a:r>
            <a:r>
              <a:rPr lang="en-US" altLang="ko-KR" dirty="0"/>
              <a:t>: </a:t>
            </a:r>
            <a:r>
              <a:rPr lang="en-US" altLang="ko-KR" dirty="0" err="1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symmetric_difference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 </a:t>
            </a:r>
            <a:r>
              <a:rPr lang="en-US" altLang="ko-KR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^</a:t>
            </a:r>
            <a:endParaRPr lang="en-US" altLang="ko-KR" sz="2000" dirty="0">
              <a:solidFill>
                <a:srgbClr val="FF000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3200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>
              <a:lnSpc>
                <a:spcPct val="150000"/>
              </a:lnSpc>
            </a:pPr>
            <a:r>
              <a:rPr lang="ko-KR" altLang="en-US" dirty="0" err="1">
                <a:solidFill>
                  <a:srgbClr val="0000FF"/>
                </a:solidFill>
              </a:rPr>
              <a:t>대칭차집합</a:t>
            </a:r>
            <a:r>
              <a:rPr lang="en-US" altLang="ko-KR" dirty="0"/>
              <a:t>: </a:t>
            </a:r>
            <a:r>
              <a:rPr lang="en-US" altLang="ko-KR" dirty="0" err="1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symmetric_difference_update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 </a:t>
            </a:r>
            <a:r>
              <a:rPr lang="en-US" altLang="ko-KR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^=</a:t>
            </a:r>
            <a:endParaRPr lang="en-US" altLang="ko-KR" sz="2000" dirty="0">
              <a:solidFill>
                <a:srgbClr val="FF000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8E2FE87-21CD-AE7E-10F5-3A989957A63F}"/>
              </a:ext>
            </a:extLst>
          </p:cNvPr>
          <p:cNvSpPr/>
          <p:nvPr/>
        </p:nvSpPr>
        <p:spPr>
          <a:xfrm>
            <a:off x="1248384" y="1773043"/>
            <a:ext cx="10105416" cy="182799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= {10, 20, 30}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= {30, 40, 50}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s1.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symmetric_difference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(s2)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{10,20,40,50} (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사본 반환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s1,s2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는 유지됨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s1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^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s2		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{10,20,40,50} (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사본 반환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s1,s2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는 유지됨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pPr>
              <a:lnSpc>
                <a:spcPts val="2800"/>
              </a:lnSpc>
            </a:pPr>
            <a:endParaRPr lang="en-US" altLang="ko-KR" sz="2000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08B5267-9FD7-B631-939E-6307D9F8BEC7}"/>
              </a:ext>
            </a:extLst>
          </p:cNvPr>
          <p:cNvSpPr/>
          <p:nvPr/>
        </p:nvSpPr>
        <p:spPr>
          <a:xfrm>
            <a:off x="1248383" y="4483322"/>
            <a:ext cx="10105416" cy="162524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= {10, 20, 30}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= {30, 40, 50}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s1.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symmetric_difference_update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(s2) 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s1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 {10,20,40,50} (s2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는 유지됨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</a:t>
            </a:r>
          </a:p>
          <a:p>
            <a:pPr>
              <a:lnSpc>
                <a:spcPts val="28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</a:t>
            </a:r>
            <a:r>
              <a:rPr lang="en-US" altLang="ko-KR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^=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		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s1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 {10,20,40,50} (s2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는 유지됨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</a:t>
            </a:r>
          </a:p>
          <a:p>
            <a:pPr>
              <a:lnSpc>
                <a:spcPts val="2800"/>
              </a:lnSpc>
            </a:pP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7810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9DB37C8-A8B8-ADA5-9670-72356FAAE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4036"/>
            <a:ext cx="11105738" cy="410992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F7CBCA4-4625-3B75-5D72-6626BC17EE68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26112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Set:  Methods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05458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E30C-4286-D8EC-0CC3-4CEDB65F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58818D5-5F03-248E-2775-309E28C0F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75" y="1278343"/>
            <a:ext cx="11105738" cy="410992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0E0A3DCB-C546-CE96-C3E7-4B9F15A972C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26112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Set:  Methods 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8C3CFCD-8C45-8E7D-99EC-10AC44579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76" y="1696348"/>
            <a:ext cx="11105738" cy="512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5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09D4-BD07-5FD8-8F78-56D0E4A3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1A051E-D78A-725C-03A2-678E29D99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5338"/>
            <a:ext cx="10515600" cy="1338168"/>
          </a:xfrm>
        </p:spPr>
        <p:txBody>
          <a:bodyPr>
            <a:normAutofit/>
          </a:bodyPr>
          <a:lstStyle/>
          <a:p>
            <a:pPr algn="ctr"/>
            <a:r>
              <a:rPr lang="en-US" altLang="ko-KR" sz="8000" dirty="0"/>
              <a:t>Quiz</a:t>
            </a:r>
            <a:endParaRPr lang="ko-KR" altLang="en-US" sz="80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B5B5633-C0E9-034A-2ABD-721E9CA5DD9A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826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b="0" dirty="0">
                <a:effectLst/>
              </a:rPr>
              <a:t>학습한 내용에 대한 이해 정도를 확인합니다</a:t>
            </a:r>
            <a:r>
              <a:rPr lang="en-US" altLang="ko-KR" b="0" dirty="0">
                <a:effectLst/>
              </a:rPr>
              <a:t>.</a:t>
            </a:r>
            <a:endParaRPr lang="ko-KR" alt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50820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62343-DAAB-189E-4040-2F033845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AE474B-C2BD-BFD9-7684-3F10B807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01AD2-D2CF-4ED4-8DF7-569C1CD40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1.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set</a:t>
            </a:r>
            <a:r>
              <a:rPr lang="ko-KR" altLang="en-US" dirty="0"/>
              <a:t>의 주요 특징 중 옳지 않은 것을 고르세요</a:t>
            </a:r>
            <a:r>
              <a:rPr lang="en-US" altLang="ko-KR" dirty="0"/>
              <a:t>.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순서가 없다</a:t>
            </a: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중복을 허용하지 않는다</a:t>
            </a: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리스트와 같은 방식으로 인덱싱이 가능하다</a:t>
            </a: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수학적 집합 연산을 지원한다</a:t>
            </a: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ADE1165-7C25-0D3D-F72F-4276BCBB6B07}"/>
              </a:ext>
            </a:extLst>
          </p:cNvPr>
          <p:cNvSpPr/>
          <p:nvPr/>
        </p:nvSpPr>
        <p:spPr>
          <a:xfrm>
            <a:off x="1820160" y="4243034"/>
            <a:ext cx="10093934" cy="1191114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❸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set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은 순서가 없는 데이터 구조로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리스트처럼 인덱싱을 지원하지 않습니다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68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721D5-4486-A3F3-93C2-9DEE08BAB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FBFA0-FE62-B05F-7A15-28D881020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BBD687-06CC-EC53-0C72-25B641A85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2. </a:t>
            </a:r>
            <a:r>
              <a:rPr lang="ko-KR" altLang="en-US" dirty="0"/>
              <a:t>다음 코드의 출력 결과는 무엇인가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2, 2, 3, 4}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2, 3, 4}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3, 4]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set([1, 2, 3, 4])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55F8DB8-7A03-F7A3-B197-3F39A4E400DB}"/>
              </a:ext>
            </a:extLst>
          </p:cNvPr>
          <p:cNvSpPr/>
          <p:nvPr/>
        </p:nvSpPr>
        <p:spPr>
          <a:xfrm>
            <a:off x="1820160" y="3964360"/>
            <a:ext cx="10093934" cy="1173697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❷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set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은 중복된 값을 제거하므로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2, 3, 4}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가 출력됩니다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E14A81D-7055-8A22-3EB9-17A5541E01DF}"/>
              </a:ext>
            </a:extLst>
          </p:cNvPr>
          <p:cNvSpPr/>
          <p:nvPr/>
        </p:nvSpPr>
        <p:spPr>
          <a:xfrm>
            <a:off x="4648443" y="2034256"/>
            <a:ext cx="4437367" cy="1118652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 = set([1, 2, 2, 3, 4])</a:t>
            </a:r>
          </a:p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print(s)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899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D712E-5191-56E1-D5A9-1C39843B5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F86D5-9B5B-A47D-28B8-606170B8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08DAF1-A4D2-6558-3FB0-54841384D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3. </a:t>
            </a:r>
            <a:r>
              <a:rPr lang="ko-KR" altLang="en-US" dirty="0"/>
              <a:t>다음 코드의 출력 결과는 무엇인가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2, 3, 4}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3, 4]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2, 3}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에러 발생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60F0786-C3DC-36B5-2AB0-53315DA43749}"/>
              </a:ext>
            </a:extLst>
          </p:cNvPr>
          <p:cNvSpPr/>
          <p:nvPr/>
        </p:nvSpPr>
        <p:spPr>
          <a:xfrm>
            <a:off x="1820160" y="3964360"/>
            <a:ext cx="10093934" cy="1548166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❶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set.add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(x)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메서드는 집합에 원소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x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를 추가합니다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따라서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2, 3, 4}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가 출력됩니다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3AD2E46-F314-6F88-8F99-6FC757BAB929}"/>
              </a:ext>
            </a:extLst>
          </p:cNvPr>
          <p:cNvSpPr/>
          <p:nvPr/>
        </p:nvSpPr>
        <p:spPr>
          <a:xfrm>
            <a:off x="4648443" y="2034256"/>
            <a:ext cx="4437367" cy="1394744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 = {1, 2, 3}</a:t>
            </a:r>
          </a:p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s.add(4)</a:t>
            </a:r>
          </a:p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print(s)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041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8AE1E-CFF2-39D8-24E8-13CA0F429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4DFD7B-24FD-D1AB-48BD-086186A87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BD8238-59D9-FC74-D2A1-071F5BFD6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4. </a:t>
            </a:r>
            <a:r>
              <a:rPr lang="ko-KR" altLang="en-US" dirty="0"/>
              <a:t>다음 코드의 출력 결과는 무엇인가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2, 3}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3}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에러 발생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C1DD604-31C7-5979-543A-A6AE82C6D060}"/>
              </a:ext>
            </a:extLst>
          </p:cNvPr>
          <p:cNvSpPr/>
          <p:nvPr/>
        </p:nvSpPr>
        <p:spPr>
          <a:xfrm>
            <a:off x="1820160" y="3964359"/>
            <a:ext cx="10093934" cy="2027137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❷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set.remove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(x)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는 집합에서 원소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x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를 제거합니다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존재하지 않는 원소를 제거하려고 하면 에러가 발생하지만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여기서는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가 존재하므로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3}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이 출력됩니다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D6FE0FA-F5B8-F991-26DE-7ADEBA0DFECD}"/>
              </a:ext>
            </a:extLst>
          </p:cNvPr>
          <p:cNvSpPr/>
          <p:nvPr/>
        </p:nvSpPr>
        <p:spPr>
          <a:xfrm>
            <a:off x="4648443" y="2034256"/>
            <a:ext cx="4437367" cy="1394744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 = {1, 2, 3}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s.remove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(2)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print(s)</a:t>
            </a:r>
          </a:p>
        </p:txBody>
      </p:sp>
    </p:spTree>
    <p:extLst>
      <p:ext uri="{BB962C8B-B14F-4D97-AF65-F5344CB8AC3E}">
        <p14:creationId xmlns:p14="http://schemas.microsoft.com/office/powerpoint/2010/main" val="355254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B837D-CABD-895E-2DF1-5CEBE342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37A1C-3090-FC7C-3E86-3B4AB2E49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E215CE-0D03-0CE4-E620-C86F9C278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5. </a:t>
            </a:r>
            <a:r>
              <a:rPr lang="ko-KR" altLang="en-US" dirty="0"/>
              <a:t>다음 코드의 출력 결과는 무엇인가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2, 3, 4, 5}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{3}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{}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7AE7A2E-D141-FFE9-4EC9-E65F31239463}"/>
              </a:ext>
            </a:extLst>
          </p:cNvPr>
          <p:cNvSpPr/>
          <p:nvPr/>
        </p:nvSpPr>
        <p:spPr>
          <a:xfrm>
            <a:off x="1820160" y="3964360"/>
            <a:ext cx="10093934" cy="1574292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❸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&amp;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연산은 교집합을 반환합니다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s1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과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의 공통 원소는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3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이므로 </a:t>
            </a:r>
            <a:b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</a:b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{3}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이 출력됩니다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4AD6305-92CB-48E5-CCCC-5D5ABEA06621}"/>
              </a:ext>
            </a:extLst>
          </p:cNvPr>
          <p:cNvSpPr/>
          <p:nvPr/>
        </p:nvSpPr>
        <p:spPr>
          <a:xfrm>
            <a:off x="4648443" y="2034256"/>
            <a:ext cx="4437367" cy="1394744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= {1, 2, 3}</a:t>
            </a:r>
          </a:p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= {3, 4, 5}</a:t>
            </a:r>
          </a:p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print(s1 &amp; s2)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657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EF06-4158-9460-25C0-7661FFE2D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9E91B7-109A-271B-DCDB-6BE6259ED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592307-EDDE-41AE-EDE6-47B59BF2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6. </a:t>
            </a:r>
            <a:r>
              <a:rPr lang="ko-KR" altLang="en-US" dirty="0"/>
              <a:t>다음 코드의 출력 결과는 무엇인가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2, 3, 4}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{3, 4}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{}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B3D38D4-95A6-EAE1-DE1F-4101730B96F1}"/>
              </a:ext>
            </a:extLst>
          </p:cNvPr>
          <p:cNvSpPr/>
          <p:nvPr/>
        </p:nvSpPr>
        <p:spPr>
          <a:xfrm>
            <a:off x="1820160" y="3964360"/>
            <a:ext cx="10093934" cy="1574292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❶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|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연산은 합집합을 반환합니다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두 집합의 모든 원소를 포함하므로 </a:t>
            </a:r>
            <a:b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</a:b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2, 3, 4}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가 출력됩니다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EE9C894-B2CA-3E27-D2EC-69F546325BE4}"/>
              </a:ext>
            </a:extLst>
          </p:cNvPr>
          <p:cNvSpPr/>
          <p:nvPr/>
        </p:nvSpPr>
        <p:spPr>
          <a:xfrm>
            <a:off x="4648443" y="2034256"/>
            <a:ext cx="4437367" cy="1394744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= {1, 2}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= {3, 4}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print(s1 | s2)</a:t>
            </a:r>
          </a:p>
        </p:txBody>
      </p:sp>
    </p:spTree>
    <p:extLst>
      <p:ext uri="{BB962C8B-B14F-4D97-AF65-F5344CB8AC3E}">
        <p14:creationId xmlns:p14="http://schemas.microsoft.com/office/powerpoint/2010/main" val="255145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1072C-98C4-6053-834B-34BD1D27A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49768-F98A-1DFB-63EA-0C52476B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5D5B12-C2F9-7D4E-71C6-265A76971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7. </a:t>
            </a:r>
            <a:r>
              <a:rPr lang="ko-KR" altLang="en-US" dirty="0"/>
              <a:t>다음 코드의 출력 결과는 무엇인가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{3}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2, 3, 4, 5}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787ECF6-7ADB-FFD0-AEFC-0A364AEEEFCD}"/>
              </a:ext>
            </a:extLst>
          </p:cNvPr>
          <p:cNvSpPr/>
          <p:nvPr/>
        </p:nvSpPr>
        <p:spPr>
          <a:xfrm>
            <a:off x="1820160" y="3964360"/>
            <a:ext cx="10093934" cy="1822918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❶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8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800" b="1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-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연산은 차집합을 반환합니다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s1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에서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의 원소를 제거하면 </a:t>
            </a:r>
            <a:b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</a:b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2}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가 남습니다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C5F02D8-34C1-3D33-D565-BAFAA20AE4AB}"/>
              </a:ext>
            </a:extLst>
          </p:cNvPr>
          <p:cNvSpPr/>
          <p:nvPr/>
        </p:nvSpPr>
        <p:spPr>
          <a:xfrm>
            <a:off x="4648443" y="2034256"/>
            <a:ext cx="4437367" cy="1394744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= {1, 2, 3}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= {3, 4, 5}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print(s1 - s2)</a:t>
            </a:r>
          </a:p>
        </p:txBody>
      </p:sp>
    </p:spTree>
    <p:extLst>
      <p:ext uri="{BB962C8B-B14F-4D97-AF65-F5344CB8AC3E}">
        <p14:creationId xmlns:p14="http://schemas.microsoft.com/office/powerpoint/2010/main" val="296882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0C741-6826-3F32-274F-E18B8D4C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B9680F-269F-DC40-07CD-371B8EF9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F2DF23-626E-A59B-59E5-64153D7CF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8. </a:t>
            </a:r>
            <a:r>
              <a:rPr lang="ko-KR" altLang="en-US" dirty="0"/>
              <a:t>다음 코드의 출력 결과는 무엇인가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2, 4, 5}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{3}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da-DK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{}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{1, 2, 3, 4, 5}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D9F950D-0B54-8826-5EE0-DC05BDD3D9BE}"/>
              </a:ext>
            </a:extLst>
          </p:cNvPr>
          <p:cNvSpPr/>
          <p:nvPr/>
        </p:nvSpPr>
        <p:spPr>
          <a:xfrm>
            <a:off x="4648443" y="2034256"/>
            <a:ext cx="4437367" cy="1394744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s1 = {1, 2, 3}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s2 = {3, 4, 5}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print(s1 ^ s2)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8C466FD-3E17-493E-B939-CE9474F6EF27}"/>
              </a:ext>
            </a:extLst>
          </p:cNvPr>
          <p:cNvSpPr/>
          <p:nvPr/>
        </p:nvSpPr>
        <p:spPr>
          <a:xfrm>
            <a:off x="1820160" y="3964360"/>
            <a:ext cx="10093934" cy="1822918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(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1)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^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연산은 </a:t>
            </a: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대칭차집합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두 집합의 원소 중 공통되지 않은 원소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을 반환합니다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1, 2, 4, 5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가 포함됩니다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373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4CA2F-4F67-4F1C-B26D-F222DBCB3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5338"/>
            <a:ext cx="10515600" cy="1338168"/>
          </a:xfrm>
        </p:spPr>
        <p:txBody>
          <a:bodyPr>
            <a:normAutofit/>
          </a:bodyPr>
          <a:lstStyle/>
          <a:p>
            <a:pPr algn="ctr"/>
            <a:r>
              <a:rPr lang="en-US" altLang="ko-KR" sz="8000" dirty="0"/>
              <a:t>Coding Problem</a:t>
            </a:r>
            <a:endParaRPr lang="ko-KR" altLang="en-US" sz="80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68AA711-0D20-446A-8CD5-667066D56E85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187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70000"/>
              </a:lnSpc>
            </a:pPr>
            <a:r>
              <a:rPr lang="ko-KR" altLang="en-US" b="0" dirty="0">
                <a:effectLst/>
              </a:rPr>
              <a:t>간단한 코딩 문제를 해결함으로써</a:t>
            </a:r>
            <a:endParaRPr lang="en-US" altLang="ko-KR" b="0" dirty="0">
              <a:effectLst/>
            </a:endParaRPr>
          </a:p>
          <a:p>
            <a:pPr algn="ctr">
              <a:lnSpc>
                <a:spcPct val="170000"/>
              </a:lnSpc>
            </a:pPr>
            <a:r>
              <a:rPr lang="ko-KR" altLang="en-US" b="0" dirty="0">
                <a:effectLst/>
              </a:rPr>
              <a:t>학습 결과의 활용 능력을 확인</a:t>
            </a:r>
          </a:p>
        </p:txBody>
      </p:sp>
    </p:spTree>
    <p:extLst>
      <p:ext uri="{BB962C8B-B14F-4D97-AF65-F5344CB8AC3E}">
        <p14:creationId xmlns:p14="http://schemas.microsoft.com/office/powerpoint/2010/main" val="816029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89B45-030C-F3A0-6AE9-F4CB5465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8E9F8-CCB4-3EBC-4AFD-EC7A2266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effectLst/>
              </a:rPr>
              <a:t>Coding Problem</a:t>
            </a:r>
            <a:endParaRPr lang="ko-KR" altLang="en-US" sz="2800" dirty="0"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A6E90-E4D1-8763-2C1F-E6C5B31F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Problem:                                       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>
              <a:lnSpc>
                <a:spcPct val="150000"/>
              </a:lnSpc>
            </a:pPr>
            <a:r>
              <a:rPr lang="en-US" altLang="ko-KR" dirty="0"/>
              <a:t>Solution Examples: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36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2D96FF5-5B5D-F84E-61B0-6310F798C701}"/>
              </a:ext>
            </a:extLst>
          </p:cNvPr>
          <p:cNvSpPr/>
          <p:nvPr/>
        </p:nvSpPr>
        <p:spPr>
          <a:xfrm>
            <a:off x="838200" y="1694365"/>
            <a:ext cx="11049000" cy="2013670"/>
          </a:xfrm>
          <a:prstGeom prst="roundRect">
            <a:avLst>
              <a:gd name="adj" fmla="val 340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000"/>
              </a:lnSpc>
            </a:pP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두 개의 리스트가 주어질 때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두 리스트의 공통 요소를 반환하는 함수 </a:t>
            </a:r>
            <a:r>
              <a:rPr lang="en-US" altLang="ko-K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common_item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을 작성하세요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-------------------------------------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테스트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common_item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([1, 2, 3], [3, 4, 5]))  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[3]</a:t>
            </a:r>
          </a:p>
          <a:p>
            <a:pPr>
              <a:lnSpc>
                <a:spcPts val="3000"/>
              </a:lnSpc>
            </a:pPr>
            <a:endParaRPr lang="en-US" altLang="ko-KR" sz="2000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C7850BA-CD36-45CB-8DC0-A4040A638A48}"/>
              </a:ext>
            </a:extLst>
          </p:cNvPr>
          <p:cNvSpPr/>
          <p:nvPr/>
        </p:nvSpPr>
        <p:spPr>
          <a:xfrm>
            <a:off x="838200" y="4268928"/>
            <a:ext cx="11049000" cy="2028178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def </a:t>
            </a:r>
            <a:r>
              <a:rPr lang="en-US" altLang="ko-K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common_item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(lst1, lst2):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 return list(set(lst1) &amp; set(lst2))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테스트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common_item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([1, 2, 3], [2, 3, 4]))  #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[2, 3]</a:t>
            </a:r>
          </a:p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22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660C9-0AB5-F578-BAA6-27555DDC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01D52D-6777-1573-EA02-D86DC421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effectLst/>
              </a:rPr>
              <a:t>Coding Problem</a:t>
            </a:r>
            <a:endParaRPr lang="ko-KR" altLang="en-US" sz="2800" dirty="0"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3BB351-9392-AA88-329B-447AB3329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Problem:                                       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4000" dirty="0"/>
          </a:p>
          <a:p>
            <a:pPr>
              <a:lnSpc>
                <a:spcPct val="150000"/>
              </a:lnSpc>
            </a:pPr>
            <a:r>
              <a:rPr lang="en-US" altLang="ko-KR" dirty="0"/>
              <a:t>Solution Examples: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36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6AC6C49-B436-8BF9-B6F6-05D9C22A35D2}"/>
              </a:ext>
            </a:extLst>
          </p:cNvPr>
          <p:cNvSpPr/>
          <p:nvPr/>
        </p:nvSpPr>
        <p:spPr>
          <a:xfrm>
            <a:off x="838200" y="1694365"/>
            <a:ext cx="11049000" cy="1101086"/>
          </a:xfrm>
          <a:prstGeom prst="roundRect">
            <a:avLst>
              <a:gd name="adj" fmla="val 340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리스트 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numbers = [1, 2, 3, 4, 5]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에서 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duplicates = [3, 5, 7]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의 요소들과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중복되는 요소를 제거한 새로운 리스트를 반환하는 함수를 작성하세요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B5D16D0-78FC-121A-BD50-9813E6313068}"/>
              </a:ext>
            </a:extLst>
          </p:cNvPr>
          <p:cNvSpPr/>
          <p:nvPr/>
        </p:nvSpPr>
        <p:spPr>
          <a:xfrm>
            <a:off x="838200" y="3657600"/>
            <a:ext cx="11049000" cy="2952206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r>
              <a:rPr lang="en-US" altLang="ko-KR" sz="2000" b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def remove_duplicates_from_list(numbers, duplicates):</a:t>
            </a:r>
          </a:p>
          <a:p>
            <a:pPr>
              <a:lnSpc>
                <a:spcPct val="130000"/>
              </a:lnSpc>
            </a:pPr>
            <a:r>
              <a:rPr lang="en-US" altLang="ko-KR" sz="2000" b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 return list(set(numbers) - set(duplicates))</a:t>
            </a:r>
          </a:p>
          <a:p>
            <a:pPr>
              <a:lnSpc>
                <a:spcPct val="130000"/>
              </a:lnSpc>
            </a:pPr>
            <a:endParaRPr lang="en-US" altLang="ko-KR" sz="2000" b="1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2000" b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테스트</a:t>
            </a:r>
          </a:p>
          <a:p>
            <a:pPr>
              <a:lnSpc>
                <a:spcPct val="130000"/>
              </a:lnSpc>
            </a:pPr>
            <a:r>
              <a:rPr lang="en-US" altLang="ko-KR" sz="2000" b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numbers = [1, 2, 3, 4, 5]</a:t>
            </a:r>
          </a:p>
          <a:p>
            <a:pPr>
              <a:lnSpc>
                <a:spcPct val="130000"/>
              </a:lnSpc>
            </a:pPr>
            <a:r>
              <a:rPr lang="en-US" altLang="ko-KR" sz="2000" b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duplicates = [3, 5, 7]</a:t>
            </a:r>
          </a:p>
          <a:p>
            <a:pPr>
              <a:lnSpc>
                <a:spcPct val="130000"/>
              </a:lnSpc>
            </a:pPr>
            <a:r>
              <a:rPr lang="en-US" altLang="ko-KR" sz="2000" b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print(remove_duplicates_from_list(numbers, duplicates))  # [1, 2, 4]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3038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4161</TotalTime>
  <Words>4216</Words>
  <Application>Microsoft Office PowerPoint</Application>
  <PresentationFormat>와이드스크린</PresentationFormat>
  <Paragraphs>549</Paragraphs>
  <Slides>48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6" baseType="lpstr">
      <vt:lpstr>나눔고딕</vt:lpstr>
      <vt:lpstr>나눔고딕코딩</vt:lpstr>
      <vt:lpstr>맑은 고딕</vt:lpstr>
      <vt:lpstr>Arial</vt:lpstr>
      <vt:lpstr>Cambria Math</vt:lpstr>
      <vt:lpstr>Times New Roman</vt:lpstr>
      <vt:lpstr>Wingdings</vt:lpstr>
      <vt:lpstr>Office 테마</vt:lpstr>
      <vt:lpstr>컬렉션 자료형 (list, tuple, set, dict)</vt:lpstr>
      <vt:lpstr>Tuple</vt:lpstr>
      <vt:lpstr>Tuple: 항목 접근하기</vt:lpstr>
      <vt:lpstr>Tuple: 슬라이싱(slicing)</vt:lpstr>
      <vt:lpstr>Tuple: 항목 변경 방법(절차)</vt:lpstr>
      <vt:lpstr>Tuple: + 연산자 허용됨</vt:lpstr>
      <vt:lpstr>Tuple: 튜플 풀기(unpack tuples)</vt:lpstr>
      <vt:lpstr>Tuple: 튜플 풀기(unpack tuples)  (계속)</vt:lpstr>
      <vt:lpstr>Tuple: 반복 처리하기 (loop lists)</vt:lpstr>
      <vt:lpstr>PowerPoint 프레젠테이션</vt:lpstr>
      <vt:lpstr>Quiz</vt:lpstr>
      <vt:lpstr>Tuple: Quiz</vt:lpstr>
      <vt:lpstr>Tuple: Quiz</vt:lpstr>
      <vt:lpstr>Tuple: Quiz</vt:lpstr>
      <vt:lpstr>Tuple: Quiz</vt:lpstr>
      <vt:lpstr>Tuple: Quiz</vt:lpstr>
      <vt:lpstr>Tuple: Quiz</vt:lpstr>
      <vt:lpstr>Tuple: Quiz</vt:lpstr>
      <vt:lpstr>Tuple: Quiz</vt:lpstr>
      <vt:lpstr>Tuple: Quiz</vt:lpstr>
      <vt:lpstr>Coding Problem</vt:lpstr>
      <vt:lpstr>연습 문제 1, 2</vt:lpstr>
      <vt:lpstr>연습 문제 3</vt:lpstr>
      <vt:lpstr>연습 문제 4</vt:lpstr>
      <vt:lpstr>컬렉션 자료형 (list, tuple, set, dict)</vt:lpstr>
      <vt:lpstr>Set</vt:lpstr>
      <vt:lpstr>Set: 항목 접근하기</vt:lpstr>
      <vt:lpstr>Set: 항목 추가하기</vt:lpstr>
      <vt:lpstr>Set: 항목 삭제하기</vt:lpstr>
      <vt:lpstr>Set: 항목 삭제: del </vt:lpstr>
      <vt:lpstr>Set: 집합 연산 메소드 및 연산자</vt:lpstr>
      <vt:lpstr>Set: 집합 연산 메소드 및 연산자  (계속)</vt:lpstr>
      <vt:lpstr>Set: 집합 연산 메소드 및 연산자  (계속)</vt:lpstr>
      <vt:lpstr>Set: 집합 연산 메소드 및 연산자  (계속)</vt:lpstr>
      <vt:lpstr>PowerPoint 프레젠테이션</vt:lpstr>
      <vt:lpstr>PowerPoint 프레젠테이션</vt:lpstr>
      <vt:lpstr>Quiz</vt:lpstr>
      <vt:lpstr>Set: Quiz</vt:lpstr>
      <vt:lpstr>Set: Quiz</vt:lpstr>
      <vt:lpstr>Set: Quiz</vt:lpstr>
      <vt:lpstr>Set: Quiz</vt:lpstr>
      <vt:lpstr>Set: Quiz</vt:lpstr>
      <vt:lpstr>Set: Quiz</vt:lpstr>
      <vt:lpstr>Set: Quiz</vt:lpstr>
      <vt:lpstr>Set: Quiz</vt:lpstr>
      <vt:lpstr>Coding Problem</vt:lpstr>
      <vt:lpstr>Coding Problem</vt:lpstr>
      <vt:lpstr>Coding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DIT</cp:lastModifiedBy>
  <cp:revision>151</cp:revision>
  <dcterms:created xsi:type="dcterms:W3CDTF">2024-10-14T09:30:03Z</dcterms:created>
  <dcterms:modified xsi:type="dcterms:W3CDTF">2025-04-09T05:53:41Z</dcterms:modified>
</cp:coreProperties>
</file>